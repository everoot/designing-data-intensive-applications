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ef665ad64f481e" /><Relationship Type="http://schemas.openxmlformats.org/officeDocument/2006/relationships/extended-properties" Target="/docProps/app.xml" Id="R5da0e93bea0f4e16" /><Relationship Type="http://schemas.openxmlformats.org/officeDocument/2006/relationships/officeDocument" Target="/ppt/presentation.xml" Id="R929fdec14f6c408d" /></Relationships>
</file>

<file path=ppt/presentation.xml><?xml version="1.0" encoding="utf-8"?>
<p:presentation xmlns:p="http://schemas.openxmlformats.org/presentationml/2006/main">
  <p:sldMasterIdLst>
    <p:sldMasterId xmlns:r="http://schemas.openxmlformats.org/officeDocument/2006/relationships" id="2147483648" r:id="Ra54ac36a7769472d"/>
  </p:sldMasterIdLst>
  <p:notesMasterIdLst>
    <p:notesMasterId xmlns:r="http://schemas.openxmlformats.org/officeDocument/2006/relationships" r:id="Reffec8ea77454d74"/>
  </p:notesMasterIdLst>
  <p:sldIdLst>
    <p:sldId xmlns:r="http://schemas.openxmlformats.org/officeDocument/2006/relationships" id="256" r:id="R60f1c3f2fdbb4f4f"/>
    <p:sldId xmlns:r="http://schemas.openxmlformats.org/officeDocument/2006/relationships" id="257" r:id="R22ebf604c6b14571"/>
    <p:sldId xmlns:r="http://schemas.openxmlformats.org/officeDocument/2006/relationships" id="258" r:id="Rcdee5e6873644c91"/>
    <p:sldId xmlns:r="http://schemas.openxmlformats.org/officeDocument/2006/relationships" id="259" r:id="R9cfd6f2af9eb4f89"/>
    <p:sldId xmlns:r="http://schemas.openxmlformats.org/officeDocument/2006/relationships" id="260" r:id="Rc6ed1270ebf84f81"/>
    <p:sldId xmlns:r="http://schemas.openxmlformats.org/officeDocument/2006/relationships" id="261" r:id="R24d66f98394a4bdf"/>
    <p:sldId xmlns:r="http://schemas.openxmlformats.org/officeDocument/2006/relationships" id="262" r:id="R9a28a725d16c4c00"/>
    <p:sldId xmlns:r="http://schemas.openxmlformats.org/officeDocument/2006/relationships" id="263" r:id="R7e1ac1a8df3a4d7d"/>
    <p:sldId xmlns:r="http://schemas.openxmlformats.org/officeDocument/2006/relationships" id="264" r:id="R743447b460f9404f"/>
    <p:sldId xmlns:r="http://schemas.openxmlformats.org/officeDocument/2006/relationships" id="265" r:id="R5d0bfcdff3084bbc"/>
    <p:sldId xmlns:r="http://schemas.openxmlformats.org/officeDocument/2006/relationships" id="266" r:id="R7a29253122504bb2"/>
    <p:sldId xmlns:r="http://schemas.openxmlformats.org/officeDocument/2006/relationships" id="267" r:id="Rb3593a22fc734fc5"/>
    <p:sldId xmlns:r="http://schemas.openxmlformats.org/officeDocument/2006/relationships" id="268" r:id="R6d1b52980a044801"/>
    <p:sldId xmlns:r="http://schemas.openxmlformats.org/officeDocument/2006/relationships" id="269" r:id="R7bd9d8588fd842fb"/>
    <p:sldId xmlns:r="http://schemas.openxmlformats.org/officeDocument/2006/relationships" id="270" r:id="Ra0fa719cb4ae4103"/>
    <p:sldId xmlns:r="http://schemas.openxmlformats.org/officeDocument/2006/relationships" id="271" r:id="Rd95953df69084294"/>
    <p:sldId xmlns:r="http://schemas.openxmlformats.org/officeDocument/2006/relationships" id="272" r:id="R46977ab8f0d14fe6"/>
    <p:sldId xmlns:r="http://schemas.openxmlformats.org/officeDocument/2006/relationships" id="273" r:id="R37384cdd670e4b3b"/>
    <p:sldId xmlns:r="http://schemas.openxmlformats.org/officeDocument/2006/relationships" id="274" r:id="Ra58013c0143f4c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40a5745a9d4150" /><Relationship Type="http://schemas.openxmlformats.org/officeDocument/2006/relationships/slideMaster" Target="/ppt/slideMasters/slideMaster1.xml" Id="Ra54ac36a7769472d" /><Relationship Type="http://schemas.openxmlformats.org/officeDocument/2006/relationships/notesMaster" Target="/ppt/notesMasters/notesMaster1.xml" Id="Reffec8ea77454d74" /><Relationship Type="http://schemas.openxmlformats.org/officeDocument/2006/relationships/presProps" Target="/ppt/presProps.xml" Id="Rb51f4fec12424b3a" /><Relationship Type="http://schemas.openxmlformats.org/officeDocument/2006/relationships/tableStyles" Target="/ppt/tableStyles.xml" Id="R624fdb9642514338" /><Relationship Type="http://schemas.openxmlformats.org/officeDocument/2006/relationships/slide" Target="/ppt/slides/slide1.xml" Id="R60f1c3f2fdbb4f4f" /><Relationship Type="http://schemas.openxmlformats.org/officeDocument/2006/relationships/slide" Target="/ppt/slides/slide2.xml" Id="R22ebf604c6b14571" /><Relationship Type="http://schemas.openxmlformats.org/officeDocument/2006/relationships/slide" Target="/ppt/slides/slide3.xml" Id="Rcdee5e6873644c91" /><Relationship Type="http://schemas.openxmlformats.org/officeDocument/2006/relationships/slide" Target="/ppt/slides/slide4.xml" Id="R9cfd6f2af9eb4f89" /><Relationship Type="http://schemas.openxmlformats.org/officeDocument/2006/relationships/slide" Target="/ppt/slides/slide5.xml" Id="Rc6ed1270ebf84f81" /><Relationship Type="http://schemas.openxmlformats.org/officeDocument/2006/relationships/slide" Target="/ppt/slides/slide6.xml" Id="R24d66f98394a4bdf" /><Relationship Type="http://schemas.openxmlformats.org/officeDocument/2006/relationships/slide" Target="/ppt/slides/slide7.xml" Id="R9a28a725d16c4c00" /><Relationship Type="http://schemas.openxmlformats.org/officeDocument/2006/relationships/slide" Target="/ppt/slides/slide8.xml" Id="R7e1ac1a8df3a4d7d" /><Relationship Type="http://schemas.openxmlformats.org/officeDocument/2006/relationships/slide" Target="/ppt/slides/slide9.xml" Id="R743447b460f9404f" /><Relationship Type="http://schemas.openxmlformats.org/officeDocument/2006/relationships/slide" Target="/ppt/slides/slide10.xml" Id="R5d0bfcdff3084bbc" /><Relationship Type="http://schemas.openxmlformats.org/officeDocument/2006/relationships/slide" Target="/ppt/slides/slide11.xml" Id="R7a29253122504bb2" /><Relationship Type="http://schemas.openxmlformats.org/officeDocument/2006/relationships/slide" Target="/ppt/slides/slide12.xml" Id="Rb3593a22fc734fc5" /><Relationship Type="http://schemas.openxmlformats.org/officeDocument/2006/relationships/slide" Target="/ppt/slides/slide13.xml" Id="R6d1b52980a044801" /><Relationship Type="http://schemas.openxmlformats.org/officeDocument/2006/relationships/slide" Target="/ppt/slides/slide14.xml" Id="R7bd9d8588fd842fb" /><Relationship Type="http://schemas.openxmlformats.org/officeDocument/2006/relationships/slide" Target="/ppt/slides/slide15.xml" Id="Ra0fa719cb4ae4103" /><Relationship Type="http://schemas.openxmlformats.org/officeDocument/2006/relationships/slide" Target="/ppt/slides/slide16.xml" Id="Rd95953df69084294" /><Relationship Type="http://schemas.openxmlformats.org/officeDocument/2006/relationships/slide" Target="/ppt/slides/slide17.xml" Id="R46977ab8f0d14fe6" /><Relationship Type="http://schemas.openxmlformats.org/officeDocument/2006/relationships/slide" Target="/ppt/slides/slide18.xml" Id="R37384cdd670e4b3b" /><Relationship Type="http://schemas.openxmlformats.org/officeDocument/2006/relationships/slide" Target="/ppt/slides/slide19.xml" Id="Ra58013c0143f4c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5e21193e204b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e92d8e51a14128" /><Relationship Type="http://schemas.openxmlformats.org/officeDocument/2006/relationships/notesMaster" Target="/ppt/notesMasters/notesMaster1.xml" Id="Rc52d2e70322a4c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5063e5726d4123" /><Relationship Type="http://schemas.openxmlformats.org/officeDocument/2006/relationships/notesMaster" Target="/ppt/notesMasters/notesMaster1.xml" Id="Rc47a8b2bc22646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0f7d5d1c5747d2" /><Relationship Type="http://schemas.openxmlformats.org/officeDocument/2006/relationships/notesMaster" Target="/ppt/notesMasters/notesMaster1.xml" Id="Rfe3e856b0ae84e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699a98c4df4e02" /><Relationship Type="http://schemas.openxmlformats.org/officeDocument/2006/relationships/notesMaster" Target="/ppt/notesMasters/notesMaster1.xml" Id="R9a31239eb38f40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3f58cdd89b460b" /><Relationship Type="http://schemas.openxmlformats.org/officeDocument/2006/relationships/notesMaster" Target="/ppt/notesMasters/notesMaster1.xml" Id="R3745730a75b945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f4a53a96094576" /><Relationship Type="http://schemas.openxmlformats.org/officeDocument/2006/relationships/notesMaster" Target="/ppt/notesMasters/notesMaster1.xml" Id="R8cf83ce0352e4a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20ece118264003" /><Relationship Type="http://schemas.openxmlformats.org/officeDocument/2006/relationships/notesMaster" Target="/ppt/notesMasters/notesMaster1.xml" Id="R8cc1ca05a7c448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d5613eca8e4ed5" /><Relationship Type="http://schemas.openxmlformats.org/officeDocument/2006/relationships/notesMaster" Target="/ppt/notesMasters/notesMaster1.xml" Id="R1a788f70c8e348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1579181076407d" /><Relationship Type="http://schemas.openxmlformats.org/officeDocument/2006/relationships/notesMaster" Target="/ppt/notesMasters/notesMaster1.xml" Id="R9965e7dfaec648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3c20ec72da423b" /><Relationship Type="http://schemas.openxmlformats.org/officeDocument/2006/relationships/notesMaster" Target="/ppt/notesMasters/notesMaster1.xml" Id="Rba2e86891a8b4f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97ee58db60486a" /><Relationship Type="http://schemas.openxmlformats.org/officeDocument/2006/relationships/notesMaster" Target="/ppt/notesMasters/notesMaster1.xml" Id="R27106b4999b643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f257276d654587" /><Relationship Type="http://schemas.openxmlformats.org/officeDocument/2006/relationships/notesMaster" Target="/ppt/notesMasters/notesMaster1.xml" Id="Rcef5576ec70943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f3ae88fd634797" /><Relationship Type="http://schemas.openxmlformats.org/officeDocument/2006/relationships/notesMaster" Target="/ppt/notesMasters/notesMaster1.xml" Id="R41e06ad795144c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049a3e535d74523" /><Relationship Type="http://schemas.openxmlformats.org/officeDocument/2006/relationships/notesMaster" Target="/ppt/notesMasters/notesMaster1.xml" Id="R7881f63fcbd543e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5e5751e2e34816" /><Relationship Type="http://schemas.openxmlformats.org/officeDocument/2006/relationships/notesMaster" Target="/ppt/notesMasters/notesMaster1.xml" Id="R70811f07606d49c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d861eb59e804b3c" /><Relationship Type="http://schemas.openxmlformats.org/officeDocument/2006/relationships/notesMaster" Target="/ppt/notesMasters/notesMaster1.xml" Id="R6676d15bce3f4e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b0279861e6941f6" /><Relationship Type="http://schemas.openxmlformats.org/officeDocument/2006/relationships/notesMaster" Target="/ppt/notesMasters/notesMaster1.xml" Id="R8682bf6b3c6040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0bce013d834677" /><Relationship Type="http://schemas.openxmlformats.org/officeDocument/2006/relationships/notesMaster" Target="/ppt/notesMasters/notesMaster1.xml" Id="R81105db2defa4d6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329911c6769407a" /><Relationship Type="http://schemas.openxmlformats.org/officeDocument/2006/relationships/notesMaster" Target="/ppt/notesMasters/notesMaster1.xml" Id="R634c1bbccf7340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Figure 2-1, PDF page 58. Original caption: Figure 2-1. A simple relational schema for a social network in which users can follow</a:t>
            </a:r>
          </a:p>
          <a:p xmlns:a="http://schemas.openxmlformats.org/drawingml/2006/main">
            <a:r>
              <a:t>Explanation: The diagram shows how entities and relationships are represented by keys, nesting, or joins. The model changes read locality, duplication, and update complexity.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Figure 2-2, PDF page 60. Original caption: Figure 2-2. Fan-out: delivering new posts to every follower of the user who made the post</a:t>
            </a:r>
          </a:p>
          <a:p xmlns:a="http://schemas.openxmlformats.org/drawingml/2006/main">
            <a:r>
              <a:t>Explanation: A write is copied into many follower timelines. Reads become cheap, but popular users create severe write amplification.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Figure 2-3, PDF page 61. Original caption: Figure 2-3. As the throughput of a service approaches its capacity, the response time</a:t>
            </a:r>
          </a:p>
          <a:p xmlns:a="http://schemas.openxmlformats.org/drawingml/2006/main">
            <a:r>
              <a:t>Explanation: The chart connects load, queueing, and the distribution of response times. Tail latency grows before averages look alarming, especially with fan-out.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Figure 2-4, PDF page 63. Original caption: Figure 2-4. Response time, service time, network latency, and queueing delay</a:t>
            </a:r>
          </a:p>
          <a:p xmlns:a="http://schemas.openxmlformats.org/drawingml/2006/main">
            <a:r>
              <a:t>Explanation: The chart connects load, queueing, and the distribution of response times. Tail latency grows before averages look alarming, especially with fan-out.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Figure 2-5, PDF page 64. Original caption: Figure 2-5. Illustrating mean and percentiles: response times for a sample of 100 requests</a:t>
            </a:r>
          </a:p>
          <a:p xmlns:a="http://schemas.openxmlformats.org/drawingml/2006/main">
            <a:r>
              <a:t>Explanation: The chart connects load, queueing, and the distribution of response times. Tail latency grows before averages look alarming, especially with fan-out.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Figure 2-6, PDF page 66. Original caption: Figure 2-6. When several backend calls are needed to serve a request, just a single slow</a:t>
            </a:r>
          </a:p>
          <a:p xmlns:a="http://schemas.openxmlformats.org/drawingml/2006/main">
            <a:r>
              <a:t>Explanation: The chart connects load, queueing, and the distribution of response times. Tail latency grows before averages look alarming, especially with fan-out.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2, book pages 33-56.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289441224a4f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42a55c948a4574" /><Relationship Type="http://schemas.openxmlformats.org/officeDocument/2006/relationships/slideLayout" Target="/ppt/slideLayouts/slideLayout1.xml" Id="R26a7e98c3fa54d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a7e98c3fa54d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1f0baaef094614" /><Relationship Type="http://schemas.openxmlformats.org/officeDocument/2006/relationships/notesSlide" Target="/ppt/notesSlides/notesSlide1.xml" Id="R53312c92a00a43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fb4762a93e44af" /><Relationship Type="http://schemas.openxmlformats.org/officeDocument/2006/relationships/notesSlide" Target="/ppt/notesSlides/notesSlide2.xml" Id="Rcd4fb06cb4f140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1ed7aa15994a45" /><Relationship Type="http://schemas.openxmlformats.org/officeDocument/2006/relationships/notesSlide" Target="/ppt/notesSlides/notesSlide3.xml" Id="R7a36e1c78e0341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1d02cece5d4407" /><Relationship Type="http://schemas.openxmlformats.org/officeDocument/2006/relationships/notesSlide" Target="/ppt/notesSlides/notesSlide4.xml" Id="R44edc4696cb64f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9a1d68aef0462b" /><Relationship Type="http://schemas.openxmlformats.org/officeDocument/2006/relationships/image" Target="/ppt/media/image.png" Id="R43f39284762c4e4c" /><Relationship Type="http://schemas.openxmlformats.org/officeDocument/2006/relationships/notesSlide" Target="/ppt/notesSlides/notesSlide5.xml" Id="R04d9e54b8eca42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6e53d4279641bd" /><Relationship Type="http://schemas.openxmlformats.org/officeDocument/2006/relationships/image" Target="/ppt/media/image2.png" Id="R0cbf69d418f6494f" /><Relationship Type="http://schemas.openxmlformats.org/officeDocument/2006/relationships/notesSlide" Target="/ppt/notesSlides/notesSlide6.xml" Id="Rb54e8ee906d940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3534fcbcb45433a" /><Relationship Type="http://schemas.openxmlformats.org/officeDocument/2006/relationships/notesSlide" Target="/ppt/notesSlides/notesSlide7.xml" Id="R0292edb73e6248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119bd51bc240dd" /><Relationship Type="http://schemas.openxmlformats.org/officeDocument/2006/relationships/notesSlide" Target="/ppt/notesSlides/notesSlide8.xml" Id="R4843dec32c7146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e8109d7f00747bf" /><Relationship Type="http://schemas.openxmlformats.org/officeDocument/2006/relationships/image" Target="/ppt/media/image3.png" Id="Rc1caa5d8ac154c58" /><Relationship Type="http://schemas.openxmlformats.org/officeDocument/2006/relationships/notesSlide" Target="/ppt/notesSlides/notesSlide9.xml" Id="R1b9d3cb5f44c43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b0e0f0cd954799" /><Relationship Type="http://schemas.openxmlformats.org/officeDocument/2006/relationships/image" Target="/ppt/media/image4.png" Id="R58f7b0d4bec44f33" /><Relationship Type="http://schemas.openxmlformats.org/officeDocument/2006/relationships/notesSlide" Target="/ppt/notesSlides/notesSlide10.xml" Id="Rd2d5258f22014a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61e0fbf271743a7" /><Relationship Type="http://schemas.openxmlformats.org/officeDocument/2006/relationships/image" Target="/ppt/media/image5.png" Id="R22e85808fb7e44de" /><Relationship Type="http://schemas.openxmlformats.org/officeDocument/2006/relationships/notesSlide" Target="/ppt/notesSlides/notesSlide11.xml" Id="R789aa1cb9d524c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3ba9dd9084141f7" /><Relationship Type="http://schemas.openxmlformats.org/officeDocument/2006/relationships/image" Target="/ppt/media/image6.png" Id="R77ffa8e93a24451d" /><Relationship Type="http://schemas.openxmlformats.org/officeDocument/2006/relationships/notesSlide" Target="/ppt/notesSlides/notesSlide12.xml" Id="R3fe282a0e5494e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a36e0915c9646de" /><Relationship Type="http://schemas.openxmlformats.org/officeDocument/2006/relationships/notesSlide" Target="/ppt/notesSlides/notesSlide13.xml" Id="R0ae8b1abcd354e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ad897aa4ed34ebb" /><Relationship Type="http://schemas.openxmlformats.org/officeDocument/2006/relationships/notesSlide" Target="/ppt/notesSlides/notesSlide14.xml" Id="R8e8e686445484c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34d6e542d2e4267" /><Relationship Type="http://schemas.openxmlformats.org/officeDocument/2006/relationships/notesSlide" Target="/ppt/notesSlides/notesSlide15.xml" Id="R7ccd23c0c3ab49e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127b0d0b0844a76" /><Relationship Type="http://schemas.openxmlformats.org/officeDocument/2006/relationships/notesSlide" Target="/ppt/notesSlides/notesSlide16.xml" Id="R6d3fcc9703e3490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b81719899e746ab" /><Relationship Type="http://schemas.openxmlformats.org/officeDocument/2006/relationships/notesSlide" Target="/ppt/notesSlides/notesSlide17.xml" Id="Re310c978ef6b41b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fca78de1b584b3d" /><Relationship Type="http://schemas.openxmlformats.org/officeDocument/2006/relationships/notesSlide" Target="/ppt/notesSlides/notesSlide18.xml" Id="R53b8728b5d874f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1dfcd4b90934b5d" /><Relationship Type="http://schemas.openxmlformats.org/officeDocument/2006/relationships/notesSlide" Target="/ppt/notesSlides/notesSlide19.xml" Id="Ra31d89f62208476d"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3726BB-2BAE-4E06-B902-2BCDA7E47F04}"/>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2A9D8F"/>
                </a:solidFill>
                <a:latin typeface="Arial"/>
                <a:ea typeface="Arial"/>
                <a:cs typeface="Arial"/>
              </a:defRPr>
            </a:pPr>
            <a:r>
              <a:rPr sz="1425"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54A33256-A159-40E8-833D-765FFF1FA0FA}"/>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Defining Nonfunctional Requirements</a:t>
            </a:r>
          </a:p>
        </p:txBody>
      </p:sp>
      <p:sp>
        <p:nvSpPr>
          <p:cNvPr id="3" name="">
            <a:extLst xmlns:a="http://schemas.openxmlformats.org/drawingml/2006/main">
              <a:ext uri="{FF2B5EF4-FFF2-40B4-BE49-F238E27FC236}">
                <a16:creationId xmlns:a16="http://schemas.microsoft.com/office/drawing/2014/main" id="{74946D1A-41C8-4388-8B70-F82A272D3443}"/>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7E46F871-E4C1-400E-925F-F3072EFD1FD4}"/>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107D82C8-3532-4F30-93F1-9D59764B17E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19</a:t>
            </a:r>
          </a:p>
        </p:txBody>
      </p:sp>
    </p:spTree>
    <p:extLst>
      <p:ext uri="{BB962C8B-B14F-4D97-AF65-F5344CB8AC3E}">
        <p14:creationId xmlns:p14="http://schemas.microsoft.com/office/powerpoint/2010/main" val="1819693104"/>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FCE3923-42D9-4052-8E2D-37616CEC7B1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68DBB43E-DBBA-4698-9B78-67DAA47B3E9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5AF2F103-7DE2-4EF3-B170-4AFB9AE0FB2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19</a:t>
            </a:r>
          </a:p>
        </p:txBody>
      </p:sp>
      <p:sp>
        <p:nvSpPr>
          <p:cNvPr id="4" name="">
            <a:extLst xmlns:a="http://schemas.openxmlformats.org/drawingml/2006/main">
              <a:ext uri="{FF2B5EF4-FFF2-40B4-BE49-F238E27FC236}">
                <a16:creationId xmlns:a16="http://schemas.microsoft.com/office/drawing/2014/main" id="{C8D1EAC3-3A62-4C9D-951F-8D2564B2EB8A}"/>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2A9D8F"/>
                </a:solidFill>
                <a:latin typeface="Arial"/>
                <a:ea typeface="Arial"/>
                <a:cs typeface="Arial"/>
              </a:defRPr>
            </a:pPr>
            <a:r>
              <a:rPr sz="2100" b="1">
                <a:solidFill>
                  <a:srgbClr val="2A9D8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1A31DBD-BAF7-4E70-9EC2-81EB41687C05}"/>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Turning goals into metrics</a:t>
            </a:r>
          </a:p>
        </p:txBody>
      </p:sp>
      <p:sp>
        <p:nvSpPr>
          <p:cNvPr id="6" name="">
            <a:extLst xmlns:a="http://schemas.openxmlformats.org/drawingml/2006/main">
              <a:ext uri="{FF2B5EF4-FFF2-40B4-BE49-F238E27FC236}">
                <a16:creationId xmlns:a16="http://schemas.microsoft.com/office/drawing/2014/main" id="{9A85FAFF-CB82-4EAD-9B55-CDF667F34BE4}"/>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Functional requirements state what the system does.</a:t>
            </a:r>
          </a:p>
        </p:txBody>
      </p:sp>
      <p:sp>
        <p:nvSpPr>
          <p:cNvPr id="7" name="">
            <a:extLst xmlns:a="http://schemas.openxmlformats.org/drawingml/2006/main">
              <a:ext uri="{FF2B5EF4-FFF2-40B4-BE49-F238E27FC236}">
                <a16:creationId xmlns:a16="http://schemas.microsoft.com/office/drawing/2014/main" id="{4C09AC65-9DB9-483C-A0D8-91F13063A8FC}"/>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2A9D8F"/>
                </a:solidFill>
                <a:latin typeface="Arial"/>
                <a:ea typeface="Arial"/>
                <a:cs typeface="Arial"/>
              </a:defRPr>
            </a:pPr>
            <a:r>
              <a:rPr sz="2100" b="1">
                <a:solidFill>
                  <a:srgbClr val="2A9D8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3F69B4D-6C0D-444D-BE50-48E9C96C3906}"/>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Latency and throughput</a:t>
            </a:r>
          </a:p>
        </p:txBody>
      </p:sp>
      <p:sp>
        <p:nvSpPr>
          <p:cNvPr id="9" name="">
            <a:extLst xmlns:a="http://schemas.openxmlformats.org/drawingml/2006/main">
              <a:ext uri="{FF2B5EF4-FFF2-40B4-BE49-F238E27FC236}">
                <a16:creationId xmlns:a16="http://schemas.microsoft.com/office/drawing/2014/main" id="{E8B295DF-ED0A-4EB0-B920-BC08AA328F98}"/>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Response time includes service time, queueing, and network delay.</a:t>
            </a:r>
          </a:p>
        </p:txBody>
      </p:sp>
      <p:sp>
        <p:nvSpPr>
          <p:cNvPr id="10" name="">
            <a:extLst xmlns:a="http://schemas.openxmlformats.org/drawingml/2006/main">
              <a:ext uri="{FF2B5EF4-FFF2-40B4-BE49-F238E27FC236}">
                <a16:creationId xmlns:a16="http://schemas.microsoft.com/office/drawing/2014/main" id="{8559036D-65F8-4797-8D92-BFF570901274}"/>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2A9D8F"/>
                </a:solidFill>
                <a:latin typeface="Arial"/>
                <a:ea typeface="Arial"/>
                <a:cs typeface="Arial"/>
              </a:defRPr>
            </a:pPr>
            <a:r>
              <a:rPr sz="2100" b="1">
                <a:solidFill>
                  <a:srgbClr val="2A9D8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EFB1D7C-8CD1-41F0-99E1-8A8EA4809FEF}"/>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Reliability and fault tolerance</a:t>
            </a:r>
          </a:p>
        </p:txBody>
      </p:sp>
      <p:sp>
        <p:nvSpPr>
          <p:cNvPr id="12" name="">
            <a:extLst xmlns:a="http://schemas.openxmlformats.org/drawingml/2006/main">
              <a:ext uri="{FF2B5EF4-FFF2-40B4-BE49-F238E27FC236}">
                <a16:creationId xmlns:a16="http://schemas.microsoft.com/office/drawing/2014/main" id="{9F145225-4EE9-4841-9EB1-C43B889055F6}"/>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Fault tolerance prevents component faults from becoming service failures.</a:t>
            </a:r>
          </a:p>
        </p:txBody>
      </p:sp>
      <p:sp>
        <p:nvSpPr>
          <p:cNvPr id="13" name="">
            <a:extLst xmlns:a="http://schemas.openxmlformats.org/drawingml/2006/main">
              <a:ext uri="{FF2B5EF4-FFF2-40B4-BE49-F238E27FC236}">
                <a16:creationId xmlns:a16="http://schemas.microsoft.com/office/drawing/2014/main" id="{531BBB2F-E700-4C8A-A75A-BC3857293FC4}"/>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2A9D8F"/>
                </a:solidFill>
                <a:latin typeface="Arial"/>
                <a:ea typeface="Arial"/>
                <a:cs typeface="Arial"/>
              </a:defRPr>
            </a:pPr>
            <a:r>
              <a:rPr sz="2100" b="1">
                <a:solidFill>
                  <a:srgbClr val="2A9D8F"/>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A4D5AB6E-8542-43F6-B96D-547A51656340}"/>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Scalability</a:t>
            </a:r>
          </a:p>
        </p:txBody>
      </p:sp>
      <p:sp>
        <p:nvSpPr>
          <p:cNvPr id="15" name="">
            <a:extLst xmlns:a="http://schemas.openxmlformats.org/drawingml/2006/main">
              <a:ext uri="{FF2B5EF4-FFF2-40B4-BE49-F238E27FC236}">
                <a16:creationId xmlns:a16="http://schemas.microsoft.com/office/drawing/2014/main" id="{AE9B9E69-6E5F-4BF7-BCBF-65141B96011C}"/>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Describe load with request rate, read/write mix, data size, and skew.</a:t>
            </a:r>
          </a:p>
        </p:txBody>
      </p:sp>
      <p:sp>
        <p:nvSpPr>
          <p:cNvPr id="16" name="">
            <a:extLst xmlns:a="http://schemas.openxmlformats.org/drawingml/2006/main">
              <a:ext uri="{FF2B5EF4-FFF2-40B4-BE49-F238E27FC236}">
                <a16:creationId xmlns:a16="http://schemas.microsoft.com/office/drawing/2014/main" id="{41686267-CA30-4478-9AF6-85A40825A3FB}"/>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2A9D8F"/>
                </a:solidFill>
                <a:latin typeface="Arial"/>
                <a:ea typeface="Arial"/>
                <a:cs typeface="Arial"/>
              </a:defRPr>
            </a:pPr>
            <a:r>
              <a:rPr sz="2100" b="1">
                <a:solidFill>
                  <a:srgbClr val="2A9D8F"/>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84E418F5-D09D-43DD-9CA7-6825E21D3189}"/>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Maintainability</a:t>
            </a:r>
          </a:p>
        </p:txBody>
      </p:sp>
      <p:sp>
        <p:nvSpPr>
          <p:cNvPr id="18" name="">
            <a:extLst xmlns:a="http://schemas.openxmlformats.org/drawingml/2006/main">
              <a:ext uri="{FF2B5EF4-FFF2-40B4-BE49-F238E27FC236}">
                <a16:creationId xmlns:a16="http://schemas.microsoft.com/office/drawing/2014/main" id="{7F07DC8E-D562-43F9-B6D2-FD24D3758C5E}"/>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Operability makes state visible and incidents diagnosable.</a:t>
            </a:r>
          </a:p>
        </p:txBody>
      </p:sp>
    </p:spTree>
    <p:extLst>
      <p:ext uri="{BB962C8B-B14F-4D97-AF65-F5344CB8AC3E}">
        <p14:creationId xmlns:p14="http://schemas.microsoft.com/office/powerpoint/2010/main" val="323436420"/>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C94784-725D-4916-A026-519900358A2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DDEE2C35-EFAC-440E-A07A-8C24BE3BE7D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Turning goals into metrics</a:t>
            </a:r>
          </a:p>
        </p:txBody>
      </p:sp>
      <p:sp>
        <p:nvSpPr>
          <p:cNvPr id="3" name="">
            <a:extLst xmlns:a="http://schemas.openxmlformats.org/drawingml/2006/main">
              <a:ext uri="{FF2B5EF4-FFF2-40B4-BE49-F238E27FC236}">
                <a16:creationId xmlns:a16="http://schemas.microsoft.com/office/drawing/2014/main" id="{6923713B-5EAE-40C6-9517-65A769A92B9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19</a:t>
            </a:r>
          </a:p>
        </p:txBody>
      </p:sp>
      <p:sp>
        <p:nvSpPr>
          <p:cNvPr id="4" name="">
            <a:extLst xmlns:a="http://schemas.openxmlformats.org/drawingml/2006/main">
              <a:ext uri="{FF2B5EF4-FFF2-40B4-BE49-F238E27FC236}">
                <a16:creationId xmlns:a16="http://schemas.microsoft.com/office/drawing/2014/main" id="{499236C3-97C6-4687-873B-91BC3EB70FE4}"/>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2A9D8F"/>
                </a:solidFill>
                <a:latin typeface="Arial"/>
                <a:ea typeface="Arial"/>
                <a:cs typeface="Arial"/>
              </a:defRPr>
            </a:pPr>
            <a:r>
              <a:rPr sz="6750" b="1">
                <a:solidFill>
                  <a:srgbClr val="2A9D8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13E8E29-C9C2-4175-9FC6-6A6E2597345D}"/>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Functional requirements state what the system does.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Nonfunctional requirements define measurable levels of service.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Every metric needs a workload, observation window, and user journey.</a:t>
            </a:r>
          </a:p>
        </p:txBody>
      </p:sp>
      <p:sp>
        <p:nvSpPr>
          <p:cNvPr id="6" name="">
            <a:extLst xmlns:a="http://schemas.openxmlformats.org/drawingml/2006/main">
              <a:ext uri="{FF2B5EF4-FFF2-40B4-BE49-F238E27FC236}">
                <a16:creationId xmlns:a16="http://schemas.microsoft.com/office/drawing/2014/main" id="{91C9BC59-A2B0-489C-AFDC-888245C99F5C}"/>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2CC5A8AE-F3B4-483B-8E4A-5984B52F5488}"/>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639766332"/>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A63CF3-ADD4-4307-BCC0-012735F73EB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5E114FE9-3BD6-4EC2-AF7B-4B0B35AD82A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Turning goals into metrics: design trade-offs</a:t>
            </a:r>
          </a:p>
        </p:txBody>
      </p:sp>
      <p:sp>
        <p:nvSpPr>
          <p:cNvPr id="3" name="">
            <a:extLst xmlns:a="http://schemas.openxmlformats.org/drawingml/2006/main">
              <a:ext uri="{FF2B5EF4-FFF2-40B4-BE49-F238E27FC236}">
                <a16:creationId xmlns:a16="http://schemas.microsoft.com/office/drawing/2014/main" id="{85278044-1E2F-4086-A3D5-E4F72BC2D97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19</a:t>
            </a:r>
          </a:p>
        </p:txBody>
      </p:sp>
      <p:sp>
        <p:nvSpPr>
          <p:cNvPr id="4" name="">
            <a:extLst xmlns:a="http://schemas.openxmlformats.org/drawingml/2006/main">
              <a:ext uri="{FF2B5EF4-FFF2-40B4-BE49-F238E27FC236}">
                <a16:creationId xmlns:a16="http://schemas.microsoft.com/office/drawing/2014/main" id="{147B7EAD-B122-4CC4-9A2F-ED16BD885FAC}"/>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2A9D8F"/>
                </a:solidFill>
                <a:latin typeface="Arial"/>
                <a:ea typeface="Arial"/>
                <a:cs typeface="Arial"/>
              </a:defRPr>
            </a:pPr>
            <a:r>
              <a:rPr sz="6750" b="1">
                <a:solidFill>
                  <a:srgbClr val="2A9D8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E566ECD-02B1-4D88-BEDC-B8929AF13401}"/>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Functional requirements state what the system does.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2147110425"/>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B4F855-8CF3-4463-8F77-E158CEFE9A5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40A884AF-DE42-4620-917B-23630DE4671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2-1: mechanism explained</a:t>
            </a:r>
          </a:p>
        </p:txBody>
      </p:sp>
      <p:sp>
        <p:nvSpPr>
          <p:cNvPr id="3" name="">
            <a:extLst xmlns:a="http://schemas.openxmlformats.org/drawingml/2006/main">
              <a:ext uri="{FF2B5EF4-FFF2-40B4-BE49-F238E27FC236}">
                <a16:creationId xmlns:a16="http://schemas.microsoft.com/office/drawing/2014/main" id="{E22332F2-6526-4F8D-ACC3-0E9E12B6047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19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3f39284762c4e4c"/>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0B63054-5C81-4579-B5B9-143D44ABAD88}"/>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A9A2A2E5-D133-4981-98F2-D030F43A8C62}"/>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diagram shows how entities and relationships are represented by keys, nesting, or joins.</a:t>
            </a:r>
          </a:p>
        </p:txBody>
      </p:sp>
      <p:sp>
        <p:nvSpPr>
          <p:cNvPr id="7" name="">
            <a:extLst xmlns:a="http://schemas.openxmlformats.org/drawingml/2006/main">
              <a:ext uri="{FF2B5EF4-FFF2-40B4-BE49-F238E27FC236}">
                <a16:creationId xmlns:a16="http://schemas.microsoft.com/office/drawing/2014/main" id="{1362843F-C434-4E4A-9E05-29740B29DF2E}"/>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93E2D619-B774-4B25-9C0A-A1BC42843C16}"/>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model changes read locality, duplication, and update complexity.</a:t>
            </a:r>
          </a:p>
        </p:txBody>
      </p:sp>
      <p:sp>
        <p:nvSpPr>
          <p:cNvPr id="9" name="">
            <a:extLst xmlns:a="http://schemas.openxmlformats.org/drawingml/2006/main">
              <a:ext uri="{FF2B5EF4-FFF2-40B4-BE49-F238E27FC236}">
                <a16:creationId xmlns:a16="http://schemas.microsoft.com/office/drawing/2014/main" id="{27D48722-39CD-4FBF-97F2-07EA8897FB62}"/>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11291CDD-0927-46CC-9F28-E1A22AAF1807}"/>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848037343"/>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E15924-285D-48E7-99CC-BD92FB48A62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B9BC3D41-1B1D-44E3-8266-F4D9200AA4F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2-2: mechanism explained</a:t>
            </a:r>
          </a:p>
        </p:txBody>
      </p:sp>
      <p:sp>
        <p:nvSpPr>
          <p:cNvPr id="3" name="">
            <a:extLst xmlns:a="http://schemas.openxmlformats.org/drawingml/2006/main">
              <a:ext uri="{FF2B5EF4-FFF2-40B4-BE49-F238E27FC236}">
                <a16:creationId xmlns:a16="http://schemas.microsoft.com/office/drawing/2014/main" id="{FA46ABD5-00E6-45F5-9644-B71AAA7AA63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19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cbf69d418f6494f"/>
          <a:stretch xmlns:a="http://schemas.openxmlformats.org/drawingml/2006/main"/>
        </p:blipFill>
        <p:spPr>
          <a:xfrm xmlns:a="http://schemas.openxmlformats.org/drawingml/2006/main">
            <a:off x="514350" y="1854632"/>
            <a:ext cx="7762875" cy="362498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27C75F7-99D0-4F8E-9F76-0BA0D0A15C7B}"/>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3E2305E3-84DF-44D2-BCAD-361848F7941F}"/>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A write is copied into many follower timelines.</a:t>
            </a:r>
          </a:p>
        </p:txBody>
      </p:sp>
      <p:sp>
        <p:nvSpPr>
          <p:cNvPr id="7" name="">
            <a:extLst xmlns:a="http://schemas.openxmlformats.org/drawingml/2006/main">
              <a:ext uri="{FF2B5EF4-FFF2-40B4-BE49-F238E27FC236}">
                <a16:creationId xmlns:a16="http://schemas.microsoft.com/office/drawing/2014/main" id="{B59A6A4A-AB08-4D59-ABBE-B51DEDA0C437}"/>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3A652E9A-654F-4E08-B63C-9B16F0A8E12E}"/>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Reads become cheap, but popular users create severe write amplification.</a:t>
            </a:r>
          </a:p>
        </p:txBody>
      </p:sp>
      <p:sp>
        <p:nvSpPr>
          <p:cNvPr id="9" name="">
            <a:extLst xmlns:a="http://schemas.openxmlformats.org/drawingml/2006/main">
              <a:ext uri="{FF2B5EF4-FFF2-40B4-BE49-F238E27FC236}">
                <a16:creationId xmlns:a16="http://schemas.microsoft.com/office/drawing/2014/main" id="{5C540D94-0842-49DD-8045-BF48CFB0FA2F}"/>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6A99BF8D-EB38-41D3-A653-75ECC1859986}"/>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388691213"/>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173430-AC2C-4DA0-B8D1-A42EEF385CF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0328D494-A0B3-44DA-8301-C557FAB77FD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Latency and throughput</a:t>
            </a:r>
          </a:p>
        </p:txBody>
      </p:sp>
      <p:sp>
        <p:nvSpPr>
          <p:cNvPr id="3" name="">
            <a:extLst xmlns:a="http://schemas.openxmlformats.org/drawingml/2006/main">
              <a:ext uri="{FF2B5EF4-FFF2-40B4-BE49-F238E27FC236}">
                <a16:creationId xmlns:a16="http://schemas.microsoft.com/office/drawing/2014/main" id="{F324A970-E324-4104-BC2B-F7E05B2EA05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19</a:t>
            </a:r>
          </a:p>
        </p:txBody>
      </p:sp>
      <p:sp>
        <p:nvSpPr>
          <p:cNvPr id="4" name="">
            <a:extLst xmlns:a="http://schemas.openxmlformats.org/drawingml/2006/main">
              <a:ext uri="{FF2B5EF4-FFF2-40B4-BE49-F238E27FC236}">
                <a16:creationId xmlns:a16="http://schemas.microsoft.com/office/drawing/2014/main" id="{590550C8-DBBA-4391-B853-AA04C822F709}"/>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2A9D8F"/>
                </a:solidFill>
                <a:latin typeface="Arial"/>
                <a:ea typeface="Arial"/>
                <a:cs typeface="Arial"/>
              </a:defRPr>
            </a:pPr>
            <a:r>
              <a:rPr sz="6750" b="1">
                <a:solidFill>
                  <a:srgbClr val="2A9D8F"/>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D6EAEA4-F06E-4942-8E9C-49AF58DE2F73}"/>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Response time includes service time, queueing, and network delay.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The median describes typical behavior while high percentiles expose tail latency.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Fan-out requests amplify the probability of encountering a slow dependency.</a:t>
            </a:r>
          </a:p>
        </p:txBody>
      </p:sp>
      <p:sp>
        <p:nvSpPr>
          <p:cNvPr id="6" name="">
            <a:extLst xmlns:a="http://schemas.openxmlformats.org/drawingml/2006/main">
              <a:ext uri="{FF2B5EF4-FFF2-40B4-BE49-F238E27FC236}">
                <a16:creationId xmlns:a16="http://schemas.microsoft.com/office/drawing/2014/main" id="{68E60CCC-A1FF-4E21-927E-3225595A51BB}"/>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12B1CC68-E069-40DE-AA46-905773F33785}"/>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054845071"/>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F90103-EB7E-4C23-9A47-B563EC53966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23BD7F7E-DA2F-4D7D-9CF6-9CD8E9DEC78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Latency and throughput: design trade-offs</a:t>
            </a:r>
          </a:p>
        </p:txBody>
      </p:sp>
      <p:sp>
        <p:nvSpPr>
          <p:cNvPr id="3" name="">
            <a:extLst xmlns:a="http://schemas.openxmlformats.org/drawingml/2006/main">
              <a:ext uri="{FF2B5EF4-FFF2-40B4-BE49-F238E27FC236}">
                <a16:creationId xmlns:a16="http://schemas.microsoft.com/office/drawing/2014/main" id="{CC32E17D-9183-4FAA-9E33-E40B90ACE42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19</a:t>
            </a:r>
          </a:p>
        </p:txBody>
      </p:sp>
      <p:sp>
        <p:nvSpPr>
          <p:cNvPr id="4" name="">
            <a:extLst xmlns:a="http://schemas.openxmlformats.org/drawingml/2006/main">
              <a:ext uri="{FF2B5EF4-FFF2-40B4-BE49-F238E27FC236}">
                <a16:creationId xmlns:a16="http://schemas.microsoft.com/office/drawing/2014/main" id="{38E5277A-739D-412B-9F5D-08931F322061}"/>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2A9D8F"/>
                </a:solidFill>
                <a:latin typeface="Arial"/>
                <a:ea typeface="Arial"/>
                <a:cs typeface="Arial"/>
              </a:defRPr>
            </a:pPr>
            <a:r>
              <a:rPr sz="6750" b="1">
                <a:solidFill>
                  <a:srgbClr val="2A9D8F"/>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80DDDC7-6DAB-4581-BD42-8AAA377283E3}"/>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Response time includes service time, queueing, and network delay.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7189331"/>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43D0ED-D6D1-4C30-A6B7-5B295F2FE2D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2089F411-32E1-4CCC-B2AD-DAB73378730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2-3: mechanism explained</a:t>
            </a:r>
          </a:p>
        </p:txBody>
      </p:sp>
      <p:sp>
        <p:nvSpPr>
          <p:cNvPr id="3" name="">
            <a:extLst xmlns:a="http://schemas.openxmlformats.org/drawingml/2006/main">
              <a:ext uri="{FF2B5EF4-FFF2-40B4-BE49-F238E27FC236}">
                <a16:creationId xmlns:a16="http://schemas.microsoft.com/office/drawing/2014/main" id="{1EB4C57B-EF4A-4741-ACC3-3D617836B5C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19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1caa5d8ac154c58"/>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53A1B8D-D5B7-4AC6-841A-8D0A52275B7C}"/>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BD3F204A-AC04-4087-9977-7BE8C5FD115C}"/>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chart connects load, queueing, and the distribution of response times.</a:t>
            </a:r>
          </a:p>
        </p:txBody>
      </p:sp>
      <p:sp>
        <p:nvSpPr>
          <p:cNvPr id="7" name="">
            <a:extLst xmlns:a="http://schemas.openxmlformats.org/drawingml/2006/main">
              <a:ext uri="{FF2B5EF4-FFF2-40B4-BE49-F238E27FC236}">
                <a16:creationId xmlns:a16="http://schemas.microsoft.com/office/drawing/2014/main" id="{917A099F-F329-46E7-BD7F-B241D2D8ED94}"/>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D59DB736-2826-4305-86F4-67B882A87CE9}"/>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Tail latency grows before averages look alarming, especially with fan-out.</a:t>
            </a:r>
          </a:p>
        </p:txBody>
      </p:sp>
      <p:sp>
        <p:nvSpPr>
          <p:cNvPr id="9" name="">
            <a:extLst xmlns:a="http://schemas.openxmlformats.org/drawingml/2006/main">
              <a:ext uri="{FF2B5EF4-FFF2-40B4-BE49-F238E27FC236}">
                <a16:creationId xmlns:a16="http://schemas.microsoft.com/office/drawing/2014/main" id="{BD15BF91-C3A5-4753-ADFC-675941528C1F}"/>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5A68F760-9157-458B-9089-8F90E64F3913}"/>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438560584"/>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6299BE-D385-4D69-BCDF-0C4925A63A4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7551D546-89E2-4A66-9414-5625ADE1FB1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2-4: mechanism explained</a:t>
            </a:r>
          </a:p>
        </p:txBody>
      </p:sp>
      <p:sp>
        <p:nvSpPr>
          <p:cNvPr id="3" name="">
            <a:extLst xmlns:a="http://schemas.openxmlformats.org/drawingml/2006/main">
              <a:ext uri="{FF2B5EF4-FFF2-40B4-BE49-F238E27FC236}">
                <a16:creationId xmlns:a16="http://schemas.microsoft.com/office/drawing/2014/main" id="{51BDE3E8-92E4-40DA-821B-01F9EE44A04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19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8f7b0d4bec44f33"/>
          <a:stretch xmlns:a="http://schemas.openxmlformats.org/drawingml/2006/main"/>
        </p:blipFill>
        <p:spPr>
          <a:xfrm xmlns:a="http://schemas.openxmlformats.org/drawingml/2006/main">
            <a:off x="985302" y="1285875"/>
            <a:ext cx="6820972"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3310A58-0523-424A-B195-9FE47BF95AEA}"/>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85A1DF00-AEF4-4284-80EA-65D024BAC0F8}"/>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chart connects load, queueing, and the distribution of response times.</a:t>
            </a:r>
          </a:p>
        </p:txBody>
      </p:sp>
      <p:sp>
        <p:nvSpPr>
          <p:cNvPr id="7" name="">
            <a:extLst xmlns:a="http://schemas.openxmlformats.org/drawingml/2006/main">
              <a:ext uri="{FF2B5EF4-FFF2-40B4-BE49-F238E27FC236}">
                <a16:creationId xmlns:a16="http://schemas.microsoft.com/office/drawing/2014/main" id="{6AF13CA1-C63F-45AB-A62A-F7E4C20CAB1E}"/>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042B99EC-E30C-4AFB-B3EA-F6C8EA88713F}"/>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Tail latency grows before averages look alarming, especially with fan-out.</a:t>
            </a:r>
          </a:p>
        </p:txBody>
      </p:sp>
      <p:sp>
        <p:nvSpPr>
          <p:cNvPr id="9" name="">
            <a:extLst xmlns:a="http://schemas.openxmlformats.org/drawingml/2006/main">
              <a:ext uri="{FF2B5EF4-FFF2-40B4-BE49-F238E27FC236}">
                <a16:creationId xmlns:a16="http://schemas.microsoft.com/office/drawing/2014/main" id="{B615ADF1-C529-44EE-BD9C-DF72C109D686}"/>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EB4705AD-F254-40FA-8818-125F80B516C7}"/>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907299030"/>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0831E8-1679-4B1C-B362-8809079E21AF}"/>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F3E32239-A4C7-4DD7-9CA7-6CC2812CE3C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2-5: mechanism explained</a:t>
            </a:r>
          </a:p>
        </p:txBody>
      </p:sp>
      <p:sp>
        <p:nvSpPr>
          <p:cNvPr id="3" name="">
            <a:extLst xmlns:a="http://schemas.openxmlformats.org/drawingml/2006/main">
              <a:ext uri="{FF2B5EF4-FFF2-40B4-BE49-F238E27FC236}">
                <a16:creationId xmlns:a16="http://schemas.microsoft.com/office/drawing/2014/main" id="{7D21B03A-FB4E-4104-AF4D-9C2E9E26258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19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2e85808fb7e44de"/>
          <a:stretch xmlns:a="http://schemas.openxmlformats.org/drawingml/2006/main"/>
        </p:blipFill>
        <p:spPr>
          <a:xfrm xmlns:a="http://schemas.openxmlformats.org/drawingml/2006/main">
            <a:off x="762273" y="1285875"/>
            <a:ext cx="7267030"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3CA3C3A-6E8B-4280-A264-B752E3450766}"/>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F50A60D7-8BA2-4510-BF2B-995D12FB293C}"/>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chart connects load, queueing, and the distribution of response times.</a:t>
            </a:r>
          </a:p>
        </p:txBody>
      </p:sp>
      <p:sp>
        <p:nvSpPr>
          <p:cNvPr id="7" name="">
            <a:extLst xmlns:a="http://schemas.openxmlformats.org/drawingml/2006/main">
              <a:ext uri="{FF2B5EF4-FFF2-40B4-BE49-F238E27FC236}">
                <a16:creationId xmlns:a16="http://schemas.microsoft.com/office/drawing/2014/main" id="{3D945B25-46D8-449A-A3FF-83CFAF10C500}"/>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95D0A314-2109-4265-AC65-4B9C01762CC7}"/>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Tail latency grows before averages look alarming, especially with fan-out.</a:t>
            </a:r>
          </a:p>
        </p:txBody>
      </p:sp>
      <p:sp>
        <p:nvSpPr>
          <p:cNvPr id="9" name="">
            <a:extLst xmlns:a="http://schemas.openxmlformats.org/drawingml/2006/main">
              <a:ext uri="{FF2B5EF4-FFF2-40B4-BE49-F238E27FC236}">
                <a16:creationId xmlns:a16="http://schemas.microsoft.com/office/drawing/2014/main" id="{BF6F9429-16FA-44FD-9031-511C7E5293E1}"/>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57EC6AB7-4084-46DB-B68A-C0F144E9B3D9}"/>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774140163"/>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B9053A-4009-4CC8-937F-AB72C16A421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89789B3D-5E55-4542-A1BF-66C1978A69E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2-6: mechanism explained</a:t>
            </a:r>
          </a:p>
        </p:txBody>
      </p:sp>
      <p:sp>
        <p:nvSpPr>
          <p:cNvPr id="3" name="">
            <a:extLst xmlns:a="http://schemas.openxmlformats.org/drawingml/2006/main">
              <a:ext uri="{FF2B5EF4-FFF2-40B4-BE49-F238E27FC236}">
                <a16:creationId xmlns:a16="http://schemas.microsoft.com/office/drawing/2014/main" id="{6D810D88-FC3F-4A42-9CA6-B2CC6AC9F67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19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7ffa8e93a24451d"/>
          <a:stretch xmlns:a="http://schemas.openxmlformats.org/drawingml/2006/main"/>
        </p:blipFill>
        <p:spPr>
          <a:xfrm xmlns:a="http://schemas.openxmlformats.org/drawingml/2006/main">
            <a:off x="514350" y="1452626"/>
            <a:ext cx="7762875" cy="442899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4B810EF-337F-4B65-B76A-77A75B8DCC80}"/>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28BB56A2-8431-459B-A7FC-8E1053BA5244}"/>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chart connects load, queueing, and the distribution of response times.</a:t>
            </a:r>
          </a:p>
        </p:txBody>
      </p:sp>
      <p:sp>
        <p:nvSpPr>
          <p:cNvPr id="7" name="">
            <a:extLst xmlns:a="http://schemas.openxmlformats.org/drawingml/2006/main">
              <a:ext uri="{FF2B5EF4-FFF2-40B4-BE49-F238E27FC236}">
                <a16:creationId xmlns:a16="http://schemas.microsoft.com/office/drawing/2014/main" id="{B9016417-9460-4EC5-8058-C6F5C780CDC9}"/>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A258DDCD-0ACF-4B09-A985-65BD093BCFC5}"/>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Tail latency grows before averages look alarming, especially with fan-out.</a:t>
            </a:r>
          </a:p>
        </p:txBody>
      </p:sp>
      <p:sp>
        <p:nvSpPr>
          <p:cNvPr id="9" name="">
            <a:extLst xmlns:a="http://schemas.openxmlformats.org/drawingml/2006/main">
              <a:ext uri="{FF2B5EF4-FFF2-40B4-BE49-F238E27FC236}">
                <a16:creationId xmlns:a16="http://schemas.microsoft.com/office/drawing/2014/main" id="{E9793996-D333-4671-8685-C73D5F09F983}"/>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4B7A2E02-E9A5-4E8B-80C9-4257D4A67741}"/>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634339963"/>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C930D2-0912-4AC7-A260-5CD2ED424B7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58466BC7-7056-47BF-AD8E-F643AAB530D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Reliability and fault tolerance</a:t>
            </a:r>
          </a:p>
        </p:txBody>
      </p:sp>
      <p:sp>
        <p:nvSpPr>
          <p:cNvPr id="3" name="">
            <a:extLst xmlns:a="http://schemas.openxmlformats.org/drawingml/2006/main">
              <a:ext uri="{FF2B5EF4-FFF2-40B4-BE49-F238E27FC236}">
                <a16:creationId xmlns:a16="http://schemas.microsoft.com/office/drawing/2014/main" id="{6E49098B-A9C7-4025-BF18-1C010A5D9E5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19</a:t>
            </a:r>
          </a:p>
        </p:txBody>
      </p:sp>
      <p:sp>
        <p:nvSpPr>
          <p:cNvPr id="4" name="">
            <a:extLst xmlns:a="http://schemas.openxmlformats.org/drawingml/2006/main">
              <a:ext uri="{FF2B5EF4-FFF2-40B4-BE49-F238E27FC236}">
                <a16:creationId xmlns:a16="http://schemas.microsoft.com/office/drawing/2014/main" id="{E72EFCF6-76C5-4A32-8773-8A3BFA94C156}"/>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2A9D8F"/>
                </a:solidFill>
                <a:latin typeface="Arial"/>
                <a:ea typeface="Arial"/>
                <a:cs typeface="Arial"/>
              </a:defRPr>
            </a:pPr>
            <a:r>
              <a:rPr sz="6750" b="1">
                <a:solidFill>
                  <a:srgbClr val="2A9D8F"/>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505B685-FD12-418A-BC37-DB75312CB2F9}"/>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Fault tolerance prevents component faults from becoming service failures.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Hardware, software, configuration, and human faults require different defenses.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Recovery exercises provide stronger evidence than assumptions about perfect components.</a:t>
            </a:r>
          </a:p>
        </p:txBody>
      </p:sp>
      <p:sp>
        <p:nvSpPr>
          <p:cNvPr id="6" name="">
            <a:extLst xmlns:a="http://schemas.openxmlformats.org/drawingml/2006/main">
              <a:ext uri="{FF2B5EF4-FFF2-40B4-BE49-F238E27FC236}">
                <a16:creationId xmlns:a16="http://schemas.microsoft.com/office/drawing/2014/main" id="{48B9E37E-DA16-4BA9-A28F-A786CF383A87}"/>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BDF29C13-7539-483F-BE35-CE861187BE49}"/>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632974937"/>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ACA92F-2B3C-45D9-B2B6-01869286989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DA9B69B4-FCDC-4D23-9EE8-981622ADF76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Reliability and fault tolerance: design trade-offs</a:t>
            </a:r>
          </a:p>
        </p:txBody>
      </p:sp>
      <p:sp>
        <p:nvSpPr>
          <p:cNvPr id="3" name="">
            <a:extLst xmlns:a="http://schemas.openxmlformats.org/drawingml/2006/main">
              <a:ext uri="{FF2B5EF4-FFF2-40B4-BE49-F238E27FC236}">
                <a16:creationId xmlns:a16="http://schemas.microsoft.com/office/drawing/2014/main" id="{2D4FC1DF-2C8C-4CFB-85D0-365EC373632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19</a:t>
            </a:r>
          </a:p>
        </p:txBody>
      </p:sp>
      <p:sp>
        <p:nvSpPr>
          <p:cNvPr id="4" name="">
            <a:extLst xmlns:a="http://schemas.openxmlformats.org/drawingml/2006/main">
              <a:ext uri="{FF2B5EF4-FFF2-40B4-BE49-F238E27FC236}">
                <a16:creationId xmlns:a16="http://schemas.microsoft.com/office/drawing/2014/main" id="{45F4641F-DFCD-4100-B2C2-440A9071506D}"/>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2A9D8F"/>
                </a:solidFill>
                <a:latin typeface="Arial"/>
                <a:ea typeface="Arial"/>
                <a:cs typeface="Arial"/>
              </a:defRPr>
            </a:pPr>
            <a:r>
              <a:rPr sz="6750" b="1">
                <a:solidFill>
                  <a:srgbClr val="2A9D8F"/>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A41BEE5-0A7E-4EFE-98A7-43FD8AC733DD}"/>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Fault tolerance prevents component faults from becoming service failures.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031955185"/>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78F38E-7002-429A-AFEE-7C175D170BA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2A476084-25D5-4C8B-9A1A-A5317CDD0CC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Scalability</a:t>
            </a:r>
          </a:p>
        </p:txBody>
      </p:sp>
      <p:sp>
        <p:nvSpPr>
          <p:cNvPr id="3" name="">
            <a:extLst xmlns:a="http://schemas.openxmlformats.org/drawingml/2006/main">
              <a:ext uri="{FF2B5EF4-FFF2-40B4-BE49-F238E27FC236}">
                <a16:creationId xmlns:a16="http://schemas.microsoft.com/office/drawing/2014/main" id="{9BEFE218-714C-4BCD-9196-1D70660FAB0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19</a:t>
            </a:r>
          </a:p>
        </p:txBody>
      </p:sp>
      <p:sp>
        <p:nvSpPr>
          <p:cNvPr id="4" name="">
            <a:extLst xmlns:a="http://schemas.openxmlformats.org/drawingml/2006/main">
              <a:ext uri="{FF2B5EF4-FFF2-40B4-BE49-F238E27FC236}">
                <a16:creationId xmlns:a16="http://schemas.microsoft.com/office/drawing/2014/main" id="{AF803BBE-FF06-43FC-9649-7D8E9D253023}"/>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2A9D8F"/>
                </a:solidFill>
                <a:latin typeface="Arial"/>
                <a:ea typeface="Arial"/>
                <a:cs typeface="Arial"/>
              </a:defRPr>
            </a:pPr>
            <a:r>
              <a:rPr sz="6750" b="1">
                <a:solidFill>
                  <a:srgbClr val="2A9D8F"/>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2858000-24C1-4833-B729-0231D9C456D2}"/>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Describe load with request rate, read/write mix, data size, and skew.</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Shared-memory, shared-disk, and shared-nothing designs scale differently.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 scaling claim should explain how resources grow as load grows.</a:t>
            </a:r>
          </a:p>
        </p:txBody>
      </p:sp>
      <p:sp>
        <p:nvSpPr>
          <p:cNvPr id="6" name="">
            <a:extLst xmlns:a="http://schemas.openxmlformats.org/drawingml/2006/main">
              <a:ext uri="{FF2B5EF4-FFF2-40B4-BE49-F238E27FC236}">
                <a16:creationId xmlns:a16="http://schemas.microsoft.com/office/drawing/2014/main" id="{5A06B29F-6767-453D-B37C-6FD70F29225E}"/>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A66E24E2-5FE2-47EB-8D2A-23930652F93A}"/>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217771047"/>
      </p:ext>
    </p:extLst>
  </p:cSld>
</p:sld>
</file>

<file path=ppt/slides/slide1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48BD7C-2B11-4579-BD36-A24FB027312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C3FEBC4E-3EB1-4BC5-834F-39E936C378C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Scalability: design trade-offs</a:t>
            </a:r>
          </a:p>
        </p:txBody>
      </p:sp>
      <p:sp>
        <p:nvSpPr>
          <p:cNvPr id="3" name="">
            <a:extLst xmlns:a="http://schemas.openxmlformats.org/drawingml/2006/main">
              <a:ext uri="{FF2B5EF4-FFF2-40B4-BE49-F238E27FC236}">
                <a16:creationId xmlns:a16="http://schemas.microsoft.com/office/drawing/2014/main" id="{7497CF50-7184-4C13-B0B1-D101F566640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16 / 19</a:t>
            </a:r>
          </a:p>
        </p:txBody>
      </p:sp>
      <p:sp>
        <p:nvSpPr>
          <p:cNvPr id="4" name="">
            <a:extLst xmlns:a="http://schemas.openxmlformats.org/drawingml/2006/main">
              <a:ext uri="{FF2B5EF4-FFF2-40B4-BE49-F238E27FC236}">
                <a16:creationId xmlns:a16="http://schemas.microsoft.com/office/drawing/2014/main" id="{0274CD18-9BD5-4D34-88BA-508128733F58}"/>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2A9D8F"/>
                </a:solidFill>
                <a:latin typeface="Arial"/>
                <a:ea typeface="Arial"/>
                <a:cs typeface="Arial"/>
              </a:defRPr>
            </a:pPr>
            <a:r>
              <a:rPr sz="6750" b="1">
                <a:solidFill>
                  <a:srgbClr val="2A9D8F"/>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9FB7A10-3727-4253-AD89-CE8C21F5BEA8}"/>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Describe load with request rate, read/write mix, data size, and skew.</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805094972"/>
      </p:ext>
    </p:extLst>
  </p:cSld>
</p:sld>
</file>

<file path=ppt/slides/slide1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D78B65-6661-41C1-B80F-35B4D8C0E18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8D80A5B7-C8DB-4D90-9B08-7CD7B28083B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Maintainability</a:t>
            </a:r>
          </a:p>
        </p:txBody>
      </p:sp>
      <p:sp>
        <p:nvSpPr>
          <p:cNvPr id="3" name="">
            <a:extLst xmlns:a="http://schemas.openxmlformats.org/drawingml/2006/main">
              <a:ext uri="{FF2B5EF4-FFF2-40B4-BE49-F238E27FC236}">
                <a16:creationId xmlns:a16="http://schemas.microsoft.com/office/drawing/2014/main" id="{EA0882A4-65CB-408C-AA09-2CB13E113E8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17 / 19</a:t>
            </a:r>
          </a:p>
        </p:txBody>
      </p:sp>
      <p:sp>
        <p:nvSpPr>
          <p:cNvPr id="4" name="">
            <a:extLst xmlns:a="http://schemas.openxmlformats.org/drawingml/2006/main">
              <a:ext uri="{FF2B5EF4-FFF2-40B4-BE49-F238E27FC236}">
                <a16:creationId xmlns:a16="http://schemas.microsoft.com/office/drawing/2014/main" id="{1D4582C4-431D-4E6E-965C-C110CF6CD224}"/>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2A9D8F"/>
                </a:solidFill>
                <a:latin typeface="Arial"/>
                <a:ea typeface="Arial"/>
                <a:cs typeface="Arial"/>
              </a:defRPr>
            </a:pPr>
            <a:r>
              <a:rPr sz="6750" b="1">
                <a:solidFill>
                  <a:srgbClr val="2A9D8F"/>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536A07F-C5C7-4505-94D4-1C8BFA5F0480}"/>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Operability makes state visible and incidents diagnosable.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Simplicity reduces accidental complexity and cognitive load.</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Evolvability lets schemas, interfaces, and implementations change gradually.</a:t>
            </a:r>
          </a:p>
        </p:txBody>
      </p:sp>
      <p:sp>
        <p:nvSpPr>
          <p:cNvPr id="6" name="">
            <a:extLst xmlns:a="http://schemas.openxmlformats.org/drawingml/2006/main">
              <a:ext uri="{FF2B5EF4-FFF2-40B4-BE49-F238E27FC236}">
                <a16:creationId xmlns:a16="http://schemas.microsoft.com/office/drawing/2014/main" id="{79A9FB05-DA11-4458-95C0-41EAA306F2AC}"/>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A9D8F"/>
                </a:solidFill>
                <a:latin typeface="Arial"/>
                <a:ea typeface="Arial"/>
                <a:cs typeface="Arial"/>
              </a:defRPr>
            </a:pPr>
            <a:r>
              <a:rPr sz="1200" b="1">
                <a:solidFill>
                  <a:srgbClr val="2A9D8F"/>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D5FA76F5-8131-467E-9B2B-2EE678F86E58}"/>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705351820"/>
      </p:ext>
    </p:extLst>
  </p:cSld>
</p:sld>
</file>

<file path=ppt/slides/slide1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51F08D-1D8A-4506-B508-CB428917930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1D1E9267-8CEE-478C-99C9-810356A8C7C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Maintainability: design trade-offs</a:t>
            </a:r>
          </a:p>
        </p:txBody>
      </p:sp>
      <p:sp>
        <p:nvSpPr>
          <p:cNvPr id="3" name="">
            <a:extLst xmlns:a="http://schemas.openxmlformats.org/drawingml/2006/main">
              <a:ext uri="{FF2B5EF4-FFF2-40B4-BE49-F238E27FC236}">
                <a16:creationId xmlns:a16="http://schemas.microsoft.com/office/drawing/2014/main" id="{7434E722-E52B-46AE-AB30-ABB06EDE303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18 / 19</a:t>
            </a:r>
          </a:p>
        </p:txBody>
      </p:sp>
      <p:sp>
        <p:nvSpPr>
          <p:cNvPr id="4" name="">
            <a:extLst xmlns:a="http://schemas.openxmlformats.org/drawingml/2006/main">
              <a:ext uri="{FF2B5EF4-FFF2-40B4-BE49-F238E27FC236}">
                <a16:creationId xmlns:a16="http://schemas.microsoft.com/office/drawing/2014/main" id="{63D8F27D-AC2E-43BA-942E-C6815CE76207}"/>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2A9D8F"/>
                </a:solidFill>
                <a:latin typeface="Arial"/>
                <a:ea typeface="Arial"/>
                <a:cs typeface="Arial"/>
              </a:defRPr>
            </a:pPr>
            <a:r>
              <a:rPr sz="6750" b="1">
                <a:solidFill>
                  <a:srgbClr val="2A9D8F"/>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E8A271BB-599A-4576-91FC-930B55B41AA2}"/>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Operability makes state visible and incidents diagnosable.</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146896788"/>
      </p:ext>
    </p:extLst>
  </p:cSld>
</p:sld>
</file>

<file path=ppt/slides/slide1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2E3011-6FC9-4604-A4F2-9E71717E391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2A9D8F"/>
                </a:solidFill>
                <a:latin typeface="Arial"/>
                <a:ea typeface="Arial"/>
                <a:cs typeface="Arial"/>
              </a:defRPr>
            </a:pPr>
            <a:r>
              <a:rPr sz="1200" b="1" spc="2">
                <a:solidFill>
                  <a:srgbClr val="2A9D8F"/>
                </a:solidFill>
                <a:latin typeface="Arial"/>
                <a:ea typeface="Arial"/>
                <a:cs typeface="Arial"/>
              </a:rPr>
              <a:t>CHAPTER 02</a:t>
            </a:r>
          </a:p>
        </p:txBody>
      </p:sp>
      <p:sp>
        <p:nvSpPr>
          <p:cNvPr id="2" name="">
            <a:extLst xmlns:a="http://schemas.openxmlformats.org/drawingml/2006/main">
              <a:ext uri="{FF2B5EF4-FFF2-40B4-BE49-F238E27FC236}">
                <a16:creationId xmlns:a16="http://schemas.microsoft.com/office/drawing/2014/main" id="{E165FFC9-02AE-40E1-BCD5-71AF93EA02F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9213074C-BF1E-4FC9-B85F-47AE2CE76B5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19 / 19</a:t>
            </a:r>
          </a:p>
        </p:txBody>
      </p:sp>
      <p:sp>
        <p:nvSpPr>
          <p:cNvPr id="4" name="">
            <a:extLst xmlns:a="http://schemas.openxmlformats.org/drawingml/2006/main">
              <a:ext uri="{FF2B5EF4-FFF2-40B4-BE49-F238E27FC236}">
                <a16:creationId xmlns:a16="http://schemas.microsoft.com/office/drawing/2014/main" id="{C87E119A-1F80-4AA9-90C5-E2560561EE5F}"/>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15648604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2026-09-27T19:46:57.7380000Z</dcterms:created>
  <dcterms:modified xsi:type="dcterms:W3CDTF">2026-09-27T19:46:57.7380000Z</dcterms:modified>
</coreProperties>
</file>