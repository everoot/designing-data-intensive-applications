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c219da3bc164698" /><Relationship Type="http://schemas.openxmlformats.org/officeDocument/2006/relationships/extended-properties" Target="/docProps/app.xml" Id="R1d2df6b38a8f4e4a" /><Relationship Type="http://schemas.openxmlformats.org/officeDocument/2006/relationships/officeDocument" Target="/ppt/presentation.xml" Id="R055bfbeea27e4855" /></Relationships>
</file>

<file path=ppt/presentation.xml><?xml version="1.0" encoding="utf-8"?>
<p:presentation xmlns:p="http://schemas.openxmlformats.org/presentationml/2006/main">
  <p:sldMasterIdLst>
    <p:sldMasterId xmlns:r="http://schemas.openxmlformats.org/officeDocument/2006/relationships" id="2147483648" r:id="Rbea57dcf26864555"/>
  </p:sldMasterIdLst>
  <p:notesMasterIdLst>
    <p:notesMasterId xmlns:r="http://schemas.openxmlformats.org/officeDocument/2006/relationships" r:id="R7f9adad6d70b44f5"/>
  </p:notesMasterIdLst>
  <p:sldIdLst>
    <p:sldId xmlns:r="http://schemas.openxmlformats.org/officeDocument/2006/relationships" id="256" r:id="R1acd8d22b0574df2"/>
    <p:sldId xmlns:r="http://schemas.openxmlformats.org/officeDocument/2006/relationships" id="257" r:id="R29c6d407562e4ce2"/>
    <p:sldId xmlns:r="http://schemas.openxmlformats.org/officeDocument/2006/relationships" id="258" r:id="Rfb63d26beaa64706"/>
    <p:sldId xmlns:r="http://schemas.openxmlformats.org/officeDocument/2006/relationships" id="259" r:id="R42e9736195e14647"/>
    <p:sldId xmlns:r="http://schemas.openxmlformats.org/officeDocument/2006/relationships" id="260" r:id="R71b7ff720df447e4"/>
    <p:sldId xmlns:r="http://schemas.openxmlformats.org/officeDocument/2006/relationships" id="261" r:id="Rce87dfd4a2814a7b"/>
    <p:sldId xmlns:r="http://schemas.openxmlformats.org/officeDocument/2006/relationships" id="262" r:id="R6c99e24c068f4f61"/>
    <p:sldId xmlns:r="http://schemas.openxmlformats.org/officeDocument/2006/relationships" id="263" r:id="R0329e95f1542445e"/>
    <p:sldId xmlns:r="http://schemas.openxmlformats.org/officeDocument/2006/relationships" id="264" r:id="R24dce20f0cea4e52"/>
    <p:sldId xmlns:r="http://schemas.openxmlformats.org/officeDocument/2006/relationships" id="265" r:id="Rdc812fde02a747d3"/>
    <p:sldId xmlns:r="http://schemas.openxmlformats.org/officeDocument/2006/relationships" id="266" r:id="Rd27f68e9dbd54090"/>
    <p:sldId xmlns:r="http://schemas.openxmlformats.org/officeDocument/2006/relationships" id="267" r:id="R72435048dc564559"/>
    <p:sldId xmlns:r="http://schemas.openxmlformats.org/officeDocument/2006/relationships" id="268" r:id="R111464eab3b44427"/>
    <p:sldId xmlns:r="http://schemas.openxmlformats.org/officeDocument/2006/relationships" id="269" r:id="R8d33e0b01a614d9e"/>
    <p:sldId xmlns:r="http://schemas.openxmlformats.org/officeDocument/2006/relationships" id="270" r:id="R74af2da5fe014cfb"/>
    <p:sldId xmlns:r="http://schemas.openxmlformats.org/officeDocument/2006/relationships" id="271" r:id="R5cd54debf9484700"/>
    <p:sldId xmlns:r="http://schemas.openxmlformats.org/officeDocument/2006/relationships" id="272" r:id="R3691938910e440ae"/>
    <p:sldId xmlns:r="http://schemas.openxmlformats.org/officeDocument/2006/relationships" id="273" r:id="R9f92838a354e4b56"/>
    <p:sldId xmlns:r="http://schemas.openxmlformats.org/officeDocument/2006/relationships" id="274" r:id="Rc93492c729554682"/>
    <p:sldId xmlns:r="http://schemas.openxmlformats.org/officeDocument/2006/relationships" id="275" r:id="Rca35914bbdfa495a"/>
    <p:sldId xmlns:r="http://schemas.openxmlformats.org/officeDocument/2006/relationships" id="276" r:id="R3c98b577e34f41cf"/>
    <p:sldId xmlns:r="http://schemas.openxmlformats.org/officeDocument/2006/relationships" id="277" r:id="R0359e58aa2794c0d"/>
    <p:sldId xmlns:r="http://schemas.openxmlformats.org/officeDocument/2006/relationships" id="278" r:id="Raa9f61c2257c4dc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4f7db8c010649a6" /><Relationship Type="http://schemas.openxmlformats.org/officeDocument/2006/relationships/slideMaster" Target="/ppt/slideMasters/slideMaster1.xml" Id="Rbea57dcf26864555" /><Relationship Type="http://schemas.openxmlformats.org/officeDocument/2006/relationships/notesMaster" Target="/ppt/notesMasters/notesMaster1.xml" Id="R7f9adad6d70b44f5" /><Relationship Type="http://schemas.openxmlformats.org/officeDocument/2006/relationships/presProps" Target="/ppt/presProps.xml" Id="Rf81df380ab034e80" /><Relationship Type="http://schemas.openxmlformats.org/officeDocument/2006/relationships/tableStyles" Target="/ppt/tableStyles.xml" Id="Ra85ad66471a84f48" /><Relationship Type="http://schemas.openxmlformats.org/officeDocument/2006/relationships/slide" Target="/ppt/slides/slide1.xml" Id="R1acd8d22b0574df2" /><Relationship Type="http://schemas.openxmlformats.org/officeDocument/2006/relationships/slide" Target="/ppt/slides/slide2.xml" Id="R29c6d407562e4ce2" /><Relationship Type="http://schemas.openxmlformats.org/officeDocument/2006/relationships/slide" Target="/ppt/slides/slide3.xml" Id="Rfb63d26beaa64706" /><Relationship Type="http://schemas.openxmlformats.org/officeDocument/2006/relationships/slide" Target="/ppt/slides/slide4.xml" Id="R42e9736195e14647" /><Relationship Type="http://schemas.openxmlformats.org/officeDocument/2006/relationships/slide" Target="/ppt/slides/slide5.xml" Id="R71b7ff720df447e4" /><Relationship Type="http://schemas.openxmlformats.org/officeDocument/2006/relationships/slide" Target="/ppt/slides/slide6.xml" Id="Rce87dfd4a2814a7b" /><Relationship Type="http://schemas.openxmlformats.org/officeDocument/2006/relationships/slide" Target="/ppt/slides/slide7.xml" Id="R6c99e24c068f4f61" /><Relationship Type="http://schemas.openxmlformats.org/officeDocument/2006/relationships/slide" Target="/ppt/slides/slide8.xml" Id="R0329e95f1542445e" /><Relationship Type="http://schemas.openxmlformats.org/officeDocument/2006/relationships/slide" Target="/ppt/slides/slide9.xml" Id="R24dce20f0cea4e52" /><Relationship Type="http://schemas.openxmlformats.org/officeDocument/2006/relationships/slide" Target="/ppt/slides/slide10.xml" Id="Rdc812fde02a747d3" /><Relationship Type="http://schemas.openxmlformats.org/officeDocument/2006/relationships/slide" Target="/ppt/slides/slide11.xml" Id="Rd27f68e9dbd54090" /><Relationship Type="http://schemas.openxmlformats.org/officeDocument/2006/relationships/slide" Target="/ppt/slides/slide12.xml" Id="R72435048dc564559" /><Relationship Type="http://schemas.openxmlformats.org/officeDocument/2006/relationships/slide" Target="/ppt/slides/slide13.xml" Id="R111464eab3b44427" /><Relationship Type="http://schemas.openxmlformats.org/officeDocument/2006/relationships/slide" Target="/ppt/slides/slide14.xml" Id="R8d33e0b01a614d9e" /><Relationship Type="http://schemas.openxmlformats.org/officeDocument/2006/relationships/slide" Target="/ppt/slides/slide15.xml" Id="R74af2da5fe014cfb" /><Relationship Type="http://schemas.openxmlformats.org/officeDocument/2006/relationships/slide" Target="/ppt/slides/slide16.xml" Id="R5cd54debf9484700" /><Relationship Type="http://schemas.openxmlformats.org/officeDocument/2006/relationships/slide" Target="/ppt/slides/slide17.xml" Id="R3691938910e440ae" /><Relationship Type="http://schemas.openxmlformats.org/officeDocument/2006/relationships/slide" Target="/ppt/slides/slide18.xml" Id="R9f92838a354e4b56" /><Relationship Type="http://schemas.openxmlformats.org/officeDocument/2006/relationships/slide" Target="/ppt/slides/slide19.xml" Id="Rc93492c729554682" /><Relationship Type="http://schemas.openxmlformats.org/officeDocument/2006/relationships/slide" Target="/ppt/slides/slide20.xml" Id="Rca35914bbdfa495a" /><Relationship Type="http://schemas.openxmlformats.org/officeDocument/2006/relationships/slide" Target="/ppt/slides/slide21.xml" Id="R3c98b577e34f41cf" /><Relationship Type="http://schemas.openxmlformats.org/officeDocument/2006/relationships/slide" Target="/ppt/slides/slide22.xml" Id="R0359e58aa2794c0d" /><Relationship Type="http://schemas.openxmlformats.org/officeDocument/2006/relationships/slide" Target="/ppt/slides/slide23.xml" Id="Raa9f61c2257c4dc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762d6cda01a446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07dd6f5d2e94e4d" /><Relationship Type="http://schemas.openxmlformats.org/officeDocument/2006/relationships/notesMaster" Target="/ppt/notesMasters/notesMaster1.xml" Id="Rf49f60b1ea1b4ff5" /></Relationships>
</file>

<file path=ppt/notesSlides/_rels/notesSlide2.xml.rels>&#65279;<?xml version="1.0" encoding="utf-8"?><Relationships xmlns="http://schemas.openxmlformats.org/package/2006/relationships"><Relationship Type="http://schemas.openxmlformats.org/officeDocument/2006/relationships/slide" Target="/ppt/slides/slide2.xml" Id="Raa8aeecce1264262" /><Relationship Type="http://schemas.openxmlformats.org/officeDocument/2006/relationships/notesMaster" Target="/ppt/notesMasters/notesMaster1.xml" Id="R7c80d940d8d14b6d" /></Relationships>
</file>

<file path=ppt/notesSlides/_rels/notesSlide3.xml.rels>&#65279;<?xml version="1.0" encoding="utf-8"?><Relationships xmlns="http://schemas.openxmlformats.org/package/2006/relationships"><Relationship Type="http://schemas.openxmlformats.org/officeDocument/2006/relationships/slide" Target="/ppt/slides/slide3.xml" Id="Rb0d7f9dec7c04420" /><Relationship Type="http://schemas.openxmlformats.org/officeDocument/2006/relationships/notesMaster" Target="/ppt/notesMasters/notesMaster1.xml" Id="R7d46835c953b4a4f" /></Relationships>
</file>

<file path=ppt/notesSlides/_rels/notesSlide4.xml.rels>&#65279;<?xml version="1.0" encoding="utf-8"?><Relationships xmlns="http://schemas.openxmlformats.org/package/2006/relationships"><Relationship Type="http://schemas.openxmlformats.org/officeDocument/2006/relationships/slide" Target="/ppt/slides/slide4.xml" Id="R79aefd99f249444c" /><Relationship Type="http://schemas.openxmlformats.org/officeDocument/2006/relationships/notesMaster" Target="/ppt/notesMasters/notesMaster1.xml" Id="R75a69849d8084899" /></Relationships>
</file>

<file path=ppt/notesSlides/_rels/notesSlide5.xml.rels>&#65279;<?xml version="1.0" encoding="utf-8"?><Relationships xmlns="http://schemas.openxmlformats.org/package/2006/relationships"><Relationship Type="http://schemas.openxmlformats.org/officeDocument/2006/relationships/slide" Target="/ppt/slides/slide5.xml" Id="Rb540da237518444c" /><Relationship Type="http://schemas.openxmlformats.org/officeDocument/2006/relationships/notesMaster" Target="/ppt/notesMasters/notesMaster1.xml" Id="Rc1f3c1f3ef964fda" /></Relationships>
</file>

<file path=ppt/notesSlides/_rels/notesSlide6.xml.rels>&#65279;<?xml version="1.0" encoding="utf-8"?><Relationships xmlns="http://schemas.openxmlformats.org/package/2006/relationships"><Relationship Type="http://schemas.openxmlformats.org/officeDocument/2006/relationships/slide" Target="/ppt/slides/slide6.xml" Id="R2f15c5e09db34880" /><Relationship Type="http://schemas.openxmlformats.org/officeDocument/2006/relationships/notesMaster" Target="/ppt/notesMasters/notesMaster1.xml" Id="R2ded6b1a23cb4282" /></Relationships>
</file>

<file path=ppt/notesSlides/_rels/notesSlide7.xml.rels>&#65279;<?xml version="1.0" encoding="utf-8"?><Relationships xmlns="http://schemas.openxmlformats.org/package/2006/relationships"><Relationship Type="http://schemas.openxmlformats.org/officeDocument/2006/relationships/slide" Target="/ppt/slides/slide7.xml" Id="R8927b30d04104b2d" /><Relationship Type="http://schemas.openxmlformats.org/officeDocument/2006/relationships/notesMaster" Target="/ppt/notesMasters/notesMaster1.xml" Id="R4e39acec27d54eb4" /></Relationships>
</file>

<file path=ppt/notesSlides/_rels/notesSlide8.xml.rels>&#65279;<?xml version="1.0" encoding="utf-8"?><Relationships xmlns="http://schemas.openxmlformats.org/package/2006/relationships"><Relationship Type="http://schemas.openxmlformats.org/officeDocument/2006/relationships/slide" Target="/ppt/slides/slide8.xml" Id="R6cc56265c7d7423c" /><Relationship Type="http://schemas.openxmlformats.org/officeDocument/2006/relationships/notesMaster" Target="/ppt/notesMasters/notesMaster1.xml" Id="Rb0abfd2308e64627" /></Relationships>
</file>

<file path=ppt/notesSlides/_rels/notesSlide9.xml.rels>&#65279;<?xml version="1.0" encoding="utf-8"?><Relationships xmlns="http://schemas.openxmlformats.org/package/2006/relationships"><Relationship Type="http://schemas.openxmlformats.org/officeDocument/2006/relationships/slide" Target="/ppt/slides/slide9.xml" Id="R939eda6688db49b0" /><Relationship Type="http://schemas.openxmlformats.org/officeDocument/2006/relationships/notesMaster" Target="/ppt/notesMasters/notesMaster1.xml" Id="Rc9bacfe66b62467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32658e1586b49ea" /><Relationship Type="http://schemas.openxmlformats.org/officeDocument/2006/relationships/notesMaster" Target="/ppt/notesMasters/notesMaster1.xml" Id="Rb34bd72c703446bb"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3594618d44a40dc" /><Relationship Type="http://schemas.openxmlformats.org/officeDocument/2006/relationships/notesMaster" Target="/ppt/notesMasters/notesMaster1.xml" Id="R7ae31709a9f24c28"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7adaf72eed3b4297" /><Relationship Type="http://schemas.openxmlformats.org/officeDocument/2006/relationships/notesMaster" Target="/ppt/notesMasters/notesMaster1.xml" Id="R9867586968354496"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1b14a3bb2eb84dae" /><Relationship Type="http://schemas.openxmlformats.org/officeDocument/2006/relationships/notesMaster" Target="/ppt/notesMasters/notesMaster1.xml" Id="R5368f7f5d994423b"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442698226cbd4320" /><Relationship Type="http://schemas.openxmlformats.org/officeDocument/2006/relationships/notesMaster" Target="/ppt/notesMasters/notesMaster1.xml" Id="R229e560ead4b4b89"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56f9a78b8aef4cfb" /><Relationship Type="http://schemas.openxmlformats.org/officeDocument/2006/relationships/notesMaster" Target="/ppt/notesMasters/notesMaster1.xml" Id="Rc3822cfb84bf4f2b"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2b6a081f7ecd4239" /><Relationship Type="http://schemas.openxmlformats.org/officeDocument/2006/relationships/notesMaster" Target="/ppt/notesMasters/notesMaster1.xml" Id="Rf4884225b049472e"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289e38e805b14ac9" /><Relationship Type="http://schemas.openxmlformats.org/officeDocument/2006/relationships/notesMaster" Target="/ppt/notesMasters/notesMaster1.xml" Id="R6a3c9ceae7814a65"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8e8fc2ec8ab14f8e" /><Relationship Type="http://schemas.openxmlformats.org/officeDocument/2006/relationships/notesMaster" Target="/ppt/notesMasters/notesMaster1.xml" Id="R4ffc364b68454eee"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c5e5158c7f904605" /><Relationship Type="http://schemas.openxmlformats.org/officeDocument/2006/relationships/notesMaster" Target="/ppt/notesMasters/notesMaster1.xml" Id="R08bf1670d2174ca2"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f2d4925112e44fa6" /><Relationship Type="http://schemas.openxmlformats.org/officeDocument/2006/relationships/notesMaster" Target="/ppt/notesMasters/notesMaster1.xml" Id="R2e75b1b621394ecd"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3a09e58f888c4a65" /><Relationship Type="http://schemas.openxmlformats.org/officeDocument/2006/relationships/notesMaster" Target="/ppt/notesMasters/notesMaster1.xml" Id="R2afe2555ce594980"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e6773fd471bb4873" /><Relationship Type="http://schemas.openxmlformats.org/officeDocument/2006/relationships/notesMaster" Target="/ppt/notesMasters/notesMaster1.xml" Id="R74ba851bfcbd4c6a"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6b9f7696d42140d7" /><Relationship Type="http://schemas.openxmlformats.org/officeDocument/2006/relationships/notesMaster" Target="/ppt/notesMasters/notesMaster1.xml" Id="Rea375a462b09401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Martin Kleppmann and Chris Riccomini, Designing Data-Intensive Applications, 2nd ed., Chapter 10, book pages 401-440. </a:t>
            </a:r>
          </a:p>
          <a:p xmlns:a="http://schemas.openxmlformats.org/drawingml/2006/main">
            <a:r>
              <a:t>Source file: /Users/eve/projects/Designing-Data-Intensive-Applications/Designing Data Intensive Applications 2nd.pdf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Martin Kleppmann and Chris Riccomini, Designing Data-Intensive Applications, 2nd ed., Chapter 10, book pages 401-440. </a:t>
            </a:r>
          </a:p>
          <a:p xmlns:a="http://schemas.openxmlformats.org/drawingml/2006/main">
            <a:r>
              <a:t>Source file: /Users/eve/projects/Designing-Data-Intensive-Applications/Designing Data Intensive Applications 2nd.pdf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Martin Kleppmann and Chris Riccomini, Designing Data-Intensive Applications, 2nd ed., Chapter 10, book pages 401-440. </a:t>
            </a:r>
          </a:p>
          <a:p xmlns:a="http://schemas.openxmlformats.org/drawingml/2006/main">
            <a:r>
              <a:t>Source file: /Users/eve/projects/Designing-Data-Intensive-Applications/Designing Data Intensive Applications 2nd.pdf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Martin Kleppmann and Chris Riccomini, Designing Data-Intensive Applications, 2nd ed., Chapter 10, book pages 401-440. </a:t>
            </a:r>
          </a:p>
          <a:p xmlns:a="http://schemas.openxmlformats.org/drawingml/2006/main">
            <a:r>
              <a:t>Source file: /Users/eve/projects/Designing-Data-Intensive-Applications/Designing Data Intensive Applications 2nd.pdf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Martin Kleppmann and Chris Riccomini, Designing Data-Intensive Applications, 2nd ed., Chapter 10, book pages 401-440. Figure 10-1, PDF page 427. Original caption: Figure 10-1. This system is not linearizable, causing sports fans to be confused.</a:t>
            </a:r>
          </a:p>
          <a:p xmlns:a="http://schemas.openxmlformats.org/drawingml/2006/main">
            <a:r>
              <a:t>Explanation: The timeline compares real-time order with the order visible to clients. Stronger ordering simplifies correctness but requires coordination or logical metadata. Follow the arrows or timeline and test whether the conclusion still holds under failure, retry, and concurrency.</a:t>
            </a:r>
          </a:p>
          <a:p xmlns:a="http://schemas.openxmlformats.org/drawingml/2006/main">
            <a:r>
              <a:t>Source file: /Users/eve/projects/Designing-Data-Intensive-Applications/Designing Data Intensive Applications 2nd.pdf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Martin Kleppmann and Chris Riccomini, Designing Data-Intensive Applications, 2nd ed., Chapter 10, book pages 401-440. Figure 10-2, PDF page 428. Original caption: Figure 10-2. If a read request is concurrent with a write request, it may return either the</a:t>
            </a:r>
          </a:p>
          <a:p xmlns:a="http://schemas.openxmlformats.org/drawingml/2006/main">
            <a:r>
              <a:t>Explanation: If a read request is concurrent with a write request, it may return either the It turns the chapter concept into a concrete dataflow, timeline, or state transition. Check the actors, data direction, operation order, and hidden system assumptions.</a:t>
            </a:r>
          </a:p>
          <a:p xmlns:a="http://schemas.openxmlformats.org/drawingml/2006/main">
            <a:r>
              <a:t>Source file: /Users/eve/projects/Designing-Data-Intensive-Applications/Designing Data Intensive Applications 2nd.pdf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Martin Kleppmann and Chris Riccomini, Designing Data-Intensive Applications, 2nd ed., Chapter 10, book pages 401-440. Figure 10-3, PDF page 429. Original caption: Figure 10-3. After any one read has returned the new value, all following reads (on the</a:t>
            </a:r>
          </a:p>
          <a:p xmlns:a="http://schemas.openxmlformats.org/drawingml/2006/main">
            <a:r>
              <a:t>Explanation: After any one read has returned the new value, all following reads (on the It turns the chapter concept into a concrete dataflow, timeline, or state transition. Check the actors, data direction, operation order, and hidden system assumptions.</a:t>
            </a:r>
          </a:p>
          <a:p xmlns:a="http://schemas.openxmlformats.org/drawingml/2006/main">
            <a:r>
              <a:t>Source file: /Users/eve/projects/Designing-Data-Intensive-Applications/Designing Data Intensive Applications 2nd.pdf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Martin Kleppmann and Chris Riccomini, Designing Data-Intensive Applications, 2nd ed., Chapter 10, book pages 401-440. Figure 10-4, PDF page 430. Original caption: Figure 10-4. Visualizing the points in time at which the reads and writes appear to have</a:t>
            </a:r>
          </a:p>
          <a:p xmlns:a="http://schemas.openxmlformats.org/drawingml/2006/main">
            <a:r>
              <a:t>Explanation: Visualizing the points in time at which the reads and writes appear to have It turns the chapter concept into a concrete dataflow, timeline, or state transition. Check the actors, data direction, operation order, and hidden system assumptions.</a:t>
            </a:r>
          </a:p>
          <a:p xmlns:a="http://schemas.openxmlformats.org/drawingml/2006/main">
            <a:r>
              <a:t>Source file: /Users/eve/projects/Designing-Data-Intensive-Applications/Designing Data Intensive Applications 2nd.pdf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Martin Kleppmann and Chris Riccomini, Designing Data-Intensive Applications, 2nd ed., Chapter 10, book pages 401-440. </a:t>
            </a:r>
          </a:p>
          <a:p xmlns:a="http://schemas.openxmlformats.org/drawingml/2006/main">
            <a:r>
              <a:t>Source file: /Users/eve/projects/Designing-Data-Intensive-Applications/Designing Data Intensive Applications 2nd.pdf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Martin Kleppmann and Chris Riccomini, Designing Data-Intensive Applications, 2nd ed., Chapter 10, book pages 401-440. </a:t>
            </a:r>
          </a:p>
          <a:p xmlns:a="http://schemas.openxmlformats.org/drawingml/2006/main">
            <a:r>
              <a:t>Source file: /Users/eve/projects/Designing-Data-Intensive-Applications/Designing Data Intensive Applications 2nd.pdf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Martin Kleppmann and Chris Riccomini, Designing Data-Intensive Applications, 2nd ed., Chapter 10, book pages 401-440. Figure 10-5, PDF page 434. Original caption: Figure 10-5. The web server and video transcoder communicate through both file storage</a:t>
            </a:r>
          </a:p>
          <a:p xmlns:a="http://schemas.openxmlformats.org/drawingml/2006/main">
            <a:r>
              <a:t>Explanation: The web server and video transcoder communicate through both file storage It turns the chapter concept into a concrete dataflow, timeline, or state transition. Check the actors, data direction, operation order, and hidden system assumptions.</a:t>
            </a:r>
          </a:p>
          <a:p xmlns:a="http://schemas.openxmlformats.org/drawingml/2006/main">
            <a:r>
              <a:t>Source file: /Users/eve/projects/Designing-Data-Intensive-Applications/Designing Data Intensive Applications 2nd.pdf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Martin Kleppmann and Chris Riccomini, Designing Data-Intensive Applications, 2nd ed., Chapter 10, book pages 401-440. Figure 10-6, PDF page 437. Original caption: Figure 10-6. A nonlinearizable execution, despite using a quorum</a:t>
            </a:r>
          </a:p>
          <a:p xmlns:a="http://schemas.openxmlformats.org/drawingml/2006/main">
            <a:r>
              <a:t>Explanation: Replica responses and version metadata are used to reason about freshness and causality. Quorum overlap helps, but concurrent writes still require explicit version handling. Follow the arrows or timeline and test whether the conclusion still holds under failure, retry, and concurrency.</a:t>
            </a:r>
          </a:p>
          <a:p xmlns:a="http://schemas.openxmlformats.org/drawingml/2006/main">
            <a:r>
              <a:t>Source file: /Users/eve/projects/Designing-Data-Intensive-Applications/Designing Data Intensive Applications 2nd.pdf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Martin Kleppmann and Chris Riccomini, Designing Data-Intensive Applications, 2nd ed., Chapter 10, book pages 401-440. Figure 10-7, PDF page 438. Original caption: Figure 10-7. A network interruption forcing a choice between linearizability and</a:t>
            </a:r>
          </a:p>
          <a:p xmlns:a="http://schemas.openxmlformats.org/drawingml/2006/main">
            <a:r>
              <a:t>Explanation: The timeline compares real-time order with the order visible to clients. Stronger ordering simplifies correctness but requires coordination or logical metadata. Follow the arrows or timeline and test whether the conclusion still holds under failure, retry, and concurrency.</a:t>
            </a:r>
          </a:p>
          <a:p xmlns:a="http://schemas.openxmlformats.org/drawingml/2006/main">
            <a:r>
              <a:t>Source file: /Users/eve/projects/Designing-Data-Intensive-Applications/Designing Data Intensive Applications 2nd.pdf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Martin Kleppmann and Chris Riccomini, Designing Data-Intensive Applications, 2nd ed., Chapter 10, book pages 401-440. </a:t>
            </a:r>
          </a:p>
          <a:p xmlns:a="http://schemas.openxmlformats.org/drawingml/2006/main">
            <a:r>
              <a:t>Source file: /Users/eve/projects/Designing-Data-Intensive-Applications/Designing Data Intensive Applications 2nd.pdf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Martin Kleppmann and Chris Riccomini, Designing Data-Intensive Applications, 2nd ed., Chapter 10, book pages 401-440. </a:t>
            </a:r>
          </a:p>
          <a:p xmlns:a="http://schemas.openxmlformats.org/drawingml/2006/main">
            <a:r>
              <a:t>Source file: /Users/eve/projects/Designing-Data-Intensive-Applications/Designing Data Intensive Applications 2nd.pdf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Martin Kleppmann and Chris Riccomini, Designing Data-Intensive Applications, 2nd ed., Chapter 10, book pages 401-440. Figure 10-8, PDF page 442. Original caption: Figure 10-8. An ID generator that assigns autoincrementing integer IDs to messages in a</a:t>
            </a:r>
          </a:p>
          <a:p xmlns:a="http://schemas.openxmlformats.org/drawingml/2006/main">
            <a:r>
              <a:t>Explanation: The timeline compares real-time order with the order visible to clients. Stronger ordering simplifies correctness but requires coordination or logical metadata. Follow the arrows or timeline and test whether the conclusion still holds under failure, retry, and concurrency.</a:t>
            </a:r>
          </a:p>
          <a:p xmlns:a="http://schemas.openxmlformats.org/drawingml/2006/main">
            <a:r>
              <a:t>Source file: /Users/eve/projects/Designing-Data-Intensive-Applications/Designing Data Intensive Applications 2nd.pdf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Martin Kleppmann and Chris Riccomini, Designing Data-Intensive Applications, 2nd ed., Chapter 10, book pages 401-440. Figure 10-9, PDF page 445. Original caption: Figure 10-9. Lamport timestamps provide a total ordering consistent with causality.</a:t>
            </a:r>
          </a:p>
          <a:p xmlns:a="http://schemas.openxmlformats.org/drawingml/2006/main">
            <a:r>
              <a:t>Explanation: Time or lease assumptions can become stale during clock error, delay, or process pause. Fencing tokens let the resource reject operations from an expired owner. Follow the arrows or timeline and test whether the conclusion still holds under failure, retry, and concurrency.</a:t>
            </a:r>
          </a:p>
          <a:p xmlns:a="http://schemas.openxmlformats.org/drawingml/2006/main">
            <a:r>
              <a:t>Source file: /Users/eve/projects/Designing-Data-Intensive-Applications/Designing Data Intensive Applications 2nd.pdf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Martin Kleppmann and Chris Riccomini, Designing Data-Intensive Applications, 2nd ed., Chapter 10, book pages 401-440. Figure 10-10, PDF page 447. Original caption: Figure 10-10. User A first sets their account to private, then shares a photo. With a</a:t>
            </a:r>
          </a:p>
          <a:p xmlns:a="http://schemas.openxmlformats.org/drawingml/2006/main">
            <a:r>
              <a:t>Explanation: User A first sets their account to private, then shares a photo. With a It turns the chapter concept into a concrete dataflow, timeline, or state transition. Check the actors, data direction, operation order, and hidden system assumptions.</a:t>
            </a:r>
          </a:p>
          <a:p xmlns:a="http://schemas.openxmlformats.org/drawingml/2006/main">
            <a:r>
              <a:t>Source file: /Users/eve/projects/Designing-Data-Intensive-Applications/Designing Data Intensive Applications 2nd.pdf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Martin Kleppmann and Chris Riccomini, Designing Data-Intensive Applications, 2nd ed., Chapter 10, book pages 401-440. </a:t>
            </a:r>
          </a:p>
          <a:p xmlns:a="http://schemas.openxmlformats.org/drawingml/2006/main">
            <a:r>
              <a:t>Source file: /Users/eve/projects/Designing-Data-Intensive-Applications/Designing Data Intensive Applications 2nd.pdf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Martin Kleppmann and Chris Riccomini, Designing Data-Intensive Applications, 2nd ed., Chapter 10, book pages 401-440. </a:t>
            </a:r>
          </a:p>
          <a:p xmlns:a="http://schemas.openxmlformats.org/drawingml/2006/main">
            <a:r>
              <a:t>Source file: /Users/eve/projects/Designing-Data-Intensive-Applications/Designing Data Intensive Applications 2nd.pdf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Martin Kleppmann and Chris Riccomini, Designing Data-Intensive Applications, 2nd ed., Chapter 10, book pages 401-440. </a:t>
            </a:r>
          </a:p>
          <a:p xmlns:a="http://schemas.openxmlformats.org/drawingml/2006/main">
            <a:r>
              <a:t>Source file: /Users/eve/projects/Designing-Data-Intensive-Applications/Designing Data Intensive Applications 2nd.pdf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Martin Kleppmann and Chris Riccomini, Designing Data-Intensive Applications, 2nd ed., Chapter 10, book pages 401-440. </a:t>
            </a:r>
          </a:p>
          <a:p xmlns:a="http://schemas.openxmlformats.org/drawingml/2006/main">
            <a:r>
              <a:t>Source file: /Users/eve/projects/Designing-Data-Intensive-Applications/Designing Data Intensive Applications 2nd.pdf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Martin Kleppmann and Chris Riccomini, Designing Data-Intensive Applications, 2nd ed., Chapter 10, book pages 401-440. </a:t>
            </a:r>
          </a:p>
          <a:p xmlns:a="http://schemas.openxmlformats.org/drawingml/2006/main">
            <a:r>
              <a:t>Source file: /Users/eve/projects/Designing-Data-Intensive-Applications/Designing Data Intensive Applications 2nd.pdf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be2f91d65144ac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56e61921bcb401b" /><Relationship Type="http://schemas.openxmlformats.org/officeDocument/2006/relationships/slideLayout" Target="/ppt/slideLayouts/slideLayout1.xml" Id="Rea62342204f14fc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a62342204f14fc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aa66322ef9204d30" /><Relationship Type="http://schemas.openxmlformats.org/officeDocument/2006/relationships/notesSlide" Target="/ppt/notesSlides/notesSlide1.xml" Id="Re1790e5694d7486c"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697da4fe20454f8c" /><Relationship Type="http://schemas.openxmlformats.org/officeDocument/2006/relationships/notesSlide" Target="/ppt/notesSlides/notesSlide2.xml" Id="Rd34f9e03374b42ed"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32abeef002214256" /><Relationship Type="http://schemas.openxmlformats.org/officeDocument/2006/relationships/notesSlide" Target="/ppt/notesSlides/notesSlide3.xml" Id="R48dcd7a887d94d2f"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3b37597766174ea1" /><Relationship Type="http://schemas.openxmlformats.org/officeDocument/2006/relationships/notesSlide" Target="/ppt/notesSlides/notesSlide4.xml" Id="R7dbee3efe1f24b8a"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ba03da2be23d48ca" /><Relationship Type="http://schemas.openxmlformats.org/officeDocument/2006/relationships/image" Target="/ppt/media/image.png" Id="R8200bc85356d4f1e" /><Relationship Type="http://schemas.openxmlformats.org/officeDocument/2006/relationships/notesSlide" Target="/ppt/notesSlides/notesSlide5.xml" Id="Rd9ef7efcf7e34d97"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89db49bc4b204b46" /><Relationship Type="http://schemas.openxmlformats.org/officeDocument/2006/relationships/image" Target="/ppt/media/image2.png" Id="R7b56476d7f0541ad" /><Relationship Type="http://schemas.openxmlformats.org/officeDocument/2006/relationships/notesSlide" Target="/ppt/notesSlides/notesSlide6.xml" Id="Rcd44a754d4244d5c"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2dca8d33244d440d" /><Relationship Type="http://schemas.openxmlformats.org/officeDocument/2006/relationships/image" Target="/ppt/media/image3.png" Id="Rbb54f0c2aacb43dd" /><Relationship Type="http://schemas.openxmlformats.org/officeDocument/2006/relationships/notesSlide" Target="/ppt/notesSlides/notesSlide7.xml" Id="Rbcbe81c2ad2f413f"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08577df3c3ff408b" /><Relationship Type="http://schemas.openxmlformats.org/officeDocument/2006/relationships/image" Target="/ppt/media/image4.png" Id="R6325877ad7ca497c" /><Relationship Type="http://schemas.openxmlformats.org/officeDocument/2006/relationships/notesSlide" Target="/ppt/notesSlides/notesSlide8.xml" Id="R9290c0ce07f54799"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38bedaad2fad4d97" /><Relationship Type="http://schemas.openxmlformats.org/officeDocument/2006/relationships/notesSlide" Target="/ppt/notesSlides/notesSlide9.xml" Id="R57af63945fe742d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3189581a6ecb4018" /><Relationship Type="http://schemas.openxmlformats.org/officeDocument/2006/relationships/notesSlide" Target="/ppt/notesSlides/notesSlide10.xml" Id="R082ad6ffe8054954"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5755d91b1b7d477c" /><Relationship Type="http://schemas.openxmlformats.org/officeDocument/2006/relationships/image" Target="/ppt/media/image5.png" Id="Rbd5bf8e84a97401f" /><Relationship Type="http://schemas.openxmlformats.org/officeDocument/2006/relationships/notesSlide" Target="/ppt/notesSlides/notesSlide11.xml" Id="R91acd565ce834702"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01d68acf7c924126" /><Relationship Type="http://schemas.openxmlformats.org/officeDocument/2006/relationships/image" Target="/ppt/media/image6.png" Id="R8d06b1b9e5064c4f" /><Relationship Type="http://schemas.openxmlformats.org/officeDocument/2006/relationships/notesSlide" Target="/ppt/notesSlides/notesSlide12.xml" Id="R0c74ed0144294a88"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ad59b8a50e7c4832" /><Relationship Type="http://schemas.openxmlformats.org/officeDocument/2006/relationships/image" Target="/ppt/media/image7.png" Id="R7ab1b03788a34a77" /><Relationship Type="http://schemas.openxmlformats.org/officeDocument/2006/relationships/notesSlide" Target="/ppt/notesSlides/notesSlide13.xml" Id="Re2bf9957088e4870"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20cb4da8911c4956" /><Relationship Type="http://schemas.openxmlformats.org/officeDocument/2006/relationships/notesSlide" Target="/ppt/notesSlides/notesSlide14.xml" Id="Re6d1221b59bf4359"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25f88f14efe2452b" /><Relationship Type="http://schemas.openxmlformats.org/officeDocument/2006/relationships/notesSlide" Target="/ppt/notesSlides/notesSlide15.xml" Id="Rab0d951754714b97"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9064fab6602c4648" /><Relationship Type="http://schemas.openxmlformats.org/officeDocument/2006/relationships/image" Target="/ppt/media/image8.png" Id="R81dfbc50e5f143fa" /><Relationship Type="http://schemas.openxmlformats.org/officeDocument/2006/relationships/notesSlide" Target="/ppt/notesSlides/notesSlide16.xml" Id="R21fc582266ee46e6"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69e6cc37f0e54751" /><Relationship Type="http://schemas.openxmlformats.org/officeDocument/2006/relationships/image" Target="/ppt/media/image9.png" Id="Rf06d60d127ca4484" /><Relationship Type="http://schemas.openxmlformats.org/officeDocument/2006/relationships/notesSlide" Target="/ppt/notesSlides/notesSlide17.xml" Id="R16f05c01af4c41c3"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591620b1653541d6" /><Relationship Type="http://schemas.openxmlformats.org/officeDocument/2006/relationships/image" Target="/ppt/media/image10.png" Id="R6b1c21b627d949ba" /><Relationship Type="http://schemas.openxmlformats.org/officeDocument/2006/relationships/notesSlide" Target="/ppt/notesSlides/notesSlide18.xml" Id="Rebfb45cf5f2e4f29"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27033943969a43b3" /><Relationship Type="http://schemas.openxmlformats.org/officeDocument/2006/relationships/notesSlide" Target="/ppt/notesSlides/notesSlide19.xml" Id="R63b9ee80c6754b7b"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31bb1b9d53a34ac5" /><Relationship Type="http://schemas.openxmlformats.org/officeDocument/2006/relationships/notesSlide" Target="/ppt/notesSlides/notesSlide20.xml" Id="R31f090e2b34c42f2"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ee45ffc93be5450e" /><Relationship Type="http://schemas.openxmlformats.org/officeDocument/2006/relationships/notesSlide" Target="/ppt/notesSlides/notesSlide21.xml" Id="Rdf095f3df7c54aa3"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3d032144000c4d2c" /><Relationship Type="http://schemas.openxmlformats.org/officeDocument/2006/relationships/notesSlide" Target="/ppt/notesSlides/notesSlide22.xml" Id="R788cedb9109d44f7"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719f7d9138a54264" /><Relationship Type="http://schemas.openxmlformats.org/officeDocument/2006/relationships/notesSlide" Target="/ppt/notesSlides/notesSlide23.xml" Id="Rc2b360eb5cea47ac" /></Relationships>
</file>

<file path=ppt/slides/slide1.xml><?xml version="1.0" encoding="utf-8"?>
<p:sld xmlns:p="http://schemas.openxmlformats.org/presentationml/2006/main">
  <p:cSld>
    <p:bg>
      <p:bgPr>
        <a:solidFill xmlns:a="http://schemas.openxmlformats.org/drawingml/2006/main">
          <a:srgbClr val="102A43"/>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5945F47-D65D-420C-A648-C6F00290D5AA}"/>
              </a:ext>
            </a:extLst>
          </p:cNvPr>
          <p:cNvSpPr>
            <a:spLocks xmlns:a="http://schemas.openxmlformats.org/drawingml/2006/main" noGrp="1"/>
          </p:cNvSpPr>
          <p:nvPr/>
        </p:nvSpPr>
        <p:spPr>
          <a:xfrm xmlns:a="http://schemas.openxmlformats.org/drawingml/2006/main">
            <a:off x="714375" y="666750"/>
            <a:ext cx="285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425" b="1" spc="2">
                <a:solidFill>
                  <a:srgbClr val="118AB2"/>
                </a:solidFill>
                <a:latin typeface="Arial"/>
                <a:ea typeface="Arial"/>
                <a:cs typeface="Arial"/>
              </a:defRPr>
            </a:pPr>
            <a:r>
              <a:rPr sz="1425" b="1" spc="2">
                <a:solidFill>
                  <a:srgbClr val="118AB2"/>
                </a:solidFill>
                <a:latin typeface="Arial"/>
                <a:ea typeface="Arial"/>
                <a:cs typeface="Arial"/>
              </a:rPr>
              <a:t>CHAPTER 10</a:t>
            </a:r>
          </a:p>
        </p:txBody>
      </p:sp>
      <p:sp>
        <p:nvSpPr>
          <p:cNvPr id="2" name="">
            <a:extLst xmlns:a="http://schemas.openxmlformats.org/drawingml/2006/main">
              <a:ext uri="{FF2B5EF4-FFF2-40B4-BE49-F238E27FC236}">
                <a16:creationId xmlns:a16="http://schemas.microsoft.com/office/drawing/2014/main" id="{40074113-123E-4A31-8215-B1017EFB3BCD}"/>
              </a:ext>
            </a:extLst>
          </p:cNvPr>
          <p:cNvSpPr>
            <a:spLocks xmlns:a="http://schemas.openxmlformats.org/drawingml/2006/main" noGrp="1"/>
          </p:cNvSpPr>
          <p:nvPr/>
        </p:nvSpPr>
        <p:spPr>
          <a:xfrm xmlns:a="http://schemas.openxmlformats.org/drawingml/2006/main">
            <a:off x="714375" y="1571625"/>
            <a:ext cx="102870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3750" b="1">
                <a:solidFill>
                  <a:srgbClr val="FFFFFF"/>
                </a:solidFill>
                <a:latin typeface="Arial"/>
                <a:ea typeface="Arial"/>
                <a:cs typeface="Arial"/>
              </a:defRPr>
            </a:pPr>
            <a:r>
              <a:rPr sz="3750" b="1">
                <a:solidFill>
                  <a:srgbClr val="FFFFFF"/>
                </a:solidFill>
                <a:latin typeface="Arial"/>
                <a:ea typeface="Arial"/>
                <a:cs typeface="Arial"/>
              </a:rPr>
              <a:t>Consistency and Consensus</a:t>
            </a:r>
          </a:p>
        </p:txBody>
      </p:sp>
      <p:sp>
        <p:nvSpPr>
          <p:cNvPr id="3" name="">
            <a:extLst xmlns:a="http://schemas.openxmlformats.org/drawingml/2006/main">
              <a:ext uri="{FF2B5EF4-FFF2-40B4-BE49-F238E27FC236}">
                <a16:creationId xmlns:a16="http://schemas.microsoft.com/office/drawing/2014/main" id="{2A513043-882B-4729-A9EC-7843898F7521}"/>
              </a:ext>
            </a:extLst>
          </p:cNvPr>
          <p:cNvSpPr>
            <a:spLocks xmlns:a="http://schemas.openxmlformats.org/drawingml/2006/main" noGrp="1"/>
          </p:cNvSpPr>
          <p:nvPr/>
        </p:nvSpPr>
        <p:spPr>
          <a:xfrm xmlns:a="http://schemas.openxmlformats.org/drawingml/2006/main">
            <a:off x="742950" y="2809875"/>
            <a:ext cx="10001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725">
                <a:solidFill>
                  <a:srgbClr val="D9E2EC"/>
                </a:solidFill>
                <a:latin typeface="Arial"/>
                <a:ea typeface="Arial"/>
                <a:cs typeface="Arial"/>
              </a:defRPr>
            </a:pPr>
            <a:r>
              <a:rPr sz="1725">
                <a:solidFill>
                  <a:srgbClr val="D9E2EC"/>
                </a:solidFill>
                <a:latin typeface="Arial"/>
                <a:ea typeface="Arial"/>
                <a:cs typeface="Arial"/>
              </a:rPr>
              <a:t>Designing Data-Intensive Applications, Second Edition</a:t>
            </a:r>
          </a:p>
        </p:txBody>
      </p:sp>
      <p:sp>
        <p:nvSpPr>
          <p:cNvPr id="4" name="">
            <a:extLst xmlns:a="http://schemas.openxmlformats.org/drawingml/2006/main">
              <a:ext uri="{FF2B5EF4-FFF2-40B4-BE49-F238E27FC236}">
                <a16:creationId xmlns:a16="http://schemas.microsoft.com/office/drawing/2014/main" id="{5ABCACA8-4A68-432E-B842-6934ED1E2C14}"/>
              </a:ext>
            </a:extLst>
          </p:cNvPr>
          <p:cNvSpPr>
            <a:spLocks xmlns:a="http://schemas.openxmlformats.org/drawingml/2006/main" noGrp="1"/>
          </p:cNvSpPr>
          <p:nvPr/>
        </p:nvSpPr>
        <p:spPr>
          <a:xfrm xmlns:a="http://schemas.openxmlformats.org/drawingml/2006/main">
            <a:off x="742950" y="5286375"/>
            <a:ext cx="666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425">
                <a:solidFill>
                  <a:srgbClr val="BCCCDC"/>
                </a:solidFill>
                <a:latin typeface="Arial"/>
                <a:ea typeface="Arial"/>
                <a:cs typeface="Arial"/>
              </a:defRPr>
            </a:pPr>
            <a:r>
              <a:rPr sz="1425">
                <a:solidFill>
                  <a:srgbClr val="BCCCDC"/>
                </a:solidFill>
                <a:latin typeface="Arial"/>
                <a:ea typeface="Arial"/>
                <a:cs typeface="Arial"/>
              </a:rPr>
              <a:t>Detailed English Study Edition</a:t>
            </a:r>
          </a:p>
        </p:txBody>
      </p:sp>
      <p:sp>
        <p:nvSpPr>
          <p:cNvPr id="5" name="">
            <a:extLst xmlns:a="http://schemas.openxmlformats.org/drawingml/2006/main">
              <a:ext uri="{FF2B5EF4-FFF2-40B4-BE49-F238E27FC236}">
                <a16:creationId xmlns:a16="http://schemas.microsoft.com/office/drawing/2014/main" id="{57AE7D65-3EC6-4B60-8241-8D85949C4BD7}"/>
              </a:ext>
            </a:extLst>
          </p:cNvPr>
          <p:cNvSpPr>
            <a:spLocks xmlns:a="http://schemas.openxmlformats.org/drawingml/2006/main" noGrp="1"/>
          </p:cNvSpPr>
          <p:nvPr/>
        </p:nvSpPr>
        <p:spPr>
          <a:xfrm xmlns:a="http://schemas.openxmlformats.org/drawingml/2006/main">
            <a:off x="10096500" y="63817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lgn="r">
              <a:defRPr sz="975">
                <a:solidFill>
                  <a:srgbClr val="9FB3C8"/>
                </a:solidFill>
                <a:latin typeface="Arial"/>
                <a:ea typeface="Arial"/>
                <a:cs typeface="Arial"/>
              </a:defRPr>
            </a:pPr>
            <a:r>
              <a:rPr sz="975">
                <a:solidFill>
                  <a:srgbClr val="9FB3C8"/>
                </a:solidFill>
                <a:latin typeface="Arial"/>
                <a:ea typeface="Arial"/>
                <a:cs typeface="Arial"/>
              </a:rPr>
              <a:t>01 / 23</a:t>
            </a:r>
          </a:p>
        </p:txBody>
      </p:sp>
    </p:spTree>
    <p:extLst>
      <p:ext uri="{BB962C8B-B14F-4D97-AF65-F5344CB8AC3E}">
        <p14:creationId xmlns:p14="http://schemas.microsoft.com/office/powerpoint/2010/main" val="210392255"/>
      </p:ext>
    </p:extLst>
  </p:cSld>
</p:sld>
</file>

<file path=ppt/slides/slide2.xml><?xml version="1.0" encoding="utf-8"?>
<p:sld xmlns:p="http://schemas.openxmlformats.org/presentationml/2006/main">
  <p:cSld>
    <p:bg>
      <p:bgPr>
        <a:solidFill xmlns:a="http://schemas.openxmlformats.org/drawingml/2006/main">
          <a:srgbClr val="F8F5EE"/>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EC9C2D81-8937-46CA-8DAC-95C7D0EC581E}"/>
              </a:ext>
            </a:extLst>
          </p:cNvPr>
          <p:cNvSpPr>
            <a:spLocks xmlns:a="http://schemas.openxmlformats.org/drawingml/2006/main" noGrp="1"/>
          </p:cNvSpPr>
          <p:nvPr/>
        </p:nvSpPr>
        <p:spPr>
          <a:xfrm xmlns:a="http://schemas.openxmlformats.org/drawingml/2006/main">
            <a:off x="666750" y="30480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spc="2">
                <a:solidFill>
                  <a:srgbClr val="118AB2"/>
                </a:solidFill>
                <a:latin typeface="Arial"/>
                <a:ea typeface="Arial"/>
                <a:cs typeface="Arial"/>
              </a:defRPr>
            </a:pPr>
            <a:r>
              <a:rPr sz="1200" b="1" spc="2">
                <a:solidFill>
                  <a:srgbClr val="118AB2"/>
                </a:solidFill>
                <a:latin typeface="Arial"/>
                <a:ea typeface="Arial"/>
                <a:cs typeface="Arial"/>
              </a:rPr>
              <a:t>CHAPTER 10</a:t>
            </a:r>
          </a:p>
        </p:txBody>
      </p:sp>
      <p:sp>
        <p:nvSpPr>
          <p:cNvPr id="2" name="">
            <a:extLst xmlns:a="http://schemas.openxmlformats.org/drawingml/2006/main">
              <a:ext uri="{FF2B5EF4-FFF2-40B4-BE49-F238E27FC236}">
                <a16:creationId xmlns:a16="http://schemas.microsoft.com/office/drawing/2014/main" id="{FA9251C6-D950-46A0-AE68-145B3649753C}"/>
              </a:ext>
            </a:extLst>
          </p:cNvPr>
          <p:cNvSpPr>
            <a:spLocks xmlns:a="http://schemas.openxmlformats.org/drawingml/2006/main" noGrp="1"/>
          </p:cNvSpPr>
          <p:nvPr/>
        </p:nvSpPr>
        <p:spPr>
          <a:xfrm xmlns:a="http://schemas.openxmlformats.org/drawingml/2006/main">
            <a:off x="666750" y="6667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02A43"/>
                </a:solidFill>
                <a:latin typeface="Arial"/>
                <a:ea typeface="Arial"/>
                <a:cs typeface="Arial"/>
              </a:defRPr>
            </a:pPr>
            <a:r>
              <a:rPr sz="2550" b="1">
                <a:solidFill>
                  <a:srgbClr val="102A43"/>
                </a:solidFill>
                <a:latin typeface="Arial"/>
                <a:ea typeface="Arial"/>
                <a:cs typeface="Arial"/>
              </a:rPr>
              <a:t>Chapter map</a:t>
            </a:r>
          </a:p>
        </p:txBody>
      </p:sp>
      <p:sp>
        <p:nvSpPr>
          <p:cNvPr id="3" name="">
            <a:extLst xmlns:a="http://schemas.openxmlformats.org/drawingml/2006/main">
              <a:ext uri="{FF2B5EF4-FFF2-40B4-BE49-F238E27FC236}">
                <a16:creationId xmlns:a16="http://schemas.microsoft.com/office/drawing/2014/main" id="{D08F4158-EA09-4D1E-84F7-55189A2C2EA8}"/>
              </a:ext>
            </a:extLst>
          </p:cNvPr>
          <p:cNvSpPr>
            <a:spLocks xmlns:a="http://schemas.openxmlformats.org/drawingml/2006/main" noGrp="1"/>
          </p:cNvSpPr>
          <p:nvPr/>
        </p:nvSpPr>
        <p:spPr>
          <a:xfrm xmlns:a="http://schemas.openxmlformats.org/drawingml/2006/main">
            <a:off x="10096500" y="63817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lgn="r">
              <a:defRPr sz="975">
                <a:solidFill>
                  <a:srgbClr val="6B7C8F"/>
                </a:solidFill>
                <a:latin typeface="Arial"/>
                <a:ea typeface="Arial"/>
                <a:cs typeface="Arial"/>
              </a:defRPr>
            </a:pPr>
            <a:r>
              <a:rPr sz="975">
                <a:solidFill>
                  <a:srgbClr val="6B7C8F"/>
                </a:solidFill>
                <a:latin typeface="Arial"/>
                <a:ea typeface="Arial"/>
                <a:cs typeface="Arial"/>
              </a:rPr>
              <a:t>02 / 23</a:t>
            </a:r>
          </a:p>
        </p:txBody>
      </p:sp>
      <p:sp>
        <p:nvSpPr>
          <p:cNvPr id="4" name="">
            <a:extLst xmlns:a="http://schemas.openxmlformats.org/drawingml/2006/main">
              <a:ext uri="{FF2B5EF4-FFF2-40B4-BE49-F238E27FC236}">
                <a16:creationId xmlns:a16="http://schemas.microsoft.com/office/drawing/2014/main" id="{F78968BE-6D59-40C4-8CC9-EA117A6A272C}"/>
              </a:ext>
            </a:extLst>
          </p:cNvPr>
          <p:cNvSpPr>
            <a:spLocks xmlns:a="http://schemas.openxmlformats.org/drawingml/2006/main" noGrp="1"/>
          </p:cNvSpPr>
          <p:nvPr/>
        </p:nvSpPr>
        <p:spPr>
          <a:xfrm xmlns:a="http://schemas.openxmlformats.org/drawingml/2006/main">
            <a:off x="857250" y="1476375"/>
            <a:ext cx="762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2100" b="1">
                <a:solidFill>
                  <a:srgbClr val="118AB2"/>
                </a:solidFill>
                <a:latin typeface="Arial"/>
                <a:ea typeface="Arial"/>
                <a:cs typeface="Arial"/>
              </a:defRPr>
            </a:pPr>
            <a:r>
              <a:rPr sz="2100" b="1">
                <a:solidFill>
                  <a:srgbClr val="118AB2"/>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DB1EA6C2-61FF-473A-9399-4F8576E76ECC}"/>
              </a:ext>
            </a:extLst>
          </p:cNvPr>
          <p:cNvSpPr>
            <a:spLocks xmlns:a="http://schemas.openxmlformats.org/drawingml/2006/main" noGrp="1"/>
          </p:cNvSpPr>
          <p:nvPr/>
        </p:nvSpPr>
        <p:spPr>
          <a:xfrm xmlns:a="http://schemas.openxmlformats.org/drawingml/2006/main">
            <a:off x="1905000" y="1428750"/>
            <a:ext cx="4095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800" b="1">
                <a:solidFill>
                  <a:srgbClr val="17324D"/>
                </a:solidFill>
                <a:latin typeface="Arial"/>
                <a:ea typeface="Arial"/>
                <a:cs typeface="Arial"/>
              </a:defRPr>
            </a:pPr>
            <a:r>
              <a:rPr sz="1800" b="1">
                <a:solidFill>
                  <a:srgbClr val="17324D"/>
                </a:solidFill>
                <a:latin typeface="Arial"/>
                <a:ea typeface="Arial"/>
                <a:cs typeface="Arial"/>
              </a:rPr>
              <a:t>Linearizability</a:t>
            </a:r>
          </a:p>
        </p:txBody>
      </p:sp>
      <p:sp>
        <p:nvSpPr>
          <p:cNvPr id="6" name="">
            <a:extLst xmlns:a="http://schemas.openxmlformats.org/drawingml/2006/main">
              <a:ext uri="{FF2B5EF4-FFF2-40B4-BE49-F238E27FC236}">
                <a16:creationId xmlns:a16="http://schemas.microsoft.com/office/drawing/2014/main" id="{F69B32E9-9B7F-4521-B88D-645C036320DD}"/>
              </a:ext>
            </a:extLst>
          </p:cNvPr>
          <p:cNvSpPr>
            <a:spLocks xmlns:a="http://schemas.openxmlformats.org/drawingml/2006/main" noGrp="1"/>
          </p:cNvSpPr>
          <p:nvPr/>
        </p:nvSpPr>
        <p:spPr>
          <a:xfrm xmlns:a="http://schemas.openxmlformats.org/drawingml/2006/main">
            <a:off x="6191250" y="1428750"/>
            <a:ext cx="4953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52667A"/>
                </a:solidFill>
                <a:latin typeface="Arial"/>
                <a:ea typeface="Arial"/>
                <a:cs typeface="Arial"/>
              </a:defRPr>
            </a:pPr>
            <a:r>
              <a:rPr sz="1275">
                <a:solidFill>
                  <a:srgbClr val="52667A"/>
                </a:solidFill>
                <a:latin typeface="Arial"/>
                <a:ea typeface="Arial"/>
                <a:cs typeface="Arial"/>
              </a:rPr>
              <a:t>Each operation appears to take effect atomically between invocation and response.</a:t>
            </a:r>
          </a:p>
        </p:txBody>
      </p:sp>
      <p:sp>
        <p:nvSpPr>
          <p:cNvPr id="7" name="">
            <a:extLst xmlns:a="http://schemas.openxmlformats.org/drawingml/2006/main">
              <a:ext uri="{FF2B5EF4-FFF2-40B4-BE49-F238E27FC236}">
                <a16:creationId xmlns:a16="http://schemas.microsoft.com/office/drawing/2014/main" id="{01C888FD-88A8-4663-8804-012CCC0697B0}"/>
              </a:ext>
            </a:extLst>
          </p:cNvPr>
          <p:cNvSpPr>
            <a:spLocks xmlns:a="http://schemas.openxmlformats.org/drawingml/2006/main" noGrp="1"/>
          </p:cNvSpPr>
          <p:nvPr/>
        </p:nvSpPr>
        <p:spPr>
          <a:xfrm xmlns:a="http://schemas.openxmlformats.org/drawingml/2006/main">
            <a:off x="857250" y="2352675"/>
            <a:ext cx="762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2100" b="1">
                <a:solidFill>
                  <a:srgbClr val="118AB2"/>
                </a:solidFill>
                <a:latin typeface="Arial"/>
                <a:ea typeface="Arial"/>
                <a:cs typeface="Arial"/>
              </a:defRPr>
            </a:pPr>
            <a:r>
              <a:rPr sz="2100" b="1">
                <a:solidFill>
                  <a:srgbClr val="118AB2"/>
                </a:solidFill>
                <a:latin typeface="Arial"/>
                <a:ea typeface="Arial"/>
                <a:cs typeface="Arial"/>
              </a:rPr>
              <a:t>02</a:t>
            </a:r>
          </a:p>
        </p:txBody>
      </p:sp>
      <p:sp>
        <p:nvSpPr>
          <p:cNvPr id="8" name="">
            <a:extLst xmlns:a="http://schemas.openxmlformats.org/drawingml/2006/main">
              <a:ext uri="{FF2B5EF4-FFF2-40B4-BE49-F238E27FC236}">
                <a16:creationId xmlns:a16="http://schemas.microsoft.com/office/drawing/2014/main" id="{1FCFF6E7-88E8-4200-A9E0-88333D3FBE0E}"/>
              </a:ext>
            </a:extLst>
          </p:cNvPr>
          <p:cNvSpPr>
            <a:spLocks xmlns:a="http://schemas.openxmlformats.org/drawingml/2006/main" noGrp="1"/>
          </p:cNvSpPr>
          <p:nvPr/>
        </p:nvSpPr>
        <p:spPr>
          <a:xfrm xmlns:a="http://schemas.openxmlformats.org/drawingml/2006/main">
            <a:off x="1905000" y="2305050"/>
            <a:ext cx="4095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800" b="1">
                <a:solidFill>
                  <a:srgbClr val="17324D"/>
                </a:solidFill>
                <a:latin typeface="Arial"/>
                <a:ea typeface="Arial"/>
                <a:cs typeface="Arial"/>
              </a:defRPr>
            </a:pPr>
            <a:r>
              <a:rPr sz="1800" b="1">
                <a:solidFill>
                  <a:srgbClr val="17324D"/>
                </a:solidFill>
                <a:latin typeface="Arial"/>
                <a:ea typeface="Arial"/>
                <a:cs typeface="Arial"/>
              </a:rPr>
              <a:t>Where linearizability matters</a:t>
            </a:r>
          </a:p>
        </p:txBody>
      </p:sp>
      <p:sp>
        <p:nvSpPr>
          <p:cNvPr id="9" name="">
            <a:extLst xmlns:a="http://schemas.openxmlformats.org/drawingml/2006/main">
              <a:ext uri="{FF2B5EF4-FFF2-40B4-BE49-F238E27FC236}">
                <a16:creationId xmlns:a16="http://schemas.microsoft.com/office/drawing/2014/main" id="{FCD2CDE6-4371-4249-87DC-57565D05A741}"/>
              </a:ext>
            </a:extLst>
          </p:cNvPr>
          <p:cNvSpPr>
            <a:spLocks xmlns:a="http://schemas.openxmlformats.org/drawingml/2006/main" noGrp="1"/>
          </p:cNvSpPr>
          <p:nvPr/>
        </p:nvSpPr>
        <p:spPr>
          <a:xfrm xmlns:a="http://schemas.openxmlformats.org/drawingml/2006/main">
            <a:off x="6191250" y="2305050"/>
            <a:ext cx="4953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52667A"/>
                </a:solidFill>
                <a:latin typeface="Arial"/>
                <a:ea typeface="Arial"/>
                <a:cs typeface="Arial"/>
              </a:defRPr>
            </a:pPr>
            <a:r>
              <a:rPr sz="1275">
                <a:solidFill>
                  <a:srgbClr val="52667A"/>
                </a:solidFill>
                <a:latin typeface="Arial"/>
                <a:ea typeface="Arial"/>
                <a:cs typeface="Arial"/>
              </a:rPr>
              <a:t>Uniqueness constraints and leader election require agreement on current state.</a:t>
            </a:r>
          </a:p>
        </p:txBody>
      </p:sp>
      <p:sp>
        <p:nvSpPr>
          <p:cNvPr id="10" name="">
            <a:extLst xmlns:a="http://schemas.openxmlformats.org/drawingml/2006/main">
              <a:ext uri="{FF2B5EF4-FFF2-40B4-BE49-F238E27FC236}">
                <a16:creationId xmlns:a16="http://schemas.microsoft.com/office/drawing/2014/main" id="{D874B74D-0FBF-4A8C-B806-2282F1D36054}"/>
              </a:ext>
            </a:extLst>
          </p:cNvPr>
          <p:cNvSpPr>
            <a:spLocks xmlns:a="http://schemas.openxmlformats.org/drawingml/2006/main" noGrp="1"/>
          </p:cNvSpPr>
          <p:nvPr/>
        </p:nvSpPr>
        <p:spPr>
          <a:xfrm xmlns:a="http://schemas.openxmlformats.org/drawingml/2006/main">
            <a:off x="857250" y="3228975"/>
            <a:ext cx="762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2100" b="1">
                <a:solidFill>
                  <a:srgbClr val="118AB2"/>
                </a:solidFill>
                <a:latin typeface="Arial"/>
                <a:ea typeface="Arial"/>
                <a:cs typeface="Arial"/>
              </a:defRPr>
            </a:pPr>
            <a:r>
              <a:rPr sz="2100" b="1">
                <a:solidFill>
                  <a:srgbClr val="118AB2"/>
                </a:solidFill>
                <a:latin typeface="Arial"/>
                <a:ea typeface="Arial"/>
                <a:cs typeface="Arial"/>
              </a:rPr>
              <a:t>03</a:t>
            </a:r>
          </a:p>
        </p:txBody>
      </p:sp>
      <p:sp>
        <p:nvSpPr>
          <p:cNvPr id="11" name="">
            <a:extLst xmlns:a="http://schemas.openxmlformats.org/drawingml/2006/main">
              <a:ext uri="{FF2B5EF4-FFF2-40B4-BE49-F238E27FC236}">
                <a16:creationId xmlns:a16="http://schemas.microsoft.com/office/drawing/2014/main" id="{2E4ED021-17BE-4A5E-BCAE-99639D11849C}"/>
              </a:ext>
            </a:extLst>
          </p:cNvPr>
          <p:cNvSpPr>
            <a:spLocks xmlns:a="http://schemas.openxmlformats.org/drawingml/2006/main" noGrp="1"/>
          </p:cNvSpPr>
          <p:nvPr/>
        </p:nvSpPr>
        <p:spPr>
          <a:xfrm xmlns:a="http://schemas.openxmlformats.org/drawingml/2006/main">
            <a:off x="1905000" y="3181350"/>
            <a:ext cx="4095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800" b="1">
                <a:solidFill>
                  <a:srgbClr val="17324D"/>
                </a:solidFill>
                <a:latin typeface="Arial"/>
                <a:ea typeface="Arial"/>
                <a:cs typeface="Arial"/>
              </a:defRPr>
            </a:pPr>
            <a:r>
              <a:rPr sz="1800" b="1">
                <a:solidFill>
                  <a:srgbClr val="17324D"/>
                </a:solidFill>
                <a:latin typeface="Arial"/>
                <a:ea typeface="Arial"/>
                <a:cs typeface="Arial"/>
              </a:rPr>
              <a:t>Logical clocks and IDs</a:t>
            </a:r>
          </a:p>
        </p:txBody>
      </p:sp>
      <p:sp>
        <p:nvSpPr>
          <p:cNvPr id="12" name="">
            <a:extLst xmlns:a="http://schemas.openxmlformats.org/drawingml/2006/main">
              <a:ext uri="{FF2B5EF4-FFF2-40B4-BE49-F238E27FC236}">
                <a16:creationId xmlns:a16="http://schemas.microsoft.com/office/drawing/2014/main" id="{4430E5E0-FE26-4CDB-9B00-C8EF9BF6D719}"/>
              </a:ext>
            </a:extLst>
          </p:cNvPr>
          <p:cNvSpPr>
            <a:spLocks xmlns:a="http://schemas.openxmlformats.org/drawingml/2006/main" noGrp="1"/>
          </p:cNvSpPr>
          <p:nvPr/>
        </p:nvSpPr>
        <p:spPr>
          <a:xfrm xmlns:a="http://schemas.openxmlformats.org/drawingml/2006/main">
            <a:off x="6191250" y="3181350"/>
            <a:ext cx="4953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52667A"/>
                </a:solidFill>
                <a:latin typeface="Arial"/>
                <a:ea typeface="Arial"/>
                <a:cs typeface="Arial"/>
              </a:defRPr>
            </a:pPr>
            <a:r>
              <a:rPr sz="1275">
                <a:solidFill>
                  <a:srgbClr val="52667A"/>
                </a:solidFill>
                <a:latin typeface="Arial"/>
                <a:ea typeface="Arial"/>
                <a:cs typeface="Arial"/>
              </a:rPr>
              <a:t>Logical clocks express ordering without precise physical time.</a:t>
            </a:r>
          </a:p>
        </p:txBody>
      </p:sp>
      <p:sp>
        <p:nvSpPr>
          <p:cNvPr id="13" name="">
            <a:extLst xmlns:a="http://schemas.openxmlformats.org/drawingml/2006/main">
              <a:ext uri="{FF2B5EF4-FFF2-40B4-BE49-F238E27FC236}">
                <a16:creationId xmlns:a16="http://schemas.microsoft.com/office/drawing/2014/main" id="{85DE1C90-DD66-4147-AF55-FD9DB2B3BE62}"/>
              </a:ext>
            </a:extLst>
          </p:cNvPr>
          <p:cNvSpPr>
            <a:spLocks xmlns:a="http://schemas.openxmlformats.org/drawingml/2006/main" noGrp="1"/>
          </p:cNvSpPr>
          <p:nvPr/>
        </p:nvSpPr>
        <p:spPr>
          <a:xfrm xmlns:a="http://schemas.openxmlformats.org/drawingml/2006/main">
            <a:off x="857250" y="4105275"/>
            <a:ext cx="762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2100" b="1">
                <a:solidFill>
                  <a:srgbClr val="118AB2"/>
                </a:solidFill>
                <a:latin typeface="Arial"/>
                <a:ea typeface="Arial"/>
                <a:cs typeface="Arial"/>
              </a:defRPr>
            </a:pPr>
            <a:r>
              <a:rPr sz="2100" b="1">
                <a:solidFill>
                  <a:srgbClr val="118AB2"/>
                </a:solidFill>
                <a:latin typeface="Arial"/>
                <a:ea typeface="Arial"/>
                <a:cs typeface="Arial"/>
              </a:rPr>
              <a:t>04</a:t>
            </a:r>
          </a:p>
        </p:txBody>
      </p:sp>
      <p:sp>
        <p:nvSpPr>
          <p:cNvPr id="14" name="">
            <a:extLst xmlns:a="http://schemas.openxmlformats.org/drawingml/2006/main">
              <a:ext uri="{FF2B5EF4-FFF2-40B4-BE49-F238E27FC236}">
                <a16:creationId xmlns:a16="http://schemas.microsoft.com/office/drawing/2014/main" id="{77CE489E-B080-4D95-BCAC-040BCD55E4B1}"/>
              </a:ext>
            </a:extLst>
          </p:cNvPr>
          <p:cNvSpPr>
            <a:spLocks xmlns:a="http://schemas.openxmlformats.org/drawingml/2006/main" noGrp="1"/>
          </p:cNvSpPr>
          <p:nvPr/>
        </p:nvSpPr>
        <p:spPr>
          <a:xfrm xmlns:a="http://schemas.openxmlformats.org/drawingml/2006/main">
            <a:off x="1905000" y="4057650"/>
            <a:ext cx="4095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800" b="1">
                <a:solidFill>
                  <a:srgbClr val="17324D"/>
                </a:solidFill>
                <a:latin typeface="Arial"/>
                <a:ea typeface="Arial"/>
                <a:cs typeface="Arial"/>
              </a:defRPr>
            </a:pPr>
            <a:r>
              <a:rPr sz="1800" b="1">
                <a:solidFill>
                  <a:srgbClr val="17324D"/>
                </a:solidFill>
                <a:latin typeface="Arial"/>
                <a:ea typeface="Arial"/>
                <a:cs typeface="Arial"/>
              </a:rPr>
              <a:t>Consensus</a:t>
            </a:r>
          </a:p>
        </p:txBody>
      </p:sp>
      <p:sp>
        <p:nvSpPr>
          <p:cNvPr id="15" name="">
            <a:extLst xmlns:a="http://schemas.openxmlformats.org/drawingml/2006/main">
              <a:ext uri="{FF2B5EF4-FFF2-40B4-BE49-F238E27FC236}">
                <a16:creationId xmlns:a16="http://schemas.microsoft.com/office/drawing/2014/main" id="{AAB1C1E8-7142-4A66-8CA9-AEA75D91F0CF}"/>
              </a:ext>
            </a:extLst>
          </p:cNvPr>
          <p:cNvSpPr>
            <a:spLocks xmlns:a="http://schemas.openxmlformats.org/drawingml/2006/main" noGrp="1"/>
          </p:cNvSpPr>
          <p:nvPr/>
        </p:nvSpPr>
        <p:spPr>
          <a:xfrm xmlns:a="http://schemas.openxmlformats.org/drawingml/2006/main">
            <a:off x="6191250" y="4057650"/>
            <a:ext cx="4953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52667A"/>
                </a:solidFill>
                <a:latin typeface="Arial"/>
                <a:ea typeface="Arial"/>
                <a:cs typeface="Arial"/>
              </a:defRPr>
            </a:pPr>
            <a:r>
              <a:rPr sz="1275">
                <a:solidFill>
                  <a:srgbClr val="52667A"/>
                </a:solidFill>
                <a:latin typeface="Arial"/>
                <a:ea typeface="Arial"/>
                <a:cs typeface="Arial"/>
              </a:rPr>
              <a:t>Consensus lets nodes decide one value or an ordered log.</a:t>
            </a:r>
          </a:p>
        </p:txBody>
      </p:sp>
      <p:sp>
        <p:nvSpPr>
          <p:cNvPr id="16" name="">
            <a:extLst xmlns:a="http://schemas.openxmlformats.org/drawingml/2006/main">
              <a:ext uri="{FF2B5EF4-FFF2-40B4-BE49-F238E27FC236}">
                <a16:creationId xmlns:a16="http://schemas.microsoft.com/office/drawing/2014/main" id="{411CE1B1-3DF3-4D15-9AEC-C30A2B55E6CB}"/>
              </a:ext>
            </a:extLst>
          </p:cNvPr>
          <p:cNvSpPr>
            <a:spLocks xmlns:a="http://schemas.openxmlformats.org/drawingml/2006/main" noGrp="1"/>
          </p:cNvSpPr>
          <p:nvPr/>
        </p:nvSpPr>
        <p:spPr>
          <a:xfrm xmlns:a="http://schemas.openxmlformats.org/drawingml/2006/main">
            <a:off x="857250" y="4981575"/>
            <a:ext cx="762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2100" b="1">
                <a:solidFill>
                  <a:srgbClr val="118AB2"/>
                </a:solidFill>
                <a:latin typeface="Arial"/>
                <a:ea typeface="Arial"/>
                <a:cs typeface="Arial"/>
              </a:defRPr>
            </a:pPr>
            <a:r>
              <a:rPr sz="2100" b="1">
                <a:solidFill>
                  <a:srgbClr val="118AB2"/>
                </a:solidFill>
                <a:latin typeface="Arial"/>
                <a:ea typeface="Arial"/>
                <a:cs typeface="Arial"/>
              </a:rPr>
              <a:t>05</a:t>
            </a:r>
          </a:p>
        </p:txBody>
      </p:sp>
      <p:sp>
        <p:nvSpPr>
          <p:cNvPr id="17" name="">
            <a:extLst xmlns:a="http://schemas.openxmlformats.org/drawingml/2006/main">
              <a:ext uri="{FF2B5EF4-FFF2-40B4-BE49-F238E27FC236}">
                <a16:creationId xmlns:a16="http://schemas.microsoft.com/office/drawing/2014/main" id="{35F1D0B7-3910-43D6-8455-FD66F20E35E6}"/>
              </a:ext>
            </a:extLst>
          </p:cNvPr>
          <p:cNvSpPr>
            <a:spLocks xmlns:a="http://schemas.openxmlformats.org/drawingml/2006/main" noGrp="1"/>
          </p:cNvSpPr>
          <p:nvPr/>
        </p:nvSpPr>
        <p:spPr>
          <a:xfrm xmlns:a="http://schemas.openxmlformats.org/drawingml/2006/main">
            <a:off x="1905000" y="4933950"/>
            <a:ext cx="4095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800" b="1">
                <a:solidFill>
                  <a:srgbClr val="17324D"/>
                </a:solidFill>
                <a:latin typeface="Arial"/>
                <a:ea typeface="Arial"/>
                <a:cs typeface="Arial"/>
              </a:defRPr>
            </a:pPr>
            <a:r>
              <a:rPr sz="1800" b="1">
                <a:solidFill>
                  <a:srgbClr val="17324D"/>
                </a:solidFill>
                <a:latin typeface="Arial"/>
                <a:ea typeface="Arial"/>
                <a:cs typeface="Arial"/>
              </a:rPr>
              <a:t>Coordination in practice</a:t>
            </a:r>
          </a:p>
        </p:txBody>
      </p:sp>
      <p:sp>
        <p:nvSpPr>
          <p:cNvPr id="18" name="">
            <a:extLst xmlns:a="http://schemas.openxmlformats.org/drawingml/2006/main">
              <a:ext uri="{FF2B5EF4-FFF2-40B4-BE49-F238E27FC236}">
                <a16:creationId xmlns:a16="http://schemas.microsoft.com/office/drawing/2014/main" id="{CFA4AAED-2219-4A29-ACE1-DD105D4908CF}"/>
              </a:ext>
            </a:extLst>
          </p:cNvPr>
          <p:cNvSpPr>
            <a:spLocks xmlns:a="http://schemas.openxmlformats.org/drawingml/2006/main" noGrp="1"/>
          </p:cNvSpPr>
          <p:nvPr/>
        </p:nvSpPr>
        <p:spPr>
          <a:xfrm xmlns:a="http://schemas.openxmlformats.org/drawingml/2006/main">
            <a:off x="6191250" y="4933950"/>
            <a:ext cx="4953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52667A"/>
                </a:solidFill>
                <a:latin typeface="Arial"/>
                <a:ea typeface="Arial"/>
                <a:cs typeface="Arial"/>
              </a:defRPr>
            </a:pPr>
            <a:r>
              <a:rPr sz="1275">
                <a:solidFill>
                  <a:srgbClr val="52667A"/>
                </a:solidFill>
                <a:latin typeface="Arial"/>
                <a:ea typeface="Arial"/>
                <a:cs typeface="Arial"/>
              </a:rPr>
              <a:t>Consensus commonly powers replicated logs and metadata services.</a:t>
            </a:r>
          </a:p>
        </p:txBody>
      </p:sp>
    </p:spTree>
    <p:extLst>
      <p:ext uri="{BB962C8B-B14F-4D97-AF65-F5344CB8AC3E}">
        <p14:creationId xmlns:p14="http://schemas.microsoft.com/office/powerpoint/2010/main" val="1313011511"/>
      </p:ext>
    </p:extLst>
  </p:cSld>
</p:sld>
</file>

<file path=ppt/slides/slide3.xml><?xml version="1.0" encoding="utf-8"?>
<p:sld xmlns:p="http://schemas.openxmlformats.org/presentationml/2006/main">
  <p:cSld>
    <p:bg>
      <p:bgPr>
        <a:solidFill xmlns:a="http://schemas.openxmlformats.org/drawingml/2006/main">
          <a:srgbClr val="F8F5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92CEE04-8AA8-45B2-B69E-81BE3C99E7A5}"/>
              </a:ext>
            </a:extLst>
          </p:cNvPr>
          <p:cNvSpPr>
            <a:spLocks xmlns:a="http://schemas.openxmlformats.org/drawingml/2006/main" noGrp="1"/>
          </p:cNvSpPr>
          <p:nvPr/>
        </p:nvSpPr>
        <p:spPr>
          <a:xfrm xmlns:a="http://schemas.openxmlformats.org/drawingml/2006/main">
            <a:off x="666750" y="30480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spc="2">
                <a:solidFill>
                  <a:srgbClr val="118AB2"/>
                </a:solidFill>
                <a:latin typeface="Arial"/>
                <a:ea typeface="Arial"/>
                <a:cs typeface="Arial"/>
              </a:defRPr>
            </a:pPr>
            <a:r>
              <a:rPr sz="1200" b="1" spc="2">
                <a:solidFill>
                  <a:srgbClr val="118AB2"/>
                </a:solidFill>
                <a:latin typeface="Arial"/>
                <a:ea typeface="Arial"/>
                <a:cs typeface="Arial"/>
              </a:rPr>
              <a:t>CHAPTER 10</a:t>
            </a:r>
          </a:p>
        </p:txBody>
      </p:sp>
      <p:sp>
        <p:nvSpPr>
          <p:cNvPr id="2" name="">
            <a:extLst xmlns:a="http://schemas.openxmlformats.org/drawingml/2006/main">
              <a:ext uri="{FF2B5EF4-FFF2-40B4-BE49-F238E27FC236}">
                <a16:creationId xmlns:a16="http://schemas.microsoft.com/office/drawing/2014/main" id="{7F4E44BC-22FC-46C4-889F-DDC599CE2CDD}"/>
              </a:ext>
            </a:extLst>
          </p:cNvPr>
          <p:cNvSpPr>
            <a:spLocks xmlns:a="http://schemas.openxmlformats.org/drawingml/2006/main" noGrp="1"/>
          </p:cNvSpPr>
          <p:nvPr/>
        </p:nvSpPr>
        <p:spPr>
          <a:xfrm xmlns:a="http://schemas.openxmlformats.org/drawingml/2006/main">
            <a:off x="666750" y="6667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02A43"/>
                </a:solidFill>
                <a:latin typeface="Arial"/>
                <a:ea typeface="Arial"/>
                <a:cs typeface="Arial"/>
              </a:defRPr>
            </a:pPr>
            <a:r>
              <a:rPr sz="2550" b="1">
                <a:solidFill>
                  <a:srgbClr val="102A43"/>
                </a:solidFill>
                <a:latin typeface="Arial"/>
                <a:ea typeface="Arial"/>
                <a:cs typeface="Arial"/>
              </a:rPr>
              <a:t>Linearizability</a:t>
            </a:r>
          </a:p>
        </p:txBody>
      </p:sp>
      <p:sp>
        <p:nvSpPr>
          <p:cNvPr id="3" name="">
            <a:extLst xmlns:a="http://schemas.openxmlformats.org/drawingml/2006/main">
              <a:ext uri="{FF2B5EF4-FFF2-40B4-BE49-F238E27FC236}">
                <a16:creationId xmlns:a16="http://schemas.microsoft.com/office/drawing/2014/main" id="{BBC99DA8-9BEF-4A21-8D3B-873CD8406442}"/>
              </a:ext>
            </a:extLst>
          </p:cNvPr>
          <p:cNvSpPr>
            <a:spLocks xmlns:a="http://schemas.openxmlformats.org/drawingml/2006/main" noGrp="1"/>
          </p:cNvSpPr>
          <p:nvPr/>
        </p:nvSpPr>
        <p:spPr>
          <a:xfrm xmlns:a="http://schemas.openxmlformats.org/drawingml/2006/main">
            <a:off x="10096500" y="63817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lgn="r">
              <a:defRPr sz="975">
                <a:solidFill>
                  <a:srgbClr val="6B7C8F"/>
                </a:solidFill>
                <a:latin typeface="Arial"/>
                <a:ea typeface="Arial"/>
                <a:cs typeface="Arial"/>
              </a:defRPr>
            </a:pPr>
            <a:r>
              <a:rPr sz="975">
                <a:solidFill>
                  <a:srgbClr val="6B7C8F"/>
                </a:solidFill>
                <a:latin typeface="Arial"/>
                <a:ea typeface="Arial"/>
                <a:cs typeface="Arial"/>
              </a:rPr>
              <a:t>03 / 23</a:t>
            </a:r>
          </a:p>
        </p:txBody>
      </p:sp>
      <p:sp>
        <p:nvSpPr>
          <p:cNvPr id="4" name="">
            <a:extLst xmlns:a="http://schemas.openxmlformats.org/drawingml/2006/main">
              <a:ext uri="{FF2B5EF4-FFF2-40B4-BE49-F238E27FC236}">
                <a16:creationId xmlns:a16="http://schemas.microsoft.com/office/drawing/2014/main" id="{7ADFDE8F-4024-4FE2-9610-28C7D68A0642}"/>
              </a:ext>
            </a:extLst>
          </p:cNvPr>
          <p:cNvSpPr>
            <a:spLocks xmlns:a="http://schemas.openxmlformats.org/drawingml/2006/main" noGrp="1"/>
          </p:cNvSpPr>
          <p:nvPr/>
        </p:nvSpPr>
        <p:spPr>
          <a:xfrm xmlns:a="http://schemas.openxmlformats.org/drawingml/2006/main">
            <a:off x="685800" y="1571625"/>
            <a:ext cx="17145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6750" b="1">
                <a:solidFill>
                  <a:srgbClr val="118AB2"/>
                </a:solidFill>
                <a:latin typeface="Arial"/>
                <a:ea typeface="Arial"/>
                <a:cs typeface="Arial"/>
              </a:defRPr>
            </a:pPr>
            <a:r>
              <a:rPr sz="6750" b="1">
                <a:solidFill>
                  <a:srgbClr val="118AB2"/>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D27616E6-693B-45FF-ABD3-167AA114C979}"/>
              </a:ext>
            </a:extLst>
          </p:cNvPr>
          <p:cNvSpPr>
            <a:spLocks xmlns:a="http://schemas.openxmlformats.org/drawingml/2006/main" noGrp="1"/>
          </p:cNvSpPr>
          <p:nvPr/>
        </p:nvSpPr>
        <p:spPr>
          <a:xfrm xmlns:a="http://schemas.openxmlformats.org/drawingml/2006/main">
            <a:off x="2857500" y="1571625"/>
            <a:ext cx="80962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marL="228600" indent="-114300">
              <a:spcAft>
                <a:spcPts val="1000"/>
              </a:spcAft>
              <a:buChar char="•"/>
              <a:defRPr sz="1725">
                <a:solidFill>
                  <a:srgbClr val="17324D"/>
                </a:solidFill>
                <a:latin typeface="Arial"/>
                <a:ea typeface="Arial"/>
                <a:cs typeface="Arial"/>
              </a:defRPr>
            </a:pPr>
            <a:r>
              <a:rPr sz="1725">
                <a:solidFill>
                  <a:srgbClr val="17324D"/>
                </a:solidFill>
                <a:latin typeface="Arial"/>
                <a:ea typeface="Arial"/>
                <a:cs typeface="Arial"/>
              </a:rPr>
              <a:t>Each operation appears to take effect atomically between invocation and response.</a:t>
            </a:r>
          </a:p>
          <a:p xmlns:a="http://schemas.openxmlformats.org/drawingml/2006/main">
            <a:pPr marL="228600" indent="-114300">
              <a:spcAft>
                <a:spcPts val="1000"/>
              </a:spcAft>
              <a:buChar char="•"/>
              <a:defRPr sz="1725">
                <a:solidFill>
                  <a:srgbClr val="17324D"/>
                </a:solidFill>
                <a:latin typeface="Arial"/>
                <a:ea typeface="Arial"/>
                <a:cs typeface="Arial"/>
              </a:defRPr>
            </a:pPr>
            <a:r>
              <a:rPr sz="1725">
                <a:solidFill>
                  <a:srgbClr val="17324D"/>
                </a:solidFill>
                <a:latin typeface="Arial"/>
                <a:ea typeface="Arial"/>
                <a:cs typeface="Arial"/>
              </a:rPr>
              <a:t>The system behaves as if it had one up-to-date copy.</a:t>
            </a:r>
          </a:p>
          <a:p xmlns:a="http://schemas.openxmlformats.org/drawingml/2006/main">
            <a:pPr marL="228600" indent="-114300">
              <a:spcAft>
                <a:spcPts val="1000"/>
              </a:spcAft>
              <a:buChar char="•"/>
              <a:defRPr sz="1725">
                <a:solidFill>
                  <a:srgbClr val="17324D"/>
                </a:solidFill>
                <a:latin typeface="Arial"/>
                <a:ea typeface="Arial"/>
                <a:cs typeface="Arial"/>
              </a:defRPr>
            </a:pPr>
            <a:r>
              <a:rPr sz="1725">
                <a:solidFill>
                  <a:srgbClr val="17324D"/>
                </a:solidFill>
                <a:latin typeface="Arial"/>
                <a:ea typeface="Arial"/>
                <a:cs typeface="Arial"/>
              </a:rPr>
              <a:t>Coordination raises latency and limits availability during partitions.</a:t>
            </a:r>
          </a:p>
        </p:txBody>
      </p:sp>
      <p:sp>
        <p:nvSpPr>
          <p:cNvPr id="6" name="">
            <a:extLst xmlns:a="http://schemas.openxmlformats.org/drawingml/2006/main">
              <a:ext uri="{FF2B5EF4-FFF2-40B4-BE49-F238E27FC236}">
                <a16:creationId xmlns:a16="http://schemas.microsoft.com/office/drawing/2014/main" id="{03083C29-E952-4700-9475-C3406344B7AC}"/>
              </a:ext>
            </a:extLst>
          </p:cNvPr>
          <p:cNvSpPr>
            <a:spLocks xmlns:a="http://schemas.openxmlformats.org/drawingml/2006/main" noGrp="1"/>
          </p:cNvSpPr>
          <p:nvPr/>
        </p:nvSpPr>
        <p:spPr>
          <a:xfrm xmlns:a="http://schemas.openxmlformats.org/drawingml/2006/main">
            <a:off x="2857500" y="5000625"/>
            <a:ext cx="152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118AB2"/>
                </a:solidFill>
                <a:latin typeface="Arial"/>
                <a:ea typeface="Arial"/>
                <a:cs typeface="Arial"/>
              </a:defRPr>
            </a:pPr>
            <a:r>
              <a:rPr sz="1200" b="1">
                <a:solidFill>
                  <a:srgbClr val="118AB2"/>
                </a:solidFill>
                <a:latin typeface="Arial"/>
                <a:ea typeface="Arial"/>
                <a:cs typeface="Arial"/>
              </a:rPr>
              <a:t>Core question</a:t>
            </a:r>
          </a:p>
        </p:txBody>
      </p:sp>
      <p:sp>
        <p:nvSpPr>
          <p:cNvPr id="7" name="">
            <a:extLst xmlns:a="http://schemas.openxmlformats.org/drawingml/2006/main">
              <a:ext uri="{FF2B5EF4-FFF2-40B4-BE49-F238E27FC236}">
                <a16:creationId xmlns:a16="http://schemas.microsoft.com/office/drawing/2014/main" id="{9DA8C4F6-EB56-4AD0-AD5E-76FCC39B6CB0}"/>
              </a:ext>
            </a:extLst>
          </p:cNvPr>
          <p:cNvSpPr>
            <a:spLocks xmlns:a="http://schemas.openxmlformats.org/drawingml/2006/main" noGrp="1"/>
          </p:cNvSpPr>
          <p:nvPr/>
        </p:nvSpPr>
        <p:spPr>
          <a:xfrm xmlns:a="http://schemas.openxmlformats.org/drawingml/2006/main">
            <a:off x="2857500" y="5286375"/>
            <a:ext cx="8096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500">
                <a:solidFill>
                  <a:srgbClr val="52667A"/>
                </a:solidFill>
                <a:latin typeface="Arial"/>
                <a:ea typeface="Arial"/>
                <a:cs typeface="Arial"/>
              </a:defRPr>
            </a:pPr>
            <a:r>
              <a:rPr sz="1500">
                <a:solidFill>
                  <a:srgbClr val="52667A"/>
                </a:solidFill>
                <a:latin typeface="Arial"/>
                <a:ea typeface="Arial"/>
                <a:cs typeface="Arial"/>
              </a:rPr>
              <a:t>What problem does it solve, and what does it cost under failure, growth, and change?</a:t>
            </a:r>
          </a:p>
        </p:txBody>
      </p:sp>
    </p:spTree>
    <p:extLst>
      <p:ext uri="{BB962C8B-B14F-4D97-AF65-F5344CB8AC3E}">
        <p14:creationId xmlns:p14="http://schemas.microsoft.com/office/powerpoint/2010/main" val="977769369"/>
      </p:ext>
    </p:extLst>
  </p:cSld>
</p:sld>
</file>

<file path=ppt/slides/slide4.xml><?xml version="1.0" encoding="utf-8"?>
<p:sld xmlns:p="http://schemas.openxmlformats.org/presentationml/2006/main">
  <p:cSld>
    <p:bg>
      <p:bgPr>
        <a:solidFill xmlns:a="http://schemas.openxmlformats.org/drawingml/2006/main">
          <a:srgbClr val="F8F5EE"/>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ED6B554-207C-472F-B368-44D3C9ECEF90}"/>
              </a:ext>
            </a:extLst>
          </p:cNvPr>
          <p:cNvSpPr>
            <a:spLocks xmlns:a="http://schemas.openxmlformats.org/drawingml/2006/main" noGrp="1"/>
          </p:cNvSpPr>
          <p:nvPr/>
        </p:nvSpPr>
        <p:spPr>
          <a:xfrm xmlns:a="http://schemas.openxmlformats.org/drawingml/2006/main">
            <a:off x="666750" y="30480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spc="2">
                <a:solidFill>
                  <a:srgbClr val="118AB2"/>
                </a:solidFill>
                <a:latin typeface="Arial"/>
                <a:ea typeface="Arial"/>
                <a:cs typeface="Arial"/>
              </a:defRPr>
            </a:pPr>
            <a:r>
              <a:rPr sz="1200" b="1" spc="2">
                <a:solidFill>
                  <a:srgbClr val="118AB2"/>
                </a:solidFill>
                <a:latin typeface="Arial"/>
                <a:ea typeface="Arial"/>
                <a:cs typeface="Arial"/>
              </a:rPr>
              <a:t>CHAPTER 10</a:t>
            </a:r>
          </a:p>
        </p:txBody>
      </p:sp>
      <p:sp>
        <p:nvSpPr>
          <p:cNvPr id="2" name="">
            <a:extLst xmlns:a="http://schemas.openxmlformats.org/drawingml/2006/main">
              <a:ext uri="{FF2B5EF4-FFF2-40B4-BE49-F238E27FC236}">
                <a16:creationId xmlns:a16="http://schemas.microsoft.com/office/drawing/2014/main" id="{FCDCF28E-DAED-47B0-9E43-E06DFF33C8FE}"/>
              </a:ext>
            </a:extLst>
          </p:cNvPr>
          <p:cNvSpPr>
            <a:spLocks xmlns:a="http://schemas.openxmlformats.org/drawingml/2006/main" noGrp="1"/>
          </p:cNvSpPr>
          <p:nvPr/>
        </p:nvSpPr>
        <p:spPr>
          <a:xfrm xmlns:a="http://schemas.openxmlformats.org/drawingml/2006/main">
            <a:off x="666750" y="6667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02A43"/>
                </a:solidFill>
                <a:latin typeface="Arial"/>
                <a:ea typeface="Arial"/>
                <a:cs typeface="Arial"/>
              </a:defRPr>
            </a:pPr>
            <a:r>
              <a:rPr sz="2550" b="1">
                <a:solidFill>
                  <a:srgbClr val="102A43"/>
                </a:solidFill>
                <a:latin typeface="Arial"/>
                <a:ea typeface="Arial"/>
                <a:cs typeface="Arial"/>
              </a:rPr>
              <a:t>Linearizability: design trade-offs</a:t>
            </a:r>
          </a:p>
        </p:txBody>
      </p:sp>
      <p:sp>
        <p:nvSpPr>
          <p:cNvPr id="3" name="">
            <a:extLst xmlns:a="http://schemas.openxmlformats.org/drawingml/2006/main">
              <a:ext uri="{FF2B5EF4-FFF2-40B4-BE49-F238E27FC236}">
                <a16:creationId xmlns:a16="http://schemas.microsoft.com/office/drawing/2014/main" id="{79806244-6691-43C6-A2AE-40B01789691E}"/>
              </a:ext>
            </a:extLst>
          </p:cNvPr>
          <p:cNvSpPr>
            <a:spLocks xmlns:a="http://schemas.openxmlformats.org/drawingml/2006/main" noGrp="1"/>
          </p:cNvSpPr>
          <p:nvPr/>
        </p:nvSpPr>
        <p:spPr>
          <a:xfrm xmlns:a="http://schemas.openxmlformats.org/drawingml/2006/main">
            <a:off x="10096500" y="63817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lgn="r">
              <a:defRPr sz="975">
                <a:solidFill>
                  <a:srgbClr val="6B7C8F"/>
                </a:solidFill>
                <a:latin typeface="Arial"/>
                <a:ea typeface="Arial"/>
                <a:cs typeface="Arial"/>
              </a:defRPr>
            </a:pPr>
            <a:r>
              <a:rPr sz="975">
                <a:solidFill>
                  <a:srgbClr val="6B7C8F"/>
                </a:solidFill>
                <a:latin typeface="Arial"/>
                <a:ea typeface="Arial"/>
                <a:cs typeface="Arial"/>
              </a:rPr>
              <a:t>04 / 23</a:t>
            </a:r>
          </a:p>
        </p:txBody>
      </p:sp>
      <p:sp>
        <p:nvSpPr>
          <p:cNvPr id="4" name="">
            <a:extLst xmlns:a="http://schemas.openxmlformats.org/drawingml/2006/main">
              <a:ext uri="{FF2B5EF4-FFF2-40B4-BE49-F238E27FC236}">
                <a16:creationId xmlns:a16="http://schemas.microsoft.com/office/drawing/2014/main" id="{38C815F2-44A5-4784-B7BF-723CBD150574}"/>
              </a:ext>
            </a:extLst>
          </p:cNvPr>
          <p:cNvSpPr>
            <a:spLocks xmlns:a="http://schemas.openxmlformats.org/drawingml/2006/main" noGrp="1"/>
          </p:cNvSpPr>
          <p:nvPr/>
        </p:nvSpPr>
        <p:spPr>
          <a:xfrm xmlns:a="http://schemas.openxmlformats.org/drawingml/2006/main">
            <a:off x="685800" y="1571625"/>
            <a:ext cx="17145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6750" b="1">
                <a:solidFill>
                  <a:srgbClr val="118AB2"/>
                </a:solidFill>
                <a:latin typeface="Arial"/>
                <a:ea typeface="Arial"/>
                <a:cs typeface="Arial"/>
              </a:defRPr>
            </a:pPr>
            <a:r>
              <a:rPr sz="6750" b="1">
                <a:solidFill>
                  <a:srgbClr val="118AB2"/>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8D263042-B84E-4354-9899-BB536EA67D39}"/>
              </a:ext>
            </a:extLst>
          </p:cNvPr>
          <p:cNvSpPr>
            <a:spLocks xmlns:a="http://schemas.openxmlformats.org/drawingml/2006/main" noGrp="1"/>
          </p:cNvSpPr>
          <p:nvPr/>
        </p:nvSpPr>
        <p:spPr>
          <a:xfrm xmlns:a="http://schemas.openxmlformats.org/drawingml/2006/main">
            <a:off x="2857500" y="1571625"/>
            <a:ext cx="8096250" cy="3714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marL="228600" indent="-114300">
              <a:spcAft>
                <a:spcPts val="1000"/>
              </a:spcAft>
              <a:buChar char="•"/>
              <a:defRPr sz="1575">
                <a:solidFill>
                  <a:srgbClr val="17324D"/>
                </a:solidFill>
                <a:latin typeface="Arial"/>
                <a:ea typeface="Arial"/>
                <a:cs typeface="Arial"/>
              </a:defRPr>
            </a:pPr>
            <a:r>
              <a:rPr sz="1575">
                <a:solidFill>
                  <a:srgbClr val="17324D"/>
                </a:solidFill>
                <a:latin typeface="Arial"/>
                <a:ea typeface="Arial"/>
                <a:cs typeface="Arial"/>
              </a:rPr>
              <a:t>Fit: Each operation appears to take effect atomically between invocation and response.</a:t>
            </a:r>
          </a:p>
          <a:p xmlns:a="http://schemas.openxmlformats.org/drawingml/2006/main">
            <a:pPr marL="228600" indent="-114300">
              <a:spcAft>
                <a:spcPts val="1000"/>
              </a:spcAft>
              <a:buChar char="•"/>
              <a:defRPr sz="1575">
                <a:solidFill>
                  <a:srgbClr val="17324D"/>
                </a:solidFill>
                <a:latin typeface="Arial"/>
                <a:ea typeface="Arial"/>
                <a:cs typeface="Arial"/>
              </a:defRPr>
            </a:pPr>
            <a:r>
              <a:rPr sz="1575">
                <a:solidFill>
                  <a:srgbClr val="17324D"/>
                </a:solidFill>
                <a:latin typeface="Arial"/>
                <a:ea typeface="Arial"/>
                <a:cs typeface="Arial"/>
              </a:rPr>
              <a:t>Cost: evaluate latency, throughput, consistency, and operational complexity.</a:t>
            </a:r>
          </a:p>
          <a:p xmlns:a="http://schemas.openxmlformats.org/drawingml/2006/main">
            <a:pPr marL="228600" indent="-114300">
              <a:spcAft>
                <a:spcPts val="1000"/>
              </a:spcAft>
              <a:buChar char="•"/>
              <a:defRPr sz="1575">
                <a:solidFill>
                  <a:srgbClr val="17324D"/>
                </a:solidFill>
                <a:latin typeface="Arial"/>
                <a:ea typeface="Arial"/>
                <a:cs typeface="Arial"/>
              </a:defRPr>
            </a:pPr>
            <a:r>
              <a:rPr sz="1575">
                <a:solidFill>
                  <a:srgbClr val="17324D"/>
                </a:solidFill>
                <a:latin typeface="Arial"/>
                <a:ea typeface="Arial"/>
                <a:cs typeface="Arial"/>
              </a:rPr>
              <a:t>Failure check: what state becomes visible when a node, network path, or dependency fails?</a:t>
            </a:r>
          </a:p>
          <a:p xmlns:a="http://schemas.openxmlformats.org/drawingml/2006/main">
            <a:pPr marL="228600" indent="-114300">
              <a:spcAft>
                <a:spcPts val="1000"/>
              </a:spcAft>
              <a:buChar char="•"/>
              <a:defRPr sz="1575">
                <a:solidFill>
                  <a:srgbClr val="17324D"/>
                </a:solidFill>
                <a:latin typeface="Arial"/>
                <a:ea typeface="Arial"/>
                <a:cs typeface="Arial"/>
              </a:defRPr>
            </a:pPr>
            <a:r>
              <a:rPr sz="1575">
                <a:solidFill>
                  <a:srgbClr val="17324D"/>
                </a:solidFill>
                <a:latin typeface="Arial"/>
                <a:ea typeface="Arial"/>
                <a:cs typeface="Arial"/>
              </a:rPr>
              <a:t>Evolution check: can formats, interfaces, and topology change through rolling upgrades?</a:t>
            </a:r>
          </a:p>
        </p:txBody>
      </p:sp>
    </p:spTree>
    <p:extLst>
      <p:ext uri="{BB962C8B-B14F-4D97-AF65-F5344CB8AC3E}">
        <p14:creationId xmlns:p14="http://schemas.microsoft.com/office/powerpoint/2010/main" val="1352704072"/>
      </p:ext>
    </p:extLst>
  </p:cSld>
</p:sld>
</file>

<file path=ppt/slides/slide5.xml><?xml version="1.0" encoding="utf-8"?>
<p:sld xmlns:p="http://schemas.openxmlformats.org/presentationml/2006/main">
  <p:cSld>
    <p:bg>
      <p:bgPr>
        <a:solidFill xmlns:a="http://schemas.openxmlformats.org/drawingml/2006/main">
          <a:srgbClr val="F8F5EE"/>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E82B0761-38EE-4DEC-92ED-B7964E5BEC24}"/>
              </a:ext>
            </a:extLst>
          </p:cNvPr>
          <p:cNvSpPr>
            <a:spLocks xmlns:a="http://schemas.openxmlformats.org/drawingml/2006/main" noGrp="1"/>
          </p:cNvSpPr>
          <p:nvPr/>
        </p:nvSpPr>
        <p:spPr>
          <a:xfrm xmlns:a="http://schemas.openxmlformats.org/drawingml/2006/main">
            <a:off x="666750" y="30480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spc="2">
                <a:solidFill>
                  <a:srgbClr val="118AB2"/>
                </a:solidFill>
                <a:latin typeface="Arial"/>
                <a:ea typeface="Arial"/>
                <a:cs typeface="Arial"/>
              </a:defRPr>
            </a:pPr>
            <a:r>
              <a:rPr sz="1200" b="1" spc="2">
                <a:solidFill>
                  <a:srgbClr val="118AB2"/>
                </a:solidFill>
                <a:latin typeface="Arial"/>
                <a:ea typeface="Arial"/>
                <a:cs typeface="Arial"/>
              </a:rPr>
              <a:t>CHAPTER 10</a:t>
            </a:r>
          </a:p>
        </p:txBody>
      </p:sp>
      <p:sp>
        <p:nvSpPr>
          <p:cNvPr id="2" name="">
            <a:extLst xmlns:a="http://schemas.openxmlformats.org/drawingml/2006/main">
              <a:ext uri="{FF2B5EF4-FFF2-40B4-BE49-F238E27FC236}">
                <a16:creationId xmlns:a16="http://schemas.microsoft.com/office/drawing/2014/main" id="{9B1C8B95-73AF-4078-BC65-9EFAD422A22C}"/>
              </a:ext>
            </a:extLst>
          </p:cNvPr>
          <p:cNvSpPr>
            <a:spLocks xmlns:a="http://schemas.openxmlformats.org/drawingml/2006/main" noGrp="1"/>
          </p:cNvSpPr>
          <p:nvPr/>
        </p:nvSpPr>
        <p:spPr>
          <a:xfrm xmlns:a="http://schemas.openxmlformats.org/drawingml/2006/main">
            <a:off x="666750" y="6667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02A43"/>
                </a:solidFill>
                <a:latin typeface="Arial"/>
                <a:ea typeface="Arial"/>
                <a:cs typeface="Arial"/>
              </a:defRPr>
            </a:pPr>
            <a:r>
              <a:rPr sz="2550" b="1">
                <a:solidFill>
                  <a:srgbClr val="102A43"/>
                </a:solidFill>
                <a:latin typeface="Arial"/>
                <a:ea typeface="Arial"/>
                <a:cs typeface="Arial"/>
              </a:rPr>
              <a:t>Figure 10-1: mechanism explained</a:t>
            </a:r>
          </a:p>
        </p:txBody>
      </p:sp>
      <p:sp>
        <p:nvSpPr>
          <p:cNvPr id="3" name="">
            <a:extLst xmlns:a="http://schemas.openxmlformats.org/drawingml/2006/main">
              <a:ext uri="{FF2B5EF4-FFF2-40B4-BE49-F238E27FC236}">
                <a16:creationId xmlns:a16="http://schemas.microsoft.com/office/drawing/2014/main" id="{57E7489D-83AC-41DE-B49C-2CD2AFF70486}"/>
              </a:ext>
            </a:extLst>
          </p:cNvPr>
          <p:cNvSpPr>
            <a:spLocks xmlns:a="http://schemas.openxmlformats.org/drawingml/2006/main" noGrp="1"/>
          </p:cNvSpPr>
          <p:nvPr/>
        </p:nvSpPr>
        <p:spPr>
          <a:xfrm xmlns:a="http://schemas.openxmlformats.org/drawingml/2006/main">
            <a:off x="10096500" y="63817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lgn="r">
              <a:defRPr sz="975">
                <a:solidFill>
                  <a:srgbClr val="6B7C8F"/>
                </a:solidFill>
                <a:latin typeface="Arial"/>
                <a:ea typeface="Arial"/>
                <a:cs typeface="Arial"/>
              </a:defRPr>
            </a:pPr>
            <a:r>
              <a:rPr sz="975">
                <a:solidFill>
                  <a:srgbClr val="6B7C8F"/>
                </a:solidFill>
                <a:latin typeface="Arial"/>
                <a:ea typeface="Arial"/>
                <a:cs typeface="Arial"/>
              </a:rPr>
              <a:t>05 / 23</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8200bc85356d4f1e"/>
          <a:stretch xmlns:a="http://schemas.openxmlformats.org/drawingml/2006/main"/>
        </p:blipFill>
        <p:spPr>
          <a:xfrm xmlns:a="http://schemas.openxmlformats.org/drawingml/2006/main">
            <a:off x="1235835" y="1285875"/>
            <a:ext cx="6319905" cy="47625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B2E8013F-D755-45B6-BDCB-53A204E7BAF9}"/>
              </a:ext>
            </a:extLst>
          </p:cNvPr>
          <p:cNvSpPr>
            <a:spLocks xmlns:a="http://schemas.openxmlformats.org/drawingml/2006/main" noGrp="1"/>
          </p:cNvSpPr>
          <p:nvPr/>
        </p:nvSpPr>
        <p:spPr>
          <a:xfrm xmlns:a="http://schemas.openxmlformats.org/drawingml/2006/main">
            <a:off x="8572500" y="142875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118AB2"/>
                </a:solidFill>
                <a:latin typeface="Arial"/>
                <a:ea typeface="Arial"/>
                <a:cs typeface="Arial"/>
              </a:defRPr>
            </a:pPr>
            <a:r>
              <a:rPr sz="1200" b="1">
                <a:solidFill>
                  <a:srgbClr val="118AB2"/>
                </a:solidFill>
                <a:latin typeface="Arial"/>
                <a:ea typeface="Arial"/>
                <a:cs typeface="Arial"/>
              </a:rPr>
              <a:t>What it shows</a:t>
            </a:r>
          </a:p>
        </p:txBody>
      </p:sp>
      <p:sp>
        <p:nvSpPr>
          <p:cNvPr id="6" name="">
            <a:extLst xmlns:a="http://schemas.openxmlformats.org/drawingml/2006/main">
              <a:ext uri="{FF2B5EF4-FFF2-40B4-BE49-F238E27FC236}">
                <a16:creationId xmlns:a16="http://schemas.microsoft.com/office/drawing/2014/main" id="{A2ADB053-BD82-466C-9A6C-6C0BAFD82A88}"/>
              </a:ext>
            </a:extLst>
          </p:cNvPr>
          <p:cNvSpPr>
            <a:spLocks xmlns:a="http://schemas.openxmlformats.org/drawingml/2006/main" noGrp="1"/>
          </p:cNvSpPr>
          <p:nvPr/>
        </p:nvSpPr>
        <p:spPr>
          <a:xfrm xmlns:a="http://schemas.openxmlformats.org/drawingml/2006/main">
            <a:off x="8572500" y="175260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40566B"/>
                </a:solidFill>
                <a:latin typeface="Arial"/>
                <a:ea typeface="Arial"/>
                <a:cs typeface="Arial"/>
              </a:defRPr>
            </a:pPr>
            <a:r>
              <a:rPr sz="1275">
                <a:solidFill>
                  <a:srgbClr val="40566B"/>
                </a:solidFill>
                <a:latin typeface="Arial"/>
                <a:ea typeface="Arial"/>
                <a:cs typeface="Arial"/>
              </a:rPr>
              <a:t>The timeline compares real-time order with the order visible to clients.</a:t>
            </a:r>
          </a:p>
        </p:txBody>
      </p:sp>
      <p:sp>
        <p:nvSpPr>
          <p:cNvPr id="7" name="">
            <a:extLst xmlns:a="http://schemas.openxmlformats.org/drawingml/2006/main">
              <a:ext uri="{FF2B5EF4-FFF2-40B4-BE49-F238E27FC236}">
                <a16:creationId xmlns:a16="http://schemas.microsoft.com/office/drawing/2014/main" id="{6323CF1B-B9C1-448B-9998-4E40CEFFCB3A}"/>
              </a:ext>
            </a:extLst>
          </p:cNvPr>
          <p:cNvSpPr>
            <a:spLocks xmlns:a="http://schemas.openxmlformats.org/drawingml/2006/main" noGrp="1"/>
          </p:cNvSpPr>
          <p:nvPr/>
        </p:nvSpPr>
        <p:spPr>
          <a:xfrm xmlns:a="http://schemas.openxmlformats.org/drawingml/2006/main">
            <a:off x="8572500" y="293370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118AB2"/>
                </a:solidFill>
                <a:latin typeface="Arial"/>
                <a:ea typeface="Arial"/>
                <a:cs typeface="Arial"/>
              </a:defRPr>
            </a:pPr>
            <a:r>
              <a:rPr sz="1200" b="1">
                <a:solidFill>
                  <a:srgbClr val="118AB2"/>
                </a:solidFill>
                <a:latin typeface="Arial"/>
                <a:ea typeface="Arial"/>
                <a:cs typeface="Arial"/>
              </a:rPr>
              <a:t>Why it matters</a:t>
            </a:r>
          </a:p>
        </p:txBody>
      </p:sp>
      <p:sp>
        <p:nvSpPr>
          <p:cNvPr id="8" name="">
            <a:extLst xmlns:a="http://schemas.openxmlformats.org/drawingml/2006/main">
              <a:ext uri="{FF2B5EF4-FFF2-40B4-BE49-F238E27FC236}">
                <a16:creationId xmlns:a16="http://schemas.microsoft.com/office/drawing/2014/main" id="{54D4B8B7-BD72-4D9E-A4F6-161DCA54A030}"/>
              </a:ext>
            </a:extLst>
          </p:cNvPr>
          <p:cNvSpPr>
            <a:spLocks xmlns:a="http://schemas.openxmlformats.org/drawingml/2006/main" noGrp="1"/>
          </p:cNvSpPr>
          <p:nvPr/>
        </p:nvSpPr>
        <p:spPr>
          <a:xfrm xmlns:a="http://schemas.openxmlformats.org/drawingml/2006/main">
            <a:off x="8572500" y="325755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40566B"/>
                </a:solidFill>
                <a:latin typeface="Arial"/>
                <a:ea typeface="Arial"/>
                <a:cs typeface="Arial"/>
              </a:defRPr>
            </a:pPr>
            <a:r>
              <a:rPr sz="1275">
                <a:solidFill>
                  <a:srgbClr val="40566B"/>
                </a:solidFill>
                <a:latin typeface="Arial"/>
                <a:ea typeface="Arial"/>
                <a:cs typeface="Arial"/>
              </a:rPr>
              <a:t>Stronger ordering simplifies correctness but requires coordination or logical metadata.</a:t>
            </a:r>
          </a:p>
        </p:txBody>
      </p:sp>
      <p:sp>
        <p:nvSpPr>
          <p:cNvPr id="9" name="">
            <a:extLst xmlns:a="http://schemas.openxmlformats.org/drawingml/2006/main">
              <a:ext uri="{FF2B5EF4-FFF2-40B4-BE49-F238E27FC236}">
                <a16:creationId xmlns:a16="http://schemas.microsoft.com/office/drawing/2014/main" id="{4830FEF0-370C-4C24-986F-1FC7E89230B2}"/>
              </a:ext>
            </a:extLst>
          </p:cNvPr>
          <p:cNvSpPr>
            <a:spLocks xmlns:a="http://schemas.openxmlformats.org/drawingml/2006/main" noGrp="1"/>
          </p:cNvSpPr>
          <p:nvPr/>
        </p:nvSpPr>
        <p:spPr>
          <a:xfrm xmlns:a="http://schemas.openxmlformats.org/drawingml/2006/main">
            <a:off x="8572500" y="443865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118AB2"/>
                </a:solidFill>
                <a:latin typeface="Arial"/>
                <a:ea typeface="Arial"/>
                <a:cs typeface="Arial"/>
              </a:defRPr>
            </a:pPr>
            <a:r>
              <a:rPr sz="1200" b="1">
                <a:solidFill>
                  <a:srgbClr val="118AB2"/>
                </a:solidFill>
                <a:latin typeface="Arial"/>
                <a:ea typeface="Arial"/>
                <a:cs typeface="Arial"/>
              </a:rPr>
              <a:t>What to watch</a:t>
            </a:r>
          </a:p>
        </p:txBody>
      </p:sp>
      <p:sp>
        <p:nvSpPr>
          <p:cNvPr id="10" name="">
            <a:extLst xmlns:a="http://schemas.openxmlformats.org/drawingml/2006/main">
              <a:ext uri="{FF2B5EF4-FFF2-40B4-BE49-F238E27FC236}">
                <a16:creationId xmlns:a16="http://schemas.microsoft.com/office/drawing/2014/main" id="{CBC3844A-010E-4A51-8704-2B1E4AE73B5D}"/>
              </a:ext>
            </a:extLst>
          </p:cNvPr>
          <p:cNvSpPr>
            <a:spLocks xmlns:a="http://schemas.openxmlformats.org/drawingml/2006/main" noGrp="1"/>
          </p:cNvSpPr>
          <p:nvPr/>
        </p:nvSpPr>
        <p:spPr>
          <a:xfrm xmlns:a="http://schemas.openxmlformats.org/drawingml/2006/main">
            <a:off x="8572500" y="476250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40566B"/>
                </a:solidFill>
                <a:latin typeface="Arial"/>
                <a:ea typeface="Arial"/>
                <a:cs typeface="Arial"/>
              </a:defRPr>
            </a:pPr>
            <a:r>
              <a:rPr sz="1275">
                <a:solidFill>
                  <a:srgbClr val="40566B"/>
                </a:solidFill>
                <a:latin typeface="Arial"/>
                <a:ea typeface="Arial"/>
                <a:cs typeface="Arial"/>
              </a:rPr>
              <a:t>Follow the arrows or timeline and test whether the conclusion still holds under failure, retry, and concurrency.</a:t>
            </a:r>
          </a:p>
        </p:txBody>
      </p:sp>
    </p:spTree>
    <p:extLst>
      <p:ext uri="{BB962C8B-B14F-4D97-AF65-F5344CB8AC3E}">
        <p14:creationId xmlns:p14="http://schemas.microsoft.com/office/powerpoint/2010/main" val="1420857980"/>
      </p:ext>
    </p:extLst>
  </p:cSld>
</p:sld>
</file>

<file path=ppt/slides/slide6.xml><?xml version="1.0" encoding="utf-8"?>
<p:sld xmlns:p="http://schemas.openxmlformats.org/presentationml/2006/main">
  <p:cSld>
    <p:bg>
      <p:bgPr>
        <a:solidFill xmlns:a="http://schemas.openxmlformats.org/drawingml/2006/main">
          <a:srgbClr val="F8F5EE"/>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073BC3BC-3F05-4D50-81B1-1BD97FC56AC7}"/>
              </a:ext>
            </a:extLst>
          </p:cNvPr>
          <p:cNvSpPr>
            <a:spLocks xmlns:a="http://schemas.openxmlformats.org/drawingml/2006/main" noGrp="1"/>
          </p:cNvSpPr>
          <p:nvPr/>
        </p:nvSpPr>
        <p:spPr>
          <a:xfrm xmlns:a="http://schemas.openxmlformats.org/drawingml/2006/main">
            <a:off x="666750" y="30480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spc="2">
                <a:solidFill>
                  <a:srgbClr val="118AB2"/>
                </a:solidFill>
                <a:latin typeface="Arial"/>
                <a:ea typeface="Arial"/>
                <a:cs typeface="Arial"/>
              </a:defRPr>
            </a:pPr>
            <a:r>
              <a:rPr sz="1200" b="1" spc="2">
                <a:solidFill>
                  <a:srgbClr val="118AB2"/>
                </a:solidFill>
                <a:latin typeface="Arial"/>
                <a:ea typeface="Arial"/>
                <a:cs typeface="Arial"/>
              </a:rPr>
              <a:t>CHAPTER 10</a:t>
            </a:r>
          </a:p>
        </p:txBody>
      </p:sp>
      <p:sp>
        <p:nvSpPr>
          <p:cNvPr id="2" name="">
            <a:extLst xmlns:a="http://schemas.openxmlformats.org/drawingml/2006/main">
              <a:ext uri="{FF2B5EF4-FFF2-40B4-BE49-F238E27FC236}">
                <a16:creationId xmlns:a16="http://schemas.microsoft.com/office/drawing/2014/main" id="{590A1698-1BF6-490E-B2CC-D759F60E326F}"/>
              </a:ext>
            </a:extLst>
          </p:cNvPr>
          <p:cNvSpPr>
            <a:spLocks xmlns:a="http://schemas.openxmlformats.org/drawingml/2006/main" noGrp="1"/>
          </p:cNvSpPr>
          <p:nvPr/>
        </p:nvSpPr>
        <p:spPr>
          <a:xfrm xmlns:a="http://schemas.openxmlformats.org/drawingml/2006/main">
            <a:off x="666750" y="6667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02A43"/>
                </a:solidFill>
                <a:latin typeface="Arial"/>
                <a:ea typeface="Arial"/>
                <a:cs typeface="Arial"/>
              </a:defRPr>
            </a:pPr>
            <a:r>
              <a:rPr sz="2550" b="1">
                <a:solidFill>
                  <a:srgbClr val="102A43"/>
                </a:solidFill>
                <a:latin typeface="Arial"/>
                <a:ea typeface="Arial"/>
                <a:cs typeface="Arial"/>
              </a:rPr>
              <a:t>Figure 10-2: mechanism explained</a:t>
            </a:r>
          </a:p>
        </p:txBody>
      </p:sp>
      <p:sp>
        <p:nvSpPr>
          <p:cNvPr id="3" name="">
            <a:extLst xmlns:a="http://schemas.openxmlformats.org/drawingml/2006/main">
              <a:ext uri="{FF2B5EF4-FFF2-40B4-BE49-F238E27FC236}">
                <a16:creationId xmlns:a16="http://schemas.microsoft.com/office/drawing/2014/main" id="{FF2A0230-EE9C-4A04-AADE-CD4827FB288F}"/>
              </a:ext>
            </a:extLst>
          </p:cNvPr>
          <p:cNvSpPr>
            <a:spLocks xmlns:a="http://schemas.openxmlformats.org/drawingml/2006/main" noGrp="1"/>
          </p:cNvSpPr>
          <p:nvPr/>
        </p:nvSpPr>
        <p:spPr>
          <a:xfrm xmlns:a="http://schemas.openxmlformats.org/drawingml/2006/main">
            <a:off x="10096500" y="63817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lgn="r">
              <a:defRPr sz="975">
                <a:solidFill>
                  <a:srgbClr val="6B7C8F"/>
                </a:solidFill>
                <a:latin typeface="Arial"/>
                <a:ea typeface="Arial"/>
                <a:cs typeface="Arial"/>
              </a:defRPr>
            </a:pPr>
            <a:r>
              <a:rPr sz="975">
                <a:solidFill>
                  <a:srgbClr val="6B7C8F"/>
                </a:solidFill>
                <a:latin typeface="Arial"/>
                <a:ea typeface="Arial"/>
                <a:cs typeface="Arial"/>
              </a:rPr>
              <a:t>06 / 23</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7b56476d7f0541ad"/>
          <a:stretch xmlns:a="http://schemas.openxmlformats.org/drawingml/2006/main"/>
        </p:blipFill>
        <p:spPr>
          <a:xfrm xmlns:a="http://schemas.openxmlformats.org/drawingml/2006/main">
            <a:off x="1235835" y="1285875"/>
            <a:ext cx="6319905" cy="47625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72C127D3-AF06-4027-83F1-F823D3BD078D}"/>
              </a:ext>
            </a:extLst>
          </p:cNvPr>
          <p:cNvSpPr>
            <a:spLocks xmlns:a="http://schemas.openxmlformats.org/drawingml/2006/main" noGrp="1"/>
          </p:cNvSpPr>
          <p:nvPr/>
        </p:nvSpPr>
        <p:spPr>
          <a:xfrm xmlns:a="http://schemas.openxmlformats.org/drawingml/2006/main">
            <a:off x="8572500" y="142875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118AB2"/>
                </a:solidFill>
                <a:latin typeface="Arial"/>
                <a:ea typeface="Arial"/>
                <a:cs typeface="Arial"/>
              </a:defRPr>
            </a:pPr>
            <a:r>
              <a:rPr sz="1200" b="1">
                <a:solidFill>
                  <a:srgbClr val="118AB2"/>
                </a:solidFill>
                <a:latin typeface="Arial"/>
                <a:ea typeface="Arial"/>
                <a:cs typeface="Arial"/>
              </a:rPr>
              <a:t>What it shows</a:t>
            </a:r>
          </a:p>
        </p:txBody>
      </p:sp>
      <p:sp>
        <p:nvSpPr>
          <p:cNvPr id="6" name="">
            <a:extLst xmlns:a="http://schemas.openxmlformats.org/drawingml/2006/main">
              <a:ext uri="{FF2B5EF4-FFF2-40B4-BE49-F238E27FC236}">
                <a16:creationId xmlns:a16="http://schemas.microsoft.com/office/drawing/2014/main" id="{5BC80BD0-F0CC-4895-B64D-8813953A37EA}"/>
              </a:ext>
            </a:extLst>
          </p:cNvPr>
          <p:cNvSpPr>
            <a:spLocks xmlns:a="http://schemas.openxmlformats.org/drawingml/2006/main" noGrp="1"/>
          </p:cNvSpPr>
          <p:nvPr/>
        </p:nvSpPr>
        <p:spPr>
          <a:xfrm xmlns:a="http://schemas.openxmlformats.org/drawingml/2006/main">
            <a:off x="8572500" y="175260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40566B"/>
                </a:solidFill>
                <a:latin typeface="Arial"/>
                <a:ea typeface="Arial"/>
                <a:cs typeface="Arial"/>
              </a:defRPr>
            </a:pPr>
            <a:r>
              <a:rPr sz="1275">
                <a:solidFill>
                  <a:srgbClr val="40566B"/>
                </a:solidFill>
                <a:latin typeface="Arial"/>
                <a:ea typeface="Arial"/>
                <a:cs typeface="Arial"/>
              </a:rPr>
              <a:t>If a read request is concurrent with a write request, it may return either the</a:t>
            </a:r>
          </a:p>
        </p:txBody>
      </p:sp>
      <p:sp>
        <p:nvSpPr>
          <p:cNvPr id="7" name="">
            <a:extLst xmlns:a="http://schemas.openxmlformats.org/drawingml/2006/main">
              <a:ext uri="{FF2B5EF4-FFF2-40B4-BE49-F238E27FC236}">
                <a16:creationId xmlns:a16="http://schemas.microsoft.com/office/drawing/2014/main" id="{7B12B302-2FA4-4B5A-AC99-E69562378E3E}"/>
              </a:ext>
            </a:extLst>
          </p:cNvPr>
          <p:cNvSpPr>
            <a:spLocks xmlns:a="http://schemas.openxmlformats.org/drawingml/2006/main" noGrp="1"/>
          </p:cNvSpPr>
          <p:nvPr/>
        </p:nvSpPr>
        <p:spPr>
          <a:xfrm xmlns:a="http://schemas.openxmlformats.org/drawingml/2006/main">
            <a:off x="8572500" y="293370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118AB2"/>
                </a:solidFill>
                <a:latin typeface="Arial"/>
                <a:ea typeface="Arial"/>
                <a:cs typeface="Arial"/>
              </a:defRPr>
            </a:pPr>
            <a:r>
              <a:rPr sz="1200" b="1">
                <a:solidFill>
                  <a:srgbClr val="118AB2"/>
                </a:solidFill>
                <a:latin typeface="Arial"/>
                <a:ea typeface="Arial"/>
                <a:cs typeface="Arial"/>
              </a:rPr>
              <a:t>Why it matters</a:t>
            </a:r>
          </a:p>
        </p:txBody>
      </p:sp>
      <p:sp>
        <p:nvSpPr>
          <p:cNvPr id="8" name="">
            <a:extLst xmlns:a="http://schemas.openxmlformats.org/drawingml/2006/main">
              <a:ext uri="{FF2B5EF4-FFF2-40B4-BE49-F238E27FC236}">
                <a16:creationId xmlns:a16="http://schemas.microsoft.com/office/drawing/2014/main" id="{6A06AF59-EA52-4611-BC05-E85504171062}"/>
              </a:ext>
            </a:extLst>
          </p:cNvPr>
          <p:cNvSpPr>
            <a:spLocks xmlns:a="http://schemas.openxmlformats.org/drawingml/2006/main" noGrp="1"/>
          </p:cNvSpPr>
          <p:nvPr/>
        </p:nvSpPr>
        <p:spPr>
          <a:xfrm xmlns:a="http://schemas.openxmlformats.org/drawingml/2006/main">
            <a:off x="8572500" y="325755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40566B"/>
                </a:solidFill>
                <a:latin typeface="Arial"/>
                <a:ea typeface="Arial"/>
                <a:cs typeface="Arial"/>
              </a:defRPr>
            </a:pPr>
            <a:r>
              <a:rPr sz="1275">
                <a:solidFill>
                  <a:srgbClr val="40566B"/>
                </a:solidFill>
                <a:latin typeface="Arial"/>
                <a:ea typeface="Arial"/>
                <a:cs typeface="Arial"/>
              </a:rPr>
              <a:t>It turns the chapter concept into a concrete dataflow, timeline, or state transition.</a:t>
            </a:r>
          </a:p>
        </p:txBody>
      </p:sp>
      <p:sp>
        <p:nvSpPr>
          <p:cNvPr id="9" name="">
            <a:extLst xmlns:a="http://schemas.openxmlformats.org/drawingml/2006/main">
              <a:ext uri="{FF2B5EF4-FFF2-40B4-BE49-F238E27FC236}">
                <a16:creationId xmlns:a16="http://schemas.microsoft.com/office/drawing/2014/main" id="{5A0D879C-2872-4094-896C-CF92D73BFC1C}"/>
              </a:ext>
            </a:extLst>
          </p:cNvPr>
          <p:cNvSpPr>
            <a:spLocks xmlns:a="http://schemas.openxmlformats.org/drawingml/2006/main" noGrp="1"/>
          </p:cNvSpPr>
          <p:nvPr/>
        </p:nvSpPr>
        <p:spPr>
          <a:xfrm xmlns:a="http://schemas.openxmlformats.org/drawingml/2006/main">
            <a:off x="8572500" y="443865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118AB2"/>
                </a:solidFill>
                <a:latin typeface="Arial"/>
                <a:ea typeface="Arial"/>
                <a:cs typeface="Arial"/>
              </a:defRPr>
            </a:pPr>
            <a:r>
              <a:rPr sz="1200" b="1">
                <a:solidFill>
                  <a:srgbClr val="118AB2"/>
                </a:solidFill>
                <a:latin typeface="Arial"/>
                <a:ea typeface="Arial"/>
                <a:cs typeface="Arial"/>
              </a:rPr>
              <a:t>What to watch</a:t>
            </a:r>
          </a:p>
        </p:txBody>
      </p:sp>
      <p:sp>
        <p:nvSpPr>
          <p:cNvPr id="10" name="">
            <a:extLst xmlns:a="http://schemas.openxmlformats.org/drawingml/2006/main">
              <a:ext uri="{FF2B5EF4-FFF2-40B4-BE49-F238E27FC236}">
                <a16:creationId xmlns:a16="http://schemas.microsoft.com/office/drawing/2014/main" id="{216204F2-3D6D-460D-A81D-5690F9DBEBC9}"/>
              </a:ext>
            </a:extLst>
          </p:cNvPr>
          <p:cNvSpPr>
            <a:spLocks xmlns:a="http://schemas.openxmlformats.org/drawingml/2006/main" noGrp="1"/>
          </p:cNvSpPr>
          <p:nvPr/>
        </p:nvSpPr>
        <p:spPr>
          <a:xfrm xmlns:a="http://schemas.openxmlformats.org/drawingml/2006/main">
            <a:off x="8572500" y="476250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40566B"/>
                </a:solidFill>
                <a:latin typeface="Arial"/>
                <a:ea typeface="Arial"/>
                <a:cs typeface="Arial"/>
              </a:defRPr>
            </a:pPr>
            <a:r>
              <a:rPr sz="1275">
                <a:solidFill>
                  <a:srgbClr val="40566B"/>
                </a:solidFill>
                <a:latin typeface="Arial"/>
                <a:ea typeface="Arial"/>
                <a:cs typeface="Arial"/>
              </a:rPr>
              <a:t>Check the actors, data direction, operation order, and hidden system assumptions.</a:t>
            </a:r>
          </a:p>
        </p:txBody>
      </p:sp>
    </p:spTree>
    <p:extLst>
      <p:ext uri="{BB962C8B-B14F-4D97-AF65-F5344CB8AC3E}">
        <p14:creationId xmlns:p14="http://schemas.microsoft.com/office/powerpoint/2010/main" val="973415035"/>
      </p:ext>
    </p:extLst>
  </p:cSld>
</p:sld>
</file>

<file path=ppt/slides/slide7.xml><?xml version="1.0" encoding="utf-8"?>
<p:sld xmlns:p="http://schemas.openxmlformats.org/presentationml/2006/main">
  <p:cSld>
    <p:bg>
      <p:bgPr>
        <a:solidFill xmlns:a="http://schemas.openxmlformats.org/drawingml/2006/main">
          <a:srgbClr val="F8F5EE"/>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6B108BA4-DADE-41FD-98AD-0755F896FE28}"/>
              </a:ext>
            </a:extLst>
          </p:cNvPr>
          <p:cNvSpPr>
            <a:spLocks xmlns:a="http://schemas.openxmlformats.org/drawingml/2006/main" noGrp="1"/>
          </p:cNvSpPr>
          <p:nvPr/>
        </p:nvSpPr>
        <p:spPr>
          <a:xfrm xmlns:a="http://schemas.openxmlformats.org/drawingml/2006/main">
            <a:off x="666750" y="30480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spc="2">
                <a:solidFill>
                  <a:srgbClr val="118AB2"/>
                </a:solidFill>
                <a:latin typeface="Arial"/>
                <a:ea typeface="Arial"/>
                <a:cs typeface="Arial"/>
              </a:defRPr>
            </a:pPr>
            <a:r>
              <a:rPr sz="1200" b="1" spc="2">
                <a:solidFill>
                  <a:srgbClr val="118AB2"/>
                </a:solidFill>
                <a:latin typeface="Arial"/>
                <a:ea typeface="Arial"/>
                <a:cs typeface="Arial"/>
              </a:rPr>
              <a:t>CHAPTER 10</a:t>
            </a:r>
          </a:p>
        </p:txBody>
      </p:sp>
      <p:sp>
        <p:nvSpPr>
          <p:cNvPr id="2" name="">
            <a:extLst xmlns:a="http://schemas.openxmlformats.org/drawingml/2006/main">
              <a:ext uri="{FF2B5EF4-FFF2-40B4-BE49-F238E27FC236}">
                <a16:creationId xmlns:a16="http://schemas.microsoft.com/office/drawing/2014/main" id="{056834A9-B93A-4B94-98F3-718578A8BCCD}"/>
              </a:ext>
            </a:extLst>
          </p:cNvPr>
          <p:cNvSpPr>
            <a:spLocks xmlns:a="http://schemas.openxmlformats.org/drawingml/2006/main" noGrp="1"/>
          </p:cNvSpPr>
          <p:nvPr/>
        </p:nvSpPr>
        <p:spPr>
          <a:xfrm xmlns:a="http://schemas.openxmlformats.org/drawingml/2006/main">
            <a:off x="666750" y="6667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02A43"/>
                </a:solidFill>
                <a:latin typeface="Arial"/>
                <a:ea typeface="Arial"/>
                <a:cs typeface="Arial"/>
              </a:defRPr>
            </a:pPr>
            <a:r>
              <a:rPr sz="2550" b="1">
                <a:solidFill>
                  <a:srgbClr val="102A43"/>
                </a:solidFill>
                <a:latin typeface="Arial"/>
                <a:ea typeface="Arial"/>
                <a:cs typeface="Arial"/>
              </a:rPr>
              <a:t>Figure 10-3: mechanism explained</a:t>
            </a:r>
          </a:p>
        </p:txBody>
      </p:sp>
      <p:sp>
        <p:nvSpPr>
          <p:cNvPr id="3" name="">
            <a:extLst xmlns:a="http://schemas.openxmlformats.org/drawingml/2006/main">
              <a:ext uri="{FF2B5EF4-FFF2-40B4-BE49-F238E27FC236}">
                <a16:creationId xmlns:a16="http://schemas.microsoft.com/office/drawing/2014/main" id="{A526D4CF-A1C8-4BFE-AD97-15EAAD8502FB}"/>
              </a:ext>
            </a:extLst>
          </p:cNvPr>
          <p:cNvSpPr>
            <a:spLocks xmlns:a="http://schemas.openxmlformats.org/drawingml/2006/main" noGrp="1"/>
          </p:cNvSpPr>
          <p:nvPr/>
        </p:nvSpPr>
        <p:spPr>
          <a:xfrm xmlns:a="http://schemas.openxmlformats.org/drawingml/2006/main">
            <a:off x="10096500" y="63817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lgn="r">
              <a:defRPr sz="975">
                <a:solidFill>
                  <a:srgbClr val="6B7C8F"/>
                </a:solidFill>
                <a:latin typeface="Arial"/>
                <a:ea typeface="Arial"/>
                <a:cs typeface="Arial"/>
              </a:defRPr>
            </a:pPr>
            <a:r>
              <a:rPr sz="975">
                <a:solidFill>
                  <a:srgbClr val="6B7C8F"/>
                </a:solidFill>
                <a:latin typeface="Arial"/>
                <a:ea typeface="Arial"/>
                <a:cs typeface="Arial"/>
              </a:rPr>
              <a:t>07 / 23</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bb54f0c2aacb43dd"/>
          <a:stretch xmlns:a="http://schemas.openxmlformats.org/drawingml/2006/main"/>
        </p:blipFill>
        <p:spPr>
          <a:xfrm xmlns:a="http://schemas.openxmlformats.org/drawingml/2006/main">
            <a:off x="1235835" y="1285875"/>
            <a:ext cx="6319905" cy="47625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F89F9B92-F924-43BF-A973-7BE42355620F}"/>
              </a:ext>
            </a:extLst>
          </p:cNvPr>
          <p:cNvSpPr>
            <a:spLocks xmlns:a="http://schemas.openxmlformats.org/drawingml/2006/main" noGrp="1"/>
          </p:cNvSpPr>
          <p:nvPr/>
        </p:nvSpPr>
        <p:spPr>
          <a:xfrm xmlns:a="http://schemas.openxmlformats.org/drawingml/2006/main">
            <a:off x="8572500" y="142875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118AB2"/>
                </a:solidFill>
                <a:latin typeface="Arial"/>
                <a:ea typeface="Arial"/>
                <a:cs typeface="Arial"/>
              </a:defRPr>
            </a:pPr>
            <a:r>
              <a:rPr sz="1200" b="1">
                <a:solidFill>
                  <a:srgbClr val="118AB2"/>
                </a:solidFill>
                <a:latin typeface="Arial"/>
                <a:ea typeface="Arial"/>
                <a:cs typeface="Arial"/>
              </a:rPr>
              <a:t>What it shows</a:t>
            </a:r>
          </a:p>
        </p:txBody>
      </p:sp>
      <p:sp>
        <p:nvSpPr>
          <p:cNvPr id="6" name="">
            <a:extLst xmlns:a="http://schemas.openxmlformats.org/drawingml/2006/main">
              <a:ext uri="{FF2B5EF4-FFF2-40B4-BE49-F238E27FC236}">
                <a16:creationId xmlns:a16="http://schemas.microsoft.com/office/drawing/2014/main" id="{1A4D41B9-480F-4823-9446-2D900CC50549}"/>
              </a:ext>
            </a:extLst>
          </p:cNvPr>
          <p:cNvSpPr>
            <a:spLocks xmlns:a="http://schemas.openxmlformats.org/drawingml/2006/main" noGrp="1"/>
          </p:cNvSpPr>
          <p:nvPr/>
        </p:nvSpPr>
        <p:spPr>
          <a:xfrm xmlns:a="http://schemas.openxmlformats.org/drawingml/2006/main">
            <a:off x="8572500" y="175260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40566B"/>
                </a:solidFill>
                <a:latin typeface="Arial"/>
                <a:ea typeface="Arial"/>
                <a:cs typeface="Arial"/>
              </a:defRPr>
            </a:pPr>
            <a:r>
              <a:rPr sz="1275">
                <a:solidFill>
                  <a:srgbClr val="40566B"/>
                </a:solidFill>
                <a:latin typeface="Arial"/>
                <a:ea typeface="Arial"/>
                <a:cs typeface="Arial"/>
              </a:rPr>
              <a:t>After any one read has returned the new value, all following reads (on the</a:t>
            </a:r>
          </a:p>
        </p:txBody>
      </p:sp>
      <p:sp>
        <p:nvSpPr>
          <p:cNvPr id="7" name="">
            <a:extLst xmlns:a="http://schemas.openxmlformats.org/drawingml/2006/main">
              <a:ext uri="{FF2B5EF4-FFF2-40B4-BE49-F238E27FC236}">
                <a16:creationId xmlns:a16="http://schemas.microsoft.com/office/drawing/2014/main" id="{8975C249-F1C6-4CDA-9A1E-4BB949028BA3}"/>
              </a:ext>
            </a:extLst>
          </p:cNvPr>
          <p:cNvSpPr>
            <a:spLocks xmlns:a="http://schemas.openxmlformats.org/drawingml/2006/main" noGrp="1"/>
          </p:cNvSpPr>
          <p:nvPr/>
        </p:nvSpPr>
        <p:spPr>
          <a:xfrm xmlns:a="http://schemas.openxmlformats.org/drawingml/2006/main">
            <a:off x="8572500" y="293370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118AB2"/>
                </a:solidFill>
                <a:latin typeface="Arial"/>
                <a:ea typeface="Arial"/>
                <a:cs typeface="Arial"/>
              </a:defRPr>
            </a:pPr>
            <a:r>
              <a:rPr sz="1200" b="1">
                <a:solidFill>
                  <a:srgbClr val="118AB2"/>
                </a:solidFill>
                <a:latin typeface="Arial"/>
                <a:ea typeface="Arial"/>
                <a:cs typeface="Arial"/>
              </a:rPr>
              <a:t>Why it matters</a:t>
            </a:r>
          </a:p>
        </p:txBody>
      </p:sp>
      <p:sp>
        <p:nvSpPr>
          <p:cNvPr id="8" name="">
            <a:extLst xmlns:a="http://schemas.openxmlformats.org/drawingml/2006/main">
              <a:ext uri="{FF2B5EF4-FFF2-40B4-BE49-F238E27FC236}">
                <a16:creationId xmlns:a16="http://schemas.microsoft.com/office/drawing/2014/main" id="{9EBB443D-6AC5-4FC7-9A64-6BB8AEAFD6A8}"/>
              </a:ext>
            </a:extLst>
          </p:cNvPr>
          <p:cNvSpPr>
            <a:spLocks xmlns:a="http://schemas.openxmlformats.org/drawingml/2006/main" noGrp="1"/>
          </p:cNvSpPr>
          <p:nvPr/>
        </p:nvSpPr>
        <p:spPr>
          <a:xfrm xmlns:a="http://schemas.openxmlformats.org/drawingml/2006/main">
            <a:off x="8572500" y="325755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40566B"/>
                </a:solidFill>
                <a:latin typeface="Arial"/>
                <a:ea typeface="Arial"/>
                <a:cs typeface="Arial"/>
              </a:defRPr>
            </a:pPr>
            <a:r>
              <a:rPr sz="1275">
                <a:solidFill>
                  <a:srgbClr val="40566B"/>
                </a:solidFill>
                <a:latin typeface="Arial"/>
                <a:ea typeface="Arial"/>
                <a:cs typeface="Arial"/>
              </a:rPr>
              <a:t>It turns the chapter concept into a concrete dataflow, timeline, or state transition.</a:t>
            </a:r>
          </a:p>
        </p:txBody>
      </p:sp>
      <p:sp>
        <p:nvSpPr>
          <p:cNvPr id="9" name="">
            <a:extLst xmlns:a="http://schemas.openxmlformats.org/drawingml/2006/main">
              <a:ext uri="{FF2B5EF4-FFF2-40B4-BE49-F238E27FC236}">
                <a16:creationId xmlns:a16="http://schemas.microsoft.com/office/drawing/2014/main" id="{D0A80CFD-DE67-4845-9669-149D699527CA}"/>
              </a:ext>
            </a:extLst>
          </p:cNvPr>
          <p:cNvSpPr>
            <a:spLocks xmlns:a="http://schemas.openxmlformats.org/drawingml/2006/main" noGrp="1"/>
          </p:cNvSpPr>
          <p:nvPr/>
        </p:nvSpPr>
        <p:spPr>
          <a:xfrm xmlns:a="http://schemas.openxmlformats.org/drawingml/2006/main">
            <a:off x="8572500" y="443865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118AB2"/>
                </a:solidFill>
                <a:latin typeface="Arial"/>
                <a:ea typeface="Arial"/>
                <a:cs typeface="Arial"/>
              </a:defRPr>
            </a:pPr>
            <a:r>
              <a:rPr sz="1200" b="1">
                <a:solidFill>
                  <a:srgbClr val="118AB2"/>
                </a:solidFill>
                <a:latin typeface="Arial"/>
                <a:ea typeface="Arial"/>
                <a:cs typeface="Arial"/>
              </a:rPr>
              <a:t>What to watch</a:t>
            </a:r>
          </a:p>
        </p:txBody>
      </p:sp>
      <p:sp>
        <p:nvSpPr>
          <p:cNvPr id="10" name="">
            <a:extLst xmlns:a="http://schemas.openxmlformats.org/drawingml/2006/main">
              <a:ext uri="{FF2B5EF4-FFF2-40B4-BE49-F238E27FC236}">
                <a16:creationId xmlns:a16="http://schemas.microsoft.com/office/drawing/2014/main" id="{56D832F8-A364-4335-9313-B79181632D76}"/>
              </a:ext>
            </a:extLst>
          </p:cNvPr>
          <p:cNvSpPr>
            <a:spLocks xmlns:a="http://schemas.openxmlformats.org/drawingml/2006/main" noGrp="1"/>
          </p:cNvSpPr>
          <p:nvPr/>
        </p:nvSpPr>
        <p:spPr>
          <a:xfrm xmlns:a="http://schemas.openxmlformats.org/drawingml/2006/main">
            <a:off x="8572500" y="476250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40566B"/>
                </a:solidFill>
                <a:latin typeface="Arial"/>
                <a:ea typeface="Arial"/>
                <a:cs typeface="Arial"/>
              </a:defRPr>
            </a:pPr>
            <a:r>
              <a:rPr sz="1275">
                <a:solidFill>
                  <a:srgbClr val="40566B"/>
                </a:solidFill>
                <a:latin typeface="Arial"/>
                <a:ea typeface="Arial"/>
                <a:cs typeface="Arial"/>
              </a:rPr>
              <a:t>Check the actors, data direction, operation order, and hidden system assumptions.</a:t>
            </a:r>
          </a:p>
        </p:txBody>
      </p:sp>
    </p:spTree>
    <p:extLst>
      <p:ext uri="{BB962C8B-B14F-4D97-AF65-F5344CB8AC3E}">
        <p14:creationId xmlns:p14="http://schemas.microsoft.com/office/powerpoint/2010/main" val="901353653"/>
      </p:ext>
    </p:extLst>
  </p:cSld>
</p:sld>
</file>

<file path=ppt/slides/slide8.xml><?xml version="1.0" encoding="utf-8"?>
<p:sld xmlns:p="http://schemas.openxmlformats.org/presentationml/2006/main">
  <p:cSld>
    <p:bg>
      <p:bgPr>
        <a:solidFill xmlns:a="http://schemas.openxmlformats.org/drawingml/2006/main">
          <a:srgbClr val="F8F5EE"/>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76E41B2B-AC28-49A4-8DE0-2807D9BF169C}"/>
              </a:ext>
            </a:extLst>
          </p:cNvPr>
          <p:cNvSpPr>
            <a:spLocks xmlns:a="http://schemas.openxmlformats.org/drawingml/2006/main" noGrp="1"/>
          </p:cNvSpPr>
          <p:nvPr/>
        </p:nvSpPr>
        <p:spPr>
          <a:xfrm xmlns:a="http://schemas.openxmlformats.org/drawingml/2006/main">
            <a:off x="666750" y="30480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spc="2">
                <a:solidFill>
                  <a:srgbClr val="118AB2"/>
                </a:solidFill>
                <a:latin typeface="Arial"/>
                <a:ea typeface="Arial"/>
                <a:cs typeface="Arial"/>
              </a:defRPr>
            </a:pPr>
            <a:r>
              <a:rPr sz="1200" b="1" spc="2">
                <a:solidFill>
                  <a:srgbClr val="118AB2"/>
                </a:solidFill>
                <a:latin typeface="Arial"/>
                <a:ea typeface="Arial"/>
                <a:cs typeface="Arial"/>
              </a:rPr>
              <a:t>CHAPTER 10</a:t>
            </a:r>
          </a:p>
        </p:txBody>
      </p:sp>
      <p:sp>
        <p:nvSpPr>
          <p:cNvPr id="2" name="">
            <a:extLst xmlns:a="http://schemas.openxmlformats.org/drawingml/2006/main">
              <a:ext uri="{FF2B5EF4-FFF2-40B4-BE49-F238E27FC236}">
                <a16:creationId xmlns:a16="http://schemas.microsoft.com/office/drawing/2014/main" id="{8BEA7F0E-D94F-44A4-8466-C618E96CEE3C}"/>
              </a:ext>
            </a:extLst>
          </p:cNvPr>
          <p:cNvSpPr>
            <a:spLocks xmlns:a="http://schemas.openxmlformats.org/drawingml/2006/main" noGrp="1"/>
          </p:cNvSpPr>
          <p:nvPr/>
        </p:nvSpPr>
        <p:spPr>
          <a:xfrm xmlns:a="http://schemas.openxmlformats.org/drawingml/2006/main">
            <a:off x="666750" y="6667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02A43"/>
                </a:solidFill>
                <a:latin typeface="Arial"/>
                <a:ea typeface="Arial"/>
                <a:cs typeface="Arial"/>
              </a:defRPr>
            </a:pPr>
            <a:r>
              <a:rPr sz="2550" b="1">
                <a:solidFill>
                  <a:srgbClr val="102A43"/>
                </a:solidFill>
                <a:latin typeface="Arial"/>
                <a:ea typeface="Arial"/>
                <a:cs typeface="Arial"/>
              </a:rPr>
              <a:t>Figure 10-4: mechanism explained</a:t>
            </a:r>
          </a:p>
        </p:txBody>
      </p:sp>
      <p:sp>
        <p:nvSpPr>
          <p:cNvPr id="3" name="">
            <a:extLst xmlns:a="http://schemas.openxmlformats.org/drawingml/2006/main">
              <a:ext uri="{FF2B5EF4-FFF2-40B4-BE49-F238E27FC236}">
                <a16:creationId xmlns:a16="http://schemas.microsoft.com/office/drawing/2014/main" id="{240B9B35-BC89-4993-BDB7-48A2353D3F48}"/>
              </a:ext>
            </a:extLst>
          </p:cNvPr>
          <p:cNvSpPr>
            <a:spLocks xmlns:a="http://schemas.openxmlformats.org/drawingml/2006/main" noGrp="1"/>
          </p:cNvSpPr>
          <p:nvPr/>
        </p:nvSpPr>
        <p:spPr>
          <a:xfrm xmlns:a="http://schemas.openxmlformats.org/drawingml/2006/main">
            <a:off x="10096500" y="63817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lgn="r">
              <a:defRPr sz="975">
                <a:solidFill>
                  <a:srgbClr val="6B7C8F"/>
                </a:solidFill>
                <a:latin typeface="Arial"/>
                <a:ea typeface="Arial"/>
                <a:cs typeface="Arial"/>
              </a:defRPr>
            </a:pPr>
            <a:r>
              <a:rPr sz="975">
                <a:solidFill>
                  <a:srgbClr val="6B7C8F"/>
                </a:solidFill>
                <a:latin typeface="Arial"/>
                <a:ea typeface="Arial"/>
                <a:cs typeface="Arial"/>
              </a:rPr>
              <a:t>08 / 23</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6325877ad7ca497c"/>
          <a:stretch xmlns:a="http://schemas.openxmlformats.org/drawingml/2006/main"/>
        </p:blipFill>
        <p:spPr>
          <a:xfrm xmlns:a="http://schemas.openxmlformats.org/drawingml/2006/main">
            <a:off x="1235835" y="1285875"/>
            <a:ext cx="6319905" cy="47625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70EE4312-13D2-4112-B419-54490A75B057}"/>
              </a:ext>
            </a:extLst>
          </p:cNvPr>
          <p:cNvSpPr>
            <a:spLocks xmlns:a="http://schemas.openxmlformats.org/drawingml/2006/main" noGrp="1"/>
          </p:cNvSpPr>
          <p:nvPr/>
        </p:nvSpPr>
        <p:spPr>
          <a:xfrm xmlns:a="http://schemas.openxmlformats.org/drawingml/2006/main">
            <a:off x="8572500" y="142875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118AB2"/>
                </a:solidFill>
                <a:latin typeface="Arial"/>
                <a:ea typeface="Arial"/>
                <a:cs typeface="Arial"/>
              </a:defRPr>
            </a:pPr>
            <a:r>
              <a:rPr sz="1200" b="1">
                <a:solidFill>
                  <a:srgbClr val="118AB2"/>
                </a:solidFill>
                <a:latin typeface="Arial"/>
                <a:ea typeface="Arial"/>
                <a:cs typeface="Arial"/>
              </a:rPr>
              <a:t>What it shows</a:t>
            </a:r>
          </a:p>
        </p:txBody>
      </p:sp>
      <p:sp>
        <p:nvSpPr>
          <p:cNvPr id="6" name="">
            <a:extLst xmlns:a="http://schemas.openxmlformats.org/drawingml/2006/main">
              <a:ext uri="{FF2B5EF4-FFF2-40B4-BE49-F238E27FC236}">
                <a16:creationId xmlns:a16="http://schemas.microsoft.com/office/drawing/2014/main" id="{FE5B92B3-2307-486D-9F7A-C5CAE34972B6}"/>
              </a:ext>
            </a:extLst>
          </p:cNvPr>
          <p:cNvSpPr>
            <a:spLocks xmlns:a="http://schemas.openxmlformats.org/drawingml/2006/main" noGrp="1"/>
          </p:cNvSpPr>
          <p:nvPr/>
        </p:nvSpPr>
        <p:spPr>
          <a:xfrm xmlns:a="http://schemas.openxmlformats.org/drawingml/2006/main">
            <a:off x="8572500" y="175260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40566B"/>
                </a:solidFill>
                <a:latin typeface="Arial"/>
                <a:ea typeface="Arial"/>
                <a:cs typeface="Arial"/>
              </a:defRPr>
            </a:pPr>
            <a:r>
              <a:rPr sz="1275">
                <a:solidFill>
                  <a:srgbClr val="40566B"/>
                </a:solidFill>
                <a:latin typeface="Arial"/>
                <a:ea typeface="Arial"/>
                <a:cs typeface="Arial"/>
              </a:rPr>
              <a:t>Visualizing the points in time at which the reads and writes appear to have</a:t>
            </a:r>
          </a:p>
        </p:txBody>
      </p:sp>
      <p:sp>
        <p:nvSpPr>
          <p:cNvPr id="7" name="">
            <a:extLst xmlns:a="http://schemas.openxmlformats.org/drawingml/2006/main">
              <a:ext uri="{FF2B5EF4-FFF2-40B4-BE49-F238E27FC236}">
                <a16:creationId xmlns:a16="http://schemas.microsoft.com/office/drawing/2014/main" id="{569CFFC3-B4D6-46AB-B4EB-5FB77A192AB0}"/>
              </a:ext>
            </a:extLst>
          </p:cNvPr>
          <p:cNvSpPr>
            <a:spLocks xmlns:a="http://schemas.openxmlformats.org/drawingml/2006/main" noGrp="1"/>
          </p:cNvSpPr>
          <p:nvPr/>
        </p:nvSpPr>
        <p:spPr>
          <a:xfrm xmlns:a="http://schemas.openxmlformats.org/drawingml/2006/main">
            <a:off x="8572500" y="293370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118AB2"/>
                </a:solidFill>
                <a:latin typeface="Arial"/>
                <a:ea typeface="Arial"/>
                <a:cs typeface="Arial"/>
              </a:defRPr>
            </a:pPr>
            <a:r>
              <a:rPr sz="1200" b="1">
                <a:solidFill>
                  <a:srgbClr val="118AB2"/>
                </a:solidFill>
                <a:latin typeface="Arial"/>
                <a:ea typeface="Arial"/>
                <a:cs typeface="Arial"/>
              </a:rPr>
              <a:t>Why it matters</a:t>
            </a:r>
          </a:p>
        </p:txBody>
      </p:sp>
      <p:sp>
        <p:nvSpPr>
          <p:cNvPr id="8" name="">
            <a:extLst xmlns:a="http://schemas.openxmlformats.org/drawingml/2006/main">
              <a:ext uri="{FF2B5EF4-FFF2-40B4-BE49-F238E27FC236}">
                <a16:creationId xmlns:a16="http://schemas.microsoft.com/office/drawing/2014/main" id="{F0C1E922-BA43-41A1-BC96-704EBD840D1A}"/>
              </a:ext>
            </a:extLst>
          </p:cNvPr>
          <p:cNvSpPr>
            <a:spLocks xmlns:a="http://schemas.openxmlformats.org/drawingml/2006/main" noGrp="1"/>
          </p:cNvSpPr>
          <p:nvPr/>
        </p:nvSpPr>
        <p:spPr>
          <a:xfrm xmlns:a="http://schemas.openxmlformats.org/drawingml/2006/main">
            <a:off x="8572500" y="325755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40566B"/>
                </a:solidFill>
                <a:latin typeface="Arial"/>
                <a:ea typeface="Arial"/>
                <a:cs typeface="Arial"/>
              </a:defRPr>
            </a:pPr>
            <a:r>
              <a:rPr sz="1275">
                <a:solidFill>
                  <a:srgbClr val="40566B"/>
                </a:solidFill>
                <a:latin typeface="Arial"/>
                <a:ea typeface="Arial"/>
                <a:cs typeface="Arial"/>
              </a:rPr>
              <a:t>It turns the chapter concept into a concrete dataflow, timeline, or state transition.</a:t>
            </a:r>
          </a:p>
        </p:txBody>
      </p:sp>
      <p:sp>
        <p:nvSpPr>
          <p:cNvPr id="9" name="">
            <a:extLst xmlns:a="http://schemas.openxmlformats.org/drawingml/2006/main">
              <a:ext uri="{FF2B5EF4-FFF2-40B4-BE49-F238E27FC236}">
                <a16:creationId xmlns:a16="http://schemas.microsoft.com/office/drawing/2014/main" id="{1B5074EA-7F40-41F4-A161-5B3060D1261D}"/>
              </a:ext>
            </a:extLst>
          </p:cNvPr>
          <p:cNvSpPr>
            <a:spLocks xmlns:a="http://schemas.openxmlformats.org/drawingml/2006/main" noGrp="1"/>
          </p:cNvSpPr>
          <p:nvPr/>
        </p:nvSpPr>
        <p:spPr>
          <a:xfrm xmlns:a="http://schemas.openxmlformats.org/drawingml/2006/main">
            <a:off x="8572500" y="443865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118AB2"/>
                </a:solidFill>
                <a:latin typeface="Arial"/>
                <a:ea typeface="Arial"/>
                <a:cs typeface="Arial"/>
              </a:defRPr>
            </a:pPr>
            <a:r>
              <a:rPr sz="1200" b="1">
                <a:solidFill>
                  <a:srgbClr val="118AB2"/>
                </a:solidFill>
                <a:latin typeface="Arial"/>
                <a:ea typeface="Arial"/>
                <a:cs typeface="Arial"/>
              </a:rPr>
              <a:t>What to watch</a:t>
            </a:r>
          </a:p>
        </p:txBody>
      </p:sp>
      <p:sp>
        <p:nvSpPr>
          <p:cNvPr id="10" name="">
            <a:extLst xmlns:a="http://schemas.openxmlformats.org/drawingml/2006/main">
              <a:ext uri="{FF2B5EF4-FFF2-40B4-BE49-F238E27FC236}">
                <a16:creationId xmlns:a16="http://schemas.microsoft.com/office/drawing/2014/main" id="{F1190D41-519C-4062-B373-8B4A98DD826E}"/>
              </a:ext>
            </a:extLst>
          </p:cNvPr>
          <p:cNvSpPr>
            <a:spLocks xmlns:a="http://schemas.openxmlformats.org/drawingml/2006/main" noGrp="1"/>
          </p:cNvSpPr>
          <p:nvPr/>
        </p:nvSpPr>
        <p:spPr>
          <a:xfrm xmlns:a="http://schemas.openxmlformats.org/drawingml/2006/main">
            <a:off x="8572500" y="476250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40566B"/>
                </a:solidFill>
                <a:latin typeface="Arial"/>
                <a:ea typeface="Arial"/>
                <a:cs typeface="Arial"/>
              </a:defRPr>
            </a:pPr>
            <a:r>
              <a:rPr sz="1275">
                <a:solidFill>
                  <a:srgbClr val="40566B"/>
                </a:solidFill>
                <a:latin typeface="Arial"/>
                <a:ea typeface="Arial"/>
                <a:cs typeface="Arial"/>
              </a:rPr>
              <a:t>Check the actors, data direction, operation order, and hidden system assumptions.</a:t>
            </a:r>
          </a:p>
        </p:txBody>
      </p:sp>
    </p:spTree>
    <p:extLst>
      <p:ext uri="{BB962C8B-B14F-4D97-AF65-F5344CB8AC3E}">
        <p14:creationId xmlns:p14="http://schemas.microsoft.com/office/powerpoint/2010/main" val="1938859255"/>
      </p:ext>
    </p:extLst>
  </p:cSld>
</p:sld>
</file>

<file path=ppt/slides/slide9.xml><?xml version="1.0" encoding="utf-8"?>
<p:sld xmlns:p="http://schemas.openxmlformats.org/presentationml/2006/main">
  <p:cSld>
    <p:bg>
      <p:bgPr>
        <a:solidFill xmlns:a="http://schemas.openxmlformats.org/drawingml/2006/main">
          <a:srgbClr val="F8F5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F576EA9-84A5-417C-B726-A312A05DCF9A}"/>
              </a:ext>
            </a:extLst>
          </p:cNvPr>
          <p:cNvSpPr>
            <a:spLocks xmlns:a="http://schemas.openxmlformats.org/drawingml/2006/main" noGrp="1"/>
          </p:cNvSpPr>
          <p:nvPr/>
        </p:nvSpPr>
        <p:spPr>
          <a:xfrm xmlns:a="http://schemas.openxmlformats.org/drawingml/2006/main">
            <a:off x="666750" y="30480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spc="2">
                <a:solidFill>
                  <a:srgbClr val="118AB2"/>
                </a:solidFill>
                <a:latin typeface="Arial"/>
                <a:ea typeface="Arial"/>
                <a:cs typeface="Arial"/>
              </a:defRPr>
            </a:pPr>
            <a:r>
              <a:rPr sz="1200" b="1" spc="2">
                <a:solidFill>
                  <a:srgbClr val="118AB2"/>
                </a:solidFill>
                <a:latin typeface="Arial"/>
                <a:ea typeface="Arial"/>
                <a:cs typeface="Arial"/>
              </a:rPr>
              <a:t>CHAPTER 10</a:t>
            </a:r>
          </a:p>
        </p:txBody>
      </p:sp>
      <p:sp>
        <p:nvSpPr>
          <p:cNvPr id="2" name="">
            <a:extLst xmlns:a="http://schemas.openxmlformats.org/drawingml/2006/main">
              <a:ext uri="{FF2B5EF4-FFF2-40B4-BE49-F238E27FC236}">
                <a16:creationId xmlns:a16="http://schemas.microsoft.com/office/drawing/2014/main" id="{1A6E8D8B-06B1-449C-8BA8-332418F5D1FD}"/>
              </a:ext>
            </a:extLst>
          </p:cNvPr>
          <p:cNvSpPr>
            <a:spLocks xmlns:a="http://schemas.openxmlformats.org/drawingml/2006/main" noGrp="1"/>
          </p:cNvSpPr>
          <p:nvPr/>
        </p:nvSpPr>
        <p:spPr>
          <a:xfrm xmlns:a="http://schemas.openxmlformats.org/drawingml/2006/main">
            <a:off x="666750" y="6667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02A43"/>
                </a:solidFill>
                <a:latin typeface="Arial"/>
                <a:ea typeface="Arial"/>
                <a:cs typeface="Arial"/>
              </a:defRPr>
            </a:pPr>
            <a:r>
              <a:rPr sz="2550" b="1">
                <a:solidFill>
                  <a:srgbClr val="102A43"/>
                </a:solidFill>
                <a:latin typeface="Arial"/>
                <a:ea typeface="Arial"/>
                <a:cs typeface="Arial"/>
              </a:rPr>
              <a:t>Where linearizability matters</a:t>
            </a:r>
          </a:p>
        </p:txBody>
      </p:sp>
      <p:sp>
        <p:nvSpPr>
          <p:cNvPr id="3" name="">
            <a:extLst xmlns:a="http://schemas.openxmlformats.org/drawingml/2006/main">
              <a:ext uri="{FF2B5EF4-FFF2-40B4-BE49-F238E27FC236}">
                <a16:creationId xmlns:a16="http://schemas.microsoft.com/office/drawing/2014/main" id="{CF5781F8-1603-46D9-BC0A-138B42D1AF82}"/>
              </a:ext>
            </a:extLst>
          </p:cNvPr>
          <p:cNvSpPr>
            <a:spLocks xmlns:a="http://schemas.openxmlformats.org/drawingml/2006/main" noGrp="1"/>
          </p:cNvSpPr>
          <p:nvPr/>
        </p:nvSpPr>
        <p:spPr>
          <a:xfrm xmlns:a="http://schemas.openxmlformats.org/drawingml/2006/main">
            <a:off x="10096500" y="63817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lgn="r">
              <a:defRPr sz="975">
                <a:solidFill>
                  <a:srgbClr val="6B7C8F"/>
                </a:solidFill>
                <a:latin typeface="Arial"/>
                <a:ea typeface="Arial"/>
                <a:cs typeface="Arial"/>
              </a:defRPr>
            </a:pPr>
            <a:r>
              <a:rPr sz="975">
                <a:solidFill>
                  <a:srgbClr val="6B7C8F"/>
                </a:solidFill>
                <a:latin typeface="Arial"/>
                <a:ea typeface="Arial"/>
                <a:cs typeface="Arial"/>
              </a:rPr>
              <a:t>09 / 23</a:t>
            </a:r>
          </a:p>
        </p:txBody>
      </p:sp>
      <p:sp>
        <p:nvSpPr>
          <p:cNvPr id="4" name="">
            <a:extLst xmlns:a="http://schemas.openxmlformats.org/drawingml/2006/main">
              <a:ext uri="{FF2B5EF4-FFF2-40B4-BE49-F238E27FC236}">
                <a16:creationId xmlns:a16="http://schemas.microsoft.com/office/drawing/2014/main" id="{EB7D3E3B-FEFE-44AB-BEF8-5D956198476A}"/>
              </a:ext>
            </a:extLst>
          </p:cNvPr>
          <p:cNvSpPr>
            <a:spLocks xmlns:a="http://schemas.openxmlformats.org/drawingml/2006/main" noGrp="1"/>
          </p:cNvSpPr>
          <p:nvPr/>
        </p:nvSpPr>
        <p:spPr>
          <a:xfrm xmlns:a="http://schemas.openxmlformats.org/drawingml/2006/main">
            <a:off x="685800" y="1571625"/>
            <a:ext cx="17145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6750" b="1">
                <a:solidFill>
                  <a:srgbClr val="118AB2"/>
                </a:solidFill>
                <a:latin typeface="Arial"/>
                <a:ea typeface="Arial"/>
                <a:cs typeface="Arial"/>
              </a:defRPr>
            </a:pPr>
            <a:r>
              <a:rPr sz="6750" b="1">
                <a:solidFill>
                  <a:srgbClr val="118AB2"/>
                </a:solidFill>
                <a:latin typeface="Arial"/>
                <a:ea typeface="Arial"/>
                <a:cs typeface="Arial"/>
              </a:rPr>
              <a:t>02</a:t>
            </a:r>
          </a:p>
        </p:txBody>
      </p:sp>
      <p:sp>
        <p:nvSpPr>
          <p:cNvPr id="5" name="">
            <a:extLst xmlns:a="http://schemas.openxmlformats.org/drawingml/2006/main">
              <a:ext uri="{FF2B5EF4-FFF2-40B4-BE49-F238E27FC236}">
                <a16:creationId xmlns:a16="http://schemas.microsoft.com/office/drawing/2014/main" id="{2EF4689C-8EE5-4657-93AD-D0F6A0B3A0FD}"/>
              </a:ext>
            </a:extLst>
          </p:cNvPr>
          <p:cNvSpPr>
            <a:spLocks xmlns:a="http://schemas.openxmlformats.org/drawingml/2006/main" noGrp="1"/>
          </p:cNvSpPr>
          <p:nvPr/>
        </p:nvSpPr>
        <p:spPr>
          <a:xfrm xmlns:a="http://schemas.openxmlformats.org/drawingml/2006/main">
            <a:off x="2857500" y="1571625"/>
            <a:ext cx="80962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marL="228600" indent="-114300">
              <a:spcAft>
                <a:spcPts val="1000"/>
              </a:spcAft>
              <a:buChar char="•"/>
              <a:defRPr sz="1725">
                <a:solidFill>
                  <a:srgbClr val="17324D"/>
                </a:solidFill>
                <a:latin typeface="Arial"/>
                <a:ea typeface="Arial"/>
                <a:cs typeface="Arial"/>
              </a:defRPr>
            </a:pPr>
            <a:r>
              <a:rPr sz="1725">
                <a:solidFill>
                  <a:srgbClr val="17324D"/>
                </a:solidFill>
                <a:latin typeface="Arial"/>
                <a:ea typeface="Arial"/>
                <a:cs typeface="Arial"/>
              </a:rPr>
              <a:t>Uniqueness constraints and leader election require agreement on current state.</a:t>
            </a:r>
          </a:p>
          <a:p xmlns:a="http://schemas.openxmlformats.org/drawingml/2006/main">
            <a:pPr marL="228600" indent="-114300">
              <a:spcAft>
                <a:spcPts val="1000"/>
              </a:spcAft>
              <a:buChar char="•"/>
              <a:defRPr sz="1725">
                <a:solidFill>
                  <a:srgbClr val="17324D"/>
                </a:solidFill>
                <a:latin typeface="Arial"/>
                <a:ea typeface="Arial"/>
                <a:cs typeface="Arial"/>
              </a:defRPr>
            </a:pPr>
            <a:r>
              <a:rPr sz="1725">
                <a:solidFill>
                  <a:srgbClr val="17324D"/>
                </a:solidFill>
                <a:latin typeface="Arial"/>
                <a:ea typeface="Arial"/>
                <a:cs typeface="Arial"/>
              </a:rPr>
              <a:t>Locks and leases need fencing tokens to protect external resources.</a:t>
            </a:r>
          </a:p>
          <a:p xmlns:a="http://schemas.openxmlformats.org/drawingml/2006/main">
            <a:pPr marL="228600" indent="-114300">
              <a:spcAft>
                <a:spcPts val="1000"/>
              </a:spcAft>
              <a:buChar char="•"/>
              <a:defRPr sz="1725">
                <a:solidFill>
                  <a:srgbClr val="17324D"/>
                </a:solidFill>
                <a:latin typeface="Arial"/>
                <a:ea typeface="Arial"/>
                <a:cs typeface="Arial"/>
              </a:defRPr>
            </a:pPr>
            <a:r>
              <a:rPr sz="1725">
                <a:solidFill>
                  <a:srgbClr val="17324D"/>
                </a:solidFill>
                <a:latin typeface="Arial"/>
                <a:ea typeface="Arial"/>
                <a:cs typeface="Arial"/>
              </a:rPr>
              <a:t>Many reads can use weaker semantics when business risk permits.</a:t>
            </a:r>
          </a:p>
        </p:txBody>
      </p:sp>
      <p:sp>
        <p:nvSpPr>
          <p:cNvPr id="6" name="">
            <a:extLst xmlns:a="http://schemas.openxmlformats.org/drawingml/2006/main">
              <a:ext uri="{FF2B5EF4-FFF2-40B4-BE49-F238E27FC236}">
                <a16:creationId xmlns:a16="http://schemas.microsoft.com/office/drawing/2014/main" id="{679699F1-8934-40A6-808E-673D5AC31AA1}"/>
              </a:ext>
            </a:extLst>
          </p:cNvPr>
          <p:cNvSpPr>
            <a:spLocks xmlns:a="http://schemas.openxmlformats.org/drawingml/2006/main" noGrp="1"/>
          </p:cNvSpPr>
          <p:nvPr/>
        </p:nvSpPr>
        <p:spPr>
          <a:xfrm xmlns:a="http://schemas.openxmlformats.org/drawingml/2006/main">
            <a:off x="2857500" y="5000625"/>
            <a:ext cx="152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118AB2"/>
                </a:solidFill>
                <a:latin typeface="Arial"/>
                <a:ea typeface="Arial"/>
                <a:cs typeface="Arial"/>
              </a:defRPr>
            </a:pPr>
            <a:r>
              <a:rPr sz="1200" b="1">
                <a:solidFill>
                  <a:srgbClr val="118AB2"/>
                </a:solidFill>
                <a:latin typeface="Arial"/>
                <a:ea typeface="Arial"/>
                <a:cs typeface="Arial"/>
              </a:rPr>
              <a:t>Core question</a:t>
            </a:r>
          </a:p>
        </p:txBody>
      </p:sp>
      <p:sp>
        <p:nvSpPr>
          <p:cNvPr id="7" name="">
            <a:extLst xmlns:a="http://schemas.openxmlformats.org/drawingml/2006/main">
              <a:ext uri="{FF2B5EF4-FFF2-40B4-BE49-F238E27FC236}">
                <a16:creationId xmlns:a16="http://schemas.microsoft.com/office/drawing/2014/main" id="{933D1AE3-1D07-44AD-A6CF-DDD5EC846979}"/>
              </a:ext>
            </a:extLst>
          </p:cNvPr>
          <p:cNvSpPr>
            <a:spLocks xmlns:a="http://schemas.openxmlformats.org/drawingml/2006/main" noGrp="1"/>
          </p:cNvSpPr>
          <p:nvPr/>
        </p:nvSpPr>
        <p:spPr>
          <a:xfrm xmlns:a="http://schemas.openxmlformats.org/drawingml/2006/main">
            <a:off x="2857500" y="5286375"/>
            <a:ext cx="8096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500">
                <a:solidFill>
                  <a:srgbClr val="52667A"/>
                </a:solidFill>
                <a:latin typeface="Arial"/>
                <a:ea typeface="Arial"/>
                <a:cs typeface="Arial"/>
              </a:defRPr>
            </a:pPr>
            <a:r>
              <a:rPr sz="1500">
                <a:solidFill>
                  <a:srgbClr val="52667A"/>
                </a:solidFill>
                <a:latin typeface="Arial"/>
                <a:ea typeface="Arial"/>
                <a:cs typeface="Arial"/>
              </a:rPr>
              <a:t>What problem does it solve, and what does it cost under failure, growth, and change?</a:t>
            </a:r>
          </a:p>
        </p:txBody>
      </p:sp>
    </p:spTree>
    <p:extLst>
      <p:ext uri="{BB962C8B-B14F-4D97-AF65-F5344CB8AC3E}">
        <p14:creationId xmlns:p14="http://schemas.microsoft.com/office/powerpoint/2010/main" val="1854608464"/>
      </p:ext>
    </p:extLst>
  </p:cSld>
</p:sld>
</file>

<file path=ppt/slides/slide10.xml><?xml version="1.0" encoding="utf-8"?>
<p:sld xmlns:p="http://schemas.openxmlformats.org/presentationml/2006/main">
  <p:cSld>
    <p:bg>
      <p:bgPr>
        <a:solidFill xmlns:a="http://schemas.openxmlformats.org/drawingml/2006/main">
          <a:srgbClr val="F8F5EE"/>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1286C9A-2FE2-4744-86B8-0B1DECB4778E}"/>
              </a:ext>
            </a:extLst>
          </p:cNvPr>
          <p:cNvSpPr>
            <a:spLocks xmlns:a="http://schemas.openxmlformats.org/drawingml/2006/main" noGrp="1"/>
          </p:cNvSpPr>
          <p:nvPr/>
        </p:nvSpPr>
        <p:spPr>
          <a:xfrm xmlns:a="http://schemas.openxmlformats.org/drawingml/2006/main">
            <a:off x="666750" y="30480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spc="2">
                <a:solidFill>
                  <a:srgbClr val="118AB2"/>
                </a:solidFill>
                <a:latin typeface="Arial"/>
                <a:ea typeface="Arial"/>
                <a:cs typeface="Arial"/>
              </a:defRPr>
            </a:pPr>
            <a:r>
              <a:rPr sz="1200" b="1" spc="2">
                <a:solidFill>
                  <a:srgbClr val="118AB2"/>
                </a:solidFill>
                <a:latin typeface="Arial"/>
                <a:ea typeface="Arial"/>
                <a:cs typeface="Arial"/>
              </a:rPr>
              <a:t>CHAPTER 10</a:t>
            </a:r>
          </a:p>
        </p:txBody>
      </p:sp>
      <p:sp>
        <p:nvSpPr>
          <p:cNvPr id="2" name="">
            <a:extLst xmlns:a="http://schemas.openxmlformats.org/drawingml/2006/main">
              <a:ext uri="{FF2B5EF4-FFF2-40B4-BE49-F238E27FC236}">
                <a16:creationId xmlns:a16="http://schemas.microsoft.com/office/drawing/2014/main" id="{AD74EF3F-7E47-4621-A383-3F6486491303}"/>
              </a:ext>
            </a:extLst>
          </p:cNvPr>
          <p:cNvSpPr>
            <a:spLocks xmlns:a="http://schemas.openxmlformats.org/drawingml/2006/main" noGrp="1"/>
          </p:cNvSpPr>
          <p:nvPr/>
        </p:nvSpPr>
        <p:spPr>
          <a:xfrm xmlns:a="http://schemas.openxmlformats.org/drawingml/2006/main">
            <a:off x="666750" y="6667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02A43"/>
                </a:solidFill>
                <a:latin typeface="Arial"/>
                <a:ea typeface="Arial"/>
                <a:cs typeface="Arial"/>
              </a:defRPr>
            </a:pPr>
            <a:r>
              <a:rPr sz="2550" b="1">
                <a:solidFill>
                  <a:srgbClr val="102A43"/>
                </a:solidFill>
                <a:latin typeface="Arial"/>
                <a:ea typeface="Arial"/>
                <a:cs typeface="Arial"/>
              </a:rPr>
              <a:t>Where linearizability matters: design trade-offs</a:t>
            </a:r>
          </a:p>
        </p:txBody>
      </p:sp>
      <p:sp>
        <p:nvSpPr>
          <p:cNvPr id="3" name="">
            <a:extLst xmlns:a="http://schemas.openxmlformats.org/drawingml/2006/main">
              <a:ext uri="{FF2B5EF4-FFF2-40B4-BE49-F238E27FC236}">
                <a16:creationId xmlns:a16="http://schemas.microsoft.com/office/drawing/2014/main" id="{0453F0B7-3807-4607-A11E-67E5A5190705}"/>
              </a:ext>
            </a:extLst>
          </p:cNvPr>
          <p:cNvSpPr>
            <a:spLocks xmlns:a="http://schemas.openxmlformats.org/drawingml/2006/main" noGrp="1"/>
          </p:cNvSpPr>
          <p:nvPr/>
        </p:nvSpPr>
        <p:spPr>
          <a:xfrm xmlns:a="http://schemas.openxmlformats.org/drawingml/2006/main">
            <a:off x="10096500" y="63817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lgn="r">
              <a:defRPr sz="975">
                <a:solidFill>
                  <a:srgbClr val="6B7C8F"/>
                </a:solidFill>
                <a:latin typeface="Arial"/>
                <a:ea typeface="Arial"/>
                <a:cs typeface="Arial"/>
              </a:defRPr>
            </a:pPr>
            <a:r>
              <a:rPr sz="975">
                <a:solidFill>
                  <a:srgbClr val="6B7C8F"/>
                </a:solidFill>
                <a:latin typeface="Arial"/>
                <a:ea typeface="Arial"/>
                <a:cs typeface="Arial"/>
              </a:rPr>
              <a:t>10 / 23</a:t>
            </a:r>
          </a:p>
        </p:txBody>
      </p:sp>
      <p:sp>
        <p:nvSpPr>
          <p:cNvPr id="4" name="">
            <a:extLst xmlns:a="http://schemas.openxmlformats.org/drawingml/2006/main">
              <a:ext uri="{FF2B5EF4-FFF2-40B4-BE49-F238E27FC236}">
                <a16:creationId xmlns:a16="http://schemas.microsoft.com/office/drawing/2014/main" id="{AE5132A4-2DF5-49C4-8BF9-489755837162}"/>
              </a:ext>
            </a:extLst>
          </p:cNvPr>
          <p:cNvSpPr>
            <a:spLocks xmlns:a="http://schemas.openxmlformats.org/drawingml/2006/main" noGrp="1"/>
          </p:cNvSpPr>
          <p:nvPr/>
        </p:nvSpPr>
        <p:spPr>
          <a:xfrm xmlns:a="http://schemas.openxmlformats.org/drawingml/2006/main">
            <a:off x="685800" y="1571625"/>
            <a:ext cx="17145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6750" b="1">
                <a:solidFill>
                  <a:srgbClr val="118AB2"/>
                </a:solidFill>
                <a:latin typeface="Arial"/>
                <a:ea typeface="Arial"/>
                <a:cs typeface="Arial"/>
              </a:defRPr>
            </a:pPr>
            <a:r>
              <a:rPr sz="6750" b="1">
                <a:solidFill>
                  <a:srgbClr val="118AB2"/>
                </a:solidFill>
                <a:latin typeface="Arial"/>
                <a:ea typeface="Arial"/>
                <a:cs typeface="Arial"/>
              </a:rPr>
              <a:t>02</a:t>
            </a:r>
          </a:p>
        </p:txBody>
      </p:sp>
      <p:sp>
        <p:nvSpPr>
          <p:cNvPr id="5" name="">
            <a:extLst xmlns:a="http://schemas.openxmlformats.org/drawingml/2006/main">
              <a:ext uri="{FF2B5EF4-FFF2-40B4-BE49-F238E27FC236}">
                <a16:creationId xmlns:a16="http://schemas.microsoft.com/office/drawing/2014/main" id="{D6236FFE-67CC-4480-8689-6235C5C4AD8C}"/>
              </a:ext>
            </a:extLst>
          </p:cNvPr>
          <p:cNvSpPr>
            <a:spLocks xmlns:a="http://schemas.openxmlformats.org/drawingml/2006/main" noGrp="1"/>
          </p:cNvSpPr>
          <p:nvPr/>
        </p:nvSpPr>
        <p:spPr>
          <a:xfrm xmlns:a="http://schemas.openxmlformats.org/drawingml/2006/main">
            <a:off x="2857500" y="1571625"/>
            <a:ext cx="8096250" cy="3714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marL="228600" indent="-114300">
              <a:spcAft>
                <a:spcPts val="1000"/>
              </a:spcAft>
              <a:buChar char="•"/>
              <a:defRPr sz="1575">
                <a:solidFill>
                  <a:srgbClr val="17324D"/>
                </a:solidFill>
                <a:latin typeface="Arial"/>
                <a:ea typeface="Arial"/>
                <a:cs typeface="Arial"/>
              </a:defRPr>
            </a:pPr>
            <a:r>
              <a:rPr sz="1575">
                <a:solidFill>
                  <a:srgbClr val="17324D"/>
                </a:solidFill>
                <a:latin typeface="Arial"/>
                <a:ea typeface="Arial"/>
                <a:cs typeface="Arial"/>
              </a:rPr>
              <a:t>Fit: Uniqueness constraints and leader election require agreement on current state.</a:t>
            </a:r>
          </a:p>
          <a:p xmlns:a="http://schemas.openxmlformats.org/drawingml/2006/main">
            <a:pPr marL="228600" indent="-114300">
              <a:spcAft>
                <a:spcPts val="1000"/>
              </a:spcAft>
              <a:buChar char="•"/>
              <a:defRPr sz="1575">
                <a:solidFill>
                  <a:srgbClr val="17324D"/>
                </a:solidFill>
                <a:latin typeface="Arial"/>
                <a:ea typeface="Arial"/>
                <a:cs typeface="Arial"/>
              </a:defRPr>
            </a:pPr>
            <a:r>
              <a:rPr sz="1575">
                <a:solidFill>
                  <a:srgbClr val="17324D"/>
                </a:solidFill>
                <a:latin typeface="Arial"/>
                <a:ea typeface="Arial"/>
                <a:cs typeface="Arial"/>
              </a:rPr>
              <a:t>Cost: evaluate latency, throughput, consistency, and operational complexity.</a:t>
            </a:r>
          </a:p>
          <a:p xmlns:a="http://schemas.openxmlformats.org/drawingml/2006/main">
            <a:pPr marL="228600" indent="-114300">
              <a:spcAft>
                <a:spcPts val="1000"/>
              </a:spcAft>
              <a:buChar char="•"/>
              <a:defRPr sz="1575">
                <a:solidFill>
                  <a:srgbClr val="17324D"/>
                </a:solidFill>
                <a:latin typeface="Arial"/>
                <a:ea typeface="Arial"/>
                <a:cs typeface="Arial"/>
              </a:defRPr>
            </a:pPr>
            <a:r>
              <a:rPr sz="1575">
                <a:solidFill>
                  <a:srgbClr val="17324D"/>
                </a:solidFill>
                <a:latin typeface="Arial"/>
                <a:ea typeface="Arial"/>
                <a:cs typeface="Arial"/>
              </a:rPr>
              <a:t>Failure check: what state becomes visible when a node, network path, or dependency fails?</a:t>
            </a:r>
          </a:p>
          <a:p xmlns:a="http://schemas.openxmlformats.org/drawingml/2006/main">
            <a:pPr marL="228600" indent="-114300">
              <a:spcAft>
                <a:spcPts val="1000"/>
              </a:spcAft>
              <a:buChar char="•"/>
              <a:defRPr sz="1575">
                <a:solidFill>
                  <a:srgbClr val="17324D"/>
                </a:solidFill>
                <a:latin typeface="Arial"/>
                <a:ea typeface="Arial"/>
                <a:cs typeface="Arial"/>
              </a:defRPr>
            </a:pPr>
            <a:r>
              <a:rPr sz="1575">
                <a:solidFill>
                  <a:srgbClr val="17324D"/>
                </a:solidFill>
                <a:latin typeface="Arial"/>
                <a:ea typeface="Arial"/>
                <a:cs typeface="Arial"/>
              </a:rPr>
              <a:t>Evolution check: can formats, interfaces, and topology change through rolling upgrades?</a:t>
            </a:r>
          </a:p>
        </p:txBody>
      </p:sp>
    </p:spTree>
    <p:extLst>
      <p:ext uri="{BB962C8B-B14F-4D97-AF65-F5344CB8AC3E}">
        <p14:creationId xmlns:p14="http://schemas.microsoft.com/office/powerpoint/2010/main" val="1352286618"/>
      </p:ext>
    </p:extLst>
  </p:cSld>
</p:sld>
</file>

<file path=ppt/slides/slide11.xml><?xml version="1.0" encoding="utf-8"?>
<p:sld xmlns:p="http://schemas.openxmlformats.org/presentationml/2006/main">
  <p:cSld>
    <p:bg>
      <p:bgPr>
        <a:solidFill xmlns:a="http://schemas.openxmlformats.org/drawingml/2006/main">
          <a:srgbClr val="F8F5EE"/>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08318412-697D-4F61-9C8D-E2528A8607AA}"/>
              </a:ext>
            </a:extLst>
          </p:cNvPr>
          <p:cNvSpPr>
            <a:spLocks xmlns:a="http://schemas.openxmlformats.org/drawingml/2006/main" noGrp="1"/>
          </p:cNvSpPr>
          <p:nvPr/>
        </p:nvSpPr>
        <p:spPr>
          <a:xfrm xmlns:a="http://schemas.openxmlformats.org/drawingml/2006/main">
            <a:off x="666750" y="30480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spc="2">
                <a:solidFill>
                  <a:srgbClr val="118AB2"/>
                </a:solidFill>
                <a:latin typeface="Arial"/>
                <a:ea typeface="Arial"/>
                <a:cs typeface="Arial"/>
              </a:defRPr>
            </a:pPr>
            <a:r>
              <a:rPr sz="1200" b="1" spc="2">
                <a:solidFill>
                  <a:srgbClr val="118AB2"/>
                </a:solidFill>
                <a:latin typeface="Arial"/>
                <a:ea typeface="Arial"/>
                <a:cs typeface="Arial"/>
              </a:rPr>
              <a:t>CHAPTER 10</a:t>
            </a:r>
          </a:p>
        </p:txBody>
      </p:sp>
      <p:sp>
        <p:nvSpPr>
          <p:cNvPr id="2" name="">
            <a:extLst xmlns:a="http://schemas.openxmlformats.org/drawingml/2006/main">
              <a:ext uri="{FF2B5EF4-FFF2-40B4-BE49-F238E27FC236}">
                <a16:creationId xmlns:a16="http://schemas.microsoft.com/office/drawing/2014/main" id="{0BADE801-B1C6-452F-BEB3-D9D02C70E8AE}"/>
              </a:ext>
            </a:extLst>
          </p:cNvPr>
          <p:cNvSpPr>
            <a:spLocks xmlns:a="http://schemas.openxmlformats.org/drawingml/2006/main" noGrp="1"/>
          </p:cNvSpPr>
          <p:nvPr/>
        </p:nvSpPr>
        <p:spPr>
          <a:xfrm xmlns:a="http://schemas.openxmlformats.org/drawingml/2006/main">
            <a:off x="666750" y="6667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02A43"/>
                </a:solidFill>
                <a:latin typeface="Arial"/>
                <a:ea typeface="Arial"/>
                <a:cs typeface="Arial"/>
              </a:defRPr>
            </a:pPr>
            <a:r>
              <a:rPr sz="2550" b="1">
                <a:solidFill>
                  <a:srgbClr val="102A43"/>
                </a:solidFill>
                <a:latin typeface="Arial"/>
                <a:ea typeface="Arial"/>
                <a:cs typeface="Arial"/>
              </a:rPr>
              <a:t>Figure 10-5: mechanism explained</a:t>
            </a:r>
          </a:p>
        </p:txBody>
      </p:sp>
      <p:sp>
        <p:nvSpPr>
          <p:cNvPr id="3" name="">
            <a:extLst xmlns:a="http://schemas.openxmlformats.org/drawingml/2006/main">
              <a:ext uri="{FF2B5EF4-FFF2-40B4-BE49-F238E27FC236}">
                <a16:creationId xmlns:a16="http://schemas.microsoft.com/office/drawing/2014/main" id="{66EB0806-3271-4080-93E6-E545D3A6FCE6}"/>
              </a:ext>
            </a:extLst>
          </p:cNvPr>
          <p:cNvSpPr>
            <a:spLocks xmlns:a="http://schemas.openxmlformats.org/drawingml/2006/main" noGrp="1"/>
          </p:cNvSpPr>
          <p:nvPr/>
        </p:nvSpPr>
        <p:spPr>
          <a:xfrm xmlns:a="http://schemas.openxmlformats.org/drawingml/2006/main">
            <a:off x="10096500" y="63817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lgn="r">
              <a:defRPr sz="975">
                <a:solidFill>
                  <a:srgbClr val="6B7C8F"/>
                </a:solidFill>
                <a:latin typeface="Arial"/>
                <a:ea typeface="Arial"/>
                <a:cs typeface="Arial"/>
              </a:defRPr>
            </a:pPr>
            <a:r>
              <a:rPr sz="975">
                <a:solidFill>
                  <a:srgbClr val="6B7C8F"/>
                </a:solidFill>
                <a:latin typeface="Arial"/>
                <a:ea typeface="Arial"/>
                <a:cs typeface="Arial"/>
              </a:rPr>
              <a:t>11 / 23</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bd5bf8e84a97401f"/>
          <a:stretch xmlns:a="http://schemas.openxmlformats.org/drawingml/2006/main"/>
        </p:blipFill>
        <p:spPr>
          <a:xfrm xmlns:a="http://schemas.openxmlformats.org/drawingml/2006/main">
            <a:off x="1235835" y="1285875"/>
            <a:ext cx="6319905" cy="47625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262FD572-974E-4298-957B-623170CC1A7D}"/>
              </a:ext>
            </a:extLst>
          </p:cNvPr>
          <p:cNvSpPr>
            <a:spLocks xmlns:a="http://schemas.openxmlformats.org/drawingml/2006/main" noGrp="1"/>
          </p:cNvSpPr>
          <p:nvPr/>
        </p:nvSpPr>
        <p:spPr>
          <a:xfrm xmlns:a="http://schemas.openxmlformats.org/drawingml/2006/main">
            <a:off x="8572500" y="142875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118AB2"/>
                </a:solidFill>
                <a:latin typeface="Arial"/>
                <a:ea typeface="Arial"/>
                <a:cs typeface="Arial"/>
              </a:defRPr>
            </a:pPr>
            <a:r>
              <a:rPr sz="1200" b="1">
                <a:solidFill>
                  <a:srgbClr val="118AB2"/>
                </a:solidFill>
                <a:latin typeface="Arial"/>
                <a:ea typeface="Arial"/>
                <a:cs typeface="Arial"/>
              </a:rPr>
              <a:t>What it shows</a:t>
            </a:r>
          </a:p>
        </p:txBody>
      </p:sp>
      <p:sp>
        <p:nvSpPr>
          <p:cNvPr id="6" name="">
            <a:extLst xmlns:a="http://schemas.openxmlformats.org/drawingml/2006/main">
              <a:ext uri="{FF2B5EF4-FFF2-40B4-BE49-F238E27FC236}">
                <a16:creationId xmlns:a16="http://schemas.microsoft.com/office/drawing/2014/main" id="{5232ECF4-8C85-4826-A45B-54936694677F}"/>
              </a:ext>
            </a:extLst>
          </p:cNvPr>
          <p:cNvSpPr>
            <a:spLocks xmlns:a="http://schemas.openxmlformats.org/drawingml/2006/main" noGrp="1"/>
          </p:cNvSpPr>
          <p:nvPr/>
        </p:nvSpPr>
        <p:spPr>
          <a:xfrm xmlns:a="http://schemas.openxmlformats.org/drawingml/2006/main">
            <a:off x="8572500" y="175260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40566B"/>
                </a:solidFill>
                <a:latin typeface="Arial"/>
                <a:ea typeface="Arial"/>
                <a:cs typeface="Arial"/>
              </a:defRPr>
            </a:pPr>
            <a:r>
              <a:rPr sz="1275">
                <a:solidFill>
                  <a:srgbClr val="40566B"/>
                </a:solidFill>
                <a:latin typeface="Arial"/>
                <a:ea typeface="Arial"/>
                <a:cs typeface="Arial"/>
              </a:rPr>
              <a:t>The web server and video transcoder communicate through both file storage</a:t>
            </a:r>
          </a:p>
        </p:txBody>
      </p:sp>
      <p:sp>
        <p:nvSpPr>
          <p:cNvPr id="7" name="">
            <a:extLst xmlns:a="http://schemas.openxmlformats.org/drawingml/2006/main">
              <a:ext uri="{FF2B5EF4-FFF2-40B4-BE49-F238E27FC236}">
                <a16:creationId xmlns:a16="http://schemas.microsoft.com/office/drawing/2014/main" id="{FB43EB6A-DB67-4875-BCCE-F8D079C686CF}"/>
              </a:ext>
            </a:extLst>
          </p:cNvPr>
          <p:cNvSpPr>
            <a:spLocks xmlns:a="http://schemas.openxmlformats.org/drawingml/2006/main" noGrp="1"/>
          </p:cNvSpPr>
          <p:nvPr/>
        </p:nvSpPr>
        <p:spPr>
          <a:xfrm xmlns:a="http://schemas.openxmlformats.org/drawingml/2006/main">
            <a:off x="8572500" y="293370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118AB2"/>
                </a:solidFill>
                <a:latin typeface="Arial"/>
                <a:ea typeface="Arial"/>
                <a:cs typeface="Arial"/>
              </a:defRPr>
            </a:pPr>
            <a:r>
              <a:rPr sz="1200" b="1">
                <a:solidFill>
                  <a:srgbClr val="118AB2"/>
                </a:solidFill>
                <a:latin typeface="Arial"/>
                <a:ea typeface="Arial"/>
                <a:cs typeface="Arial"/>
              </a:rPr>
              <a:t>Why it matters</a:t>
            </a:r>
          </a:p>
        </p:txBody>
      </p:sp>
      <p:sp>
        <p:nvSpPr>
          <p:cNvPr id="8" name="">
            <a:extLst xmlns:a="http://schemas.openxmlformats.org/drawingml/2006/main">
              <a:ext uri="{FF2B5EF4-FFF2-40B4-BE49-F238E27FC236}">
                <a16:creationId xmlns:a16="http://schemas.microsoft.com/office/drawing/2014/main" id="{0F17DE1B-AF5D-450A-A3CE-AE099C8467C1}"/>
              </a:ext>
            </a:extLst>
          </p:cNvPr>
          <p:cNvSpPr>
            <a:spLocks xmlns:a="http://schemas.openxmlformats.org/drawingml/2006/main" noGrp="1"/>
          </p:cNvSpPr>
          <p:nvPr/>
        </p:nvSpPr>
        <p:spPr>
          <a:xfrm xmlns:a="http://schemas.openxmlformats.org/drawingml/2006/main">
            <a:off x="8572500" y="325755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40566B"/>
                </a:solidFill>
                <a:latin typeface="Arial"/>
                <a:ea typeface="Arial"/>
                <a:cs typeface="Arial"/>
              </a:defRPr>
            </a:pPr>
            <a:r>
              <a:rPr sz="1275">
                <a:solidFill>
                  <a:srgbClr val="40566B"/>
                </a:solidFill>
                <a:latin typeface="Arial"/>
                <a:ea typeface="Arial"/>
                <a:cs typeface="Arial"/>
              </a:rPr>
              <a:t>It turns the chapter concept into a concrete dataflow, timeline, or state transition.</a:t>
            </a:r>
          </a:p>
        </p:txBody>
      </p:sp>
      <p:sp>
        <p:nvSpPr>
          <p:cNvPr id="9" name="">
            <a:extLst xmlns:a="http://schemas.openxmlformats.org/drawingml/2006/main">
              <a:ext uri="{FF2B5EF4-FFF2-40B4-BE49-F238E27FC236}">
                <a16:creationId xmlns:a16="http://schemas.microsoft.com/office/drawing/2014/main" id="{8BD79AFB-F002-46B6-97CD-BA582BAF954E}"/>
              </a:ext>
            </a:extLst>
          </p:cNvPr>
          <p:cNvSpPr>
            <a:spLocks xmlns:a="http://schemas.openxmlformats.org/drawingml/2006/main" noGrp="1"/>
          </p:cNvSpPr>
          <p:nvPr/>
        </p:nvSpPr>
        <p:spPr>
          <a:xfrm xmlns:a="http://schemas.openxmlformats.org/drawingml/2006/main">
            <a:off x="8572500" y="443865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118AB2"/>
                </a:solidFill>
                <a:latin typeface="Arial"/>
                <a:ea typeface="Arial"/>
                <a:cs typeface="Arial"/>
              </a:defRPr>
            </a:pPr>
            <a:r>
              <a:rPr sz="1200" b="1">
                <a:solidFill>
                  <a:srgbClr val="118AB2"/>
                </a:solidFill>
                <a:latin typeface="Arial"/>
                <a:ea typeface="Arial"/>
                <a:cs typeface="Arial"/>
              </a:rPr>
              <a:t>What to watch</a:t>
            </a:r>
          </a:p>
        </p:txBody>
      </p:sp>
      <p:sp>
        <p:nvSpPr>
          <p:cNvPr id="10" name="">
            <a:extLst xmlns:a="http://schemas.openxmlformats.org/drawingml/2006/main">
              <a:ext uri="{FF2B5EF4-FFF2-40B4-BE49-F238E27FC236}">
                <a16:creationId xmlns:a16="http://schemas.microsoft.com/office/drawing/2014/main" id="{6BB4502B-99C5-4320-951C-78F345A2E795}"/>
              </a:ext>
            </a:extLst>
          </p:cNvPr>
          <p:cNvSpPr>
            <a:spLocks xmlns:a="http://schemas.openxmlformats.org/drawingml/2006/main" noGrp="1"/>
          </p:cNvSpPr>
          <p:nvPr/>
        </p:nvSpPr>
        <p:spPr>
          <a:xfrm xmlns:a="http://schemas.openxmlformats.org/drawingml/2006/main">
            <a:off x="8572500" y="476250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40566B"/>
                </a:solidFill>
                <a:latin typeface="Arial"/>
                <a:ea typeface="Arial"/>
                <a:cs typeface="Arial"/>
              </a:defRPr>
            </a:pPr>
            <a:r>
              <a:rPr sz="1275">
                <a:solidFill>
                  <a:srgbClr val="40566B"/>
                </a:solidFill>
                <a:latin typeface="Arial"/>
                <a:ea typeface="Arial"/>
                <a:cs typeface="Arial"/>
              </a:rPr>
              <a:t>Check the actors, data direction, operation order, and hidden system assumptions.</a:t>
            </a:r>
          </a:p>
        </p:txBody>
      </p:sp>
    </p:spTree>
    <p:extLst>
      <p:ext uri="{BB962C8B-B14F-4D97-AF65-F5344CB8AC3E}">
        <p14:creationId xmlns:p14="http://schemas.microsoft.com/office/powerpoint/2010/main" val="1304947687"/>
      </p:ext>
    </p:extLst>
  </p:cSld>
</p:sld>
</file>

<file path=ppt/slides/slide12.xml><?xml version="1.0" encoding="utf-8"?>
<p:sld xmlns:p="http://schemas.openxmlformats.org/presentationml/2006/main">
  <p:cSld>
    <p:bg>
      <p:bgPr>
        <a:solidFill xmlns:a="http://schemas.openxmlformats.org/drawingml/2006/main">
          <a:srgbClr val="F8F5EE"/>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E31013A5-42EA-4815-8E8D-AFDF368F29B7}"/>
              </a:ext>
            </a:extLst>
          </p:cNvPr>
          <p:cNvSpPr>
            <a:spLocks xmlns:a="http://schemas.openxmlformats.org/drawingml/2006/main" noGrp="1"/>
          </p:cNvSpPr>
          <p:nvPr/>
        </p:nvSpPr>
        <p:spPr>
          <a:xfrm xmlns:a="http://schemas.openxmlformats.org/drawingml/2006/main">
            <a:off x="666750" y="30480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spc="2">
                <a:solidFill>
                  <a:srgbClr val="118AB2"/>
                </a:solidFill>
                <a:latin typeface="Arial"/>
                <a:ea typeface="Arial"/>
                <a:cs typeface="Arial"/>
              </a:defRPr>
            </a:pPr>
            <a:r>
              <a:rPr sz="1200" b="1" spc="2">
                <a:solidFill>
                  <a:srgbClr val="118AB2"/>
                </a:solidFill>
                <a:latin typeface="Arial"/>
                <a:ea typeface="Arial"/>
                <a:cs typeface="Arial"/>
              </a:rPr>
              <a:t>CHAPTER 10</a:t>
            </a:r>
          </a:p>
        </p:txBody>
      </p:sp>
      <p:sp>
        <p:nvSpPr>
          <p:cNvPr id="2" name="">
            <a:extLst xmlns:a="http://schemas.openxmlformats.org/drawingml/2006/main">
              <a:ext uri="{FF2B5EF4-FFF2-40B4-BE49-F238E27FC236}">
                <a16:creationId xmlns:a16="http://schemas.microsoft.com/office/drawing/2014/main" id="{0F2CA51E-35AC-4367-94FE-88328FD39771}"/>
              </a:ext>
            </a:extLst>
          </p:cNvPr>
          <p:cNvSpPr>
            <a:spLocks xmlns:a="http://schemas.openxmlformats.org/drawingml/2006/main" noGrp="1"/>
          </p:cNvSpPr>
          <p:nvPr/>
        </p:nvSpPr>
        <p:spPr>
          <a:xfrm xmlns:a="http://schemas.openxmlformats.org/drawingml/2006/main">
            <a:off x="666750" y="6667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02A43"/>
                </a:solidFill>
                <a:latin typeface="Arial"/>
                <a:ea typeface="Arial"/>
                <a:cs typeface="Arial"/>
              </a:defRPr>
            </a:pPr>
            <a:r>
              <a:rPr sz="2550" b="1">
                <a:solidFill>
                  <a:srgbClr val="102A43"/>
                </a:solidFill>
                <a:latin typeface="Arial"/>
                <a:ea typeface="Arial"/>
                <a:cs typeface="Arial"/>
              </a:rPr>
              <a:t>Figure 10-6: mechanism explained</a:t>
            </a:r>
          </a:p>
        </p:txBody>
      </p:sp>
      <p:sp>
        <p:nvSpPr>
          <p:cNvPr id="3" name="">
            <a:extLst xmlns:a="http://schemas.openxmlformats.org/drawingml/2006/main">
              <a:ext uri="{FF2B5EF4-FFF2-40B4-BE49-F238E27FC236}">
                <a16:creationId xmlns:a16="http://schemas.microsoft.com/office/drawing/2014/main" id="{66184F31-3FF6-441E-8D2C-DF60A650FA1A}"/>
              </a:ext>
            </a:extLst>
          </p:cNvPr>
          <p:cNvSpPr>
            <a:spLocks xmlns:a="http://schemas.openxmlformats.org/drawingml/2006/main" noGrp="1"/>
          </p:cNvSpPr>
          <p:nvPr/>
        </p:nvSpPr>
        <p:spPr>
          <a:xfrm xmlns:a="http://schemas.openxmlformats.org/drawingml/2006/main">
            <a:off x="10096500" y="63817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lgn="r">
              <a:defRPr sz="975">
                <a:solidFill>
                  <a:srgbClr val="6B7C8F"/>
                </a:solidFill>
                <a:latin typeface="Arial"/>
                <a:ea typeface="Arial"/>
                <a:cs typeface="Arial"/>
              </a:defRPr>
            </a:pPr>
            <a:r>
              <a:rPr sz="975">
                <a:solidFill>
                  <a:srgbClr val="6B7C8F"/>
                </a:solidFill>
                <a:latin typeface="Arial"/>
                <a:ea typeface="Arial"/>
                <a:cs typeface="Arial"/>
              </a:rPr>
              <a:t>12 / 23</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8d06b1b9e5064c4f"/>
          <a:stretch xmlns:a="http://schemas.openxmlformats.org/drawingml/2006/main"/>
        </p:blipFill>
        <p:spPr>
          <a:xfrm xmlns:a="http://schemas.openxmlformats.org/drawingml/2006/main">
            <a:off x="1235835" y="1285875"/>
            <a:ext cx="6319905" cy="47625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047C92D4-DD84-448D-8DFB-3BA59AE3A018}"/>
              </a:ext>
            </a:extLst>
          </p:cNvPr>
          <p:cNvSpPr>
            <a:spLocks xmlns:a="http://schemas.openxmlformats.org/drawingml/2006/main" noGrp="1"/>
          </p:cNvSpPr>
          <p:nvPr/>
        </p:nvSpPr>
        <p:spPr>
          <a:xfrm xmlns:a="http://schemas.openxmlformats.org/drawingml/2006/main">
            <a:off x="8572500" y="142875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118AB2"/>
                </a:solidFill>
                <a:latin typeface="Arial"/>
                <a:ea typeface="Arial"/>
                <a:cs typeface="Arial"/>
              </a:defRPr>
            </a:pPr>
            <a:r>
              <a:rPr sz="1200" b="1">
                <a:solidFill>
                  <a:srgbClr val="118AB2"/>
                </a:solidFill>
                <a:latin typeface="Arial"/>
                <a:ea typeface="Arial"/>
                <a:cs typeface="Arial"/>
              </a:rPr>
              <a:t>What it shows</a:t>
            </a:r>
          </a:p>
        </p:txBody>
      </p:sp>
      <p:sp>
        <p:nvSpPr>
          <p:cNvPr id="6" name="">
            <a:extLst xmlns:a="http://schemas.openxmlformats.org/drawingml/2006/main">
              <a:ext uri="{FF2B5EF4-FFF2-40B4-BE49-F238E27FC236}">
                <a16:creationId xmlns:a16="http://schemas.microsoft.com/office/drawing/2014/main" id="{543B2BA8-3FA2-4563-AED4-8E7F78E63E95}"/>
              </a:ext>
            </a:extLst>
          </p:cNvPr>
          <p:cNvSpPr>
            <a:spLocks xmlns:a="http://schemas.openxmlformats.org/drawingml/2006/main" noGrp="1"/>
          </p:cNvSpPr>
          <p:nvPr/>
        </p:nvSpPr>
        <p:spPr>
          <a:xfrm xmlns:a="http://schemas.openxmlformats.org/drawingml/2006/main">
            <a:off x="8572500" y="175260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40566B"/>
                </a:solidFill>
                <a:latin typeface="Arial"/>
                <a:ea typeface="Arial"/>
                <a:cs typeface="Arial"/>
              </a:defRPr>
            </a:pPr>
            <a:r>
              <a:rPr sz="1275">
                <a:solidFill>
                  <a:srgbClr val="40566B"/>
                </a:solidFill>
                <a:latin typeface="Arial"/>
                <a:ea typeface="Arial"/>
                <a:cs typeface="Arial"/>
              </a:rPr>
              <a:t>Replica responses and version metadata are used to reason about freshness and causality.</a:t>
            </a:r>
          </a:p>
        </p:txBody>
      </p:sp>
      <p:sp>
        <p:nvSpPr>
          <p:cNvPr id="7" name="">
            <a:extLst xmlns:a="http://schemas.openxmlformats.org/drawingml/2006/main">
              <a:ext uri="{FF2B5EF4-FFF2-40B4-BE49-F238E27FC236}">
                <a16:creationId xmlns:a16="http://schemas.microsoft.com/office/drawing/2014/main" id="{CDF71982-287F-4D59-B536-FD8C4BB04088}"/>
              </a:ext>
            </a:extLst>
          </p:cNvPr>
          <p:cNvSpPr>
            <a:spLocks xmlns:a="http://schemas.openxmlformats.org/drawingml/2006/main" noGrp="1"/>
          </p:cNvSpPr>
          <p:nvPr/>
        </p:nvSpPr>
        <p:spPr>
          <a:xfrm xmlns:a="http://schemas.openxmlformats.org/drawingml/2006/main">
            <a:off x="8572500" y="293370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118AB2"/>
                </a:solidFill>
                <a:latin typeface="Arial"/>
                <a:ea typeface="Arial"/>
                <a:cs typeface="Arial"/>
              </a:defRPr>
            </a:pPr>
            <a:r>
              <a:rPr sz="1200" b="1">
                <a:solidFill>
                  <a:srgbClr val="118AB2"/>
                </a:solidFill>
                <a:latin typeface="Arial"/>
                <a:ea typeface="Arial"/>
                <a:cs typeface="Arial"/>
              </a:rPr>
              <a:t>Why it matters</a:t>
            </a:r>
          </a:p>
        </p:txBody>
      </p:sp>
      <p:sp>
        <p:nvSpPr>
          <p:cNvPr id="8" name="">
            <a:extLst xmlns:a="http://schemas.openxmlformats.org/drawingml/2006/main">
              <a:ext uri="{FF2B5EF4-FFF2-40B4-BE49-F238E27FC236}">
                <a16:creationId xmlns:a16="http://schemas.microsoft.com/office/drawing/2014/main" id="{90E27027-D38E-40E6-84BB-F87202E6AE10}"/>
              </a:ext>
            </a:extLst>
          </p:cNvPr>
          <p:cNvSpPr>
            <a:spLocks xmlns:a="http://schemas.openxmlformats.org/drawingml/2006/main" noGrp="1"/>
          </p:cNvSpPr>
          <p:nvPr/>
        </p:nvSpPr>
        <p:spPr>
          <a:xfrm xmlns:a="http://schemas.openxmlformats.org/drawingml/2006/main">
            <a:off x="8572500" y="325755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40566B"/>
                </a:solidFill>
                <a:latin typeface="Arial"/>
                <a:ea typeface="Arial"/>
                <a:cs typeface="Arial"/>
              </a:defRPr>
            </a:pPr>
            <a:r>
              <a:rPr sz="1275">
                <a:solidFill>
                  <a:srgbClr val="40566B"/>
                </a:solidFill>
                <a:latin typeface="Arial"/>
                <a:ea typeface="Arial"/>
                <a:cs typeface="Arial"/>
              </a:rPr>
              <a:t>Quorum overlap helps, but concurrent writes still require explicit version handling.</a:t>
            </a:r>
          </a:p>
        </p:txBody>
      </p:sp>
      <p:sp>
        <p:nvSpPr>
          <p:cNvPr id="9" name="">
            <a:extLst xmlns:a="http://schemas.openxmlformats.org/drawingml/2006/main">
              <a:ext uri="{FF2B5EF4-FFF2-40B4-BE49-F238E27FC236}">
                <a16:creationId xmlns:a16="http://schemas.microsoft.com/office/drawing/2014/main" id="{B49AC079-DB59-402A-BF5B-8855FF0D9980}"/>
              </a:ext>
            </a:extLst>
          </p:cNvPr>
          <p:cNvSpPr>
            <a:spLocks xmlns:a="http://schemas.openxmlformats.org/drawingml/2006/main" noGrp="1"/>
          </p:cNvSpPr>
          <p:nvPr/>
        </p:nvSpPr>
        <p:spPr>
          <a:xfrm xmlns:a="http://schemas.openxmlformats.org/drawingml/2006/main">
            <a:off x="8572500" y="443865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118AB2"/>
                </a:solidFill>
                <a:latin typeface="Arial"/>
                <a:ea typeface="Arial"/>
                <a:cs typeface="Arial"/>
              </a:defRPr>
            </a:pPr>
            <a:r>
              <a:rPr sz="1200" b="1">
                <a:solidFill>
                  <a:srgbClr val="118AB2"/>
                </a:solidFill>
                <a:latin typeface="Arial"/>
                <a:ea typeface="Arial"/>
                <a:cs typeface="Arial"/>
              </a:rPr>
              <a:t>What to watch</a:t>
            </a:r>
          </a:p>
        </p:txBody>
      </p:sp>
      <p:sp>
        <p:nvSpPr>
          <p:cNvPr id="10" name="">
            <a:extLst xmlns:a="http://schemas.openxmlformats.org/drawingml/2006/main">
              <a:ext uri="{FF2B5EF4-FFF2-40B4-BE49-F238E27FC236}">
                <a16:creationId xmlns:a16="http://schemas.microsoft.com/office/drawing/2014/main" id="{5EAD84A2-4AE5-43E2-8160-18B5BCED9688}"/>
              </a:ext>
            </a:extLst>
          </p:cNvPr>
          <p:cNvSpPr>
            <a:spLocks xmlns:a="http://schemas.openxmlformats.org/drawingml/2006/main" noGrp="1"/>
          </p:cNvSpPr>
          <p:nvPr/>
        </p:nvSpPr>
        <p:spPr>
          <a:xfrm xmlns:a="http://schemas.openxmlformats.org/drawingml/2006/main">
            <a:off x="8572500" y="476250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40566B"/>
                </a:solidFill>
                <a:latin typeface="Arial"/>
                <a:ea typeface="Arial"/>
                <a:cs typeface="Arial"/>
              </a:defRPr>
            </a:pPr>
            <a:r>
              <a:rPr sz="1275">
                <a:solidFill>
                  <a:srgbClr val="40566B"/>
                </a:solidFill>
                <a:latin typeface="Arial"/>
                <a:ea typeface="Arial"/>
                <a:cs typeface="Arial"/>
              </a:rPr>
              <a:t>Follow the arrows or timeline and test whether the conclusion still holds under failure, retry, and concurrency.</a:t>
            </a:r>
          </a:p>
        </p:txBody>
      </p:sp>
    </p:spTree>
    <p:extLst>
      <p:ext uri="{BB962C8B-B14F-4D97-AF65-F5344CB8AC3E}">
        <p14:creationId xmlns:p14="http://schemas.microsoft.com/office/powerpoint/2010/main" val="679524203"/>
      </p:ext>
    </p:extLst>
  </p:cSld>
</p:sld>
</file>

<file path=ppt/slides/slide13.xml><?xml version="1.0" encoding="utf-8"?>
<p:sld xmlns:p="http://schemas.openxmlformats.org/presentationml/2006/main">
  <p:cSld>
    <p:bg>
      <p:bgPr>
        <a:solidFill xmlns:a="http://schemas.openxmlformats.org/drawingml/2006/main">
          <a:srgbClr val="F8F5EE"/>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95CC425C-596C-49CE-8E65-B978C1E0317B}"/>
              </a:ext>
            </a:extLst>
          </p:cNvPr>
          <p:cNvSpPr>
            <a:spLocks xmlns:a="http://schemas.openxmlformats.org/drawingml/2006/main" noGrp="1"/>
          </p:cNvSpPr>
          <p:nvPr/>
        </p:nvSpPr>
        <p:spPr>
          <a:xfrm xmlns:a="http://schemas.openxmlformats.org/drawingml/2006/main">
            <a:off x="666750" y="30480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spc="2">
                <a:solidFill>
                  <a:srgbClr val="118AB2"/>
                </a:solidFill>
                <a:latin typeface="Arial"/>
                <a:ea typeface="Arial"/>
                <a:cs typeface="Arial"/>
              </a:defRPr>
            </a:pPr>
            <a:r>
              <a:rPr sz="1200" b="1" spc="2">
                <a:solidFill>
                  <a:srgbClr val="118AB2"/>
                </a:solidFill>
                <a:latin typeface="Arial"/>
                <a:ea typeface="Arial"/>
                <a:cs typeface="Arial"/>
              </a:rPr>
              <a:t>CHAPTER 10</a:t>
            </a:r>
          </a:p>
        </p:txBody>
      </p:sp>
      <p:sp>
        <p:nvSpPr>
          <p:cNvPr id="2" name="">
            <a:extLst xmlns:a="http://schemas.openxmlformats.org/drawingml/2006/main">
              <a:ext uri="{FF2B5EF4-FFF2-40B4-BE49-F238E27FC236}">
                <a16:creationId xmlns:a16="http://schemas.microsoft.com/office/drawing/2014/main" id="{ADFDFFA9-FAED-44F1-843E-C4706AD72E4B}"/>
              </a:ext>
            </a:extLst>
          </p:cNvPr>
          <p:cNvSpPr>
            <a:spLocks xmlns:a="http://schemas.openxmlformats.org/drawingml/2006/main" noGrp="1"/>
          </p:cNvSpPr>
          <p:nvPr/>
        </p:nvSpPr>
        <p:spPr>
          <a:xfrm xmlns:a="http://schemas.openxmlformats.org/drawingml/2006/main">
            <a:off x="666750" y="6667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02A43"/>
                </a:solidFill>
                <a:latin typeface="Arial"/>
                <a:ea typeface="Arial"/>
                <a:cs typeface="Arial"/>
              </a:defRPr>
            </a:pPr>
            <a:r>
              <a:rPr sz="2550" b="1">
                <a:solidFill>
                  <a:srgbClr val="102A43"/>
                </a:solidFill>
                <a:latin typeface="Arial"/>
                <a:ea typeface="Arial"/>
                <a:cs typeface="Arial"/>
              </a:rPr>
              <a:t>Figure 10-7: mechanism explained</a:t>
            </a:r>
          </a:p>
        </p:txBody>
      </p:sp>
      <p:sp>
        <p:nvSpPr>
          <p:cNvPr id="3" name="">
            <a:extLst xmlns:a="http://schemas.openxmlformats.org/drawingml/2006/main">
              <a:ext uri="{FF2B5EF4-FFF2-40B4-BE49-F238E27FC236}">
                <a16:creationId xmlns:a16="http://schemas.microsoft.com/office/drawing/2014/main" id="{AC572846-51D6-44AB-B530-671439D4F8DA}"/>
              </a:ext>
            </a:extLst>
          </p:cNvPr>
          <p:cNvSpPr>
            <a:spLocks xmlns:a="http://schemas.openxmlformats.org/drawingml/2006/main" noGrp="1"/>
          </p:cNvSpPr>
          <p:nvPr/>
        </p:nvSpPr>
        <p:spPr>
          <a:xfrm xmlns:a="http://schemas.openxmlformats.org/drawingml/2006/main">
            <a:off x="10096500" y="63817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lgn="r">
              <a:defRPr sz="975">
                <a:solidFill>
                  <a:srgbClr val="6B7C8F"/>
                </a:solidFill>
                <a:latin typeface="Arial"/>
                <a:ea typeface="Arial"/>
                <a:cs typeface="Arial"/>
              </a:defRPr>
            </a:pPr>
            <a:r>
              <a:rPr sz="975">
                <a:solidFill>
                  <a:srgbClr val="6B7C8F"/>
                </a:solidFill>
                <a:latin typeface="Arial"/>
                <a:ea typeface="Arial"/>
                <a:cs typeface="Arial"/>
              </a:rPr>
              <a:t>13 / 23</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7ab1b03788a34a77"/>
          <a:stretch xmlns:a="http://schemas.openxmlformats.org/drawingml/2006/main"/>
        </p:blipFill>
        <p:spPr>
          <a:xfrm xmlns:a="http://schemas.openxmlformats.org/drawingml/2006/main">
            <a:off x="514350" y="1404108"/>
            <a:ext cx="7762875" cy="4526033"/>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DA7CF20C-6743-42E0-AD40-6B769049521D}"/>
              </a:ext>
            </a:extLst>
          </p:cNvPr>
          <p:cNvSpPr>
            <a:spLocks xmlns:a="http://schemas.openxmlformats.org/drawingml/2006/main" noGrp="1"/>
          </p:cNvSpPr>
          <p:nvPr/>
        </p:nvSpPr>
        <p:spPr>
          <a:xfrm xmlns:a="http://schemas.openxmlformats.org/drawingml/2006/main">
            <a:off x="8572500" y="142875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118AB2"/>
                </a:solidFill>
                <a:latin typeface="Arial"/>
                <a:ea typeface="Arial"/>
                <a:cs typeface="Arial"/>
              </a:defRPr>
            </a:pPr>
            <a:r>
              <a:rPr sz="1200" b="1">
                <a:solidFill>
                  <a:srgbClr val="118AB2"/>
                </a:solidFill>
                <a:latin typeface="Arial"/>
                <a:ea typeface="Arial"/>
                <a:cs typeface="Arial"/>
              </a:rPr>
              <a:t>What it shows</a:t>
            </a:r>
          </a:p>
        </p:txBody>
      </p:sp>
      <p:sp>
        <p:nvSpPr>
          <p:cNvPr id="6" name="">
            <a:extLst xmlns:a="http://schemas.openxmlformats.org/drawingml/2006/main">
              <a:ext uri="{FF2B5EF4-FFF2-40B4-BE49-F238E27FC236}">
                <a16:creationId xmlns:a16="http://schemas.microsoft.com/office/drawing/2014/main" id="{EA33AB81-6428-422B-BF4B-5021E8786CBD}"/>
              </a:ext>
            </a:extLst>
          </p:cNvPr>
          <p:cNvSpPr>
            <a:spLocks xmlns:a="http://schemas.openxmlformats.org/drawingml/2006/main" noGrp="1"/>
          </p:cNvSpPr>
          <p:nvPr/>
        </p:nvSpPr>
        <p:spPr>
          <a:xfrm xmlns:a="http://schemas.openxmlformats.org/drawingml/2006/main">
            <a:off x="8572500" y="175260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40566B"/>
                </a:solidFill>
                <a:latin typeface="Arial"/>
                <a:ea typeface="Arial"/>
                <a:cs typeface="Arial"/>
              </a:defRPr>
            </a:pPr>
            <a:r>
              <a:rPr sz="1275">
                <a:solidFill>
                  <a:srgbClr val="40566B"/>
                </a:solidFill>
                <a:latin typeface="Arial"/>
                <a:ea typeface="Arial"/>
                <a:cs typeface="Arial"/>
              </a:rPr>
              <a:t>The timeline compares real-time order with the order visible to clients.</a:t>
            </a:r>
          </a:p>
        </p:txBody>
      </p:sp>
      <p:sp>
        <p:nvSpPr>
          <p:cNvPr id="7" name="">
            <a:extLst xmlns:a="http://schemas.openxmlformats.org/drawingml/2006/main">
              <a:ext uri="{FF2B5EF4-FFF2-40B4-BE49-F238E27FC236}">
                <a16:creationId xmlns:a16="http://schemas.microsoft.com/office/drawing/2014/main" id="{D70A6D58-0171-42A5-B286-456C5F3A6DC1}"/>
              </a:ext>
            </a:extLst>
          </p:cNvPr>
          <p:cNvSpPr>
            <a:spLocks xmlns:a="http://schemas.openxmlformats.org/drawingml/2006/main" noGrp="1"/>
          </p:cNvSpPr>
          <p:nvPr/>
        </p:nvSpPr>
        <p:spPr>
          <a:xfrm xmlns:a="http://schemas.openxmlformats.org/drawingml/2006/main">
            <a:off x="8572500" y="293370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118AB2"/>
                </a:solidFill>
                <a:latin typeface="Arial"/>
                <a:ea typeface="Arial"/>
                <a:cs typeface="Arial"/>
              </a:defRPr>
            </a:pPr>
            <a:r>
              <a:rPr sz="1200" b="1">
                <a:solidFill>
                  <a:srgbClr val="118AB2"/>
                </a:solidFill>
                <a:latin typeface="Arial"/>
                <a:ea typeface="Arial"/>
                <a:cs typeface="Arial"/>
              </a:rPr>
              <a:t>Why it matters</a:t>
            </a:r>
          </a:p>
        </p:txBody>
      </p:sp>
      <p:sp>
        <p:nvSpPr>
          <p:cNvPr id="8" name="">
            <a:extLst xmlns:a="http://schemas.openxmlformats.org/drawingml/2006/main">
              <a:ext uri="{FF2B5EF4-FFF2-40B4-BE49-F238E27FC236}">
                <a16:creationId xmlns:a16="http://schemas.microsoft.com/office/drawing/2014/main" id="{23387335-7C07-4CA4-9A87-77691142BF6E}"/>
              </a:ext>
            </a:extLst>
          </p:cNvPr>
          <p:cNvSpPr>
            <a:spLocks xmlns:a="http://schemas.openxmlformats.org/drawingml/2006/main" noGrp="1"/>
          </p:cNvSpPr>
          <p:nvPr/>
        </p:nvSpPr>
        <p:spPr>
          <a:xfrm xmlns:a="http://schemas.openxmlformats.org/drawingml/2006/main">
            <a:off x="8572500" y="325755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40566B"/>
                </a:solidFill>
                <a:latin typeface="Arial"/>
                <a:ea typeface="Arial"/>
                <a:cs typeface="Arial"/>
              </a:defRPr>
            </a:pPr>
            <a:r>
              <a:rPr sz="1275">
                <a:solidFill>
                  <a:srgbClr val="40566B"/>
                </a:solidFill>
                <a:latin typeface="Arial"/>
                <a:ea typeface="Arial"/>
                <a:cs typeface="Arial"/>
              </a:rPr>
              <a:t>Stronger ordering simplifies correctness but requires coordination or logical metadata.</a:t>
            </a:r>
          </a:p>
        </p:txBody>
      </p:sp>
      <p:sp>
        <p:nvSpPr>
          <p:cNvPr id="9" name="">
            <a:extLst xmlns:a="http://schemas.openxmlformats.org/drawingml/2006/main">
              <a:ext uri="{FF2B5EF4-FFF2-40B4-BE49-F238E27FC236}">
                <a16:creationId xmlns:a16="http://schemas.microsoft.com/office/drawing/2014/main" id="{A82FD312-FF51-460C-9CE7-C132C0F40BF5}"/>
              </a:ext>
            </a:extLst>
          </p:cNvPr>
          <p:cNvSpPr>
            <a:spLocks xmlns:a="http://schemas.openxmlformats.org/drawingml/2006/main" noGrp="1"/>
          </p:cNvSpPr>
          <p:nvPr/>
        </p:nvSpPr>
        <p:spPr>
          <a:xfrm xmlns:a="http://schemas.openxmlformats.org/drawingml/2006/main">
            <a:off x="8572500" y="443865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118AB2"/>
                </a:solidFill>
                <a:latin typeface="Arial"/>
                <a:ea typeface="Arial"/>
                <a:cs typeface="Arial"/>
              </a:defRPr>
            </a:pPr>
            <a:r>
              <a:rPr sz="1200" b="1">
                <a:solidFill>
                  <a:srgbClr val="118AB2"/>
                </a:solidFill>
                <a:latin typeface="Arial"/>
                <a:ea typeface="Arial"/>
                <a:cs typeface="Arial"/>
              </a:rPr>
              <a:t>What to watch</a:t>
            </a:r>
          </a:p>
        </p:txBody>
      </p:sp>
      <p:sp>
        <p:nvSpPr>
          <p:cNvPr id="10" name="">
            <a:extLst xmlns:a="http://schemas.openxmlformats.org/drawingml/2006/main">
              <a:ext uri="{FF2B5EF4-FFF2-40B4-BE49-F238E27FC236}">
                <a16:creationId xmlns:a16="http://schemas.microsoft.com/office/drawing/2014/main" id="{73920C5E-3936-4A93-B981-34E6DF26B533}"/>
              </a:ext>
            </a:extLst>
          </p:cNvPr>
          <p:cNvSpPr>
            <a:spLocks xmlns:a="http://schemas.openxmlformats.org/drawingml/2006/main" noGrp="1"/>
          </p:cNvSpPr>
          <p:nvPr/>
        </p:nvSpPr>
        <p:spPr>
          <a:xfrm xmlns:a="http://schemas.openxmlformats.org/drawingml/2006/main">
            <a:off x="8572500" y="476250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40566B"/>
                </a:solidFill>
                <a:latin typeface="Arial"/>
                <a:ea typeface="Arial"/>
                <a:cs typeface="Arial"/>
              </a:defRPr>
            </a:pPr>
            <a:r>
              <a:rPr sz="1275">
                <a:solidFill>
                  <a:srgbClr val="40566B"/>
                </a:solidFill>
                <a:latin typeface="Arial"/>
                <a:ea typeface="Arial"/>
                <a:cs typeface="Arial"/>
              </a:rPr>
              <a:t>Follow the arrows or timeline and test whether the conclusion still holds under failure, retry, and concurrency.</a:t>
            </a:r>
          </a:p>
        </p:txBody>
      </p:sp>
    </p:spTree>
    <p:extLst>
      <p:ext uri="{BB962C8B-B14F-4D97-AF65-F5344CB8AC3E}">
        <p14:creationId xmlns:p14="http://schemas.microsoft.com/office/powerpoint/2010/main" val="2094564146"/>
      </p:ext>
    </p:extLst>
  </p:cSld>
</p:sld>
</file>

<file path=ppt/slides/slide14.xml><?xml version="1.0" encoding="utf-8"?>
<p:sld xmlns:p="http://schemas.openxmlformats.org/presentationml/2006/main">
  <p:cSld>
    <p:bg>
      <p:bgPr>
        <a:solidFill xmlns:a="http://schemas.openxmlformats.org/drawingml/2006/main">
          <a:srgbClr val="F8F5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9C0CCEE-A9C1-4E5E-A46A-5FEDC3B71A9D}"/>
              </a:ext>
            </a:extLst>
          </p:cNvPr>
          <p:cNvSpPr>
            <a:spLocks xmlns:a="http://schemas.openxmlformats.org/drawingml/2006/main" noGrp="1"/>
          </p:cNvSpPr>
          <p:nvPr/>
        </p:nvSpPr>
        <p:spPr>
          <a:xfrm xmlns:a="http://schemas.openxmlformats.org/drawingml/2006/main">
            <a:off x="666750" y="30480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spc="2">
                <a:solidFill>
                  <a:srgbClr val="118AB2"/>
                </a:solidFill>
                <a:latin typeface="Arial"/>
                <a:ea typeface="Arial"/>
                <a:cs typeface="Arial"/>
              </a:defRPr>
            </a:pPr>
            <a:r>
              <a:rPr sz="1200" b="1" spc="2">
                <a:solidFill>
                  <a:srgbClr val="118AB2"/>
                </a:solidFill>
                <a:latin typeface="Arial"/>
                <a:ea typeface="Arial"/>
                <a:cs typeface="Arial"/>
              </a:rPr>
              <a:t>CHAPTER 10</a:t>
            </a:r>
          </a:p>
        </p:txBody>
      </p:sp>
      <p:sp>
        <p:nvSpPr>
          <p:cNvPr id="2" name="">
            <a:extLst xmlns:a="http://schemas.openxmlformats.org/drawingml/2006/main">
              <a:ext uri="{FF2B5EF4-FFF2-40B4-BE49-F238E27FC236}">
                <a16:creationId xmlns:a16="http://schemas.microsoft.com/office/drawing/2014/main" id="{8BD0E3B0-DE90-49F5-B007-49B456764481}"/>
              </a:ext>
            </a:extLst>
          </p:cNvPr>
          <p:cNvSpPr>
            <a:spLocks xmlns:a="http://schemas.openxmlformats.org/drawingml/2006/main" noGrp="1"/>
          </p:cNvSpPr>
          <p:nvPr/>
        </p:nvSpPr>
        <p:spPr>
          <a:xfrm xmlns:a="http://schemas.openxmlformats.org/drawingml/2006/main">
            <a:off x="666750" y="6667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02A43"/>
                </a:solidFill>
                <a:latin typeface="Arial"/>
                <a:ea typeface="Arial"/>
                <a:cs typeface="Arial"/>
              </a:defRPr>
            </a:pPr>
            <a:r>
              <a:rPr sz="2550" b="1">
                <a:solidFill>
                  <a:srgbClr val="102A43"/>
                </a:solidFill>
                <a:latin typeface="Arial"/>
                <a:ea typeface="Arial"/>
                <a:cs typeface="Arial"/>
              </a:rPr>
              <a:t>Logical clocks and IDs</a:t>
            </a:r>
          </a:p>
        </p:txBody>
      </p:sp>
      <p:sp>
        <p:nvSpPr>
          <p:cNvPr id="3" name="">
            <a:extLst xmlns:a="http://schemas.openxmlformats.org/drawingml/2006/main">
              <a:ext uri="{FF2B5EF4-FFF2-40B4-BE49-F238E27FC236}">
                <a16:creationId xmlns:a16="http://schemas.microsoft.com/office/drawing/2014/main" id="{CC7F1251-7288-4AD2-8CAB-5797C0203FFE}"/>
              </a:ext>
            </a:extLst>
          </p:cNvPr>
          <p:cNvSpPr>
            <a:spLocks xmlns:a="http://schemas.openxmlformats.org/drawingml/2006/main" noGrp="1"/>
          </p:cNvSpPr>
          <p:nvPr/>
        </p:nvSpPr>
        <p:spPr>
          <a:xfrm xmlns:a="http://schemas.openxmlformats.org/drawingml/2006/main">
            <a:off x="10096500" y="63817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lgn="r">
              <a:defRPr sz="975">
                <a:solidFill>
                  <a:srgbClr val="6B7C8F"/>
                </a:solidFill>
                <a:latin typeface="Arial"/>
                <a:ea typeface="Arial"/>
                <a:cs typeface="Arial"/>
              </a:defRPr>
            </a:pPr>
            <a:r>
              <a:rPr sz="975">
                <a:solidFill>
                  <a:srgbClr val="6B7C8F"/>
                </a:solidFill>
                <a:latin typeface="Arial"/>
                <a:ea typeface="Arial"/>
                <a:cs typeface="Arial"/>
              </a:rPr>
              <a:t>14 / 23</a:t>
            </a:r>
          </a:p>
        </p:txBody>
      </p:sp>
      <p:sp>
        <p:nvSpPr>
          <p:cNvPr id="4" name="">
            <a:extLst xmlns:a="http://schemas.openxmlformats.org/drawingml/2006/main">
              <a:ext uri="{FF2B5EF4-FFF2-40B4-BE49-F238E27FC236}">
                <a16:creationId xmlns:a16="http://schemas.microsoft.com/office/drawing/2014/main" id="{BF090513-0EA9-4D9F-8CE3-99AE0F1EEF33}"/>
              </a:ext>
            </a:extLst>
          </p:cNvPr>
          <p:cNvSpPr>
            <a:spLocks xmlns:a="http://schemas.openxmlformats.org/drawingml/2006/main" noGrp="1"/>
          </p:cNvSpPr>
          <p:nvPr/>
        </p:nvSpPr>
        <p:spPr>
          <a:xfrm xmlns:a="http://schemas.openxmlformats.org/drawingml/2006/main">
            <a:off x="685800" y="1571625"/>
            <a:ext cx="17145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6750" b="1">
                <a:solidFill>
                  <a:srgbClr val="118AB2"/>
                </a:solidFill>
                <a:latin typeface="Arial"/>
                <a:ea typeface="Arial"/>
                <a:cs typeface="Arial"/>
              </a:defRPr>
            </a:pPr>
            <a:r>
              <a:rPr sz="6750" b="1">
                <a:solidFill>
                  <a:srgbClr val="118AB2"/>
                </a:solidFill>
                <a:latin typeface="Arial"/>
                <a:ea typeface="Arial"/>
                <a:cs typeface="Arial"/>
              </a:rPr>
              <a:t>03</a:t>
            </a:r>
          </a:p>
        </p:txBody>
      </p:sp>
      <p:sp>
        <p:nvSpPr>
          <p:cNvPr id="5" name="">
            <a:extLst xmlns:a="http://schemas.openxmlformats.org/drawingml/2006/main">
              <a:ext uri="{FF2B5EF4-FFF2-40B4-BE49-F238E27FC236}">
                <a16:creationId xmlns:a16="http://schemas.microsoft.com/office/drawing/2014/main" id="{AEEDA2B5-11D6-49FC-9E7E-0B435E61A29A}"/>
              </a:ext>
            </a:extLst>
          </p:cNvPr>
          <p:cNvSpPr>
            <a:spLocks xmlns:a="http://schemas.openxmlformats.org/drawingml/2006/main" noGrp="1"/>
          </p:cNvSpPr>
          <p:nvPr/>
        </p:nvSpPr>
        <p:spPr>
          <a:xfrm xmlns:a="http://schemas.openxmlformats.org/drawingml/2006/main">
            <a:off x="2857500" y="1571625"/>
            <a:ext cx="80962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marL="228600" indent="-114300">
              <a:spcAft>
                <a:spcPts val="1000"/>
              </a:spcAft>
              <a:buChar char="•"/>
              <a:defRPr sz="1725">
                <a:solidFill>
                  <a:srgbClr val="17324D"/>
                </a:solidFill>
                <a:latin typeface="Arial"/>
                <a:ea typeface="Arial"/>
                <a:cs typeface="Arial"/>
              </a:defRPr>
            </a:pPr>
            <a:r>
              <a:rPr sz="1725">
                <a:solidFill>
                  <a:srgbClr val="17324D"/>
                </a:solidFill>
                <a:latin typeface="Arial"/>
                <a:ea typeface="Arial"/>
                <a:cs typeface="Arial"/>
              </a:rPr>
              <a:t>Logical clocks express ordering without precise physical time.</a:t>
            </a:r>
          </a:p>
          <a:p xmlns:a="http://schemas.openxmlformats.org/drawingml/2006/main">
            <a:pPr marL="228600" indent="-114300">
              <a:spcAft>
                <a:spcPts val="1000"/>
              </a:spcAft>
              <a:buChar char="•"/>
              <a:defRPr sz="1725">
                <a:solidFill>
                  <a:srgbClr val="17324D"/>
                </a:solidFill>
                <a:latin typeface="Arial"/>
                <a:ea typeface="Arial"/>
                <a:cs typeface="Arial"/>
              </a:defRPr>
            </a:pPr>
            <a:r>
              <a:rPr sz="1725">
                <a:solidFill>
                  <a:srgbClr val="17324D"/>
                </a:solidFill>
                <a:latin typeface="Arial"/>
                <a:ea typeface="Arial"/>
                <a:cs typeface="Arial"/>
              </a:rPr>
              <a:t>Lamport timestamps provide a total order but do not identify concurrency.</a:t>
            </a:r>
          </a:p>
          <a:p xmlns:a="http://schemas.openxmlformats.org/drawingml/2006/main">
            <a:pPr marL="228600" indent="-114300">
              <a:spcAft>
                <a:spcPts val="1000"/>
              </a:spcAft>
              <a:buChar char="•"/>
              <a:defRPr sz="1725">
                <a:solidFill>
                  <a:srgbClr val="17324D"/>
                </a:solidFill>
                <a:latin typeface="Arial"/>
                <a:ea typeface="Arial"/>
                <a:cs typeface="Arial"/>
              </a:defRPr>
            </a:pPr>
            <a:r>
              <a:rPr sz="1725">
                <a:solidFill>
                  <a:srgbClr val="17324D"/>
                </a:solidFill>
                <a:latin typeface="Arial"/>
                <a:ea typeface="Arial"/>
                <a:cs typeface="Arial"/>
              </a:rPr>
              <a:t>Sortable ID generators trade throughput, order, and central dependency.</a:t>
            </a:r>
          </a:p>
        </p:txBody>
      </p:sp>
      <p:sp>
        <p:nvSpPr>
          <p:cNvPr id="6" name="">
            <a:extLst xmlns:a="http://schemas.openxmlformats.org/drawingml/2006/main">
              <a:ext uri="{FF2B5EF4-FFF2-40B4-BE49-F238E27FC236}">
                <a16:creationId xmlns:a16="http://schemas.microsoft.com/office/drawing/2014/main" id="{243CD47D-139F-4288-AC29-86E367DCF2B8}"/>
              </a:ext>
            </a:extLst>
          </p:cNvPr>
          <p:cNvSpPr>
            <a:spLocks xmlns:a="http://schemas.openxmlformats.org/drawingml/2006/main" noGrp="1"/>
          </p:cNvSpPr>
          <p:nvPr/>
        </p:nvSpPr>
        <p:spPr>
          <a:xfrm xmlns:a="http://schemas.openxmlformats.org/drawingml/2006/main">
            <a:off x="2857500" y="5000625"/>
            <a:ext cx="152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118AB2"/>
                </a:solidFill>
                <a:latin typeface="Arial"/>
                <a:ea typeface="Arial"/>
                <a:cs typeface="Arial"/>
              </a:defRPr>
            </a:pPr>
            <a:r>
              <a:rPr sz="1200" b="1">
                <a:solidFill>
                  <a:srgbClr val="118AB2"/>
                </a:solidFill>
                <a:latin typeface="Arial"/>
                <a:ea typeface="Arial"/>
                <a:cs typeface="Arial"/>
              </a:rPr>
              <a:t>Core question</a:t>
            </a:r>
          </a:p>
        </p:txBody>
      </p:sp>
      <p:sp>
        <p:nvSpPr>
          <p:cNvPr id="7" name="">
            <a:extLst xmlns:a="http://schemas.openxmlformats.org/drawingml/2006/main">
              <a:ext uri="{FF2B5EF4-FFF2-40B4-BE49-F238E27FC236}">
                <a16:creationId xmlns:a16="http://schemas.microsoft.com/office/drawing/2014/main" id="{1B4578FB-E0A2-41B1-A8E7-326570DE7368}"/>
              </a:ext>
            </a:extLst>
          </p:cNvPr>
          <p:cNvSpPr>
            <a:spLocks xmlns:a="http://schemas.openxmlformats.org/drawingml/2006/main" noGrp="1"/>
          </p:cNvSpPr>
          <p:nvPr/>
        </p:nvSpPr>
        <p:spPr>
          <a:xfrm xmlns:a="http://schemas.openxmlformats.org/drawingml/2006/main">
            <a:off x="2857500" y="5286375"/>
            <a:ext cx="8096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500">
                <a:solidFill>
                  <a:srgbClr val="52667A"/>
                </a:solidFill>
                <a:latin typeface="Arial"/>
                <a:ea typeface="Arial"/>
                <a:cs typeface="Arial"/>
              </a:defRPr>
            </a:pPr>
            <a:r>
              <a:rPr sz="1500">
                <a:solidFill>
                  <a:srgbClr val="52667A"/>
                </a:solidFill>
                <a:latin typeface="Arial"/>
                <a:ea typeface="Arial"/>
                <a:cs typeface="Arial"/>
              </a:rPr>
              <a:t>What problem does it solve, and what does it cost under failure, growth, and change?</a:t>
            </a:r>
          </a:p>
        </p:txBody>
      </p:sp>
    </p:spTree>
    <p:extLst>
      <p:ext uri="{BB962C8B-B14F-4D97-AF65-F5344CB8AC3E}">
        <p14:creationId xmlns:p14="http://schemas.microsoft.com/office/powerpoint/2010/main" val="2066532957"/>
      </p:ext>
    </p:extLst>
  </p:cSld>
</p:sld>
</file>

<file path=ppt/slides/slide15.xml><?xml version="1.0" encoding="utf-8"?>
<p:sld xmlns:p="http://schemas.openxmlformats.org/presentationml/2006/main">
  <p:cSld>
    <p:bg>
      <p:bgPr>
        <a:solidFill xmlns:a="http://schemas.openxmlformats.org/drawingml/2006/main">
          <a:srgbClr val="F8F5EE"/>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3006C98-2517-4008-9BC9-7B345BA6EDD3}"/>
              </a:ext>
            </a:extLst>
          </p:cNvPr>
          <p:cNvSpPr>
            <a:spLocks xmlns:a="http://schemas.openxmlformats.org/drawingml/2006/main" noGrp="1"/>
          </p:cNvSpPr>
          <p:nvPr/>
        </p:nvSpPr>
        <p:spPr>
          <a:xfrm xmlns:a="http://schemas.openxmlformats.org/drawingml/2006/main">
            <a:off x="666750" y="30480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spc="2">
                <a:solidFill>
                  <a:srgbClr val="118AB2"/>
                </a:solidFill>
                <a:latin typeface="Arial"/>
                <a:ea typeface="Arial"/>
                <a:cs typeface="Arial"/>
              </a:defRPr>
            </a:pPr>
            <a:r>
              <a:rPr sz="1200" b="1" spc="2">
                <a:solidFill>
                  <a:srgbClr val="118AB2"/>
                </a:solidFill>
                <a:latin typeface="Arial"/>
                <a:ea typeface="Arial"/>
                <a:cs typeface="Arial"/>
              </a:rPr>
              <a:t>CHAPTER 10</a:t>
            </a:r>
          </a:p>
        </p:txBody>
      </p:sp>
      <p:sp>
        <p:nvSpPr>
          <p:cNvPr id="2" name="">
            <a:extLst xmlns:a="http://schemas.openxmlformats.org/drawingml/2006/main">
              <a:ext uri="{FF2B5EF4-FFF2-40B4-BE49-F238E27FC236}">
                <a16:creationId xmlns:a16="http://schemas.microsoft.com/office/drawing/2014/main" id="{100FAF82-4977-4150-BB69-2A9A448BC1B2}"/>
              </a:ext>
            </a:extLst>
          </p:cNvPr>
          <p:cNvSpPr>
            <a:spLocks xmlns:a="http://schemas.openxmlformats.org/drawingml/2006/main" noGrp="1"/>
          </p:cNvSpPr>
          <p:nvPr/>
        </p:nvSpPr>
        <p:spPr>
          <a:xfrm xmlns:a="http://schemas.openxmlformats.org/drawingml/2006/main">
            <a:off x="666750" y="6667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02A43"/>
                </a:solidFill>
                <a:latin typeface="Arial"/>
                <a:ea typeface="Arial"/>
                <a:cs typeface="Arial"/>
              </a:defRPr>
            </a:pPr>
            <a:r>
              <a:rPr sz="2550" b="1">
                <a:solidFill>
                  <a:srgbClr val="102A43"/>
                </a:solidFill>
                <a:latin typeface="Arial"/>
                <a:ea typeface="Arial"/>
                <a:cs typeface="Arial"/>
              </a:rPr>
              <a:t>Logical clocks and IDs: design trade-offs</a:t>
            </a:r>
          </a:p>
        </p:txBody>
      </p:sp>
      <p:sp>
        <p:nvSpPr>
          <p:cNvPr id="3" name="">
            <a:extLst xmlns:a="http://schemas.openxmlformats.org/drawingml/2006/main">
              <a:ext uri="{FF2B5EF4-FFF2-40B4-BE49-F238E27FC236}">
                <a16:creationId xmlns:a16="http://schemas.microsoft.com/office/drawing/2014/main" id="{3347B234-B722-420A-86FC-8D4E38AB6DDB}"/>
              </a:ext>
            </a:extLst>
          </p:cNvPr>
          <p:cNvSpPr>
            <a:spLocks xmlns:a="http://schemas.openxmlformats.org/drawingml/2006/main" noGrp="1"/>
          </p:cNvSpPr>
          <p:nvPr/>
        </p:nvSpPr>
        <p:spPr>
          <a:xfrm xmlns:a="http://schemas.openxmlformats.org/drawingml/2006/main">
            <a:off x="10096500" y="63817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lgn="r">
              <a:defRPr sz="975">
                <a:solidFill>
                  <a:srgbClr val="6B7C8F"/>
                </a:solidFill>
                <a:latin typeface="Arial"/>
                <a:ea typeface="Arial"/>
                <a:cs typeface="Arial"/>
              </a:defRPr>
            </a:pPr>
            <a:r>
              <a:rPr sz="975">
                <a:solidFill>
                  <a:srgbClr val="6B7C8F"/>
                </a:solidFill>
                <a:latin typeface="Arial"/>
                <a:ea typeface="Arial"/>
                <a:cs typeface="Arial"/>
              </a:rPr>
              <a:t>15 / 23</a:t>
            </a:r>
          </a:p>
        </p:txBody>
      </p:sp>
      <p:sp>
        <p:nvSpPr>
          <p:cNvPr id="4" name="">
            <a:extLst xmlns:a="http://schemas.openxmlformats.org/drawingml/2006/main">
              <a:ext uri="{FF2B5EF4-FFF2-40B4-BE49-F238E27FC236}">
                <a16:creationId xmlns:a16="http://schemas.microsoft.com/office/drawing/2014/main" id="{9FA49500-5542-42A6-A552-D1E2D7C1805F}"/>
              </a:ext>
            </a:extLst>
          </p:cNvPr>
          <p:cNvSpPr>
            <a:spLocks xmlns:a="http://schemas.openxmlformats.org/drawingml/2006/main" noGrp="1"/>
          </p:cNvSpPr>
          <p:nvPr/>
        </p:nvSpPr>
        <p:spPr>
          <a:xfrm xmlns:a="http://schemas.openxmlformats.org/drawingml/2006/main">
            <a:off x="685800" y="1571625"/>
            <a:ext cx="17145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6750" b="1">
                <a:solidFill>
                  <a:srgbClr val="118AB2"/>
                </a:solidFill>
                <a:latin typeface="Arial"/>
                <a:ea typeface="Arial"/>
                <a:cs typeface="Arial"/>
              </a:defRPr>
            </a:pPr>
            <a:r>
              <a:rPr sz="6750" b="1">
                <a:solidFill>
                  <a:srgbClr val="118AB2"/>
                </a:solidFill>
                <a:latin typeface="Arial"/>
                <a:ea typeface="Arial"/>
                <a:cs typeface="Arial"/>
              </a:rPr>
              <a:t>03</a:t>
            </a:r>
          </a:p>
        </p:txBody>
      </p:sp>
      <p:sp>
        <p:nvSpPr>
          <p:cNvPr id="5" name="">
            <a:extLst xmlns:a="http://schemas.openxmlformats.org/drawingml/2006/main">
              <a:ext uri="{FF2B5EF4-FFF2-40B4-BE49-F238E27FC236}">
                <a16:creationId xmlns:a16="http://schemas.microsoft.com/office/drawing/2014/main" id="{6A996602-7501-43AF-B794-FB9F4B6D5829}"/>
              </a:ext>
            </a:extLst>
          </p:cNvPr>
          <p:cNvSpPr>
            <a:spLocks xmlns:a="http://schemas.openxmlformats.org/drawingml/2006/main" noGrp="1"/>
          </p:cNvSpPr>
          <p:nvPr/>
        </p:nvSpPr>
        <p:spPr>
          <a:xfrm xmlns:a="http://schemas.openxmlformats.org/drawingml/2006/main">
            <a:off x="2857500" y="1571625"/>
            <a:ext cx="8096250" cy="3714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marL="228600" indent="-114300">
              <a:spcAft>
                <a:spcPts val="1000"/>
              </a:spcAft>
              <a:buChar char="•"/>
              <a:defRPr sz="1575">
                <a:solidFill>
                  <a:srgbClr val="17324D"/>
                </a:solidFill>
                <a:latin typeface="Arial"/>
                <a:ea typeface="Arial"/>
                <a:cs typeface="Arial"/>
              </a:defRPr>
            </a:pPr>
            <a:r>
              <a:rPr sz="1575">
                <a:solidFill>
                  <a:srgbClr val="17324D"/>
                </a:solidFill>
                <a:latin typeface="Arial"/>
                <a:ea typeface="Arial"/>
                <a:cs typeface="Arial"/>
              </a:rPr>
              <a:t>Fit: Logical clocks express ordering without precise physical time.</a:t>
            </a:r>
          </a:p>
          <a:p xmlns:a="http://schemas.openxmlformats.org/drawingml/2006/main">
            <a:pPr marL="228600" indent="-114300">
              <a:spcAft>
                <a:spcPts val="1000"/>
              </a:spcAft>
              <a:buChar char="•"/>
              <a:defRPr sz="1575">
                <a:solidFill>
                  <a:srgbClr val="17324D"/>
                </a:solidFill>
                <a:latin typeface="Arial"/>
                <a:ea typeface="Arial"/>
                <a:cs typeface="Arial"/>
              </a:defRPr>
            </a:pPr>
            <a:r>
              <a:rPr sz="1575">
                <a:solidFill>
                  <a:srgbClr val="17324D"/>
                </a:solidFill>
                <a:latin typeface="Arial"/>
                <a:ea typeface="Arial"/>
                <a:cs typeface="Arial"/>
              </a:rPr>
              <a:t>Cost: evaluate latency, throughput, consistency, and operational complexity.</a:t>
            </a:r>
          </a:p>
          <a:p xmlns:a="http://schemas.openxmlformats.org/drawingml/2006/main">
            <a:pPr marL="228600" indent="-114300">
              <a:spcAft>
                <a:spcPts val="1000"/>
              </a:spcAft>
              <a:buChar char="•"/>
              <a:defRPr sz="1575">
                <a:solidFill>
                  <a:srgbClr val="17324D"/>
                </a:solidFill>
                <a:latin typeface="Arial"/>
                <a:ea typeface="Arial"/>
                <a:cs typeface="Arial"/>
              </a:defRPr>
            </a:pPr>
            <a:r>
              <a:rPr sz="1575">
                <a:solidFill>
                  <a:srgbClr val="17324D"/>
                </a:solidFill>
                <a:latin typeface="Arial"/>
                <a:ea typeface="Arial"/>
                <a:cs typeface="Arial"/>
              </a:rPr>
              <a:t>Failure check: what state becomes visible when a node, network path, or dependency fails?</a:t>
            </a:r>
          </a:p>
          <a:p xmlns:a="http://schemas.openxmlformats.org/drawingml/2006/main">
            <a:pPr marL="228600" indent="-114300">
              <a:spcAft>
                <a:spcPts val="1000"/>
              </a:spcAft>
              <a:buChar char="•"/>
              <a:defRPr sz="1575">
                <a:solidFill>
                  <a:srgbClr val="17324D"/>
                </a:solidFill>
                <a:latin typeface="Arial"/>
                <a:ea typeface="Arial"/>
                <a:cs typeface="Arial"/>
              </a:defRPr>
            </a:pPr>
            <a:r>
              <a:rPr sz="1575">
                <a:solidFill>
                  <a:srgbClr val="17324D"/>
                </a:solidFill>
                <a:latin typeface="Arial"/>
                <a:ea typeface="Arial"/>
                <a:cs typeface="Arial"/>
              </a:rPr>
              <a:t>Evolution check: can formats, interfaces, and topology change through rolling upgrades?</a:t>
            </a:r>
          </a:p>
        </p:txBody>
      </p:sp>
    </p:spTree>
    <p:extLst>
      <p:ext uri="{BB962C8B-B14F-4D97-AF65-F5344CB8AC3E}">
        <p14:creationId xmlns:p14="http://schemas.microsoft.com/office/powerpoint/2010/main" val="1349724334"/>
      </p:ext>
    </p:extLst>
  </p:cSld>
</p:sld>
</file>

<file path=ppt/slides/slide16.xml><?xml version="1.0" encoding="utf-8"?>
<p:sld xmlns:p="http://schemas.openxmlformats.org/presentationml/2006/main">
  <p:cSld>
    <p:bg>
      <p:bgPr>
        <a:solidFill xmlns:a="http://schemas.openxmlformats.org/drawingml/2006/main">
          <a:srgbClr val="F8F5EE"/>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01BDECE1-06A6-4F0C-AB85-F9E71F845F82}"/>
              </a:ext>
            </a:extLst>
          </p:cNvPr>
          <p:cNvSpPr>
            <a:spLocks xmlns:a="http://schemas.openxmlformats.org/drawingml/2006/main" noGrp="1"/>
          </p:cNvSpPr>
          <p:nvPr/>
        </p:nvSpPr>
        <p:spPr>
          <a:xfrm xmlns:a="http://schemas.openxmlformats.org/drawingml/2006/main">
            <a:off x="666750" y="30480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spc="2">
                <a:solidFill>
                  <a:srgbClr val="118AB2"/>
                </a:solidFill>
                <a:latin typeface="Arial"/>
                <a:ea typeface="Arial"/>
                <a:cs typeface="Arial"/>
              </a:defRPr>
            </a:pPr>
            <a:r>
              <a:rPr sz="1200" b="1" spc="2">
                <a:solidFill>
                  <a:srgbClr val="118AB2"/>
                </a:solidFill>
                <a:latin typeface="Arial"/>
                <a:ea typeface="Arial"/>
                <a:cs typeface="Arial"/>
              </a:rPr>
              <a:t>CHAPTER 10</a:t>
            </a:r>
          </a:p>
        </p:txBody>
      </p:sp>
      <p:sp>
        <p:nvSpPr>
          <p:cNvPr id="2" name="">
            <a:extLst xmlns:a="http://schemas.openxmlformats.org/drawingml/2006/main">
              <a:ext uri="{FF2B5EF4-FFF2-40B4-BE49-F238E27FC236}">
                <a16:creationId xmlns:a16="http://schemas.microsoft.com/office/drawing/2014/main" id="{F0FB8B45-22EB-497F-9592-EAF7B7BF96A7}"/>
              </a:ext>
            </a:extLst>
          </p:cNvPr>
          <p:cNvSpPr>
            <a:spLocks xmlns:a="http://schemas.openxmlformats.org/drawingml/2006/main" noGrp="1"/>
          </p:cNvSpPr>
          <p:nvPr/>
        </p:nvSpPr>
        <p:spPr>
          <a:xfrm xmlns:a="http://schemas.openxmlformats.org/drawingml/2006/main">
            <a:off x="666750" y="6667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02A43"/>
                </a:solidFill>
                <a:latin typeface="Arial"/>
                <a:ea typeface="Arial"/>
                <a:cs typeface="Arial"/>
              </a:defRPr>
            </a:pPr>
            <a:r>
              <a:rPr sz="2550" b="1">
                <a:solidFill>
                  <a:srgbClr val="102A43"/>
                </a:solidFill>
                <a:latin typeface="Arial"/>
                <a:ea typeface="Arial"/>
                <a:cs typeface="Arial"/>
              </a:rPr>
              <a:t>Figure 10-8: mechanism explained</a:t>
            </a:r>
          </a:p>
        </p:txBody>
      </p:sp>
      <p:sp>
        <p:nvSpPr>
          <p:cNvPr id="3" name="">
            <a:extLst xmlns:a="http://schemas.openxmlformats.org/drawingml/2006/main">
              <a:ext uri="{FF2B5EF4-FFF2-40B4-BE49-F238E27FC236}">
                <a16:creationId xmlns:a16="http://schemas.microsoft.com/office/drawing/2014/main" id="{094FC358-8686-4F34-96D2-98B0EF3C5EFA}"/>
              </a:ext>
            </a:extLst>
          </p:cNvPr>
          <p:cNvSpPr>
            <a:spLocks xmlns:a="http://schemas.openxmlformats.org/drawingml/2006/main" noGrp="1"/>
          </p:cNvSpPr>
          <p:nvPr/>
        </p:nvSpPr>
        <p:spPr>
          <a:xfrm xmlns:a="http://schemas.openxmlformats.org/drawingml/2006/main">
            <a:off x="10096500" y="63817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lgn="r">
              <a:defRPr sz="975">
                <a:solidFill>
                  <a:srgbClr val="6B7C8F"/>
                </a:solidFill>
                <a:latin typeface="Arial"/>
                <a:ea typeface="Arial"/>
                <a:cs typeface="Arial"/>
              </a:defRPr>
            </a:pPr>
            <a:r>
              <a:rPr sz="975">
                <a:solidFill>
                  <a:srgbClr val="6B7C8F"/>
                </a:solidFill>
                <a:latin typeface="Arial"/>
                <a:ea typeface="Arial"/>
                <a:cs typeface="Arial"/>
              </a:rPr>
              <a:t>16 / 23</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81dfbc50e5f143fa"/>
          <a:stretch xmlns:a="http://schemas.openxmlformats.org/drawingml/2006/main"/>
        </p:blipFill>
        <p:spPr>
          <a:xfrm xmlns:a="http://schemas.openxmlformats.org/drawingml/2006/main">
            <a:off x="514350" y="1622439"/>
            <a:ext cx="7762875" cy="4089372"/>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6196A1F8-44ED-4AF5-B916-2D6D8D37EDB5}"/>
              </a:ext>
            </a:extLst>
          </p:cNvPr>
          <p:cNvSpPr>
            <a:spLocks xmlns:a="http://schemas.openxmlformats.org/drawingml/2006/main" noGrp="1"/>
          </p:cNvSpPr>
          <p:nvPr/>
        </p:nvSpPr>
        <p:spPr>
          <a:xfrm xmlns:a="http://schemas.openxmlformats.org/drawingml/2006/main">
            <a:off x="8572500" y="142875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118AB2"/>
                </a:solidFill>
                <a:latin typeface="Arial"/>
                <a:ea typeface="Arial"/>
                <a:cs typeface="Arial"/>
              </a:defRPr>
            </a:pPr>
            <a:r>
              <a:rPr sz="1200" b="1">
                <a:solidFill>
                  <a:srgbClr val="118AB2"/>
                </a:solidFill>
                <a:latin typeface="Arial"/>
                <a:ea typeface="Arial"/>
                <a:cs typeface="Arial"/>
              </a:rPr>
              <a:t>What it shows</a:t>
            </a:r>
          </a:p>
        </p:txBody>
      </p:sp>
      <p:sp>
        <p:nvSpPr>
          <p:cNvPr id="6" name="">
            <a:extLst xmlns:a="http://schemas.openxmlformats.org/drawingml/2006/main">
              <a:ext uri="{FF2B5EF4-FFF2-40B4-BE49-F238E27FC236}">
                <a16:creationId xmlns:a16="http://schemas.microsoft.com/office/drawing/2014/main" id="{01889441-5ED2-4999-B790-5B5D76634E7C}"/>
              </a:ext>
            </a:extLst>
          </p:cNvPr>
          <p:cNvSpPr>
            <a:spLocks xmlns:a="http://schemas.openxmlformats.org/drawingml/2006/main" noGrp="1"/>
          </p:cNvSpPr>
          <p:nvPr/>
        </p:nvSpPr>
        <p:spPr>
          <a:xfrm xmlns:a="http://schemas.openxmlformats.org/drawingml/2006/main">
            <a:off x="8572500" y="175260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40566B"/>
                </a:solidFill>
                <a:latin typeface="Arial"/>
                <a:ea typeface="Arial"/>
                <a:cs typeface="Arial"/>
              </a:defRPr>
            </a:pPr>
            <a:r>
              <a:rPr sz="1275">
                <a:solidFill>
                  <a:srgbClr val="40566B"/>
                </a:solidFill>
                <a:latin typeface="Arial"/>
                <a:ea typeface="Arial"/>
                <a:cs typeface="Arial"/>
              </a:rPr>
              <a:t>The timeline compares real-time order with the order visible to clients.</a:t>
            </a:r>
          </a:p>
        </p:txBody>
      </p:sp>
      <p:sp>
        <p:nvSpPr>
          <p:cNvPr id="7" name="">
            <a:extLst xmlns:a="http://schemas.openxmlformats.org/drawingml/2006/main">
              <a:ext uri="{FF2B5EF4-FFF2-40B4-BE49-F238E27FC236}">
                <a16:creationId xmlns:a16="http://schemas.microsoft.com/office/drawing/2014/main" id="{6176723B-3F2A-4EBE-B34A-3344A0DCDE8F}"/>
              </a:ext>
            </a:extLst>
          </p:cNvPr>
          <p:cNvSpPr>
            <a:spLocks xmlns:a="http://schemas.openxmlformats.org/drawingml/2006/main" noGrp="1"/>
          </p:cNvSpPr>
          <p:nvPr/>
        </p:nvSpPr>
        <p:spPr>
          <a:xfrm xmlns:a="http://schemas.openxmlformats.org/drawingml/2006/main">
            <a:off x="8572500" y="293370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118AB2"/>
                </a:solidFill>
                <a:latin typeface="Arial"/>
                <a:ea typeface="Arial"/>
                <a:cs typeface="Arial"/>
              </a:defRPr>
            </a:pPr>
            <a:r>
              <a:rPr sz="1200" b="1">
                <a:solidFill>
                  <a:srgbClr val="118AB2"/>
                </a:solidFill>
                <a:latin typeface="Arial"/>
                <a:ea typeface="Arial"/>
                <a:cs typeface="Arial"/>
              </a:rPr>
              <a:t>Why it matters</a:t>
            </a:r>
          </a:p>
        </p:txBody>
      </p:sp>
      <p:sp>
        <p:nvSpPr>
          <p:cNvPr id="8" name="">
            <a:extLst xmlns:a="http://schemas.openxmlformats.org/drawingml/2006/main">
              <a:ext uri="{FF2B5EF4-FFF2-40B4-BE49-F238E27FC236}">
                <a16:creationId xmlns:a16="http://schemas.microsoft.com/office/drawing/2014/main" id="{1119887E-7FE0-4199-987A-EED654596738}"/>
              </a:ext>
            </a:extLst>
          </p:cNvPr>
          <p:cNvSpPr>
            <a:spLocks xmlns:a="http://schemas.openxmlformats.org/drawingml/2006/main" noGrp="1"/>
          </p:cNvSpPr>
          <p:nvPr/>
        </p:nvSpPr>
        <p:spPr>
          <a:xfrm xmlns:a="http://schemas.openxmlformats.org/drawingml/2006/main">
            <a:off x="8572500" y="325755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40566B"/>
                </a:solidFill>
                <a:latin typeface="Arial"/>
                <a:ea typeface="Arial"/>
                <a:cs typeface="Arial"/>
              </a:defRPr>
            </a:pPr>
            <a:r>
              <a:rPr sz="1275">
                <a:solidFill>
                  <a:srgbClr val="40566B"/>
                </a:solidFill>
                <a:latin typeface="Arial"/>
                <a:ea typeface="Arial"/>
                <a:cs typeface="Arial"/>
              </a:rPr>
              <a:t>Stronger ordering simplifies correctness but requires coordination or logical metadata.</a:t>
            </a:r>
          </a:p>
        </p:txBody>
      </p:sp>
      <p:sp>
        <p:nvSpPr>
          <p:cNvPr id="9" name="">
            <a:extLst xmlns:a="http://schemas.openxmlformats.org/drawingml/2006/main">
              <a:ext uri="{FF2B5EF4-FFF2-40B4-BE49-F238E27FC236}">
                <a16:creationId xmlns:a16="http://schemas.microsoft.com/office/drawing/2014/main" id="{A0DA1412-9316-475A-A38A-319A69A7F50A}"/>
              </a:ext>
            </a:extLst>
          </p:cNvPr>
          <p:cNvSpPr>
            <a:spLocks xmlns:a="http://schemas.openxmlformats.org/drawingml/2006/main" noGrp="1"/>
          </p:cNvSpPr>
          <p:nvPr/>
        </p:nvSpPr>
        <p:spPr>
          <a:xfrm xmlns:a="http://schemas.openxmlformats.org/drawingml/2006/main">
            <a:off x="8572500" y="443865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118AB2"/>
                </a:solidFill>
                <a:latin typeface="Arial"/>
                <a:ea typeface="Arial"/>
                <a:cs typeface="Arial"/>
              </a:defRPr>
            </a:pPr>
            <a:r>
              <a:rPr sz="1200" b="1">
                <a:solidFill>
                  <a:srgbClr val="118AB2"/>
                </a:solidFill>
                <a:latin typeface="Arial"/>
                <a:ea typeface="Arial"/>
                <a:cs typeface="Arial"/>
              </a:rPr>
              <a:t>What to watch</a:t>
            </a:r>
          </a:p>
        </p:txBody>
      </p:sp>
      <p:sp>
        <p:nvSpPr>
          <p:cNvPr id="10" name="">
            <a:extLst xmlns:a="http://schemas.openxmlformats.org/drawingml/2006/main">
              <a:ext uri="{FF2B5EF4-FFF2-40B4-BE49-F238E27FC236}">
                <a16:creationId xmlns:a16="http://schemas.microsoft.com/office/drawing/2014/main" id="{658A1824-F9A6-43B6-98DA-C245A81B13A1}"/>
              </a:ext>
            </a:extLst>
          </p:cNvPr>
          <p:cNvSpPr>
            <a:spLocks xmlns:a="http://schemas.openxmlformats.org/drawingml/2006/main" noGrp="1"/>
          </p:cNvSpPr>
          <p:nvPr/>
        </p:nvSpPr>
        <p:spPr>
          <a:xfrm xmlns:a="http://schemas.openxmlformats.org/drawingml/2006/main">
            <a:off x="8572500" y="476250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40566B"/>
                </a:solidFill>
                <a:latin typeface="Arial"/>
                <a:ea typeface="Arial"/>
                <a:cs typeface="Arial"/>
              </a:defRPr>
            </a:pPr>
            <a:r>
              <a:rPr sz="1275">
                <a:solidFill>
                  <a:srgbClr val="40566B"/>
                </a:solidFill>
                <a:latin typeface="Arial"/>
                <a:ea typeface="Arial"/>
                <a:cs typeface="Arial"/>
              </a:rPr>
              <a:t>Follow the arrows or timeline and test whether the conclusion still holds under failure, retry, and concurrency.</a:t>
            </a:r>
          </a:p>
        </p:txBody>
      </p:sp>
    </p:spTree>
    <p:extLst>
      <p:ext uri="{BB962C8B-B14F-4D97-AF65-F5344CB8AC3E}">
        <p14:creationId xmlns:p14="http://schemas.microsoft.com/office/powerpoint/2010/main" val="1293858507"/>
      </p:ext>
    </p:extLst>
  </p:cSld>
</p:sld>
</file>

<file path=ppt/slides/slide17.xml><?xml version="1.0" encoding="utf-8"?>
<p:sld xmlns:p="http://schemas.openxmlformats.org/presentationml/2006/main">
  <p:cSld>
    <p:bg>
      <p:bgPr>
        <a:solidFill xmlns:a="http://schemas.openxmlformats.org/drawingml/2006/main">
          <a:srgbClr val="F8F5EE"/>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802763D3-F628-4476-AE6E-20B75603FA76}"/>
              </a:ext>
            </a:extLst>
          </p:cNvPr>
          <p:cNvSpPr>
            <a:spLocks xmlns:a="http://schemas.openxmlformats.org/drawingml/2006/main" noGrp="1"/>
          </p:cNvSpPr>
          <p:nvPr/>
        </p:nvSpPr>
        <p:spPr>
          <a:xfrm xmlns:a="http://schemas.openxmlformats.org/drawingml/2006/main">
            <a:off x="666750" y="30480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spc="2">
                <a:solidFill>
                  <a:srgbClr val="118AB2"/>
                </a:solidFill>
                <a:latin typeface="Arial"/>
                <a:ea typeface="Arial"/>
                <a:cs typeface="Arial"/>
              </a:defRPr>
            </a:pPr>
            <a:r>
              <a:rPr sz="1200" b="1" spc="2">
                <a:solidFill>
                  <a:srgbClr val="118AB2"/>
                </a:solidFill>
                <a:latin typeface="Arial"/>
                <a:ea typeface="Arial"/>
                <a:cs typeface="Arial"/>
              </a:rPr>
              <a:t>CHAPTER 10</a:t>
            </a:r>
          </a:p>
        </p:txBody>
      </p:sp>
      <p:sp>
        <p:nvSpPr>
          <p:cNvPr id="2" name="">
            <a:extLst xmlns:a="http://schemas.openxmlformats.org/drawingml/2006/main">
              <a:ext uri="{FF2B5EF4-FFF2-40B4-BE49-F238E27FC236}">
                <a16:creationId xmlns:a16="http://schemas.microsoft.com/office/drawing/2014/main" id="{485ED7B5-B46F-4A98-885A-9653F67C1A46}"/>
              </a:ext>
            </a:extLst>
          </p:cNvPr>
          <p:cNvSpPr>
            <a:spLocks xmlns:a="http://schemas.openxmlformats.org/drawingml/2006/main" noGrp="1"/>
          </p:cNvSpPr>
          <p:nvPr/>
        </p:nvSpPr>
        <p:spPr>
          <a:xfrm xmlns:a="http://schemas.openxmlformats.org/drawingml/2006/main">
            <a:off x="666750" y="6667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02A43"/>
                </a:solidFill>
                <a:latin typeface="Arial"/>
                <a:ea typeface="Arial"/>
                <a:cs typeface="Arial"/>
              </a:defRPr>
            </a:pPr>
            <a:r>
              <a:rPr sz="2550" b="1">
                <a:solidFill>
                  <a:srgbClr val="102A43"/>
                </a:solidFill>
                <a:latin typeface="Arial"/>
                <a:ea typeface="Arial"/>
                <a:cs typeface="Arial"/>
              </a:rPr>
              <a:t>Figure 10-9: mechanism explained</a:t>
            </a:r>
          </a:p>
        </p:txBody>
      </p:sp>
      <p:sp>
        <p:nvSpPr>
          <p:cNvPr id="3" name="">
            <a:extLst xmlns:a="http://schemas.openxmlformats.org/drawingml/2006/main">
              <a:ext uri="{FF2B5EF4-FFF2-40B4-BE49-F238E27FC236}">
                <a16:creationId xmlns:a16="http://schemas.microsoft.com/office/drawing/2014/main" id="{98C172D7-02A6-4ECE-8854-8C7B24E65C65}"/>
              </a:ext>
            </a:extLst>
          </p:cNvPr>
          <p:cNvSpPr>
            <a:spLocks xmlns:a="http://schemas.openxmlformats.org/drawingml/2006/main" noGrp="1"/>
          </p:cNvSpPr>
          <p:nvPr/>
        </p:nvSpPr>
        <p:spPr>
          <a:xfrm xmlns:a="http://schemas.openxmlformats.org/drawingml/2006/main">
            <a:off x="10096500" y="63817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lgn="r">
              <a:defRPr sz="975">
                <a:solidFill>
                  <a:srgbClr val="6B7C8F"/>
                </a:solidFill>
                <a:latin typeface="Arial"/>
                <a:ea typeface="Arial"/>
                <a:cs typeface="Arial"/>
              </a:defRPr>
            </a:pPr>
            <a:r>
              <a:rPr sz="975">
                <a:solidFill>
                  <a:srgbClr val="6B7C8F"/>
                </a:solidFill>
                <a:latin typeface="Arial"/>
                <a:ea typeface="Arial"/>
                <a:cs typeface="Arial"/>
              </a:rPr>
              <a:t>17 / 23</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f06d60d127ca4484"/>
          <a:stretch xmlns:a="http://schemas.openxmlformats.org/drawingml/2006/main"/>
        </p:blipFill>
        <p:spPr>
          <a:xfrm xmlns:a="http://schemas.openxmlformats.org/drawingml/2006/main">
            <a:off x="514350" y="1785321"/>
            <a:ext cx="7762875" cy="3763608"/>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333648E5-BEBA-4B41-A463-1C4282478925}"/>
              </a:ext>
            </a:extLst>
          </p:cNvPr>
          <p:cNvSpPr>
            <a:spLocks xmlns:a="http://schemas.openxmlformats.org/drawingml/2006/main" noGrp="1"/>
          </p:cNvSpPr>
          <p:nvPr/>
        </p:nvSpPr>
        <p:spPr>
          <a:xfrm xmlns:a="http://schemas.openxmlformats.org/drawingml/2006/main">
            <a:off x="8572500" y="142875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118AB2"/>
                </a:solidFill>
                <a:latin typeface="Arial"/>
                <a:ea typeface="Arial"/>
                <a:cs typeface="Arial"/>
              </a:defRPr>
            </a:pPr>
            <a:r>
              <a:rPr sz="1200" b="1">
                <a:solidFill>
                  <a:srgbClr val="118AB2"/>
                </a:solidFill>
                <a:latin typeface="Arial"/>
                <a:ea typeface="Arial"/>
                <a:cs typeface="Arial"/>
              </a:rPr>
              <a:t>What it shows</a:t>
            </a:r>
          </a:p>
        </p:txBody>
      </p:sp>
      <p:sp>
        <p:nvSpPr>
          <p:cNvPr id="6" name="">
            <a:extLst xmlns:a="http://schemas.openxmlformats.org/drawingml/2006/main">
              <a:ext uri="{FF2B5EF4-FFF2-40B4-BE49-F238E27FC236}">
                <a16:creationId xmlns:a16="http://schemas.microsoft.com/office/drawing/2014/main" id="{50782F93-390A-415F-9F38-F787E3162749}"/>
              </a:ext>
            </a:extLst>
          </p:cNvPr>
          <p:cNvSpPr>
            <a:spLocks xmlns:a="http://schemas.openxmlformats.org/drawingml/2006/main" noGrp="1"/>
          </p:cNvSpPr>
          <p:nvPr/>
        </p:nvSpPr>
        <p:spPr>
          <a:xfrm xmlns:a="http://schemas.openxmlformats.org/drawingml/2006/main">
            <a:off x="8572500" y="175260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40566B"/>
                </a:solidFill>
                <a:latin typeface="Arial"/>
                <a:ea typeface="Arial"/>
                <a:cs typeface="Arial"/>
              </a:defRPr>
            </a:pPr>
            <a:r>
              <a:rPr sz="1275">
                <a:solidFill>
                  <a:srgbClr val="40566B"/>
                </a:solidFill>
                <a:latin typeface="Arial"/>
                <a:ea typeface="Arial"/>
                <a:cs typeface="Arial"/>
              </a:rPr>
              <a:t>Time or lease assumptions can become stale during clock error, delay, or process pause.</a:t>
            </a:r>
          </a:p>
        </p:txBody>
      </p:sp>
      <p:sp>
        <p:nvSpPr>
          <p:cNvPr id="7" name="">
            <a:extLst xmlns:a="http://schemas.openxmlformats.org/drawingml/2006/main">
              <a:ext uri="{FF2B5EF4-FFF2-40B4-BE49-F238E27FC236}">
                <a16:creationId xmlns:a16="http://schemas.microsoft.com/office/drawing/2014/main" id="{7E001273-7AEF-4A83-B312-766F5CC27FDC}"/>
              </a:ext>
            </a:extLst>
          </p:cNvPr>
          <p:cNvSpPr>
            <a:spLocks xmlns:a="http://schemas.openxmlformats.org/drawingml/2006/main" noGrp="1"/>
          </p:cNvSpPr>
          <p:nvPr/>
        </p:nvSpPr>
        <p:spPr>
          <a:xfrm xmlns:a="http://schemas.openxmlformats.org/drawingml/2006/main">
            <a:off x="8572500" y="293370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118AB2"/>
                </a:solidFill>
                <a:latin typeface="Arial"/>
                <a:ea typeface="Arial"/>
                <a:cs typeface="Arial"/>
              </a:defRPr>
            </a:pPr>
            <a:r>
              <a:rPr sz="1200" b="1">
                <a:solidFill>
                  <a:srgbClr val="118AB2"/>
                </a:solidFill>
                <a:latin typeface="Arial"/>
                <a:ea typeface="Arial"/>
                <a:cs typeface="Arial"/>
              </a:rPr>
              <a:t>Why it matters</a:t>
            </a:r>
          </a:p>
        </p:txBody>
      </p:sp>
      <p:sp>
        <p:nvSpPr>
          <p:cNvPr id="8" name="">
            <a:extLst xmlns:a="http://schemas.openxmlformats.org/drawingml/2006/main">
              <a:ext uri="{FF2B5EF4-FFF2-40B4-BE49-F238E27FC236}">
                <a16:creationId xmlns:a16="http://schemas.microsoft.com/office/drawing/2014/main" id="{5D96E448-E6DF-4973-9AB3-220FFBD8176F}"/>
              </a:ext>
            </a:extLst>
          </p:cNvPr>
          <p:cNvSpPr>
            <a:spLocks xmlns:a="http://schemas.openxmlformats.org/drawingml/2006/main" noGrp="1"/>
          </p:cNvSpPr>
          <p:nvPr/>
        </p:nvSpPr>
        <p:spPr>
          <a:xfrm xmlns:a="http://schemas.openxmlformats.org/drawingml/2006/main">
            <a:off x="8572500" y="325755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40566B"/>
                </a:solidFill>
                <a:latin typeface="Arial"/>
                <a:ea typeface="Arial"/>
                <a:cs typeface="Arial"/>
              </a:defRPr>
            </a:pPr>
            <a:r>
              <a:rPr sz="1275">
                <a:solidFill>
                  <a:srgbClr val="40566B"/>
                </a:solidFill>
                <a:latin typeface="Arial"/>
                <a:ea typeface="Arial"/>
                <a:cs typeface="Arial"/>
              </a:rPr>
              <a:t>Fencing tokens let the resource reject operations from an expired owner.</a:t>
            </a:r>
          </a:p>
        </p:txBody>
      </p:sp>
      <p:sp>
        <p:nvSpPr>
          <p:cNvPr id="9" name="">
            <a:extLst xmlns:a="http://schemas.openxmlformats.org/drawingml/2006/main">
              <a:ext uri="{FF2B5EF4-FFF2-40B4-BE49-F238E27FC236}">
                <a16:creationId xmlns:a16="http://schemas.microsoft.com/office/drawing/2014/main" id="{8353E1E5-AC49-4BF4-A30D-E79330C45203}"/>
              </a:ext>
            </a:extLst>
          </p:cNvPr>
          <p:cNvSpPr>
            <a:spLocks xmlns:a="http://schemas.openxmlformats.org/drawingml/2006/main" noGrp="1"/>
          </p:cNvSpPr>
          <p:nvPr/>
        </p:nvSpPr>
        <p:spPr>
          <a:xfrm xmlns:a="http://schemas.openxmlformats.org/drawingml/2006/main">
            <a:off x="8572500" y="443865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118AB2"/>
                </a:solidFill>
                <a:latin typeface="Arial"/>
                <a:ea typeface="Arial"/>
                <a:cs typeface="Arial"/>
              </a:defRPr>
            </a:pPr>
            <a:r>
              <a:rPr sz="1200" b="1">
                <a:solidFill>
                  <a:srgbClr val="118AB2"/>
                </a:solidFill>
                <a:latin typeface="Arial"/>
                <a:ea typeface="Arial"/>
                <a:cs typeface="Arial"/>
              </a:rPr>
              <a:t>What to watch</a:t>
            </a:r>
          </a:p>
        </p:txBody>
      </p:sp>
      <p:sp>
        <p:nvSpPr>
          <p:cNvPr id="10" name="">
            <a:extLst xmlns:a="http://schemas.openxmlformats.org/drawingml/2006/main">
              <a:ext uri="{FF2B5EF4-FFF2-40B4-BE49-F238E27FC236}">
                <a16:creationId xmlns:a16="http://schemas.microsoft.com/office/drawing/2014/main" id="{F89BD2AE-19FC-4918-A99D-E130A86843AB}"/>
              </a:ext>
            </a:extLst>
          </p:cNvPr>
          <p:cNvSpPr>
            <a:spLocks xmlns:a="http://schemas.openxmlformats.org/drawingml/2006/main" noGrp="1"/>
          </p:cNvSpPr>
          <p:nvPr/>
        </p:nvSpPr>
        <p:spPr>
          <a:xfrm xmlns:a="http://schemas.openxmlformats.org/drawingml/2006/main">
            <a:off x="8572500" y="476250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40566B"/>
                </a:solidFill>
                <a:latin typeface="Arial"/>
                <a:ea typeface="Arial"/>
                <a:cs typeface="Arial"/>
              </a:defRPr>
            </a:pPr>
            <a:r>
              <a:rPr sz="1275">
                <a:solidFill>
                  <a:srgbClr val="40566B"/>
                </a:solidFill>
                <a:latin typeface="Arial"/>
                <a:ea typeface="Arial"/>
                <a:cs typeface="Arial"/>
              </a:rPr>
              <a:t>Follow the arrows or timeline and test whether the conclusion still holds under failure, retry, and concurrency.</a:t>
            </a:r>
          </a:p>
        </p:txBody>
      </p:sp>
    </p:spTree>
    <p:extLst>
      <p:ext uri="{BB962C8B-B14F-4D97-AF65-F5344CB8AC3E}">
        <p14:creationId xmlns:p14="http://schemas.microsoft.com/office/powerpoint/2010/main" val="42955839"/>
      </p:ext>
    </p:extLst>
  </p:cSld>
</p:sld>
</file>

<file path=ppt/slides/slide18.xml><?xml version="1.0" encoding="utf-8"?>
<p:sld xmlns:p="http://schemas.openxmlformats.org/presentationml/2006/main">
  <p:cSld>
    <p:bg>
      <p:bgPr>
        <a:solidFill xmlns:a="http://schemas.openxmlformats.org/drawingml/2006/main">
          <a:srgbClr val="F8F5EE"/>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52C50C04-8D9C-4D87-AD63-CBD93AD619C7}"/>
              </a:ext>
            </a:extLst>
          </p:cNvPr>
          <p:cNvSpPr>
            <a:spLocks xmlns:a="http://schemas.openxmlformats.org/drawingml/2006/main" noGrp="1"/>
          </p:cNvSpPr>
          <p:nvPr/>
        </p:nvSpPr>
        <p:spPr>
          <a:xfrm xmlns:a="http://schemas.openxmlformats.org/drawingml/2006/main">
            <a:off x="666750" y="30480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spc="2">
                <a:solidFill>
                  <a:srgbClr val="118AB2"/>
                </a:solidFill>
                <a:latin typeface="Arial"/>
                <a:ea typeface="Arial"/>
                <a:cs typeface="Arial"/>
              </a:defRPr>
            </a:pPr>
            <a:r>
              <a:rPr sz="1200" b="1" spc="2">
                <a:solidFill>
                  <a:srgbClr val="118AB2"/>
                </a:solidFill>
                <a:latin typeface="Arial"/>
                <a:ea typeface="Arial"/>
                <a:cs typeface="Arial"/>
              </a:rPr>
              <a:t>CHAPTER 10</a:t>
            </a:r>
          </a:p>
        </p:txBody>
      </p:sp>
      <p:sp>
        <p:nvSpPr>
          <p:cNvPr id="2" name="">
            <a:extLst xmlns:a="http://schemas.openxmlformats.org/drawingml/2006/main">
              <a:ext uri="{FF2B5EF4-FFF2-40B4-BE49-F238E27FC236}">
                <a16:creationId xmlns:a16="http://schemas.microsoft.com/office/drawing/2014/main" id="{8285A4FB-3EB1-4CBC-846F-5224289382B5}"/>
              </a:ext>
            </a:extLst>
          </p:cNvPr>
          <p:cNvSpPr>
            <a:spLocks xmlns:a="http://schemas.openxmlformats.org/drawingml/2006/main" noGrp="1"/>
          </p:cNvSpPr>
          <p:nvPr/>
        </p:nvSpPr>
        <p:spPr>
          <a:xfrm xmlns:a="http://schemas.openxmlformats.org/drawingml/2006/main">
            <a:off x="666750" y="6667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02A43"/>
                </a:solidFill>
                <a:latin typeface="Arial"/>
                <a:ea typeface="Arial"/>
                <a:cs typeface="Arial"/>
              </a:defRPr>
            </a:pPr>
            <a:r>
              <a:rPr sz="2550" b="1">
                <a:solidFill>
                  <a:srgbClr val="102A43"/>
                </a:solidFill>
                <a:latin typeface="Arial"/>
                <a:ea typeface="Arial"/>
                <a:cs typeface="Arial"/>
              </a:rPr>
              <a:t>Figure 10-10: mechanism explained</a:t>
            </a:r>
          </a:p>
        </p:txBody>
      </p:sp>
      <p:sp>
        <p:nvSpPr>
          <p:cNvPr id="3" name="">
            <a:extLst xmlns:a="http://schemas.openxmlformats.org/drawingml/2006/main">
              <a:ext uri="{FF2B5EF4-FFF2-40B4-BE49-F238E27FC236}">
                <a16:creationId xmlns:a16="http://schemas.microsoft.com/office/drawing/2014/main" id="{8125E264-5988-4AF2-B661-D07DEEF2A5B2}"/>
              </a:ext>
            </a:extLst>
          </p:cNvPr>
          <p:cNvSpPr>
            <a:spLocks xmlns:a="http://schemas.openxmlformats.org/drawingml/2006/main" noGrp="1"/>
          </p:cNvSpPr>
          <p:nvPr/>
        </p:nvSpPr>
        <p:spPr>
          <a:xfrm xmlns:a="http://schemas.openxmlformats.org/drawingml/2006/main">
            <a:off x="10096500" y="63817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lgn="r">
              <a:defRPr sz="975">
                <a:solidFill>
                  <a:srgbClr val="6B7C8F"/>
                </a:solidFill>
                <a:latin typeface="Arial"/>
                <a:ea typeface="Arial"/>
                <a:cs typeface="Arial"/>
              </a:defRPr>
            </a:pPr>
            <a:r>
              <a:rPr sz="975">
                <a:solidFill>
                  <a:srgbClr val="6B7C8F"/>
                </a:solidFill>
                <a:latin typeface="Arial"/>
                <a:ea typeface="Arial"/>
                <a:cs typeface="Arial"/>
              </a:rPr>
              <a:t>18 / 23</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6b1c21b627d949ba"/>
          <a:stretch xmlns:a="http://schemas.openxmlformats.org/drawingml/2006/main"/>
        </p:blipFill>
        <p:spPr>
          <a:xfrm xmlns:a="http://schemas.openxmlformats.org/drawingml/2006/main">
            <a:off x="1235835" y="1285875"/>
            <a:ext cx="6319905" cy="47625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9B90B8A9-9105-459D-939F-EAB1C78FDFFC}"/>
              </a:ext>
            </a:extLst>
          </p:cNvPr>
          <p:cNvSpPr>
            <a:spLocks xmlns:a="http://schemas.openxmlformats.org/drawingml/2006/main" noGrp="1"/>
          </p:cNvSpPr>
          <p:nvPr/>
        </p:nvSpPr>
        <p:spPr>
          <a:xfrm xmlns:a="http://schemas.openxmlformats.org/drawingml/2006/main">
            <a:off x="8572500" y="142875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118AB2"/>
                </a:solidFill>
                <a:latin typeface="Arial"/>
                <a:ea typeface="Arial"/>
                <a:cs typeface="Arial"/>
              </a:defRPr>
            </a:pPr>
            <a:r>
              <a:rPr sz="1200" b="1">
                <a:solidFill>
                  <a:srgbClr val="118AB2"/>
                </a:solidFill>
                <a:latin typeface="Arial"/>
                <a:ea typeface="Arial"/>
                <a:cs typeface="Arial"/>
              </a:rPr>
              <a:t>What it shows</a:t>
            </a:r>
          </a:p>
        </p:txBody>
      </p:sp>
      <p:sp>
        <p:nvSpPr>
          <p:cNvPr id="6" name="">
            <a:extLst xmlns:a="http://schemas.openxmlformats.org/drawingml/2006/main">
              <a:ext uri="{FF2B5EF4-FFF2-40B4-BE49-F238E27FC236}">
                <a16:creationId xmlns:a16="http://schemas.microsoft.com/office/drawing/2014/main" id="{BC2F29C4-6BAC-4723-858C-78FC0224F223}"/>
              </a:ext>
            </a:extLst>
          </p:cNvPr>
          <p:cNvSpPr>
            <a:spLocks xmlns:a="http://schemas.openxmlformats.org/drawingml/2006/main" noGrp="1"/>
          </p:cNvSpPr>
          <p:nvPr/>
        </p:nvSpPr>
        <p:spPr>
          <a:xfrm xmlns:a="http://schemas.openxmlformats.org/drawingml/2006/main">
            <a:off x="8572500" y="175260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40566B"/>
                </a:solidFill>
                <a:latin typeface="Arial"/>
                <a:ea typeface="Arial"/>
                <a:cs typeface="Arial"/>
              </a:defRPr>
            </a:pPr>
            <a:r>
              <a:rPr sz="1275">
                <a:solidFill>
                  <a:srgbClr val="40566B"/>
                </a:solidFill>
                <a:latin typeface="Arial"/>
                <a:ea typeface="Arial"/>
                <a:cs typeface="Arial"/>
              </a:rPr>
              <a:t>User A first sets their account to private, then shares a photo. With a</a:t>
            </a:r>
          </a:p>
        </p:txBody>
      </p:sp>
      <p:sp>
        <p:nvSpPr>
          <p:cNvPr id="7" name="">
            <a:extLst xmlns:a="http://schemas.openxmlformats.org/drawingml/2006/main">
              <a:ext uri="{FF2B5EF4-FFF2-40B4-BE49-F238E27FC236}">
                <a16:creationId xmlns:a16="http://schemas.microsoft.com/office/drawing/2014/main" id="{E3DC358D-4936-4105-9F17-D24A26EF95D0}"/>
              </a:ext>
            </a:extLst>
          </p:cNvPr>
          <p:cNvSpPr>
            <a:spLocks xmlns:a="http://schemas.openxmlformats.org/drawingml/2006/main" noGrp="1"/>
          </p:cNvSpPr>
          <p:nvPr/>
        </p:nvSpPr>
        <p:spPr>
          <a:xfrm xmlns:a="http://schemas.openxmlformats.org/drawingml/2006/main">
            <a:off x="8572500" y="293370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118AB2"/>
                </a:solidFill>
                <a:latin typeface="Arial"/>
                <a:ea typeface="Arial"/>
                <a:cs typeface="Arial"/>
              </a:defRPr>
            </a:pPr>
            <a:r>
              <a:rPr sz="1200" b="1">
                <a:solidFill>
                  <a:srgbClr val="118AB2"/>
                </a:solidFill>
                <a:latin typeface="Arial"/>
                <a:ea typeface="Arial"/>
                <a:cs typeface="Arial"/>
              </a:rPr>
              <a:t>Why it matters</a:t>
            </a:r>
          </a:p>
        </p:txBody>
      </p:sp>
      <p:sp>
        <p:nvSpPr>
          <p:cNvPr id="8" name="">
            <a:extLst xmlns:a="http://schemas.openxmlformats.org/drawingml/2006/main">
              <a:ext uri="{FF2B5EF4-FFF2-40B4-BE49-F238E27FC236}">
                <a16:creationId xmlns:a16="http://schemas.microsoft.com/office/drawing/2014/main" id="{B9E9E896-1F7E-4BCA-96DF-5D14B6CEF935}"/>
              </a:ext>
            </a:extLst>
          </p:cNvPr>
          <p:cNvSpPr>
            <a:spLocks xmlns:a="http://schemas.openxmlformats.org/drawingml/2006/main" noGrp="1"/>
          </p:cNvSpPr>
          <p:nvPr/>
        </p:nvSpPr>
        <p:spPr>
          <a:xfrm xmlns:a="http://schemas.openxmlformats.org/drawingml/2006/main">
            <a:off x="8572500" y="325755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40566B"/>
                </a:solidFill>
                <a:latin typeface="Arial"/>
                <a:ea typeface="Arial"/>
                <a:cs typeface="Arial"/>
              </a:defRPr>
            </a:pPr>
            <a:r>
              <a:rPr sz="1275">
                <a:solidFill>
                  <a:srgbClr val="40566B"/>
                </a:solidFill>
                <a:latin typeface="Arial"/>
                <a:ea typeface="Arial"/>
                <a:cs typeface="Arial"/>
              </a:rPr>
              <a:t>It turns the chapter concept into a concrete dataflow, timeline, or state transition.</a:t>
            </a:r>
          </a:p>
        </p:txBody>
      </p:sp>
      <p:sp>
        <p:nvSpPr>
          <p:cNvPr id="9" name="">
            <a:extLst xmlns:a="http://schemas.openxmlformats.org/drawingml/2006/main">
              <a:ext uri="{FF2B5EF4-FFF2-40B4-BE49-F238E27FC236}">
                <a16:creationId xmlns:a16="http://schemas.microsoft.com/office/drawing/2014/main" id="{96C41A22-11FA-42F8-A5FA-FBA4E547EA0A}"/>
              </a:ext>
            </a:extLst>
          </p:cNvPr>
          <p:cNvSpPr>
            <a:spLocks xmlns:a="http://schemas.openxmlformats.org/drawingml/2006/main" noGrp="1"/>
          </p:cNvSpPr>
          <p:nvPr/>
        </p:nvSpPr>
        <p:spPr>
          <a:xfrm xmlns:a="http://schemas.openxmlformats.org/drawingml/2006/main">
            <a:off x="8572500" y="443865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118AB2"/>
                </a:solidFill>
                <a:latin typeface="Arial"/>
                <a:ea typeface="Arial"/>
                <a:cs typeface="Arial"/>
              </a:defRPr>
            </a:pPr>
            <a:r>
              <a:rPr sz="1200" b="1">
                <a:solidFill>
                  <a:srgbClr val="118AB2"/>
                </a:solidFill>
                <a:latin typeface="Arial"/>
                <a:ea typeface="Arial"/>
                <a:cs typeface="Arial"/>
              </a:rPr>
              <a:t>What to watch</a:t>
            </a:r>
          </a:p>
        </p:txBody>
      </p:sp>
      <p:sp>
        <p:nvSpPr>
          <p:cNvPr id="10" name="">
            <a:extLst xmlns:a="http://schemas.openxmlformats.org/drawingml/2006/main">
              <a:ext uri="{FF2B5EF4-FFF2-40B4-BE49-F238E27FC236}">
                <a16:creationId xmlns:a16="http://schemas.microsoft.com/office/drawing/2014/main" id="{78BF0E8C-8555-4F0F-A7D9-56D4EB7AFFFF}"/>
              </a:ext>
            </a:extLst>
          </p:cNvPr>
          <p:cNvSpPr>
            <a:spLocks xmlns:a="http://schemas.openxmlformats.org/drawingml/2006/main" noGrp="1"/>
          </p:cNvSpPr>
          <p:nvPr/>
        </p:nvSpPr>
        <p:spPr>
          <a:xfrm xmlns:a="http://schemas.openxmlformats.org/drawingml/2006/main">
            <a:off x="8572500" y="476250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40566B"/>
                </a:solidFill>
                <a:latin typeface="Arial"/>
                <a:ea typeface="Arial"/>
                <a:cs typeface="Arial"/>
              </a:defRPr>
            </a:pPr>
            <a:r>
              <a:rPr sz="1275">
                <a:solidFill>
                  <a:srgbClr val="40566B"/>
                </a:solidFill>
                <a:latin typeface="Arial"/>
                <a:ea typeface="Arial"/>
                <a:cs typeface="Arial"/>
              </a:rPr>
              <a:t>Check the actors, data direction, operation order, and hidden system assumptions.</a:t>
            </a:r>
          </a:p>
        </p:txBody>
      </p:sp>
    </p:spTree>
    <p:extLst>
      <p:ext uri="{BB962C8B-B14F-4D97-AF65-F5344CB8AC3E}">
        <p14:creationId xmlns:p14="http://schemas.microsoft.com/office/powerpoint/2010/main" val="1283817477"/>
      </p:ext>
    </p:extLst>
  </p:cSld>
</p:sld>
</file>

<file path=ppt/slides/slide19.xml><?xml version="1.0" encoding="utf-8"?>
<p:sld xmlns:p="http://schemas.openxmlformats.org/presentationml/2006/main">
  <p:cSld>
    <p:bg>
      <p:bgPr>
        <a:solidFill xmlns:a="http://schemas.openxmlformats.org/drawingml/2006/main">
          <a:srgbClr val="F8F5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0BB1FEA-0C68-4961-859A-189B072555FD}"/>
              </a:ext>
            </a:extLst>
          </p:cNvPr>
          <p:cNvSpPr>
            <a:spLocks xmlns:a="http://schemas.openxmlformats.org/drawingml/2006/main" noGrp="1"/>
          </p:cNvSpPr>
          <p:nvPr/>
        </p:nvSpPr>
        <p:spPr>
          <a:xfrm xmlns:a="http://schemas.openxmlformats.org/drawingml/2006/main">
            <a:off x="666750" y="30480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spc="2">
                <a:solidFill>
                  <a:srgbClr val="118AB2"/>
                </a:solidFill>
                <a:latin typeface="Arial"/>
                <a:ea typeface="Arial"/>
                <a:cs typeface="Arial"/>
              </a:defRPr>
            </a:pPr>
            <a:r>
              <a:rPr sz="1200" b="1" spc="2">
                <a:solidFill>
                  <a:srgbClr val="118AB2"/>
                </a:solidFill>
                <a:latin typeface="Arial"/>
                <a:ea typeface="Arial"/>
                <a:cs typeface="Arial"/>
              </a:rPr>
              <a:t>CHAPTER 10</a:t>
            </a:r>
          </a:p>
        </p:txBody>
      </p:sp>
      <p:sp>
        <p:nvSpPr>
          <p:cNvPr id="2" name="">
            <a:extLst xmlns:a="http://schemas.openxmlformats.org/drawingml/2006/main">
              <a:ext uri="{FF2B5EF4-FFF2-40B4-BE49-F238E27FC236}">
                <a16:creationId xmlns:a16="http://schemas.microsoft.com/office/drawing/2014/main" id="{4DAE6708-677F-4E8E-A6A7-F6BEDDA93F6A}"/>
              </a:ext>
            </a:extLst>
          </p:cNvPr>
          <p:cNvSpPr>
            <a:spLocks xmlns:a="http://schemas.openxmlformats.org/drawingml/2006/main" noGrp="1"/>
          </p:cNvSpPr>
          <p:nvPr/>
        </p:nvSpPr>
        <p:spPr>
          <a:xfrm xmlns:a="http://schemas.openxmlformats.org/drawingml/2006/main">
            <a:off x="666750" y="6667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02A43"/>
                </a:solidFill>
                <a:latin typeface="Arial"/>
                <a:ea typeface="Arial"/>
                <a:cs typeface="Arial"/>
              </a:defRPr>
            </a:pPr>
            <a:r>
              <a:rPr sz="2550" b="1">
                <a:solidFill>
                  <a:srgbClr val="102A43"/>
                </a:solidFill>
                <a:latin typeface="Arial"/>
                <a:ea typeface="Arial"/>
                <a:cs typeface="Arial"/>
              </a:rPr>
              <a:t>Consensus</a:t>
            </a:r>
          </a:p>
        </p:txBody>
      </p:sp>
      <p:sp>
        <p:nvSpPr>
          <p:cNvPr id="3" name="">
            <a:extLst xmlns:a="http://schemas.openxmlformats.org/drawingml/2006/main">
              <a:ext uri="{FF2B5EF4-FFF2-40B4-BE49-F238E27FC236}">
                <a16:creationId xmlns:a16="http://schemas.microsoft.com/office/drawing/2014/main" id="{A4C9E7FF-296E-4263-85B2-6E615850E146}"/>
              </a:ext>
            </a:extLst>
          </p:cNvPr>
          <p:cNvSpPr>
            <a:spLocks xmlns:a="http://schemas.openxmlformats.org/drawingml/2006/main" noGrp="1"/>
          </p:cNvSpPr>
          <p:nvPr/>
        </p:nvSpPr>
        <p:spPr>
          <a:xfrm xmlns:a="http://schemas.openxmlformats.org/drawingml/2006/main">
            <a:off x="10096500" y="63817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lgn="r">
              <a:defRPr sz="975">
                <a:solidFill>
                  <a:srgbClr val="6B7C8F"/>
                </a:solidFill>
                <a:latin typeface="Arial"/>
                <a:ea typeface="Arial"/>
                <a:cs typeface="Arial"/>
              </a:defRPr>
            </a:pPr>
            <a:r>
              <a:rPr sz="975">
                <a:solidFill>
                  <a:srgbClr val="6B7C8F"/>
                </a:solidFill>
                <a:latin typeface="Arial"/>
                <a:ea typeface="Arial"/>
                <a:cs typeface="Arial"/>
              </a:rPr>
              <a:t>19 / 23</a:t>
            </a:r>
          </a:p>
        </p:txBody>
      </p:sp>
      <p:sp>
        <p:nvSpPr>
          <p:cNvPr id="4" name="">
            <a:extLst xmlns:a="http://schemas.openxmlformats.org/drawingml/2006/main">
              <a:ext uri="{FF2B5EF4-FFF2-40B4-BE49-F238E27FC236}">
                <a16:creationId xmlns:a16="http://schemas.microsoft.com/office/drawing/2014/main" id="{456D832C-8B6E-4D11-ABB8-7D16FBD8D31D}"/>
              </a:ext>
            </a:extLst>
          </p:cNvPr>
          <p:cNvSpPr>
            <a:spLocks xmlns:a="http://schemas.openxmlformats.org/drawingml/2006/main" noGrp="1"/>
          </p:cNvSpPr>
          <p:nvPr/>
        </p:nvSpPr>
        <p:spPr>
          <a:xfrm xmlns:a="http://schemas.openxmlformats.org/drawingml/2006/main">
            <a:off x="685800" y="1571625"/>
            <a:ext cx="17145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6750" b="1">
                <a:solidFill>
                  <a:srgbClr val="118AB2"/>
                </a:solidFill>
                <a:latin typeface="Arial"/>
                <a:ea typeface="Arial"/>
                <a:cs typeface="Arial"/>
              </a:defRPr>
            </a:pPr>
            <a:r>
              <a:rPr sz="6750" b="1">
                <a:solidFill>
                  <a:srgbClr val="118AB2"/>
                </a:solidFill>
                <a:latin typeface="Arial"/>
                <a:ea typeface="Arial"/>
                <a:cs typeface="Arial"/>
              </a:rPr>
              <a:t>04</a:t>
            </a:r>
          </a:p>
        </p:txBody>
      </p:sp>
      <p:sp>
        <p:nvSpPr>
          <p:cNvPr id="5" name="">
            <a:extLst xmlns:a="http://schemas.openxmlformats.org/drawingml/2006/main">
              <a:ext uri="{FF2B5EF4-FFF2-40B4-BE49-F238E27FC236}">
                <a16:creationId xmlns:a16="http://schemas.microsoft.com/office/drawing/2014/main" id="{0DD1BFC5-4D6D-4B6E-A53E-70D625706631}"/>
              </a:ext>
            </a:extLst>
          </p:cNvPr>
          <p:cNvSpPr>
            <a:spLocks xmlns:a="http://schemas.openxmlformats.org/drawingml/2006/main" noGrp="1"/>
          </p:cNvSpPr>
          <p:nvPr/>
        </p:nvSpPr>
        <p:spPr>
          <a:xfrm xmlns:a="http://schemas.openxmlformats.org/drawingml/2006/main">
            <a:off x="2857500" y="1571625"/>
            <a:ext cx="80962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marL="228600" indent="-114300">
              <a:spcAft>
                <a:spcPts val="1000"/>
              </a:spcAft>
              <a:buChar char="•"/>
              <a:defRPr sz="1725">
                <a:solidFill>
                  <a:srgbClr val="17324D"/>
                </a:solidFill>
                <a:latin typeface="Arial"/>
                <a:ea typeface="Arial"/>
                <a:cs typeface="Arial"/>
              </a:defRPr>
            </a:pPr>
            <a:r>
              <a:rPr sz="1725">
                <a:solidFill>
                  <a:srgbClr val="17324D"/>
                </a:solidFill>
                <a:latin typeface="Arial"/>
                <a:ea typeface="Arial"/>
                <a:cs typeface="Arial"/>
              </a:rPr>
              <a:t>Consensus lets nodes decide one value or an ordered log.</a:t>
            </a:r>
          </a:p>
          <a:p xmlns:a="http://schemas.openxmlformats.org/drawingml/2006/main">
            <a:pPr marL="228600" indent="-114300">
              <a:spcAft>
                <a:spcPts val="1000"/>
              </a:spcAft>
              <a:buChar char="•"/>
              <a:defRPr sz="1725">
                <a:solidFill>
                  <a:srgbClr val="17324D"/>
                </a:solidFill>
                <a:latin typeface="Arial"/>
                <a:ea typeface="Arial"/>
                <a:cs typeface="Arial"/>
              </a:defRPr>
            </a:pPr>
            <a:r>
              <a:rPr sz="1725">
                <a:solidFill>
                  <a:srgbClr val="17324D"/>
                </a:solidFill>
                <a:latin typeface="Arial"/>
                <a:ea typeface="Arial"/>
                <a:cs typeface="Arial"/>
              </a:rPr>
              <a:t>Raft and Paxos use quorums and terms to prevent conflicting leaders.</a:t>
            </a:r>
          </a:p>
          <a:p xmlns:a="http://schemas.openxmlformats.org/drawingml/2006/main">
            <a:pPr marL="228600" indent="-114300">
              <a:spcAft>
                <a:spcPts val="1000"/>
              </a:spcAft>
              <a:buChar char="•"/>
              <a:defRPr sz="1725">
                <a:solidFill>
                  <a:srgbClr val="17324D"/>
                </a:solidFill>
                <a:latin typeface="Arial"/>
                <a:ea typeface="Arial"/>
                <a:cs typeface="Arial"/>
              </a:defRPr>
            </a:pPr>
            <a:r>
              <a:rPr sz="1725">
                <a:solidFill>
                  <a:srgbClr val="17324D"/>
                </a:solidFill>
                <a:latin typeface="Arial"/>
                <a:ea typeface="Arial"/>
                <a:cs typeface="Arial"/>
              </a:rPr>
              <a:t>Safety prevents contradictory decisions while liveness enables progress.</a:t>
            </a:r>
          </a:p>
        </p:txBody>
      </p:sp>
      <p:sp>
        <p:nvSpPr>
          <p:cNvPr id="6" name="">
            <a:extLst xmlns:a="http://schemas.openxmlformats.org/drawingml/2006/main">
              <a:ext uri="{FF2B5EF4-FFF2-40B4-BE49-F238E27FC236}">
                <a16:creationId xmlns:a16="http://schemas.microsoft.com/office/drawing/2014/main" id="{1BA72EE0-70ED-4FEA-92A9-6243B86D605E}"/>
              </a:ext>
            </a:extLst>
          </p:cNvPr>
          <p:cNvSpPr>
            <a:spLocks xmlns:a="http://schemas.openxmlformats.org/drawingml/2006/main" noGrp="1"/>
          </p:cNvSpPr>
          <p:nvPr/>
        </p:nvSpPr>
        <p:spPr>
          <a:xfrm xmlns:a="http://schemas.openxmlformats.org/drawingml/2006/main">
            <a:off x="2857500" y="5000625"/>
            <a:ext cx="152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118AB2"/>
                </a:solidFill>
                <a:latin typeface="Arial"/>
                <a:ea typeface="Arial"/>
                <a:cs typeface="Arial"/>
              </a:defRPr>
            </a:pPr>
            <a:r>
              <a:rPr sz="1200" b="1">
                <a:solidFill>
                  <a:srgbClr val="118AB2"/>
                </a:solidFill>
                <a:latin typeface="Arial"/>
                <a:ea typeface="Arial"/>
                <a:cs typeface="Arial"/>
              </a:rPr>
              <a:t>Core question</a:t>
            </a:r>
          </a:p>
        </p:txBody>
      </p:sp>
      <p:sp>
        <p:nvSpPr>
          <p:cNvPr id="7" name="">
            <a:extLst xmlns:a="http://schemas.openxmlformats.org/drawingml/2006/main">
              <a:ext uri="{FF2B5EF4-FFF2-40B4-BE49-F238E27FC236}">
                <a16:creationId xmlns:a16="http://schemas.microsoft.com/office/drawing/2014/main" id="{3AAC93A7-FB59-40BA-B3EB-412CC4582B82}"/>
              </a:ext>
            </a:extLst>
          </p:cNvPr>
          <p:cNvSpPr>
            <a:spLocks xmlns:a="http://schemas.openxmlformats.org/drawingml/2006/main" noGrp="1"/>
          </p:cNvSpPr>
          <p:nvPr/>
        </p:nvSpPr>
        <p:spPr>
          <a:xfrm xmlns:a="http://schemas.openxmlformats.org/drawingml/2006/main">
            <a:off x="2857500" y="5286375"/>
            <a:ext cx="8096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500">
                <a:solidFill>
                  <a:srgbClr val="52667A"/>
                </a:solidFill>
                <a:latin typeface="Arial"/>
                <a:ea typeface="Arial"/>
                <a:cs typeface="Arial"/>
              </a:defRPr>
            </a:pPr>
            <a:r>
              <a:rPr sz="1500">
                <a:solidFill>
                  <a:srgbClr val="52667A"/>
                </a:solidFill>
                <a:latin typeface="Arial"/>
                <a:ea typeface="Arial"/>
                <a:cs typeface="Arial"/>
              </a:rPr>
              <a:t>What problem does it solve, and what does it cost under failure, growth, and change?</a:t>
            </a:r>
          </a:p>
        </p:txBody>
      </p:sp>
    </p:spTree>
    <p:extLst>
      <p:ext uri="{BB962C8B-B14F-4D97-AF65-F5344CB8AC3E}">
        <p14:creationId xmlns:p14="http://schemas.microsoft.com/office/powerpoint/2010/main" val="1333291266"/>
      </p:ext>
    </p:extLst>
  </p:cSld>
</p:sld>
</file>

<file path=ppt/slides/slide20.xml><?xml version="1.0" encoding="utf-8"?>
<p:sld xmlns:p="http://schemas.openxmlformats.org/presentationml/2006/main">
  <p:cSld>
    <p:bg>
      <p:bgPr>
        <a:solidFill xmlns:a="http://schemas.openxmlformats.org/drawingml/2006/main">
          <a:srgbClr val="F8F5EE"/>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8FDD438-51AF-4EF9-96A5-9D956BFD4DC8}"/>
              </a:ext>
            </a:extLst>
          </p:cNvPr>
          <p:cNvSpPr>
            <a:spLocks xmlns:a="http://schemas.openxmlformats.org/drawingml/2006/main" noGrp="1"/>
          </p:cNvSpPr>
          <p:nvPr/>
        </p:nvSpPr>
        <p:spPr>
          <a:xfrm xmlns:a="http://schemas.openxmlformats.org/drawingml/2006/main">
            <a:off x="666750" y="30480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spc="2">
                <a:solidFill>
                  <a:srgbClr val="118AB2"/>
                </a:solidFill>
                <a:latin typeface="Arial"/>
                <a:ea typeface="Arial"/>
                <a:cs typeface="Arial"/>
              </a:defRPr>
            </a:pPr>
            <a:r>
              <a:rPr sz="1200" b="1" spc="2">
                <a:solidFill>
                  <a:srgbClr val="118AB2"/>
                </a:solidFill>
                <a:latin typeface="Arial"/>
                <a:ea typeface="Arial"/>
                <a:cs typeface="Arial"/>
              </a:rPr>
              <a:t>CHAPTER 10</a:t>
            </a:r>
          </a:p>
        </p:txBody>
      </p:sp>
      <p:sp>
        <p:nvSpPr>
          <p:cNvPr id="2" name="">
            <a:extLst xmlns:a="http://schemas.openxmlformats.org/drawingml/2006/main">
              <a:ext uri="{FF2B5EF4-FFF2-40B4-BE49-F238E27FC236}">
                <a16:creationId xmlns:a16="http://schemas.microsoft.com/office/drawing/2014/main" id="{2AA13E54-F89B-4060-AC3C-E10140CEDB45}"/>
              </a:ext>
            </a:extLst>
          </p:cNvPr>
          <p:cNvSpPr>
            <a:spLocks xmlns:a="http://schemas.openxmlformats.org/drawingml/2006/main" noGrp="1"/>
          </p:cNvSpPr>
          <p:nvPr/>
        </p:nvSpPr>
        <p:spPr>
          <a:xfrm xmlns:a="http://schemas.openxmlformats.org/drawingml/2006/main">
            <a:off x="666750" y="6667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02A43"/>
                </a:solidFill>
                <a:latin typeface="Arial"/>
                <a:ea typeface="Arial"/>
                <a:cs typeface="Arial"/>
              </a:defRPr>
            </a:pPr>
            <a:r>
              <a:rPr sz="2550" b="1">
                <a:solidFill>
                  <a:srgbClr val="102A43"/>
                </a:solidFill>
                <a:latin typeface="Arial"/>
                <a:ea typeface="Arial"/>
                <a:cs typeface="Arial"/>
              </a:rPr>
              <a:t>Consensus: design trade-offs</a:t>
            </a:r>
          </a:p>
        </p:txBody>
      </p:sp>
      <p:sp>
        <p:nvSpPr>
          <p:cNvPr id="3" name="">
            <a:extLst xmlns:a="http://schemas.openxmlformats.org/drawingml/2006/main">
              <a:ext uri="{FF2B5EF4-FFF2-40B4-BE49-F238E27FC236}">
                <a16:creationId xmlns:a16="http://schemas.microsoft.com/office/drawing/2014/main" id="{B0E9C4A7-4196-462B-822D-66CB47035732}"/>
              </a:ext>
            </a:extLst>
          </p:cNvPr>
          <p:cNvSpPr>
            <a:spLocks xmlns:a="http://schemas.openxmlformats.org/drawingml/2006/main" noGrp="1"/>
          </p:cNvSpPr>
          <p:nvPr/>
        </p:nvSpPr>
        <p:spPr>
          <a:xfrm xmlns:a="http://schemas.openxmlformats.org/drawingml/2006/main">
            <a:off x="10096500" y="63817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lgn="r">
              <a:defRPr sz="975">
                <a:solidFill>
                  <a:srgbClr val="6B7C8F"/>
                </a:solidFill>
                <a:latin typeface="Arial"/>
                <a:ea typeface="Arial"/>
                <a:cs typeface="Arial"/>
              </a:defRPr>
            </a:pPr>
            <a:r>
              <a:rPr sz="975">
                <a:solidFill>
                  <a:srgbClr val="6B7C8F"/>
                </a:solidFill>
                <a:latin typeface="Arial"/>
                <a:ea typeface="Arial"/>
                <a:cs typeface="Arial"/>
              </a:rPr>
              <a:t>20 / 23</a:t>
            </a:r>
          </a:p>
        </p:txBody>
      </p:sp>
      <p:sp>
        <p:nvSpPr>
          <p:cNvPr id="4" name="">
            <a:extLst xmlns:a="http://schemas.openxmlformats.org/drawingml/2006/main">
              <a:ext uri="{FF2B5EF4-FFF2-40B4-BE49-F238E27FC236}">
                <a16:creationId xmlns:a16="http://schemas.microsoft.com/office/drawing/2014/main" id="{A4A04D97-A830-412B-8BE7-242E04BF1AF9}"/>
              </a:ext>
            </a:extLst>
          </p:cNvPr>
          <p:cNvSpPr>
            <a:spLocks xmlns:a="http://schemas.openxmlformats.org/drawingml/2006/main" noGrp="1"/>
          </p:cNvSpPr>
          <p:nvPr/>
        </p:nvSpPr>
        <p:spPr>
          <a:xfrm xmlns:a="http://schemas.openxmlformats.org/drawingml/2006/main">
            <a:off x="685800" y="1571625"/>
            <a:ext cx="17145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6750" b="1">
                <a:solidFill>
                  <a:srgbClr val="118AB2"/>
                </a:solidFill>
                <a:latin typeface="Arial"/>
                <a:ea typeface="Arial"/>
                <a:cs typeface="Arial"/>
              </a:defRPr>
            </a:pPr>
            <a:r>
              <a:rPr sz="6750" b="1">
                <a:solidFill>
                  <a:srgbClr val="118AB2"/>
                </a:solidFill>
                <a:latin typeface="Arial"/>
                <a:ea typeface="Arial"/>
                <a:cs typeface="Arial"/>
              </a:rPr>
              <a:t>04</a:t>
            </a:r>
          </a:p>
        </p:txBody>
      </p:sp>
      <p:sp>
        <p:nvSpPr>
          <p:cNvPr id="5" name="">
            <a:extLst xmlns:a="http://schemas.openxmlformats.org/drawingml/2006/main">
              <a:ext uri="{FF2B5EF4-FFF2-40B4-BE49-F238E27FC236}">
                <a16:creationId xmlns:a16="http://schemas.microsoft.com/office/drawing/2014/main" id="{9139DEF7-37D9-4F76-ABF3-B796A25902E3}"/>
              </a:ext>
            </a:extLst>
          </p:cNvPr>
          <p:cNvSpPr>
            <a:spLocks xmlns:a="http://schemas.openxmlformats.org/drawingml/2006/main" noGrp="1"/>
          </p:cNvSpPr>
          <p:nvPr/>
        </p:nvSpPr>
        <p:spPr>
          <a:xfrm xmlns:a="http://schemas.openxmlformats.org/drawingml/2006/main">
            <a:off x="2857500" y="1571625"/>
            <a:ext cx="8096250" cy="3714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marL="228600" indent="-114300">
              <a:spcAft>
                <a:spcPts val="1000"/>
              </a:spcAft>
              <a:buChar char="•"/>
              <a:defRPr sz="1575">
                <a:solidFill>
                  <a:srgbClr val="17324D"/>
                </a:solidFill>
                <a:latin typeface="Arial"/>
                <a:ea typeface="Arial"/>
                <a:cs typeface="Arial"/>
              </a:defRPr>
            </a:pPr>
            <a:r>
              <a:rPr sz="1575">
                <a:solidFill>
                  <a:srgbClr val="17324D"/>
                </a:solidFill>
                <a:latin typeface="Arial"/>
                <a:ea typeface="Arial"/>
                <a:cs typeface="Arial"/>
              </a:rPr>
              <a:t>Fit: Consensus lets nodes decide one value or an ordered log.</a:t>
            </a:r>
          </a:p>
          <a:p xmlns:a="http://schemas.openxmlformats.org/drawingml/2006/main">
            <a:pPr marL="228600" indent="-114300">
              <a:spcAft>
                <a:spcPts val="1000"/>
              </a:spcAft>
              <a:buChar char="•"/>
              <a:defRPr sz="1575">
                <a:solidFill>
                  <a:srgbClr val="17324D"/>
                </a:solidFill>
                <a:latin typeface="Arial"/>
                <a:ea typeface="Arial"/>
                <a:cs typeface="Arial"/>
              </a:defRPr>
            </a:pPr>
            <a:r>
              <a:rPr sz="1575">
                <a:solidFill>
                  <a:srgbClr val="17324D"/>
                </a:solidFill>
                <a:latin typeface="Arial"/>
                <a:ea typeface="Arial"/>
                <a:cs typeface="Arial"/>
              </a:rPr>
              <a:t>Cost: evaluate latency, throughput, consistency, and operational complexity.</a:t>
            </a:r>
          </a:p>
          <a:p xmlns:a="http://schemas.openxmlformats.org/drawingml/2006/main">
            <a:pPr marL="228600" indent="-114300">
              <a:spcAft>
                <a:spcPts val="1000"/>
              </a:spcAft>
              <a:buChar char="•"/>
              <a:defRPr sz="1575">
                <a:solidFill>
                  <a:srgbClr val="17324D"/>
                </a:solidFill>
                <a:latin typeface="Arial"/>
                <a:ea typeface="Arial"/>
                <a:cs typeface="Arial"/>
              </a:defRPr>
            </a:pPr>
            <a:r>
              <a:rPr sz="1575">
                <a:solidFill>
                  <a:srgbClr val="17324D"/>
                </a:solidFill>
                <a:latin typeface="Arial"/>
                <a:ea typeface="Arial"/>
                <a:cs typeface="Arial"/>
              </a:rPr>
              <a:t>Failure check: what state becomes visible when a node, network path, or dependency fails?</a:t>
            </a:r>
          </a:p>
          <a:p xmlns:a="http://schemas.openxmlformats.org/drawingml/2006/main">
            <a:pPr marL="228600" indent="-114300">
              <a:spcAft>
                <a:spcPts val="1000"/>
              </a:spcAft>
              <a:buChar char="•"/>
              <a:defRPr sz="1575">
                <a:solidFill>
                  <a:srgbClr val="17324D"/>
                </a:solidFill>
                <a:latin typeface="Arial"/>
                <a:ea typeface="Arial"/>
                <a:cs typeface="Arial"/>
              </a:defRPr>
            </a:pPr>
            <a:r>
              <a:rPr sz="1575">
                <a:solidFill>
                  <a:srgbClr val="17324D"/>
                </a:solidFill>
                <a:latin typeface="Arial"/>
                <a:ea typeface="Arial"/>
                <a:cs typeface="Arial"/>
              </a:rPr>
              <a:t>Evolution check: can formats, interfaces, and topology change through rolling upgrades?</a:t>
            </a:r>
          </a:p>
        </p:txBody>
      </p:sp>
    </p:spTree>
    <p:extLst>
      <p:ext uri="{BB962C8B-B14F-4D97-AF65-F5344CB8AC3E}">
        <p14:creationId xmlns:p14="http://schemas.microsoft.com/office/powerpoint/2010/main" val="1407541407"/>
      </p:ext>
    </p:extLst>
  </p:cSld>
</p:sld>
</file>

<file path=ppt/slides/slide21.xml><?xml version="1.0" encoding="utf-8"?>
<p:sld xmlns:p="http://schemas.openxmlformats.org/presentationml/2006/main">
  <p:cSld>
    <p:bg>
      <p:bgPr>
        <a:solidFill xmlns:a="http://schemas.openxmlformats.org/drawingml/2006/main">
          <a:srgbClr val="F8F5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883ED86-C6A0-4775-BD11-3FC594E81E9E}"/>
              </a:ext>
            </a:extLst>
          </p:cNvPr>
          <p:cNvSpPr>
            <a:spLocks xmlns:a="http://schemas.openxmlformats.org/drawingml/2006/main" noGrp="1"/>
          </p:cNvSpPr>
          <p:nvPr/>
        </p:nvSpPr>
        <p:spPr>
          <a:xfrm xmlns:a="http://schemas.openxmlformats.org/drawingml/2006/main">
            <a:off x="666750" y="30480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spc="2">
                <a:solidFill>
                  <a:srgbClr val="118AB2"/>
                </a:solidFill>
                <a:latin typeface="Arial"/>
                <a:ea typeface="Arial"/>
                <a:cs typeface="Arial"/>
              </a:defRPr>
            </a:pPr>
            <a:r>
              <a:rPr sz="1200" b="1" spc="2">
                <a:solidFill>
                  <a:srgbClr val="118AB2"/>
                </a:solidFill>
                <a:latin typeface="Arial"/>
                <a:ea typeface="Arial"/>
                <a:cs typeface="Arial"/>
              </a:rPr>
              <a:t>CHAPTER 10</a:t>
            </a:r>
          </a:p>
        </p:txBody>
      </p:sp>
      <p:sp>
        <p:nvSpPr>
          <p:cNvPr id="2" name="">
            <a:extLst xmlns:a="http://schemas.openxmlformats.org/drawingml/2006/main">
              <a:ext uri="{FF2B5EF4-FFF2-40B4-BE49-F238E27FC236}">
                <a16:creationId xmlns:a16="http://schemas.microsoft.com/office/drawing/2014/main" id="{BA94AC65-6150-4F63-9EAF-BEE3E5CEC904}"/>
              </a:ext>
            </a:extLst>
          </p:cNvPr>
          <p:cNvSpPr>
            <a:spLocks xmlns:a="http://schemas.openxmlformats.org/drawingml/2006/main" noGrp="1"/>
          </p:cNvSpPr>
          <p:nvPr/>
        </p:nvSpPr>
        <p:spPr>
          <a:xfrm xmlns:a="http://schemas.openxmlformats.org/drawingml/2006/main">
            <a:off x="666750" y="6667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02A43"/>
                </a:solidFill>
                <a:latin typeface="Arial"/>
                <a:ea typeface="Arial"/>
                <a:cs typeface="Arial"/>
              </a:defRPr>
            </a:pPr>
            <a:r>
              <a:rPr sz="2550" b="1">
                <a:solidFill>
                  <a:srgbClr val="102A43"/>
                </a:solidFill>
                <a:latin typeface="Arial"/>
                <a:ea typeface="Arial"/>
                <a:cs typeface="Arial"/>
              </a:rPr>
              <a:t>Coordination in practice</a:t>
            </a:r>
          </a:p>
        </p:txBody>
      </p:sp>
      <p:sp>
        <p:nvSpPr>
          <p:cNvPr id="3" name="">
            <a:extLst xmlns:a="http://schemas.openxmlformats.org/drawingml/2006/main">
              <a:ext uri="{FF2B5EF4-FFF2-40B4-BE49-F238E27FC236}">
                <a16:creationId xmlns:a16="http://schemas.microsoft.com/office/drawing/2014/main" id="{9A4405F6-BFAC-427D-AF8C-062B27B240D8}"/>
              </a:ext>
            </a:extLst>
          </p:cNvPr>
          <p:cNvSpPr>
            <a:spLocks xmlns:a="http://schemas.openxmlformats.org/drawingml/2006/main" noGrp="1"/>
          </p:cNvSpPr>
          <p:nvPr/>
        </p:nvSpPr>
        <p:spPr>
          <a:xfrm xmlns:a="http://schemas.openxmlformats.org/drawingml/2006/main">
            <a:off x="10096500" y="63817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lgn="r">
              <a:defRPr sz="975">
                <a:solidFill>
                  <a:srgbClr val="6B7C8F"/>
                </a:solidFill>
                <a:latin typeface="Arial"/>
                <a:ea typeface="Arial"/>
                <a:cs typeface="Arial"/>
              </a:defRPr>
            </a:pPr>
            <a:r>
              <a:rPr sz="975">
                <a:solidFill>
                  <a:srgbClr val="6B7C8F"/>
                </a:solidFill>
                <a:latin typeface="Arial"/>
                <a:ea typeface="Arial"/>
                <a:cs typeface="Arial"/>
              </a:rPr>
              <a:t>21 / 23</a:t>
            </a:r>
          </a:p>
        </p:txBody>
      </p:sp>
      <p:sp>
        <p:nvSpPr>
          <p:cNvPr id="4" name="">
            <a:extLst xmlns:a="http://schemas.openxmlformats.org/drawingml/2006/main">
              <a:ext uri="{FF2B5EF4-FFF2-40B4-BE49-F238E27FC236}">
                <a16:creationId xmlns:a16="http://schemas.microsoft.com/office/drawing/2014/main" id="{8747F1EE-F21E-46BF-B4E0-9F81CE9DA8BF}"/>
              </a:ext>
            </a:extLst>
          </p:cNvPr>
          <p:cNvSpPr>
            <a:spLocks xmlns:a="http://schemas.openxmlformats.org/drawingml/2006/main" noGrp="1"/>
          </p:cNvSpPr>
          <p:nvPr/>
        </p:nvSpPr>
        <p:spPr>
          <a:xfrm xmlns:a="http://schemas.openxmlformats.org/drawingml/2006/main">
            <a:off x="685800" y="1571625"/>
            <a:ext cx="17145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6750" b="1">
                <a:solidFill>
                  <a:srgbClr val="118AB2"/>
                </a:solidFill>
                <a:latin typeface="Arial"/>
                <a:ea typeface="Arial"/>
                <a:cs typeface="Arial"/>
              </a:defRPr>
            </a:pPr>
            <a:r>
              <a:rPr sz="6750" b="1">
                <a:solidFill>
                  <a:srgbClr val="118AB2"/>
                </a:solidFill>
                <a:latin typeface="Arial"/>
                <a:ea typeface="Arial"/>
                <a:cs typeface="Arial"/>
              </a:rPr>
              <a:t>05</a:t>
            </a:r>
          </a:p>
        </p:txBody>
      </p:sp>
      <p:sp>
        <p:nvSpPr>
          <p:cNvPr id="5" name="">
            <a:extLst xmlns:a="http://schemas.openxmlformats.org/drawingml/2006/main">
              <a:ext uri="{FF2B5EF4-FFF2-40B4-BE49-F238E27FC236}">
                <a16:creationId xmlns:a16="http://schemas.microsoft.com/office/drawing/2014/main" id="{5C6D7C90-D282-4258-974C-B2017C95137E}"/>
              </a:ext>
            </a:extLst>
          </p:cNvPr>
          <p:cNvSpPr>
            <a:spLocks xmlns:a="http://schemas.openxmlformats.org/drawingml/2006/main" noGrp="1"/>
          </p:cNvSpPr>
          <p:nvPr/>
        </p:nvSpPr>
        <p:spPr>
          <a:xfrm xmlns:a="http://schemas.openxmlformats.org/drawingml/2006/main">
            <a:off x="2857500" y="1571625"/>
            <a:ext cx="80962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marL="228600" indent="-114300">
              <a:spcAft>
                <a:spcPts val="1000"/>
              </a:spcAft>
              <a:buChar char="•"/>
              <a:defRPr sz="1725">
                <a:solidFill>
                  <a:srgbClr val="17324D"/>
                </a:solidFill>
                <a:latin typeface="Arial"/>
                <a:ea typeface="Arial"/>
                <a:cs typeface="Arial"/>
              </a:defRPr>
            </a:pPr>
            <a:r>
              <a:rPr sz="1725">
                <a:solidFill>
                  <a:srgbClr val="17324D"/>
                </a:solidFill>
                <a:latin typeface="Arial"/>
                <a:ea typeface="Arial"/>
                <a:cs typeface="Arial"/>
              </a:rPr>
              <a:t>Consensus commonly powers replicated logs and metadata services.</a:t>
            </a:r>
          </a:p>
          <a:p xmlns:a="http://schemas.openxmlformats.org/drawingml/2006/main">
            <a:pPr marL="228600" indent="-114300">
              <a:spcAft>
                <a:spcPts val="1000"/>
              </a:spcAft>
              <a:buChar char="•"/>
              <a:defRPr sz="1725">
                <a:solidFill>
                  <a:srgbClr val="17324D"/>
                </a:solidFill>
                <a:latin typeface="Arial"/>
                <a:ea typeface="Arial"/>
                <a:cs typeface="Arial"/>
              </a:defRPr>
            </a:pPr>
            <a:r>
              <a:rPr sz="1725">
                <a:solidFill>
                  <a:srgbClr val="17324D"/>
                </a:solidFill>
                <a:latin typeface="Arial"/>
                <a:ea typeface="Arial"/>
                <a:cs typeface="Arial"/>
              </a:rPr>
              <a:t>Membership changes and snapshots are essential production concerns.</a:t>
            </a:r>
          </a:p>
          <a:p xmlns:a="http://schemas.openxmlformats.org/drawingml/2006/main">
            <a:pPr marL="228600" indent="-114300">
              <a:spcAft>
                <a:spcPts val="1000"/>
              </a:spcAft>
              <a:buChar char="•"/>
              <a:defRPr sz="1725">
                <a:solidFill>
                  <a:srgbClr val="17324D"/>
                </a:solidFill>
                <a:latin typeface="Arial"/>
                <a:ea typeface="Arial"/>
                <a:cs typeface="Arial"/>
              </a:defRPr>
            </a:pPr>
            <a:r>
              <a:rPr sz="1725">
                <a:solidFill>
                  <a:srgbClr val="17324D"/>
                </a:solidFill>
                <a:latin typeface="Arial"/>
                <a:ea typeface="Arial"/>
                <a:cs typeface="Arial"/>
              </a:rPr>
              <a:t>Use coordination services for small authoritative metadata, not bulk application data.</a:t>
            </a:r>
          </a:p>
        </p:txBody>
      </p:sp>
      <p:sp>
        <p:nvSpPr>
          <p:cNvPr id="6" name="">
            <a:extLst xmlns:a="http://schemas.openxmlformats.org/drawingml/2006/main">
              <a:ext uri="{FF2B5EF4-FFF2-40B4-BE49-F238E27FC236}">
                <a16:creationId xmlns:a16="http://schemas.microsoft.com/office/drawing/2014/main" id="{89A7940E-A582-4CCE-A760-65A7C2026886}"/>
              </a:ext>
            </a:extLst>
          </p:cNvPr>
          <p:cNvSpPr>
            <a:spLocks xmlns:a="http://schemas.openxmlformats.org/drawingml/2006/main" noGrp="1"/>
          </p:cNvSpPr>
          <p:nvPr/>
        </p:nvSpPr>
        <p:spPr>
          <a:xfrm xmlns:a="http://schemas.openxmlformats.org/drawingml/2006/main">
            <a:off x="2857500" y="5000625"/>
            <a:ext cx="152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118AB2"/>
                </a:solidFill>
                <a:latin typeface="Arial"/>
                <a:ea typeface="Arial"/>
                <a:cs typeface="Arial"/>
              </a:defRPr>
            </a:pPr>
            <a:r>
              <a:rPr sz="1200" b="1">
                <a:solidFill>
                  <a:srgbClr val="118AB2"/>
                </a:solidFill>
                <a:latin typeface="Arial"/>
                <a:ea typeface="Arial"/>
                <a:cs typeface="Arial"/>
              </a:rPr>
              <a:t>Core question</a:t>
            </a:r>
          </a:p>
        </p:txBody>
      </p:sp>
      <p:sp>
        <p:nvSpPr>
          <p:cNvPr id="7" name="">
            <a:extLst xmlns:a="http://schemas.openxmlformats.org/drawingml/2006/main">
              <a:ext uri="{FF2B5EF4-FFF2-40B4-BE49-F238E27FC236}">
                <a16:creationId xmlns:a16="http://schemas.microsoft.com/office/drawing/2014/main" id="{487DBA3C-C7F8-433F-B164-7AE79FBD82BD}"/>
              </a:ext>
            </a:extLst>
          </p:cNvPr>
          <p:cNvSpPr>
            <a:spLocks xmlns:a="http://schemas.openxmlformats.org/drawingml/2006/main" noGrp="1"/>
          </p:cNvSpPr>
          <p:nvPr/>
        </p:nvSpPr>
        <p:spPr>
          <a:xfrm xmlns:a="http://schemas.openxmlformats.org/drawingml/2006/main">
            <a:off x="2857500" y="5286375"/>
            <a:ext cx="8096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500">
                <a:solidFill>
                  <a:srgbClr val="52667A"/>
                </a:solidFill>
                <a:latin typeface="Arial"/>
                <a:ea typeface="Arial"/>
                <a:cs typeface="Arial"/>
              </a:defRPr>
            </a:pPr>
            <a:r>
              <a:rPr sz="1500">
                <a:solidFill>
                  <a:srgbClr val="52667A"/>
                </a:solidFill>
                <a:latin typeface="Arial"/>
                <a:ea typeface="Arial"/>
                <a:cs typeface="Arial"/>
              </a:rPr>
              <a:t>What problem does it solve, and what does it cost under failure, growth, and change?</a:t>
            </a:r>
          </a:p>
        </p:txBody>
      </p:sp>
    </p:spTree>
    <p:extLst>
      <p:ext uri="{BB962C8B-B14F-4D97-AF65-F5344CB8AC3E}">
        <p14:creationId xmlns:p14="http://schemas.microsoft.com/office/powerpoint/2010/main" val="1297762210"/>
      </p:ext>
    </p:extLst>
  </p:cSld>
</p:sld>
</file>

<file path=ppt/slides/slide22.xml><?xml version="1.0" encoding="utf-8"?>
<p:sld xmlns:p="http://schemas.openxmlformats.org/presentationml/2006/main">
  <p:cSld>
    <p:bg>
      <p:bgPr>
        <a:solidFill xmlns:a="http://schemas.openxmlformats.org/drawingml/2006/main">
          <a:srgbClr val="F8F5EE"/>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53E39AE-4BFD-4B3D-9D7C-AEF7C8C85DA4}"/>
              </a:ext>
            </a:extLst>
          </p:cNvPr>
          <p:cNvSpPr>
            <a:spLocks xmlns:a="http://schemas.openxmlformats.org/drawingml/2006/main" noGrp="1"/>
          </p:cNvSpPr>
          <p:nvPr/>
        </p:nvSpPr>
        <p:spPr>
          <a:xfrm xmlns:a="http://schemas.openxmlformats.org/drawingml/2006/main">
            <a:off x="666750" y="30480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spc="2">
                <a:solidFill>
                  <a:srgbClr val="118AB2"/>
                </a:solidFill>
                <a:latin typeface="Arial"/>
                <a:ea typeface="Arial"/>
                <a:cs typeface="Arial"/>
              </a:defRPr>
            </a:pPr>
            <a:r>
              <a:rPr sz="1200" b="1" spc="2">
                <a:solidFill>
                  <a:srgbClr val="118AB2"/>
                </a:solidFill>
                <a:latin typeface="Arial"/>
                <a:ea typeface="Arial"/>
                <a:cs typeface="Arial"/>
              </a:rPr>
              <a:t>CHAPTER 10</a:t>
            </a:r>
          </a:p>
        </p:txBody>
      </p:sp>
      <p:sp>
        <p:nvSpPr>
          <p:cNvPr id="2" name="">
            <a:extLst xmlns:a="http://schemas.openxmlformats.org/drawingml/2006/main">
              <a:ext uri="{FF2B5EF4-FFF2-40B4-BE49-F238E27FC236}">
                <a16:creationId xmlns:a16="http://schemas.microsoft.com/office/drawing/2014/main" id="{4C80DC7E-9F42-41A7-8C01-C9A9BE0E6D62}"/>
              </a:ext>
            </a:extLst>
          </p:cNvPr>
          <p:cNvSpPr>
            <a:spLocks xmlns:a="http://schemas.openxmlformats.org/drawingml/2006/main" noGrp="1"/>
          </p:cNvSpPr>
          <p:nvPr/>
        </p:nvSpPr>
        <p:spPr>
          <a:xfrm xmlns:a="http://schemas.openxmlformats.org/drawingml/2006/main">
            <a:off x="666750" y="6667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02A43"/>
                </a:solidFill>
                <a:latin typeface="Arial"/>
                <a:ea typeface="Arial"/>
                <a:cs typeface="Arial"/>
              </a:defRPr>
            </a:pPr>
            <a:r>
              <a:rPr sz="2550" b="1">
                <a:solidFill>
                  <a:srgbClr val="102A43"/>
                </a:solidFill>
                <a:latin typeface="Arial"/>
                <a:ea typeface="Arial"/>
                <a:cs typeface="Arial"/>
              </a:rPr>
              <a:t>Coordination in practice: design trade-offs</a:t>
            </a:r>
          </a:p>
        </p:txBody>
      </p:sp>
      <p:sp>
        <p:nvSpPr>
          <p:cNvPr id="3" name="">
            <a:extLst xmlns:a="http://schemas.openxmlformats.org/drawingml/2006/main">
              <a:ext uri="{FF2B5EF4-FFF2-40B4-BE49-F238E27FC236}">
                <a16:creationId xmlns:a16="http://schemas.microsoft.com/office/drawing/2014/main" id="{C1451735-0611-4F67-8A10-BD0B0490F9A1}"/>
              </a:ext>
            </a:extLst>
          </p:cNvPr>
          <p:cNvSpPr>
            <a:spLocks xmlns:a="http://schemas.openxmlformats.org/drawingml/2006/main" noGrp="1"/>
          </p:cNvSpPr>
          <p:nvPr/>
        </p:nvSpPr>
        <p:spPr>
          <a:xfrm xmlns:a="http://schemas.openxmlformats.org/drawingml/2006/main">
            <a:off x="10096500" y="63817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lgn="r">
              <a:defRPr sz="975">
                <a:solidFill>
                  <a:srgbClr val="6B7C8F"/>
                </a:solidFill>
                <a:latin typeface="Arial"/>
                <a:ea typeface="Arial"/>
                <a:cs typeface="Arial"/>
              </a:defRPr>
            </a:pPr>
            <a:r>
              <a:rPr sz="975">
                <a:solidFill>
                  <a:srgbClr val="6B7C8F"/>
                </a:solidFill>
                <a:latin typeface="Arial"/>
                <a:ea typeface="Arial"/>
                <a:cs typeface="Arial"/>
              </a:rPr>
              <a:t>22 / 23</a:t>
            </a:r>
          </a:p>
        </p:txBody>
      </p:sp>
      <p:sp>
        <p:nvSpPr>
          <p:cNvPr id="4" name="">
            <a:extLst xmlns:a="http://schemas.openxmlformats.org/drawingml/2006/main">
              <a:ext uri="{FF2B5EF4-FFF2-40B4-BE49-F238E27FC236}">
                <a16:creationId xmlns:a16="http://schemas.microsoft.com/office/drawing/2014/main" id="{7C09C63C-FF24-40E9-977D-F4708DDFF839}"/>
              </a:ext>
            </a:extLst>
          </p:cNvPr>
          <p:cNvSpPr>
            <a:spLocks xmlns:a="http://schemas.openxmlformats.org/drawingml/2006/main" noGrp="1"/>
          </p:cNvSpPr>
          <p:nvPr/>
        </p:nvSpPr>
        <p:spPr>
          <a:xfrm xmlns:a="http://schemas.openxmlformats.org/drawingml/2006/main">
            <a:off x="685800" y="1571625"/>
            <a:ext cx="17145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6750" b="1">
                <a:solidFill>
                  <a:srgbClr val="118AB2"/>
                </a:solidFill>
                <a:latin typeface="Arial"/>
                <a:ea typeface="Arial"/>
                <a:cs typeface="Arial"/>
              </a:defRPr>
            </a:pPr>
            <a:r>
              <a:rPr sz="6750" b="1">
                <a:solidFill>
                  <a:srgbClr val="118AB2"/>
                </a:solidFill>
                <a:latin typeface="Arial"/>
                <a:ea typeface="Arial"/>
                <a:cs typeface="Arial"/>
              </a:rPr>
              <a:t>05</a:t>
            </a:r>
          </a:p>
        </p:txBody>
      </p:sp>
      <p:sp>
        <p:nvSpPr>
          <p:cNvPr id="5" name="">
            <a:extLst xmlns:a="http://schemas.openxmlformats.org/drawingml/2006/main">
              <a:ext uri="{FF2B5EF4-FFF2-40B4-BE49-F238E27FC236}">
                <a16:creationId xmlns:a16="http://schemas.microsoft.com/office/drawing/2014/main" id="{D5299F8A-A2B8-418A-AD07-6C6DFC5CD19F}"/>
              </a:ext>
            </a:extLst>
          </p:cNvPr>
          <p:cNvSpPr>
            <a:spLocks xmlns:a="http://schemas.openxmlformats.org/drawingml/2006/main" noGrp="1"/>
          </p:cNvSpPr>
          <p:nvPr/>
        </p:nvSpPr>
        <p:spPr>
          <a:xfrm xmlns:a="http://schemas.openxmlformats.org/drawingml/2006/main">
            <a:off x="2857500" y="1571625"/>
            <a:ext cx="8096250" cy="3714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marL="228600" indent="-114300">
              <a:spcAft>
                <a:spcPts val="1000"/>
              </a:spcAft>
              <a:buChar char="•"/>
              <a:defRPr sz="1575">
                <a:solidFill>
                  <a:srgbClr val="17324D"/>
                </a:solidFill>
                <a:latin typeface="Arial"/>
                <a:ea typeface="Arial"/>
                <a:cs typeface="Arial"/>
              </a:defRPr>
            </a:pPr>
            <a:r>
              <a:rPr sz="1575">
                <a:solidFill>
                  <a:srgbClr val="17324D"/>
                </a:solidFill>
                <a:latin typeface="Arial"/>
                <a:ea typeface="Arial"/>
                <a:cs typeface="Arial"/>
              </a:rPr>
              <a:t>Fit: Consensus commonly powers replicated logs and metadata services.</a:t>
            </a:r>
          </a:p>
          <a:p xmlns:a="http://schemas.openxmlformats.org/drawingml/2006/main">
            <a:pPr marL="228600" indent="-114300">
              <a:spcAft>
                <a:spcPts val="1000"/>
              </a:spcAft>
              <a:buChar char="•"/>
              <a:defRPr sz="1575">
                <a:solidFill>
                  <a:srgbClr val="17324D"/>
                </a:solidFill>
                <a:latin typeface="Arial"/>
                <a:ea typeface="Arial"/>
                <a:cs typeface="Arial"/>
              </a:defRPr>
            </a:pPr>
            <a:r>
              <a:rPr sz="1575">
                <a:solidFill>
                  <a:srgbClr val="17324D"/>
                </a:solidFill>
                <a:latin typeface="Arial"/>
                <a:ea typeface="Arial"/>
                <a:cs typeface="Arial"/>
              </a:rPr>
              <a:t>Cost: evaluate latency, throughput, consistency, and operational complexity.</a:t>
            </a:r>
          </a:p>
          <a:p xmlns:a="http://schemas.openxmlformats.org/drawingml/2006/main">
            <a:pPr marL="228600" indent="-114300">
              <a:spcAft>
                <a:spcPts val="1000"/>
              </a:spcAft>
              <a:buChar char="•"/>
              <a:defRPr sz="1575">
                <a:solidFill>
                  <a:srgbClr val="17324D"/>
                </a:solidFill>
                <a:latin typeface="Arial"/>
                <a:ea typeface="Arial"/>
                <a:cs typeface="Arial"/>
              </a:defRPr>
            </a:pPr>
            <a:r>
              <a:rPr sz="1575">
                <a:solidFill>
                  <a:srgbClr val="17324D"/>
                </a:solidFill>
                <a:latin typeface="Arial"/>
                <a:ea typeface="Arial"/>
                <a:cs typeface="Arial"/>
              </a:rPr>
              <a:t>Failure check: what state becomes visible when a node, network path, or dependency fails?</a:t>
            </a:r>
          </a:p>
          <a:p xmlns:a="http://schemas.openxmlformats.org/drawingml/2006/main">
            <a:pPr marL="228600" indent="-114300">
              <a:spcAft>
                <a:spcPts val="1000"/>
              </a:spcAft>
              <a:buChar char="•"/>
              <a:defRPr sz="1575">
                <a:solidFill>
                  <a:srgbClr val="17324D"/>
                </a:solidFill>
                <a:latin typeface="Arial"/>
                <a:ea typeface="Arial"/>
                <a:cs typeface="Arial"/>
              </a:defRPr>
            </a:pPr>
            <a:r>
              <a:rPr sz="1575">
                <a:solidFill>
                  <a:srgbClr val="17324D"/>
                </a:solidFill>
                <a:latin typeface="Arial"/>
                <a:ea typeface="Arial"/>
                <a:cs typeface="Arial"/>
              </a:rPr>
              <a:t>Evolution check: can formats, interfaces, and topology change through rolling upgrades?</a:t>
            </a:r>
          </a:p>
        </p:txBody>
      </p:sp>
    </p:spTree>
    <p:extLst>
      <p:ext uri="{BB962C8B-B14F-4D97-AF65-F5344CB8AC3E}">
        <p14:creationId xmlns:p14="http://schemas.microsoft.com/office/powerpoint/2010/main" val="635886454"/>
      </p:ext>
    </p:extLst>
  </p:cSld>
</p:sld>
</file>

<file path=ppt/slides/slide23.xml><?xml version="1.0" encoding="utf-8"?>
<p:sld xmlns:p="http://schemas.openxmlformats.org/presentationml/2006/main">
  <p:cSld>
    <p:bg>
      <p:bgPr>
        <a:solidFill xmlns:a="http://schemas.openxmlformats.org/drawingml/2006/main">
          <a:srgbClr val="F8F5EE"/>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CAE38230-BC83-4824-8BBD-CAE4BE199B68}"/>
              </a:ext>
            </a:extLst>
          </p:cNvPr>
          <p:cNvSpPr>
            <a:spLocks xmlns:a="http://schemas.openxmlformats.org/drawingml/2006/main" noGrp="1"/>
          </p:cNvSpPr>
          <p:nvPr/>
        </p:nvSpPr>
        <p:spPr>
          <a:xfrm xmlns:a="http://schemas.openxmlformats.org/drawingml/2006/main">
            <a:off x="666750" y="30480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spc="2">
                <a:solidFill>
                  <a:srgbClr val="118AB2"/>
                </a:solidFill>
                <a:latin typeface="Arial"/>
                <a:ea typeface="Arial"/>
                <a:cs typeface="Arial"/>
              </a:defRPr>
            </a:pPr>
            <a:r>
              <a:rPr sz="1200" b="1" spc="2">
                <a:solidFill>
                  <a:srgbClr val="118AB2"/>
                </a:solidFill>
                <a:latin typeface="Arial"/>
                <a:ea typeface="Arial"/>
                <a:cs typeface="Arial"/>
              </a:rPr>
              <a:t>CHAPTER 10</a:t>
            </a:r>
          </a:p>
        </p:txBody>
      </p:sp>
      <p:sp>
        <p:nvSpPr>
          <p:cNvPr id="2" name="">
            <a:extLst xmlns:a="http://schemas.openxmlformats.org/drawingml/2006/main">
              <a:ext uri="{FF2B5EF4-FFF2-40B4-BE49-F238E27FC236}">
                <a16:creationId xmlns:a16="http://schemas.microsoft.com/office/drawing/2014/main" id="{06C6F0F4-E703-40B0-81C1-84EEC98C6796}"/>
              </a:ext>
            </a:extLst>
          </p:cNvPr>
          <p:cNvSpPr>
            <a:spLocks xmlns:a="http://schemas.openxmlformats.org/drawingml/2006/main" noGrp="1"/>
          </p:cNvSpPr>
          <p:nvPr/>
        </p:nvSpPr>
        <p:spPr>
          <a:xfrm xmlns:a="http://schemas.openxmlformats.org/drawingml/2006/main">
            <a:off x="666750" y="6667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02A43"/>
                </a:solidFill>
                <a:latin typeface="Arial"/>
                <a:ea typeface="Arial"/>
                <a:cs typeface="Arial"/>
              </a:defRPr>
            </a:pPr>
            <a:r>
              <a:rPr sz="2550" b="1">
                <a:solidFill>
                  <a:srgbClr val="102A43"/>
                </a:solidFill>
                <a:latin typeface="Arial"/>
                <a:ea typeface="Arial"/>
                <a:cs typeface="Arial"/>
              </a:rPr>
              <a:t>Review and application</a:t>
            </a:r>
          </a:p>
        </p:txBody>
      </p:sp>
      <p:sp>
        <p:nvSpPr>
          <p:cNvPr id="3" name="">
            <a:extLst xmlns:a="http://schemas.openxmlformats.org/drawingml/2006/main">
              <a:ext uri="{FF2B5EF4-FFF2-40B4-BE49-F238E27FC236}">
                <a16:creationId xmlns:a16="http://schemas.microsoft.com/office/drawing/2014/main" id="{36B6A22B-B63E-47CC-A542-DB1BADD4BA1D}"/>
              </a:ext>
            </a:extLst>
          </p:cNvPr>
          <p:cNvSpPr>
            <a:spLocks xmlns:a="http://schemas.openxmlformats.org/drawingml/2006/main" noGrp="1"/>
          </p:cNvSpPr>
          <p:nvPr/>
        </p:nvSpPr>
        <p:spPr>
          <a:xfrm xmlns:a="http://schemas.openxmlformats.org/drawingml/2006/main">
            <a:off x="10096500" y="63817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lgn="r">
              <a:defRPr sz="975">
                <a:solidFill>
                  <a:srgbClr val="6B7C8F"/>
                </a:solidFill>
                <a:latin typeface="Arial"/>
                <a:ea typeface="Arial"/>
                <a:cs typeface="Arial"/>
              </a:defRPr>
            </a:pPr>
            <a:r>
              <a:rPr sz="975">
                <a:solidFill>
                  <a:srgbClr val="6B7C8F"/>
                </a:solidFill>
                <a:latin typeface="Arial"/>
                <a:ea typeface="Arial"/>
                <a:cs typeface="Arial"/>
              </a:rPr>
              <a:t>23 / 23</a:t>
            </a:r>
          </a:p>
        </p:txBody>
      </p:sp>
      <p:sp>
        <p:nvSpPr>
          <p:cNvPr id="4" name="">
            <a:extLst xmlns:a="http://schemas.openxmlformats.org/drawingml/2006/main">
              <a:ext uri="{FF2B5EF4-FFF2-40B4-BE49-F238E27FC236}">
                <a16:creationId xmlns:a16="http://schemas.microsoft.com/office/drawing/2014/main" id="{8595778C-1EF9-45A8-9E75-98614045CBF5}"/>
              </a:ext>
            </a:extLst>
          </p:cNvPr>
          <p:cNvSpPr>
            <a:spLocks xmlns:a="http://schemas.openxmlformats.org/drawingml/2006/main" noGrp="1"/>
          </p:cNvSpPr>
          <p:nvPr/>
        </p:nvSpPr>
        <p:spPr>
          <a:xfrm xmlns:a="http://schemas.openxmlformats.org/drawingml/2006/main">
            <a:off x="1285875" y="1666875"/>
            <a:ext cx="952500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marL="228600" indent="-114300">
              <a:spcAft>
                <a:spcPts val="1000"/>
              </a:spcAft>
              <a:buChar char="•"/>
              <a:defRPr sz="1800">
                <a:solidFill>
                  <a:srgbClr val="17324D"/>
                </a:solidFill>
                <a:latin typeface="Arial"/>
                <a:ea typeface="Arial"/>
                <a:cs typeface="Arial"/>
              </a:defRPr>
            </a:pPr>
            <a:r>
              <a:rPr sz="1800">
                <a:solidFill>
                  <a:srgbClr val="17324D"/>
                </a:solidFill>
                <a:latin typeface="Arial"/>
                <a:ea typeface="Arial"/>
                <a:cs typeface="Arial"/>
              </a:rPr>
              <a:t>State the chapter’s central problem in one sentence.</a:t>
            </a:r>
          </a:p>
          <a:p xmlns:a="http://schemas.openxmlformats.org/drawingml/2006/main">
            <a:pPr marL="228600" indent="-114300">
              <a:spcAft>
                <a:spcPts val="1000"/>
              </a:spcAft>
              <a:buChar char="•"/>
              <a:defRPr sz="1800">
                <a:solidFill>
                  <a:srgbClr val="17324D"/>
                </a:solidFill>
                <a:latin typeface="Arial"/>
                <a:ea typeface="Arial"/>
                <a:cs typeface="Arial"/>
              </a:defRPr>
            </a:pPr>
            <a:r>
              <a:rPr sz="1800">
                <a:solidFill>
                  <a:srgbClr val="17324D"/>
                </a:solidFill>
                <a:latin typeface="Arial"/>
                <a:ea typeface="Arial"/>
                <a:cs typeface="Arial"/>
              </a:rPr>
              <a:t>Choose one mechanism and list the assumptions it relies on.</a:t>
            </a:r>
          </a:p>
          <a:p xmlns:a="http://schemas.openxmlformats.org/drawingml/2006/main">
            <a:pPr marL="228600" indent="-114300">
              <a:spcAft>
                <a:spcPts val="1000"/>
              </a:spcAft>
              <a:buChar char="•"/>
              <a:defRPr sz="1800">
                <a:solidFill>
                  <a:srgbClr val="17324D"/>
                </a:solidFill>
                <a:latin typeface="Arial"/>
                <a:ea typeface="Arial"/>
                <a:cs typeface="Arial"/>
              </a:defRPr>
            </a:pPr>
            <a:r>
              <a:rPr sz="1800">
                <a:solidFill>
                  <a:srgbClr val="17324D"/>
                </a:solidFill>
                <a:latin typeface="Arial"/>
                <a:ea typeface="Arial"/>
                <a:cs typeface="Arial"/>
              </a:rPr>
              <a:t>Describe a failure scenario and explain the recovery path.</a:t>
            </a:r>
          </a:p>
          <a:p xmlns:a="http://schemas.openxmlformats.org/drawingml/2006/main">
            <a:pPr marL="228600" indent="-114300">
              <a:spcAft>
                <a:spcPts val="1000"/>
              </a:spcAft>
              <a:buChar char="•"/>
              <a:defRPr sz="1800">
                <a:solidFill>
                  <a:srgbClr val="17324D"/>
                </a:solidFill>
                <a:latin typeface="Arial"/>
                <a:ea typeface="Arial"/>
                <a:cs typeface="Arial"/>
              </a:defRPr>
            </a:pPr>
            <a:r>
              <a:rPr sz="1800">
                <a:solidFill>
                  <a:srgbClr val="17324D"/>
                </a:solidFill>
                <a:latin typeface="Arial"/>
                <a:ea typeface="Arial"/>
                <a:cs typeface="Arial"/>
              </a:rPr>
              <a:t>Apply one trade-off from the chapter to a system you are designing.</a:t>
            </a:r>
          </a:p>
        </p:txBody>
      </p:sp>
    </p:spTree>
    <p:extLst>
      <p:ext uri="{BB962C8B-B14F-4D97-AF65-F5344CB8AC3E}">
        <p14:creationId xmlns:p14="http://schemas.microsoft.com/office/powerpoint/2010/main" val="184094720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2026-09-27T19:47:42.5010000Z</dcterms:created>
  <dcterms:modified xsi:type="dcterms:W3CDTF">2026-09-27T19:47:42.5010000Z</dcterms:modified>
</coreProperties>
</file>