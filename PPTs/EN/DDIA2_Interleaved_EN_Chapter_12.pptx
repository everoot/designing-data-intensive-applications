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fea6b537314519" /><Relationship Type="http://schemas.openxmlformats.org/officeDocument/2006/relationships/extended-properties" Target="/docProps/app.xml" Id="R0092613a8f494b0d" /><Relationship Type="http://schemas.openxmlformats.org/officeDocument/2006/relationships/officeDocument" Target="/ppt/presentation.xml" Id="Ree0bf47b5e294bfe" /></Relationships>
</file>

<file path=ppt/presentation.xml><?xml version="1.0" encoding="utf-8"?>
<p:presentation xmlns:p="http://schemas.openxmlformats.org/presentationml/2006/main">
  <p:sldMasterIdLst>
    <p:sldMasterId xmlns:r="http://schemas.openxmlformats.org/officeDocument/2006/relationships" id="2147483648" r:id="R9574b428dc8846be"/>
  </p:sldMasterIdLst>
  <p:notesMasterIdLst>
    <p:notesMasterId xmlns:r="http://schemas.openxmlformats.org/officeDocument/2006/relationships" r:id="R0453b60927064d01"/>
  </p:notesMasterIdLst>
  <p:sldIdLst>
    <p:sldId xmlns:r="http://schemas.openxmlformats.org/officeDocument/2006/relationships" id="256" r:id="R6e1a3c07532f4fa6"/>
    <p:sldId xmlns:r="http://schemas.openxmlformats.org/officeDocument/2006/relationships" id="257" r:id="Rb8540300dd5b405d"/>
    <p:sldId xmlns:r="http://schemas.openxmlformats.org/officeDocument/2006/relationships" id="258" r:id="R76cf7ce65bd5401f"/>
    <p:sldId xmlns:r="http://schemas.openxmlformats.org/officeDocument/2006/relationships" id="259" r:id="R9f410d6ac64c452c"/>
    <p:sldId xmlns:r="http://schemas.openxmlformats.org/officeDocument/2006/relationships" id="260" r:id="R6133e2eebf8f414b"/>
    <p:sldId xmlns:r="http://schemas.openxmlformats.org/officeDocument/2006/relationships" id="261" r:id="R4948dd44406e4363"/>
    <p:sldId xmlns:r="http://schemas.openxmlformats.org/officeDocument/2006/relationships" id="262" r:id="R451b0fdbe8de4ce4"/>
    <p:sldId xmlns:r="http://schemas.openxmlformats.org/officeDocument/2006/relationships" id="263" r:id="R969be3fc664148da"/>
    <p:sldId xmlns:r="http://schemas.openxmlformats.org/officeDocument/2006/relationships" id="264" r:id="R1adeac6a9ad440cf"/>
    <p:sldId xmlns:r="http://schemas.openxmlformats.org/officeDocument/2006/relationships" id="265" r:id="Ra4054d70ce00415f"/>
    <p:sldId xmlns:r="http://schemas.openxmlformats.org/officeDocument/2006/relationships" id="266" r:id="Rfd3c401a196e4849"/>
    <p:sldId xmlns:r="http://schemas.openxmlformats.org/officeDocument/2006/relationships" id="267" r:id="R6c6e0c4a580d4238"/>
    <p:sldId xmlns:r="http://schemas.openxmlformats.org/officeDocument/2006/relationships" id="268" r:id="Rbae2e82294844f30"/>
    <p:sldId xmlns:r="http://schemas.openxmlformats.org/officeDocument/2006/relationships" id="269" r:id="R7a963956c82f41f7"/>
    <p:sldId xmlns:r="http://schemas.openxmlformats.org/officeDocument/2006/relationships" id="270" r:id="R206f8b7bb2b548ac"/>
    <p:sldId xmlns:r="http://schemas.openxmlformats.org/officeDocument/2006/relationships" id="271" r:id="Rabe65c28c3764e3b"/>
    <p:sldId xmlns:r="http://schemas.openxmlformats.org/officeDocument/2006/relationships" id="272" r:id="R6dfacbe117aa4843"/>
    <p:sldId xmlns:r="http://schemas.openxmlformats.org/officeDocument/2006/relationships" id="273" r:id="R3e05550f268c4f36"/>
    <p:sldId xmlns:r="http://schemas.openxmlformats.org/officeDocument/2006/relationships" id="274" r:id="R32cfe67fe848444c"/>
    <p:sldId xmlns:r="http://schemas.openxmlformats.org/officeDocument/2006/relationships" id="275" r:id="R5c29d7370ccb4e94"/>
    <p:sldId xmlns:r="http://schemas.openxmlformats.org/officeDocument/2006/relationships" id="276" r:id="R10a0cfcc0af34b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644854bf2b429b" /><Relationship Type="http://schemas.openxmlformats.org/officeDocument/2006/relationships/slideMaster" Target="/ppt/slideMasters/slideMaster1.xml" Id="R9574b428dc8846be" /><Relationship Type="http://schemas.openxmlformats.org/officeDocument/2006/relationships/notesMaster" Target="/ppt/notesMasters/notesMaster1.xml" Id="R0453b60927064d01" /><Relationship Type="http://schemas.openxmlformats.org/officeDocument/2006/relationships/presProps" Target="/ppt/presProps.xml" Id="R16a47404ab0a4e6c" /><Relationship Type="http://schemas.openxmlformats.org/officeDocument/2006/relationships/tableStyles" Target="/ppt/tableStyles.xml" Id="R12c24056c4704e26" /><Relationship Type="http://schemas.openxmlformats.org/officeDocument/2006/relationships/slide" Target="/ppt/slides/slide1.xml" Id="R6e1a3c07532f4fa6" /><Relationship Type="http://schemas.openxmlformats.org/officeDocument/2006/relationships/slide" Target="/ppt/slides/slide2.xml" Id="Rb8540300dd5b405d" /><Relationship Type="http://schemas.openxmlformats.org/officeDocument/2006/relationships/slide" Target="/ppt/slides/slide3.xml" Id="R76cf7ce65bd5401f" /><Relationship Type="http://schemas.openxmlformats.org/officeDocument/2006/relationships/slide" Target="/ppt/slides/slide4.xml" Id="R9f410d6ac64c452c" /><Relationship Type="http://schemas.openxmlformats.org/officeDocument/2006/relationships/slide" Target="/ppt/slides/slide5.xml" Id="R6133e2eebf8f414b" /><Relationship Type="http://schemas.openxmlformats.org/officeDocument/2006/relationships/slide" Target="/ppt/slides/slide6.xml" Id="R4948dd44406e4363" /><Relationship Type="http://schemas.openxmlformats.org/officeDocument/2006/relationships/slide" Target="/ppt/slides/slide7.xml" Id="R451b0fdbe8de4ce4" /><Relationship Type="http://schemas.openxmlformats.org/officeDocument/2006/relationships/slide" Target="/ppt/slides/slide8.xml" Id="R969be3fc664148da" /><Relationship Type="http://schemas.openxmlformats.org/officeDocument/2006/relationships/slide" Target="/ppt/slides/slide9.xml" Id="R1adeac6a9ad440cf" /><Relationship Type="http://schemas.openxmlformats.org/officeDocument/2006/relationships/slide" Target="/ppt/slides/slide10.xml" Id="Ra4054d70ce00415f" /><Relationship Type="http://schemas.openxmlformats.org/officeDocument/2006/relationships/slide" Target="/ppt/slides/slide11.xml" Id="Rfd3c401a196e4849" /><Relationship Type="http://schemas.openxmlformats.org/officeDocument/2006/relationships/slide" Target="/ppt/slides/slide12.xml" Id="R6c6e0c4a580d4238" /><Relationship Type="http://schemas.openxmlformats.org/officeDocument/2006/relationships/slide" Target="/ppt/slides/slide13.xml" Id="Rbae2e82294844f30" /><Relationship Type="http://schemas.openxmlformats.org/officeDocument/2006/relationships/slide" Target="/ppt/slides/slide14.xml" Id="R7a963956c82f41f7" /><Relationship Type="http://schemas.openxmlformats.org/officeDocument/2006/relationships/slide" Target="/ppt/slides/slide15.xml" Id="R206f8b7bb2b548ac" /><Relationship Type="http://schemas.openxmlformats.org/officeDocument/2006/relationships/slide" Target="/ppt/slides/slide16.xml" Id="Rabe65c28c3764e3b" /><Relationship Type="http://schemas.openxmlformats.org/officeDocument/2006/relationships/slide" Target="/ppt/slides/slide17.xml" Id="R6dfacbe117aa4843" /><Relationship Type="http://schemas.openxmlformats.org/officeDocument/2006/relationships/slide" Target="/ppt/slides/slide18.xml" Id="R3e05550f268c4f36" /><Relationship Type="http://schemas.openxmlformats.org/officeDocument/2006/relationships/slide" Target="/ppt/slides/slide19.xml" Id="R32cfe67fe848444c" /><Relationship Type="http://schemas.openxmlformats.org/officeDocument/2006/relationships/slide" Target="/ppt/slides/slide20.xml" Id="R5c29d7370ccb4e94" /><Relationship Type="http://schemas.openxmlformats.org/officeDocument/2006/relationships/slide" Target="/ppt/slides/slide21.xml" Id="R10a0cfcc0af34b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94dc4518f4e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0d1e5d3cd54695" /><Relationship Type="http://schemas.openxmlformats.org/officeDocument/2006/relationships/notesMaster" Target="/ppt/notesMasters/notesMaster1.xml" Id="Ra312bca3297f43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98684b5e8c4f83" /><Relationship Type="http://schemas.openxmlformats.org/officeDocument/2006/relationships/notesMaster" Target="/ppt/notesMasters/notesMaster1.xml" Id="R5bff9b40a9c649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3a42cb7d804e8c" /><Relationship Type="http://schemas.openxmlformats.org/officeDocument/2006/relationships/notesMaster" Target="/ppt/notesMasters/notesMaster1.xml" Id="Redb7e200e11147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807a8f4d134da0" /><Relationship Type="http://schemas.openxmlformats.org/officeDocument/2006/relationships/notesMaster" Target="/ppt/notesMasters/notesMaster1.xml" Id="R429ab06017a143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5445040b5d488e" /><Relationship Type="http://schemas.openxmlformats.org/officeDocument/2006/relationships/notesMaster" Target="/ppt/notesMasters/notesMaster1.xml" Id="Rdb913c6e63d240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704dc7b9684b21" /><Relationship Type="http://schemas.openxmlformats.org/officeDocument/2006/relationships/notesMaster" Target="/ppt/notesMasters/notesMaster1.xml" Id="R1a2d242f874243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0ab4d1081f4651" /><Relationship Type="http://schemas.openxmlformats.org/officeDocument/2006/relationships/notesMaster" Target="/ppt/notesMasters/notesMaster1.xml" Id="R56f6f35e22cf45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6acfa5cfec498b" /><Relationship Type="http://schemas.openxmlformats.org/officeDocument/2006/relationships/notesMaster" Target="/ppt/notesMasters/notesMaster1.xml" Id="Rb29f7e6ff26b4d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2675e99c064a6b" /><Relationship Type="http://schemas.openxmlformats.org/officeDocument/2006/relationships/notesMaster" Target="/ppt/notesMasters/notesMaster1.xml" Id="R9e32b8a7a1164e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1f42cc94f44bb" /><Relationship Type="http://schemas.openxmlformats.org/officeDocument/2006/relationships/notesMaster" Target="/ppt/notesMasters/notesMaster1.xml" Id="R970f9961645540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d4def5749441cd" /><Relationship Type="http://schemas.openxmlformats.org/officeDocument/2006/relationships/notesMaster" Target="/ppt/notesMasters/notesMaster1.xml" Id="R3e020711e67f4f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d5d83bc49a4cb2" /><Relationship Type="http://schemas.openxmlformats.org/officeDocument/2006/relationships/notesMaster" Target="/ppt/notesMasters/notesMaster1.xml" Id="R9908382c3cac47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8f1fb851e04e32" /><Relationship Type="http://schemas.openxmlformats.org/officeDocument/2006/relationships/notesMaster" Target="/ppt/notesMasters/notesMaster1.xml" Id="R308a8eaa3f9c49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31a0343f5a411b" /><Relationship Type="http://schemas.openxmlformats.org/officeDocument/2006/relationships/notesMaster" Target="/ppt/notesMasters/notesMaster1.xml" Id="Rd74c205ef12e42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c63c7180564169" /><Relationship Type="http://schemas.openxmlformats.org/officeDocument/2006/relationships/notesMaster" Target="/ppt/notesMasters/notesMaster1.xml" Id="R878c6ab2b8bb42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1a5c95b1cc4afd" /><Relationship Type="http://schemas.openxmlformats.org/officeDocument/2006/relationships/notesMaster" Target="/ppt/notesMasters/notesMaster1.xml" Id="Rc7da46268fde45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3f748513d34989" /><Relationship Type="http://schemas.openxmlformats.org/officeDocument/2006/relationships/notesMaster" Target="/ppt/notesMasters/notesMaster1.xml" Id="R5984e9a10b524d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98b828ba3c4f4f" /><Relationship Type="http://schemas.openxmlformats.org/officeDocument/2006/relationships/notesMaster" Target="/ppt/notesMasters/notesMaster1.xml" Id="R9da02065218e4a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cbf0925ca24f1b" /><Relationship Type="http://schemas.openxmlformats.org/officeDocument/2006/relationships/notesMaster" Target="/ppt/notesMasters/notesMaster1.xml" Id="Rb7a797ec9395489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7a62b7d5e24e2f" /><Relationship Type="http://schemas.openxmlformats.org/officeDocument/2006/relationships/notesMaster" Target="/ppt/notesMasters/notesMaster1.xml" Id="Ra6535c5f27a945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71bfb93ae34fb5" /><Relationship Type="http://schemas.openxmlformats.org/officeDocument/2006/relationships/notesMaster" Target="/ppt/notesMasters/notesMaster1.xml" Id="R49063d7c313440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12-1, PDF page 517. Original caption: Figure 12-1. (a) Load balancing shares the work of consuming a topic among consumers;</a:t>
            </a:r>
          </a:p>
          <a:p xmlns:a="http://schemas.openxmlformats.org/drawingml/2006/main">
            <a:r>
              <a:t>Explanation: Partitions define ordering while consumer assignment defines parallelism and delivery. Crashes can cause redelivery, so handlers must tolerate duplicates.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12-2, PDF page 518. Original caption: Figure 12-2. Consumer 2 crashes while processing m3, so it is redelivered to consumer 1</a:t>
            </a:r>
          </a:p>
          <a:p xmlns:a="http://schemas.openxmlformats.org/drawingml/2006/main">
            <a:r>
              <a:t>Explanation: Partitions define ordering while consumer assignment defines parallelism and delivery. Crashes can cause redelivery, so handlers must tolerate duplicates.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12-3, PDF page 520. Original caption: Figure 12-3. Producers send messages by appending them to a topic partition file, and</a:t>
            </a:r>
          </a:p>
          <a:p xmlns:a="http://schemas.openxmlformats.org/drawingml/2006/main">
            <a:r>
              <a:t>Explanation: Partitions define ordering while consumer assignment defines parallelism and delivery. Crashes can cause redelivery, so handlers must tolerate duplicates.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12-4, PDF page 526. Original caption: Figure 12-4. In the database, X is first set to A and then to B, while at the search index</a:t>
            </a:r>
          </a:p>
          <a:p xmlns:a="http://schemas.openxmlformats.org/drawingml/2006/main">
            <a:r>
              <a:t>Explanation: Committed database changes are captured and propagated to a derived system. CDC replaces fragile dual writes with an ordered, replayable change stream.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12-5, PDF page 527. Original caption: Figure 12-5. Taking changes committed to a database and propagating them to down‐</a:t>
            </a:r>
          </a:p>
          <a:p xmlns:a="http://schemas.openxmlformats.org/drawingml/2006/main">
            <a:r>
              <a:t>Explanation: Committed database changes are captured and propagated to a derived system. CDC replaces fragile dual writes with an ordered, replayable change stream.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12-6, PDF page 529. Original caption: Figure 12-6. In this log of key-value pairs, the key is the ID of a cat video (mew,</a:t>
            </a:r>
          </a:p>
          <a:p xmlns:a="http://schemas.openxmlformats.org/drawingml/2006/main">
            <a:r>
              <a:t>Explanation: In this log of key-value pairs, the key is the ID of a cat video (mew,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12-7, PDF page 533. Original caption: Figure 12-7. The relationship between the current application state and an event stream</a:t>
            </a:r>
          </a:p>
          <a:p xmlns:a="http://schemas.openxmlformats.org/drawingml/2006/main">
            <a:r>
              <a:t>Explanation: The diagram relates an event log to maintained state or time windows. Correctness depends on replay, event time, late data, and state recovery rules.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Figure 12-8, PDF page 544. Original caption: Figure 12-8. Windowing by processing time introduces artifacts due to variations in</a:t>
            </a:r>
          </a:p>
          <a:p xmlns:a="http://schemas.openxmlformats.org/drawingml/2006/main">
            <a:r>
              <a:t>Explanation: The diagram relates an event log to maintained state or time windows. Correctness depends on replay, event time, late data, and state recovery rules.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12, book pages 487-529.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3601235ba947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9867db048847e4" /><Relationship Type="http://schemas.openxmlformats.org/officeDocument/2006/relationships/slideLayout" Target="/ppt/slideLayouts/slideLayout1.xml" Id="Rb44072cfea434f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072cfea434f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27b585c94c4c4a" /><Relationship Type="http://schemas.openxmlformats.org/officeDocument/2006/relationships/notesSlide" Target="/ppt/notesSlides/notesSlide1.xml" Id="R09e2268b1a3a44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28fc20763c48ed" /><Relationship Type="http://schemas.openxmlformats.org/officeDocument/2006/relationships/notesSlide" Target="/ppt/notesSlides/notesSlide2.xml" Id="R8b1abb326e6449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0b1a8b8dbf4f49" /><Relationship Type="http://schemas.openxmlformats.org/officeDocument/2006/relationships/notesSlide" Target="/ppt/notesSlides/notesSlide3.xml" Id="Rfa83eee2c46546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440e3c8b0f43b3" /><Relationship Type="http://schemas.openxmlformats.org/officeDocument/2006/relationships/notesSlide" Target="/ppt/notesSlides/notesSlide4.xml" Id="R2604c230e2784f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27da7f22bc4511" /><Relationship Type="http://schemas.openxmlformats.org/officeDocument/2006/relationships/notesSlide" Target="/ppt/notesSlides/notesSlide5.xml" Id="R730a60e09df645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715b8006b642c0" /><Relationship Type="http://schemas.openxmlformats.org/officeDocument/2006/relationships/notesSlide" Target="/ppt/notesSlides/notesSlide6.xml" Id="R0e7473acf9a841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878426f9d640de" /><Relationship Type="http://schemas.openxmlformats.org/officeDocument/2006/relationships/image" Target="/ppt/media/image.png" Id="R69233c531162440f" /><Relationship Type="http://schemas.openxmlformats.org/officeDocument/2006/relationships/notesSlide" Target="/ppt/notesSlides/notesSlide7.xml" Id="Rbf5919d0e1b147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653a891175493f" /><Relationship Type="http://schemas.openxmlformats.org/officeDocument/2006/relationships/image" Target="/ppt/media/image2.png" Id="R0e64d0372b914f55" /><Relationship Type="http://schemas.openxmlformats.org/officeDocument/2006/relationships/notesSlide" Target="/ppt/notesSlides/notesSlide8.xml" Id="R6d8e229f1b764f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20906199454d69" /><Relationship Type="http://schemas.openxmlformats.org/officeDocument/2006/relationships/image" Target="/ppt/media/image3.png" Id="Rc0fe39cb75b64260" /><Relationship Type="http://schemas.openxmlformats.org/officeDocument/2006/relationships/notesSlide" Target="/ppt/notesSlides/notesSlide9.xml" Id="R7fbfafd24bf646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553b85877048b6" /><Relationship Type="http://schemas.openxmlformats.org/officeDocument/2006/relationships/notesSlide" Target="/ppt/notesSlides/notesSlide10.xml" Id="R72326540acd847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9a259874bc4510" /><Relationship Type="http://schemas.openxmlformats.org/officeDocument/2006/relationships/notesSlide" Target="/ppt/notesSlides/notesSlide11.xml" Id="Rb40bcc55f61e42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60020ac0664ba3" /><Relationship Type="http://schemas.openxmlformats.org/officeDocument/2006/relationships/image" Target="/ppt/media/image4.png" Id="Rbbf65ac86e584a40" /><Relationship Type="http://schemas.openxmlformats.org/officeDocument/2006/relationships/notesSlide" Target="/ppt/notesSlides/notesSlide12.xml" Id="R833d12525e4e47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41c69688244b76" /><Relationship Type="http://schemas.openxmlformats.org/officeDocument/2006/relationships/image" Target="/ppt/media/image5.png" Id="R64ab2a9cfebe4603" /><Relationship Type="http://schemas.openxmlformats.org/officeDocument/2006/relationships/notesSlide" Target="/ppt/notesSlides/notesSlide13.xml" Id="Re532c82713b044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c2b489aa80e4695" /><Relationship Type="http://schemas.openxmlformats.org/officeDocument/2006/relationships/image" Target="/ppt/media/image6.png" Id="Rec088e8ad3134e87" /><Relationship Type="http://schemas.openxmlformats.org/officeDocument/2006/relationships/notesSlide" Target="/ppt/notesSlides/notesSlide14.xml" Id="Ra85d28e85f044d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45efbfd16c4df4" /><Relationship Type="http://schemas.openxmlformats.org/officeDocument/2006/relationships/image" Target="/ppt/media/image7.png" Id="R22c44804238a412b" /><Relationship Type="http://schemas.openxmlformats.org/officeDocument/2006/relationships/notesSlide" Target="/ppt/notesSlides/notesSlide15.xml" Id="Re805f01e6f8b44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c2554ad2314afe" /><Relationship Type="http://schemas.openxmlformats.org/officeDocument/2006/relationships/notesSlide" Target="/ppt/notesSlides/notesSlide16.xml" Id="Rd69df952032045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82b171bf854156" /><Relationship Type="http://schemas.openxmlformats.org/officeDocument/2006/relationships/notesSlide" Target="/ppt/notesSlides/notesSlide17.xml" Id="Rfa3de06181894d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0e5ecfed4e43c0" /><Relationship Type="http://schemas.openxmlformats.org/officeDocument/2006/relationships/image" Target="/ppt/media/image8.png" Id="R8791204c3afb411f" /><Relationship Type="http://schemas.openxmlformats.org/officeDocument/2006/relationships/notesSlide" Target="/ppt/notesSlides/notesSlide18.xml" Id="R074af2bde60643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b928ec713144c6" /><Relationship Type="http://schemas.openxmlformats.org/officeDocument/2006/relationships/notesSlide" Target="/ppt/notesSlides/notesSlide19.xml" Id="Rc5452957949d49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a887f57eed244c5" /><Relationship Type="http://schemas.openxmlformats.org/officeDocument/2006/relationships/notesSlide" Target="/ppt/notesSlides/notesSlide20.xml" Id="R494df251019b44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af0065cccd4fd5" /><Relationship Type="http://schemas.openxmlformats.org/officeDocument/2006/relationships/notesSlide" Target="/ppt/notesSlides/notesSlide21.xml" Id="R34533900f84a480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EE5E0E-A227-4820-B8F1-1EB5A25881BC}"/>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00A896"/>
                </a:solidFill>
                <a:latin typeface="Arial"/>
                <a:ea typeface="Arial"/>
                <a:cs typeface="Arial"/>
              </a:defRPr>
            </a:pPr>
            <a:r>
              <a:rPr sz="1425"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B08CB1E4-E7DB-45B9-9F9D-E9390940C69E}"/>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Stream Processing</a:t>
            </a:r>
          </a:p>
        </p:txBody>
      </p:sp>
      <p:sp>
        <p:nvSpPr>
          <p:cNvPr id="3" name="">
            <a:extLst xmlns:a="http://schemas.openxmlformats.org/drawingml/2006/main">
              <a:ext uri="{FF2B5EF4-FFF2-40B4-BE49-F238E27FC236}">
                <a16:creationId xmlns:a16="http://schemas.microsoft.com/office/drawing/2014/main" id="{ED84F7A9-763B-459A-8906-4DC2C25070AC}"/>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9B929538-7574-44A7-AE1F-C7C4F878DC54}"/>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6169B002-E1EA-4A79-B2A7-6166E290F77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21</a:t>
            </a:r>
          </a:p>
        </p:txBody>
      </p:sp>
    </p:spTree>
    <p:extLst>
      <p:ext uri="{BB962C8B-B14F-4D97-AF65-F5344CB8AC3E}">
        <p14:creationId xmlns:p14="http://schemas.microsoft.com/office/powerpoint/2010/main" val="1342229199"/>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00888CB-FF6C-427C-842F-1B7C2F41ED4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B21C59DF-C1A0-4B73-BE9A-C48C1784E89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9776A29E-90C0-46C1-B289-538CEC01DF8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21</a:t>
            </a:r>
          </a:p>
        </p:txBody>
      </p:sp>
      <p:sp>
        <p:nvSpPr>
          <p:cNvPr id="4" name="">
            <a:extLst xmlns:a="http://schemas.openxmlformats.org/drawingml/2006/main">
              <a:ext uri="{FF2B5EF4-FFF2-40B4-BE49-F238E27FC236}">
                <a16:creationId xmlns:a16="http://schemas.microsoft.com/office/drawing/2014/main" id="{8274D555-8626-42EC-829D-7339A93E7DD6}"/>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A896"/>
                </a:solidFill>
                <a:latin typeface="Arial"/>
                <a:ea typeface="Arial"/>
                <a:cs typeface="Arial"/>
              </a:defRPr>
            </a:pPr>
            <a:r>
              <a:rPr sz="2100" b="1">
                <a:solidFill>
                  <a:srgbClr val="00A8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C1792A6-149A-4501-AA31-92C3C4949AC8}"/>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Event streams</a:t>
            </a:r>
          </a:p>
        </p:txBody>
      </p:sp>
      <p:sp>
        <p:nvSpPr>
          <p:cNvPr id="6" name="">
            <a:extLst xmlns:a="http://schemas.openxmlformats.org/drawingml/2006/main">
              <a:ext uri="{FF2B5EF4-FFF2-40B4-BE49-F238E27FC236}">
                <a16:creationId xmlns:a16="http://schemas.microsoft.com/office/drawing/2014/main" id="{A7B9EE32-EDFB-4C61-BA6F-1736B58C5718}"/>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An event is an immutable fact recorded at a point in time.</a:t>
            </a:r>
          </a:p>
        </p:txBody>
      </p:sp>
      <p:sp>
        <p:nvSpPr>
          <p:cNvPr id="7" name="">
            <a:extLst xmlns:a="http://schemas.openxmlformats.org/drawingml/2006/main">
              <a:ext uri="{FF2B5EF4-FFF2-40B4-BE49-F238E27FC236}">
                <a16:creationId xmlns:a16="http://schemas.microsoft.com/office/drawing/2014/main" id="{2710F12A-96A2-44D1-A814-1821B3071467}"/>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A896"/>
                </a:solidFill>
                <a:latin typeface="Arial"/>
                <a:ea typeface="Arial"/>
                <a:cs typeface="Arial"/>
              </a:defRPr>
            </a:pPr>
            <a:r>
              <a:rPr sz="2100" b="1">
                <a:solidFill>
                  <a:srgbClr val="00A896"/>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96F4376-9456-42E6-8619-1DA169D6C26A}"/>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Message brokers</a:t>
            </a:r>
          </a:p>
        </p:txBody>
      </p:sp>
      <p:sp>
        <p:nvSpPr>
          <p:cNvPr id="9" name="">
            <a:extLst xmlns:a="http://schemas.openxmlformats.org/drawingml/2006/main">
              <a:ext uri="{FF2B5EF4-FFF2-40B4-BE49-F238E27FC236}">
                <a16:creationId xmlns:a16="http://schemas.microsoft.com/office/drawing/2014/main" id="{8A2D2CC3-6608-4D65-A752-C10D6186A997}"/>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Direct delivery minimizes delay but provides weaker recovery.</a:t>
            </a:r>
          </a:p>
        </p:txBody>
      </p:sp>
      <p:sp>
        <p:nvSpPr>
          <p:cNvPr id="10" name="">
            <a:extLst xmlns:a="http://schemas.openxmlformats.org/drawingml/2006/main">
              <a:ext uri="{FF2B5EF4-FFF2-40B4-BE49-F238E27FC236}">
                <a16:creationId xmlns:a16="http://schemas.microsoft.com/office/drawing/2014/main" id="{983B02A8-32D6-4A5E-ACBA-A4A3F43526C2}"/>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A896"/>
                </a:solidFill>
                <a:latin typeface="Arial"/>
                <a:ea typeface="Arial"/>
                <a:cs typeface="Arial"/>
              </a:defRPr>
            </a:pPr>
            <a:r>
              <a:rPr sz="2100" b="1">
                <a:solidFill>
                  <a:srgbClr val="00A896"/>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67A84BE-E06E-4292-AD09-E9F05D586760}"/>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Databases and streams</a:t>
            </a:r>
          </a:p>
        </p:txBody>
      </p:sp>
      <p:sp>
        <p:nvSpPr>
          <p:cNvPr id="12" name="">
            <a:extLst xmlns:a="http://schemas.openxmlformats.org/drawingml/2006/main">
              <a:ext uri="{FF2B5EF4-FFF2-40B4-BE49-F238E27FC236}">
                <a16:creationId xmlns:a16="http://schemas.microsoft.com/office/drawing/2014/main" id="{C26E5F73-27BB-4558-9336-BF3CF4C310B2}"/>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Dual writes diverge when one side fails.</a:t>
            </a:r>
          </a:p>
        </p:txBody>
      </p:sp>
      <p:sp>
        <p:nvSpPr>
          <p:cNvPr id="13" name="">
            <a:extLst xmlns:a="http://schemas.openxmlformats.org/drawingml/2006/main">
              <a:ext uri="{FF2B5EF4-FFF2-40B4-BE49-F238E27FC236}">
                <a16:creationId xmlns:a16="http://schemas.microsoft.com/office/drawing/2014/main" id="{0FCBF4EB-2A7A-4679-B9A5-D9E93AD7787B}"/>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A896"/>
                </a:solidFill>
                <a:latin typeface="Arial"/>
                <a:ea typeface="Arial"/>
                <a:cs typeface="Arial"/>
              </a:defRPr>
            </a:pPr>
            <a:r>
              <a:rPr sz="2100" b="1">
                <a:solidFill>
                  <a:srgbClr val="00A896"/>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DABF14B-1821-457C-A028-5AC77EA00910}"/>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Time semantics</a:t>
            </a:r>
          </a:p>
        </p:txBody>
      </p:sp>
      <p:sp>
        <p:nvSpPr>
          <p:cNvPr id="15" name="">
            <a:extLst xmlns:a="http://schemas.openxmlformats.org/drawingml/2006/main">
              <a:ext uri="{FF2B5EF4-FFF2-40B4-BE49-F238E27FC236}">
                <a16:creationId xmlns:a16="http://schemas.microsoft.com/office/drawing/2014/main" id="{4434F46D-C0F4-462C-A494-BCB4ED491711}"/>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Event time records when business activity happened.</a:t>
            </a:r>
          </a:p>
        </p:txBody>
      </p:sp>
      <p:sp>
        <p:nvSpPr>
          <p:cNvPr id="16" name="">
            <a:extLst xmlns:a="http://schemas.openxmlformats.org/drawingml/2006/main">
              <a:ext uri="{FF2B5EF4-FFF2-40B4-BE49-F238E27FC236}">
                <a16:creationId xmlns:a16="http://schemas.microsoft.com/office/drawing/2014/main" id="{2E60558A-A95D-4CBB-BDB7-4E49A381A68C}"/>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A896"/>
                </a:solidFill>
                <a:latin typeface="Arial"/>
                <a:ea typeface="Arial"/>
                <a:cs typeface="Arial"/>
              </a:defRPr>
            </a:pPr>
            <a:r>
              <a:rPr sz="2100" b="1">
                <a:solidFill>
                  <a:srgbClr val="00A896"/>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182513AE-7F11-49FD-A771-C4DDA42C9D70}"/>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State and fault tolerance</a:t>
            </a:r>
          </a:p>
        </p:txBody>
      </p:sp>
      <p:sp>
        <p:nvSpPr>
          <p:cNvPr id="18" name="">
            <a:extLst xmlns:a="http://schemas.openxmlformats.org/drawingml/2006/main">
              <a:ext uri="{FF2B5EF4-FFF2-40B4-BE49-F238E27FC236}">
                <a16:creationId xmlns:a16="http://schemas.microsoft.com/office/drawing/2014/main" id="{3CB11D10-E5E5-4B9B-98BC-93DC7116B772}"/>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Stream joins and aggregates maintain durable state.</a:t>
            </a:r>
          </a:p>
        </p:txBody>
      </p:sp>
    </p:spTree>
    <p:extLst>
      <p:ext uri="{BB962C8B-B14F-4D97-AF65-F5344CB8AC3E}">
        <p14:creationId xmlns:p14="http://schemas.microsoft.com/office/powerpoint/2010/main" val="1891494926"/>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EC7383-5284-403F-B7F2-517BBC43A80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7DC589BC-3A2C-4B4A-A74F-58A2F010245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 streams</a:t>
            </a:r>
          </a:p>
        </p:txBody>
      </p:sp>
      <p:sp>
        <p:nvSpPr>
          <p:cNvPr id="3" name="">
            <a:extLst xmlns:a="http://schemas.openxmlformats.org/drawingml/2006/main">
              <a:ext uri="{FF2B5EF4-FFF2-40B4-BE49-F238E27FC236}">
                <a16:creationId xmlns:a16="http://schemas.microsoft.com/office/drawing/2014/main" id="{73201297-D032-40AA-8283-618DB2F96E4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21</a:t>
            </a:r>
          </a:p>
        </p:txBody>
      </p:sp>
      <p:sp>
        <p:nvSpPr>
          <p:cNvPr id="4" name="">
            <a:extLst xmlns:a="http://schemas.openxmlformats.org/drawingml/2006/main">
              <a:ext uri="{FF2B5EF4-FFF2-40B4-BE49-F238E27FC236}">
                <a16:creationId xmlns:a16="http://schemas.microsoft.com/office/drawing/2014/main" id="{D849B8C0-E9F2-40DB-94ED-BC9B4E1FEAB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C09AD3F-7719-4242-A5CC-13322700837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An event is an immutable fact recorded at a point in time.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Messaging systems move events between producers and consumers.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Durable logs retain partition order and support independent replay.</a:t>
            </a:r>
          </a:p>
        </p:txBody>
      </p:sp>
      <p:sp>
        <p:nvSpPr>
          <p:cNvPr id="6" name="">
            <a:extLst xmlns:a="http://schemas.openxmlformats.org/drawingml/2006/main">
              <a:ext uri="{FF2B5EF4-FFF2-40B4-BE49-F238E27FC236}">
                <a16:creationId xmlns:a16="http://schemas.microsoft.com/office/drawing/2014/main" id="{AD8F17E5-254C-4692-8007-F0EC1DE2898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D73C2479-C3F2-4968-B5C4-1AE424762D7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85583947"/>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162D5F-1478-4FBF-9C6C-02185AA9489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2C28EDB1-E860-447A-84D7-C5B3DB35AFC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 streams: design trade-offs</a:t>
            </a:r>
          </a:p>
        </p:txBody>
      </p:sp>
      <p:sp>
        <p:nvSpPr>
          <p:cNvPr id="3" name="">
            <a:extLst xmlns:a="http://schemas.openxmlformats.org/drawingml/2006/main">
              <a:ext uri="{FF2B5EF4-FFF2-40B4-BE49-F238E27FC236}">
                <a16:creationId xmlns:a16="http://schemas.microsoft.com/office/drawing/2014/main" id="{F31362DC-48ED-47A8-AA3D-C3538254780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21</a:t>
            </a:r>
          </a:p>
        </p:txBody>
      </p:sp>
      <p:sp>
        <p:nvSpPr>
          <p:cNvPr id="4" name="">
            <a:extLst xmlns:a="http://schemas.openxmlformats.org/drawingml/2006/main">
              <a:ext uri="{FF2B5EF4-FFF2-40B4-BE49-F238E27FC236}">
                <a16:creationId xmlns:a16="http://schemas.microsoft.com/office/drawing/2014/main" id="{0562CA74-669B-4C07-94DE-5A809FD93D0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4A27972-2227-4F98-9B2D-83F70978B7F6}"/>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An event is an immutable fact recorded at a point in time.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145445907"/>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3D82DB-5B3B-4711-8660-DF988D9F140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1D5D879A-0730-43F7-9B0F-4982311F0CD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Message brokers</a:t>
            </a:r>
          </a:p>
        </p:txBody>
      </p:sp>
      <p:sp>
        <p:nvSpPr>
          <p:cNvPr id="3" name="">
            <a:extLst xmlns:a="http://schemas.openxmlformats.org/drawingml/2006/main">
              <a:ext uri="{FF2B5EF4-FFF2-40B4-BE49-F238E27FC236}">
                <a16:creationId xmlns:a16="http://schemas.microsoft.com/office/drawing/2014/main" id="{F871274C-9C8E-4938-84C8-1DC120DF04D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21</a:t>
            </a:r>
          </a:p>
        </p:txBody>
      </p:sp>
      <p:sp>
        <p:nvSpPr>
          <p:cNvPr id="4" name="">
            <a:extLst xmlns:a="http://schemas.openxmlformats.org/drawingml/2006/main">
              <a:ext uri="{FF2B5EF4-FFF2-40B4-BE49-F238E27FC236}">
                <a16:creationId xmlns:a16="http://schemas.microsoft.com/office/drawing/2014/main" id="{52A7D103-2498-4E0B-9152-9E9781A6EB4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AC40204-608A-4313-B9AD-64960DEF3049}"/>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Direct delivery minimizes delay but provides weaker recovery.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Log brokers separate retention from consumer position.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Partitions provide parallelism and define the scope of ordering.</a:t>
            </a:r>
          </a:p>
        </p:txBody>
      </p:sp>
      <p:sp>
        <p:nvSpPr>
          <p:cNvPr id="6" name="">
            <a:extLst xmlns:a="http://schemas.openxmlformats.org/drawingml/2006/main">
              <a:ext uri="{FF2B5EF4-FFF2-40B4-BE49-F238E27FC236}">
                <a16:creationId xmlns:a16="http://schemas.microsoft.com/office/drawing/2014/main" id="{15B995DA-CD35-450C-808F-E9F45E1B93B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7A7BE39-8D8D-44FB-BB6D-BFC8543EAF07}"/>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416243036"/>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7ED36C-C30E-4783-80B4-A491113972C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4875B327-262B-4B20-B452-1158F98C1D9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Message brokers: design trade-offs</a:t>
            </a:r>
          </a:p>
        </p:txBody>
      </p:sp>
      <p:sp>
        <p:nvSpPr>
          <p:cNvPr id="3" name="">
            <a:extLst xmlns:a="http://schemas.openxmlformats.org/drawingml/2006/main">
              <a:ext uri="{FF2B5EF4-FFF2-40B4-BE49-F238E27FC236}">
                <a16:creationId xmlns:a16="http://schemas.microsoft.com/office/drawing/2014/main" id="{21357542-B70D-4D3B-A0CC-839686BDEA4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21</a:t>
            </a:r>
          </a:p>
        </p:txBody>
      </p:sp>
      <p:sp>
        <p:nvSpPr>
          <p:cNvPr id="4" name="">
            <a:extLst xmlns:a="http://schemas.openxmlformats.org/drawingml/2006/main">
              <a:ext uri="{FF2B5EF4-FFF2-40B4-BE49-F238E27FC236}">
                <a16:creationId xmlns:a16="http://schemas.microsoft.com/office/drawing/2014/main" id="{FFE51FED-AAA3-4620-AC7D-9183AF33218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7936C65-D232-4666-9A78-52567F718411}"/>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Direct delivery minimizes delay but provides weaker recovery.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87631589"/>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87A17B-78CA-4AC1-A784-07267797F05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BEADD43A-0227-43B9-8CF9-CC591FEE691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12-1: mechanism explained</a:t>
            </a:r>
          </a:p>
        </p:txBody>
      </p:sp>
      <p:sp>
        <p:nvSpPr>
          <p:cNvPr id="3" name="">
            <a:extLst xmlns:a="http://schemas.openxmlformats.org/drawingml/2006/main">
              <a:ext uri="{FF2B5EF4-FFF2-40B4-BE49-F238E27FC236}">
                <a16:creationId xmlns:a16="http://schemas.microsoft.com/office/drawing/2014/main" id="{D6678765-3779-4D8C-A45F-D71859BCF12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9233c531162440f"/>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A63C52-60D2-4304-BEB5-B1B29E1A66CF}"/>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97F143D-39D2-470B-94EC-BF246DEE2DC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Partitions define ordering while consumer assignment defines parallelism and delivery.</a:t>
            </a:r>
          </a:p>
        </p:txBody>
      </p:sp>
      <p:sp>
        <p:nvSpPr>
          <p:cNvPr id="7" name="">
            <a:extLst xmlns:a="http://schemas.openxmlformats.org/drawingml/2006/main">
              <a:ext uri="{FF2B5EF4-FFF2-40B4-BE49-F238E27FC236}">
                <a16:creationId xmlns:a16="http://schemas.microsoft.com/office/drawing/2014/main" id="{C4A95FD7-9805-4D84-B7FF-AFAD93E2101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74FBE69-A009-48A6-80EB-542D019E493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Crashes can cause redelivery, so handlers must tolerate duplicates.</a:t>
            </a:r>
          </a:p>
        </p:txBody>
      </p:sp>
      <p:sp>
        <p:nvSpPr>
          <p:cNvPr id="9" name="">
            <a:extLst xmlns:a="http://schemas.openxmlformats.org/drawingml/2006/main">
              <a:ext uri="{FF2B5EF4-FFF2-40B4-BE49-F238E27FC236}">
                <a16:creationId xmlns:a16="http://schemas.microsoft.com/office/drawing/2014/main" id="{F610F9F1-C1CF-4AD7-8741-E3188D3CCB8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0037478-7473-4207-BB49-4F2F6F5D462C}"/>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01636406"/>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178487-030D-4288-857C-1E8035E630B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89FF10B1-982E-4BD3-B5D2-42793024312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12-2: mechanism explained</a:t>
            </a:r>
          </a:p>
        </p:txBody>
      </p:sp>
      <p:sp>
        <p:nvSpPr>
          <p:cNvPr id="3" name="">
            <a:extLst xmlns:a="http://schemas.openxmlformats.org/drawingml/2006/main">
              <a:ext uri="{FF2B5EF4-FFF2-40B4-BE49-F238E27FC236}">
                <a16:creationId xmlns:a16="http://schemas.microsoft.com/office/drawing/2014/main" id="{576E4CA3-D2CB-4D13-8513-E5EC9FE1895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64d0372b914f55"/>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1FFB3F2-B550-46FD-8D68-CD766FCE758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7211889-F9E7-4273-922A-88A3654EE552}"/>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Partitions define ordering while consumer assignment defines parallelism and delivery.</a:t>
            </a:r>
          </a:p>
        </p:txBody>
      </p:sp>
      <p:sp>
        <p:nvSpPr>
          <p:cNvPr id="7" name="">
            <a:extLst xmlns:a="http://schemas.openxmlformats.org/drawingml/2006/main">
              <a:ext uri="{FF2B5EF4-FFF2-40B4-BE49-F238E27FC236}">
                <a16:creationId xmlns:a16="http://schemas.microsoft.com/office/drawing/2014/main" id="{3B3C62B8-BAEA-4A09-BB09-57FE2851EF33}"/>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637B872-974D-4185-850F-1A9A8E99CD0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Crashes can cause redelivery, so handlers must tolerate duplicates.</a:t>
            </a:r>
          </a:p>
        </p:txBody>
      </p:sp>
      <p:sp>
        <p:nvSpPr>
          <p:cNvPr id="9" name="">
            <a:extLst xmlns:a="http://schemas.openxmlformats.org/drawingml/2006/main">
              <a:ext uri="{FF2B5EF4-FFF2-40B4-BE49-F238E27FC236}">
                <a16:creationId xmlns:a16="http://schemas.microsoft.com/office/drawing/2014/main" id="{011BE1D7-1DA7-4A50-883F-9A73EFFA2A9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4870B8D-0109-49D1-9CE0-CFA59F8FE24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068044135"/>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11661B-753E-4A90-BD9F-FE264CA3690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834DF4FA-4AAD-4D68-9045-DA66E62EA2C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12-3: mechanism explained</a:t>
            </a:r>
          </a:p>
        </p:txBody>
      </p:sp>
      <p:sp>
        <p:nvSpPr>
          <p:cNvPr id="3" name="">
            <a:extLst xmlns:a="http://schemas.openxmlformats.org/drawingml/2006/main">
              <a:ext uri="{FF2B5EF4-FFF2-40B4-BE49-F238E27FC236}">
                <a16:creationId xmlns:a16="http://schemas.microsoft.com/office/drawing/2014/main" id="{6FD0B3B2-186C-4804-99C1-69FF227E63B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0fe39cb75b64260"/>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C2102B-E691-4DF6-994F-A69CFB15F6D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26AA0F5-69E8-43BE-851A-71EF5E44E49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Partitions define ordering while consumer assignment defines parallelism and delivery.</a:t>
            </a:r>
          </a:p>
        </p:txBody>
      </p:sp>
      <p:sp>
        <p:nvSpPr>
          <p:cNvPr id="7" name="">
            <a:extLst xmlns:a="http://schemas.openxmlformats.org/drawingml/2006/main">
              <a:ext uri="{FF2B5EF4-FFF2-40B4-BE49-F238E27FC236}">
                <a16:creationId xmlns:a16="http://schemas.microsoft.com/office/drawing/2014/main" id="{81E75080-5D2B-42C8-A376-AE68CC7C572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4C6FF9F-60C2-4C4B-BC06-5D70C70CE71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Crashes can cause redelivery, so handlers must tolerate duplicates.</a:t>
            </a:r>
          </a:p>
        </p:txBody>
      </p:sp>
      <p:sp>
        <p:nvSpPr>
          <p:cNvPr id="9" name="">
            <a:extLst xmlns:a="http://schemas.openxmlformats.org/drawingml/2006/main">
              <a:ext uri="{FF2B5EF4-FFF2-40B4-BE49-F238E27FC236}">
                <a16:creationId xmlns:a16="http://schemas.microsoft.com/office/drawing/2014/main" id="{A78AB1FB-2450-48CD-9F54-1C41EC904C5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EFB8054-1685-4710-AA82-387BB2B9165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08014476"/>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ADC33D-9F5B-4280-B803-B586E6F1046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C16E4C7C-14F0-4FCA-AF94-41A2A63988F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Databases and streams</a:t>
            </a:r>
          </a:p>
        </p:txBody>
      </p:sp>
      <p:sp>
        <p:nvSpPr>
          <p:cNvPr id="3" name="">
            <a:extLst xmlns:a="http://schemas.openxmlformats.org/drawingml/2006/main">
              <a:ext uri="{FF2B5EF4-FFF2-40B4-BE49-F238E27FC236}">
                <a16:creationId xmlns:a16="http://schemas.microsoft.com/office/drawing/2014/main" id="{CB4F027D-F2E8-413F-A0F9-EF466B6E58E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21</a:t>
            </a:r>
          </a:p>
        </p:txBody>
      </p:sp>
      <p:sp>
        <p:nvSpPr>
          <p:cNvPr id="4" name="">
            <a:extLst xmlns:a="http://schemas.openxmlformats.org/drawingml/2006/main">
              <a:ext uri="{FF2B5EF4-FFF2-40B4-BE49-F238E27FC236}">
                <a16:creationId xmlns:a16="http://schemas.microsoft.com/office/drawing/2014/main" id="{9E03CE54-BFA0-48C1-9D08-D8ADDAC2F09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D5D2C32-5FCA-4834-871A-2BD853065E06}"/>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Dual writes diverge when one side fails.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Change data capture converts database logs into a reliable change stream.</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Event sourcing makes changes primary and state a derived view.</a:t>
            </a:r>
          </a:p>
        </p:txBody>
      </p:sp>
      <p:sp>
        <p:nvSpPr>
          <p:cNvPr id="6" name="">
            <a:extLst xmlns:a="http://schemas.openxmlformats.org/drawingml/2006/main">
              <a:ext uri="{FF2B5EF4-FFF2-40B4-BE49-F238E27FC236}">
                <a16:creationId xmlns:a16="http://schemas.microsoft.com/office/drawing/2014/main" id="{D967CFCD-5C72-477F-AE3E-56475EF8B09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01CE60B7-37D0-4C51-AD1E-9728AC48C7FE}"/>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608322844"/>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F2B4AD-A601-4543-8B9D-FF32B9D1F76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A688F089-9D89-4C33-AD00-BD636CB959F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Databases and streams: design trade-offs</a:t>
            </a:r>
          </a:p>
        </p:txBody>
      </p:sp>
      <p:sp>
        <p:nvSpPr>
          <p:cNvPr id="3" name="">
            <a:extLst xmlns:a="http://schemas.openxmlformats.org/drawingml/2006/main">
              <a:ext uri="{FF2B5EF4-FFF2-40B4-BE49-F238E27FC236}">
                <a16:creationId xmlns:a16="http://schemas.microsoft.com/office/drawing/2014/main" id="{E34035EB-F8F4-4803-9841-A71EB483CF6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21</a:t>
            </a:r>
          </a:p>
        </p:txBody>
      </p:sp>
      <p:sp>
        <p:nvSpPr>
          <p:cNvPr id="4" name="">
            <a:extLst xmlns:a="http://schemas.openxmlformats.org/drawingml/2006/main">
              <a:ext uri="{FF2B5EF4-FFF2-40B4-BE49-F238E27FC236}">
                <a16:creationId xmlns:a16="http://schemas.microsoft.com/office/drawing/2014/main" id="{18853EC4-A41B-4AA7-AAD3-93B5CBDF2DC5}"/>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0939E8E-D63B-4EEF-AA91-267A48227FEC}"/>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Dual writes diverge when one side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123964013"/>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B5C35F-2227-41CC-9729-CA55904F26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88F1514E-619C-41D8-81CF-45B7B579958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12-4: mechanism explained</a:t>
            </a:r>
          </a:p>
        </p:txBody>
      </p:sp>
      <p:sp>
        <p:nvSpPr>
          <p:cNvPr id="3" name="">
            <a:extLst xmlns:a="http://schemas.openxmlformats.org/drawingml/2006/main">
              <a:ext uri="{FF2B5EF4-FFF2-40B4-BE49-F238E27FC236}">
                <a16:creationId xmlns:a16="http://schemas.microsoft.com/office/drawing/2014/main" id="{E7F9C40A-7129-4FED-AAB2-2966ACAC8F8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bf65ac86e584a40"/>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8A35D65-7424-48D8-8A89-3925BA457DF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F4F65A7-D3D6-42D6-9527-DE47C785BC2D}"/>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Committed database changes are captured and propagated to a derived system.</a:t>
            </a:r>
          </a:p>
        </p:txBody>
      </p:sp>
      <p:sp>
        <p:nvSpPr>
          <p:cNvPr id="7" name="">
            <a:extLst xmlns:a="http://schemas.openxmlformats.org/drawingml/2006/main">
              <a:ext uri="{FF2B5EF4-FFF2-40B4-BE49-F238E27FC236}">
                <a16:creationId xmlns:a16="http://schemas.microsoft.com/office/drawing/2014/main" id="{8EE65E5C-780F-435A-A718-4FE0289B6C3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EECD18CF-0A80-462F-8B1C-935A7D2F617F}"/>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CDC replaces fragile dual writes with an ordered, replayable change stream.</a:t>
            </a:r>
          </a:p>
        </p:txBody>
      </p:sp>
      <p:sp>
        <p:nvSpPr>
          <p:cNvPr id="9" name="">
            <a:extLst xmlns:a="http://schemas.openxmlformats.org/drawingml/2006/main">
              <a:ext uri="{FF2B5EF4-FFF2-40B4-BE49-F238E27FC236}">
                <a16:creationId xmlns:a16="http://schemas.microsoft.com/office/drawing/2014/main" id="{919E7E52-8EF9-4B91-804A-D9010255A4B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B4F7B7B-3143-47F0-A541-9924CDCFF57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161305263"/>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3D34FC-4DE9-4E43-95E2-F7F02EF7139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2D5883B8-9837-4CE9-914E-D447F5786D0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12-5: mechanism explained</a:t>
            </a:r>
          </a:p>
        </p:txBody>
      </p:sp>
      <p:sp>
        <p:nvSpPr>
          <p:cNvPr id="3" name="">
            <a:extLst xmlns:a="http://schemas.openxmlformats.org/drawingml/2006/main">
              <a:ext uri="{FF2B5EF4-FFF2-40B4-BE49-F238E27FC236}">
                <a16:creationId xmlns:a16="http://schemas.microsoft.com/office/drawing/2014/main" id="{67DC8511-560D-4357-953E-5B1901B08E0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ab2a9cfebe4603"/>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14251C-3AC9-4FE3-8CD4-B7B48E66CD8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01AD8677-C270-4575-B598-13B4754DA48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Committed database changes are captured and propagated to a derived system.</a:t>
            </a:r>
          </a:p>
        </p:txBody>
      </p:sp>
      <p:sp>
        <p:nvSpPr>
          <p:cNvPr id="7" name="">
            <a:extLst xmlns:a="http://schemas.openxmlformats.org/drawingml/2006/main">
              <a:ext uri="{FF2B5EF4-FFF2-40B4-BE49-F238E27FC236}">
                <a16:creationId xmlns:a16="http://schemas.microsoft.com/office/drawing/2014/main" id="{AD01DAFD-E89F-415F-A668-4F2B44BB6E6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6578EBF-8B86-4097-9DDF-6F8D151DD10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CDC replaces fragile dual writes with an ordered, replayable change stream.</a:t>
            </a:r>
          </a:p>
        </p:txBody>
      </p:sp>
      <p:sp>
        <p:nvSpPr>
          <p:cNvPr id="9" name="">
            <a:extLst xmlns:a="http://schemas.openxmlformats.org/drawingml/2006/main">
              <a:ext uri="{FF2B5EF4-FFF2-40B4-BE49-F238E27FC236}">
                <a16:creationId xmlns:a16="http://schemas.microsoft.com/office/drawing/2014/main" id="{1CE39982-E303-4BD0-A5D6-928C7F7FD658}"/>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074CE12-3E49-4E7D-8101-A41F94D1F04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065988344"/>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54191A-2165-4BB1-9A03-FD5A5857E79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01FC6CC2-6B46-428D-B396-23EE95B8B25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12-6: mechanism explained</a:t>
            </a:r>
          </a:p>
        </p:txBody>
      </p:sp>
      <p:sp>
        <p:nvSpPr>
          <p:cNvPr id="3" name="">
            <a:extLst xmlns:a="http://schemas.openxmlformats.org/drawingml/2006/main">
              <a:ext uri="{FF2B5EF4-FFF2-40B4-BE49-F238E27FC236}">
                <a16:creationId xmlns:a16="http://schemas.microsoft.com/office/drawing/2014/main" id="{053DFF93-0F52-4626-9702-E836F80E5CA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c088e8ad3134e87"/>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5B9F67-FDDD-4F2A-96C7-037ADA76E73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7F4188BA-EF6E-4120-BBCF-B0B7361350E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In this log of key-value pairs, the key is the ID of a cat video (mew,</a:t>
            </a:r>
          </a:p>
        </p:txBody>
      </p:sp>
      <p:sp>
        <p:nvSpPr>
          <p:cNvPr id="7" name="">
            <a:extLst xmlns:a="http://schemas.openxmlformats.org/drawingml/2006/main">
              <a:ext uri="{FF2B5EF4-FFF2-40B4-BE49-F238E27FC236}">
                <a16:creationId xmlns:a16="http://schemas.microsoft.com/office/drawing/2014/main" id="{44EAA26F-72AB-418B-8A46-BB3FBB8A40B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860BD5D-03C1-43B1-9E50-8E0EBA8DB4D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9F855E42-6EE6-4C83-A1B2-5B14493C0F9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B04FB318-B850-4433-8B10-81A7B9D3930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444624591"/>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14ECEE-7DAF-4E72-9159-4C52F35F894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A70AAB85-3122-458A-AAE4-43E2E76AE5D8}"/>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12-7: mechanism explained</a:t>
            </a:r>
          </a:p>
        </p:txBody>
      </p:sp>
      <p:sp>
        <p:nvSpPr>
          <p:cNvPr id="3" name="">
            <a:extLst xmlns:a="http://schemas.openxmlformats.org/drawingml/2006/main">
              <a:ext uri="{FF2B5EF4-FFF2-40B4-BE49-F238E27FC236}">
                <a16:creationId xmlns:a16="http://schemas.microsoft.com/office/drawing/2014/main" id="{662F3BC5-EF28-49FE-8EB6-F10A06522BB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c44804238a412b"/>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0E4CAEB-A649-4A57-85B2-51D4BA80584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067912A-DB7B-4AEF-ABF8-A3A78C8D04C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relates an event log to maintained state or time windows.</a:t>
            </a:r>
          </a:p>
        </p:txBody>
      </p:sp>
      <p:sp>
        <p:nvSpPr>
          <p:cNvPr id="7" name="">
            <a:extLst xmlns:a="http://schemas.openxmlformats.org/drawingml/2006/main">
              <a:ext uri="{FF2B5EF4-FFF2-40B4-BE49-F238E27FC236}">
                <a16:creationId xmlns:a16="http://schemas.microsoft.com/office/drawing/2014/main" id="{677FC43C-17CF-4E95-9E41-DCDEAD3E5C43}"/>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597CDAA-70C2-4BED-9DA9-D6F0DAF7383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Correctness depends on replay, event time, late data, and state recovery rules.</a:t>
            </a:r>
          </a:p>
        </p:txBody>
      </p:sp>
      <p:sp>
        <p:nvSpPr>
          <p:cNvPr id="9" name="">
            <a:extLst xmlns:a="http://schemas.openxmlformats.org/drawingml/2006/main">
              <a:ext uri="{FF2B5EF4-FFF2-40B4-BE49-F238E27FC236}">
                <a16:creationId xmlns:a16="http://schemas.microsoft.com/office/drawing/2014/main" id="{1A341F90-93D6-4240-B0E8-9910DEFD320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3A35E2F-E5E5-40B0-8C03-4BE727553AB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93177372"/>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297EAA-2E1C-4B15-BA7B-462B3100571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D7288F8C-761A-43CC-8BD6-85D58A7DC7C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Time semantics</a:t>
            </a:r>
          </a:p>
        </p:txBody>
      </p:sp>
      <p:sp>
        <p:nvSpPr>
          <p:cNvPr id="3" name="">
            <a:extLst xmlns:a="http://schemas.openxmlformats.org/drawingml/2006/main">
              <a:ext uri="{FF2B5EF4-FFF2-40B4-BE49-F238E27FC236}">
                <a16:creationId xmlns:a16="http://schemas.microsoft.com/office/drawing/2014/main" id="{D993A033-6010-4FB5-AC67-AA8555243BB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21</a:t>
            </a:r>
          </a:p>
        </p:txBody>
      </p:sp>
      <p:sp>
        <p:nvSpPr>
          <p:cNvPr id="4" name="">
            <a:extLst xmlns:a="http://schemas.openxmlformats.org/drawingml/2006/main">
              <a:ext uri="{FF2B5EF4-FFF2-40B4-BE49-F238E27FC236}">
                <a16:creationId xmlns:a16="http://schemas.microsoft.com/office/drawing/2014/main" id="{A8F8059D-B1A5-4476-A077-35E1792A15F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404B864-430C-4108-8578-E592940BD53A}"/>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Event time records when business activity happened.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Watermarks estimate progress and windows aggregate unbounded input.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Late events require explicit correction and completion policy.</a:t>
            </a:r>
          </a:p>
        </p:txBody>
      </p:sp>
      <p:sp>
        <p:nvSpPr>
          <p:cNvPr id="6" name="">
            <a:extLst xmlns:a="http://schemas.openxmlformats.org/drawingml/2006/main">
              <a:ext uri="{FF2B5EF4-FFF2-40B4-BE49-F238E27FC236}">
                <a16:creationId xmlns:a16="http://schemas.microsoft.com/office/drawing/2014/main" id="{77AAA7F9-E665-4749-BE58-D75C1EDFA829}"/>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6F1E827-2F51-4567-911F-5B819D5660C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830652719"/>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20C520-79E2-4E36-B88C-72DC554A5F4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263F98F3-AECB-4C8A-BF58-192D12371E8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Time semantics: design trade-offs</a:t>
            </a:r>
          </a:p>
        </p:txBody>
      </p:sp>
      <p:sp>
        <p:nvSpPr>
          <p:cNvPr id="3" name="">
            <a:extLst xmlns:a="http://schemas.openxmlformats.org/drawingml/2006/main">
              <a:ext uri="{FF2B5EF4-FFF2-40B4-BE49-F238E27FC236}">
                <a16:creationId xmlns:a16="http://schemas.microsoft.com/office/drawing/2014/main" id="{6E6D5FB9-5517-4CE8-8998-80A2D31E406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21</a:t>
            </a:r>
          </a:p>
        </p:txBody>
      </p:sp>
      <p:sp>
        <p:nvSpPr>
          <p:cNvPr id="4" name="">
            <a:extLst xmlns:a="http://schemas.openxmlformats.org/drawingml/2006/main">
              <a:ext uri="{FF2B5EF4-FFF2-40B4-BE49-F238E27FC236}">
                <a16:creationId xmlns:a16="http://schemas.microsoft.com/office/drawing/2014/main" id="{11D15530-0FE0-452F-A618-2978D461F4D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051E909-4291-4D74-AFAB-817A7548D50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Event time records when business activity happened.</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06835332"/>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A668AF-0430-41C3-94E3-96CF2EEE6E4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ADD8B70A-60D6-4228-9A8D-192C80B55A4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12-8: mechanism explained</a:t>
            </a:r>
          </a:p>
        </p:txBody>
      </p:sp>
      <p:sp>
        <p:nvSpPr>
          <p:cNvPr id="3" name="">
            <a:extLst xmlns:a="http://schemas.openxmlformats.org/drawingml/2006/main">
              <a:ext uri="{FF2B5EF4-FFF2-40B4-BE49-F238E27FC236}">
                <a16:creationId xmlns:a16="http://schemas.microsoft.com/office/drawing/2014/main" id="{049D82E2-F2DE-4786-976A-90B5D7D25CB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91204c3afb411f"/>
          <a:stretch xmlns:a="http://schemas.openxmlformats.org/drawingml/2006/main"/>
        </p:blipFill>
        <p:spPr>
          <a:xfrm xmlns:a="http://schemas.openxmlformats.org/drawingml/2006/main">
            <a:off x="732326" y="1285875"/>
            <a:ext cx="7326923"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FC2A45-DB0E-4EF2-953B-8340D7EC457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97C0479-C699-4882-A8CF-C845AAFEF2E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relates an event log to maintained state or time windows.</a:t>
            </a:r>
          </a:p>
        </p:txBody>
      </p:sp>
      <p:sp>
        <p:nvSpPr>
          <p:cNvPr id="7" name="">
            <a:extLst xmlns:a="http://schemas.openxmlformats.org/drawingml/2006/main">
              <a:ext uri="{FF2B5EF4-FFF2-40B4-BE49-F238E27FC236}">
                <a16:creationId xmlns:a16="http://schemas.microsoft.com/office/drawing/2014/main" id="{A10618A0-FA16-40F8-A5DC-EBA0CE7A41A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C38103D5-9548-4E05-9D87-125994D6A80D}"/>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Correctness depends on replay, event time, late data, and state recovery rules.</a:t>
            </a:r>
          </a:p>
        </p:txBody>
      </p:sp>
      <p:sp>
        <p:nvSpPr>
          <p:cNvPr id="9" name="">
            <a:extLst xmlns:a="http://schemas.openxmlformats.org/drawingml/2006/main">
              <a:ext uri="{FF2B5EF4-FFF2-40B4-BE49-F238E27FC236}">
                <a16:creationId xmlns:a16="http://schemas.microsoft.com/office/drawing/2014/main" id="{A068E0DA-C346-4E7C-87CF-BBF7318220F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1C68629A-7F85-4F16-8127-F54612F636A0}"/>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49830611"/>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DD5BDF-5FE1-4D03-A651-464C58DC2AF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B342E8A2-8303-45A0-84F3-5CD7ABE649E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State and fault tolerance</a:t>
            </a:r>
          </a:p>
        </p:txBody>
      </p:sp>
      <p:sp>
        <p:nvSpPr>
          <p:cNvPr id="3" name="">
            <a:extLst xmlns:a="http://schemas.openxmlformats.org/drawingml/2006/main">
              <a:ext uri="{FF2B5EF4-FFF2-40B4-BE49-F238E27FC236}">
                <a16:creationId xmlns:a16="http://schemas.microsoft.com/office/drawing/2014/main" id="{8E587289-00CA-4D51-A8DD-6CD50BFFEEA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21</a:t>
            </a:r>
          </a:p>
        </p:txBody>
      </p:sp>
      <p:sp>
        <p:nvSpPr>
          <p:cNvPr id="4" name="">
            <a:extLst xmlns:a="http://schemas.openxmlformats.org/drawingml/2006/main">
              <a:ext uri="{FF2B5EF4-FFF2-40B4-BE49-F238E27FC236}">
                <a16:creationId xmlns:a16="http://schemas.microsoft.com/office/drawing/2014/main" id="{4A2302F4-8485-4AB6-BC57-D9AEA134004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DEC06FA-ACC2-4858-AAC2-42B01AFF3249}"/>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Stream joins and aggregates maintain durable state.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Checkpoints coordinate processing position with state snapshots.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End-to-end correctness needs transactional or idempotent sinks.</a:t>
            </a:r>
          </a:p>
        </p:txBody>
      </p:sp>
      <p:sp>
        <p:nvSpPr>
          <p:cNvPr id="6" name="">
            <a:extLst xmlns:a="http://schemas.openxmlformats.org/drawingml/2006/main">
              <a:ext uri="{FF2B5EF4-FFF2-40B4-BE49-F238E27FC236}">
                <a16:creationId xmlns:a16="http://schemas.microsoft.com/office/drawing/2014/main" id="{A49E6DE7-50E3-44CE-B0BD-FD5DFE15F35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00A896"/>
                </a:solidFill>
                <a:latin typeface="Arial"/>
                <a:ea typeface="Arial"/>
                <a:cs typeface="Arial"/>
              </a:defRPr>
            </a:pPr>
            <a:r>
              <a:rPr sz="1200" b="1">
                <a:solidFill>
                  <a:srgbClr val="00A896"/>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C8C9655-F169-4BC0-8CCC-3027AD1D242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483202352"/>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9CF949-FDB7-4334-8591-BA2C39BE205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9043FBD4-7FBC-4E79-B7B4-9ABC13188B6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State and fault tolerance: design trade-offs</a:t>
            </a:r>
          </a:p>
        </p:txBody>
      </p:sp>
      <p:sp>
        <p:nvSpPr>
          <p:cNvPr id="3" name="">
            <a:extLst xmlns:a="http://schemas.openxmlformats.org/drawingml/2006/main">
              <a:ext uri="{FF2B5EF4-FFF2-40B4-BE49-F238E27FC236}">
                <a16:creationId xmlns:a16="http://schemas.microsoft.com/office/drawing/2014/main" id="{7E9A73FB-22A9-486B-B2B5-D1FFE4BA802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21</a:t>
            </a:r>
          </a:p>
        </p:txBody>
      </p:sp>
      <p:sp>
        <p:nvSpPr>
          <p:cNvPr id="4" name="">
            <a:extLst xmlns:a="http://schemas.openxmlformats.org/drawingml/2006/main">
              <a:ext uri="{FF2B5EF4-FFF2-40B4-BE49-F238E27FC236}">
                <a16:creationId xmlns:a16="http://schemas.microsoft.com/office/drawing/2014/main" id="{CF786D7E-7F1C-4032-8CE7-D0F4A1BDA6A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00A896"/>
                </a:solidFill>
                <a:latin typeface="Arial"/>
                <a:ea typeface="Arial"/>
                <a:cs typeface="Arial"/>
              </a:defRPr>
            </a:pPr>
            <a:r>
              <a:rPr sz="6750" b="1">
                <a:solidFill>
                  <a:srgbClr val="00A8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95A417D-A050-41E2-A4B3-7B7E4F6175F6}"/>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Stream joins and aggregates maintain durable state.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643935722"/>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26B21B-A96A-4563-8A1A-5C286322EBB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00A896"/>
                </a:solidFill>
                <a:latin typeface="Arial"/>
                <a:ea typeface="Arial"/>
                <a:cs typeface="Arial"/>
              </a:defRPr>
            </a:pPr>
            <a:r>
              <a:rPr sz="1200" b="1" spc="2">
                <a:solidFill>
                  <a:srgbClr val="00A896"/>
                </a:solidFill>
                <a:latin typeface="Arial"/>
                <a:ea typeface="Arial"/>
                <a:cs typeface="Arial"/>
              </a:rPr>
              <a:t>CHAPTER 12</a:t>
            </a:r>
          </a:p>
        </p:txBody>
      </p:sp>
      <p:sp>
        <p:nvSpPr>
          <p:cNvPr id="2" name="">
            <a:extLst xmlns:a="http://schemas.openxmlformats.org/drawingml/2006/main">
              <a:ext uri="{FF2B5EF4-FFF2-40B4-BE49-F238E27FC236}">
                <a16:creationId xmlns:a16="http://schemas.microsoft.com/office/drawing/2014/main" id="{8270D9DE-F075-4BED-81FD-8E13F6C155E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FC8AE2CC-4300-4D1C-81C2-70EE598BEE0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21</a:t>
            </a:r>
          </a:p>
        </p:txBody>
      </p:sp>
      <p:sp>
        <p:nvSpPr>
          <p:cNvPr id="4" name="">
            <a:extLst xmlns:a="http://schemas.openxmlformats.org/drawingml/2006/main">
              <a:ext uri="{FF2B5EF4-FFF2-40B4-BE49-F238E27FC236}">
                <a16:creationId xmlns:a16="http://schemas.microsoft.com/office/drawing/2014/main" id="{0727CDFE-CAA6-4063-82DE-35ECFB07E7FC}"/>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300059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2026-09-27T19:47:51.9460000Z</dcterms:created>
  <dcterms:modified xsi:type="dcterms:W3CDTF">2026-09-27T19:47:51.9460000Z</dcterms:modified>
</coreProperties>
</file>