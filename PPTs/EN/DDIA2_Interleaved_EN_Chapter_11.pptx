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5087a9e6cdc488c" /><Relationship Type="http://schemas.openxmlformats.org/officeDocument/2006/relationships/extended-properties" Target="/docProps/app.xml" Id="Rd8a45025121b49ff" /><Relationship Type="http://schemas.openxmlformats.org/officeDocument/2006/relationships/officeDocument" Target="/ppt/presentation.xml" Id="R981033747b684910" /></Relationships>
</file>

<file path=ppt/presentation.xml><?xml version="1.0" encoding="utf-8"?>
<p:presentation xmlns:p="http://schemas.openxmlformats.org/presentationml/2006/main">
  <p:sldMasterIdLst>
    <p:sldMasterId xmlns:r="http://schemas.openxmlformats.org/officeDocument/2006/relationships" id="2147483648" r:id="R63cdd7c3aa8e40e8"/>
  </p:sldMasterIdLst>
  <p:notesMasterIdLst>
    <p:notesMasterId xmlns:r="http://schemas.openxmlformats.org/officeDocument/2006/relationships" r:id="R48d80fdf457c4397"/>
  </p:notesMasterIdLst>
  <p:sldIdLst>
    <p:sldId xmlns:r="http://schemas.openxmlformats.org/officeDocument/2006/relationships" id="256" r:id="Rff6a86d2cc0d4754"/>
    <p:sldId xmlns:r="http://schemas.openxmlformats.org/officeDocument/2006/relationships" id="257" r:id="Rba612ae2ade847e0"/>
    <p:sldId xmlns:r="http://schemas.openxmlformats.org/officeDocument/2006/relationships" id="258" r:id="Rd0d95241c5cf4191"/>
    <p:sldId xmlns:r="http://schemas.openxmlformats.org/officeDocument/2006/relationships" id="259" r:id="R637041a71fa54898"/>
    <p:sldId xmlns:r="http://schemas.openxmlformats.org/officeDocument/2006/relationships" id="260" r:id="Rba2b1ee5c8b64cf2"/>
    <p:sldId xmlns:r="http://schemas.openxmlformats.org/officeDocument/2006/relationships" id="261" r:id="Rd9208fb3c53c45f9"/>
    <p:sldId xmlns:r="http://schemas.openxmlformats.org/officeDocument/2006/relationships" id="262" r:id="Rc136ed05e8744969"/>
    <p:sldId xmlns:r="http://schemas.openxmlformats.org/officeDocument/2006/relationships" id="263" r:id="R0dd4021198964d1c"/>
    <p:sldId xmlns:r="http://schemas.openxmlformats.org/officeDocument/2006/relationships" id="264" r:id="Rf71bd381ccf64ed9"/>
    <p:sldId xmlns:r="http://schemas.openxmlformats.org/officeDocument/2006/relationships" id="265" r:id="Ra8ecb120a8674d4e"/>
    <p:sldId xmlns:r="http://schemas.openxmlformats.org/officeDocument/2006/relationships" id="266" r:id="Rc81476b217a2477d"/>
    <p:sldId xmlns:r="http://schemas.openxmlformats.org/officeDocument/2006/relationships" id="267" r:id="Rb649ad3310d64ccb"/>
    <p:sldId xmlns:r="http://schemas.openxmlformats.org/officeDocument/2006/relationships" id="268" r:id="R659811834a3147b1"/>
    <p:sldId xmlns:r="http://schemas.openxmlformats.org/officeDocument/2006/relationships" id="269" r:id="Re0949d18f0a14ddb"/>
    <p:sldId xmlns:r="http://schemas.openxmlformats.org/officeDocument/2006/relationships" id="270" r:id="R1a6d7b8ad5834d6e"/>
    <p:sldId xmlns:r="http://schemas.openxmlformats.org/officeDocument/2006/relationships" id="271" r:id="R0e794497904b40b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cb03dc5fe44749" /><Relationship Type="http://schemas.openxmlformats.org/officeDocument/2006/relationships/slideMaster" Target="/ppt/slideMasters/slideMaster1.xml" Id="R63cdd7c3aa8e40e8" /><Relationship Type="http://schemas.openxmlformats.org/officeDocument/2006/relationships/notesMaster" Target="/ppt/notesMasters/notesMaster1.xml" Id="R48d80fdf457c4397" /><Relationship Type="http://schemas.openxmlformats.org/officeDocument/2006/relationships/presProps" Target="/ppt/presProps.xml" Id="R4f87c057868546d5" /><Relationship Type="http://schemas.openxmlformats.org/officeDocument/2006/relationships/tableStyles" Target="/ppt/tableStyles.xml" Id="R8d41c849b3d34901" /><Relationship Type="http://schemas.openxmlformats.org/officeDocument/2006/relationships/slide" Target="/ppt/slides/slide1.xml" Id="Rff6a86d2cc0d4754" /><Relationship Type="http://schemas.openxmlformats.org/officeDocument/2006/relationships/slide" Target="/ppt/slides/slide2.xml" Id="Rba612ae2ade847e0" /><Relationship Type="http://schemas.openxmlformats.org/officeDocument/2006/relationships/slide" Target="/ppt/slides/slide3.xml" Id="Rd0d95241c5cf4191" /><Relationship Type="http://schemas.openxmlformats.org/officeDocument/2006/relationships/slide" Target="/ppt/slides/slide4.xml" Id="R637041a71fa54898" /><Relationship Type="http://schemas.openxmlformats.org/officeDocument/2006/relationships/slide" Target="/ppt/slides/slide5.xml" Id="Rba2b1ee5c8b64cf2" /><Relationship Type="http://schemas.openxmlformats.org/officeDocument/2006/relationships/slide" Target="/ppt/slides/slide6.xml" Id="Rd9208fb3c53c45f9" /><Relationship Type="http://schemas.openxmlformats.org/officeDocument/2006/relationships/slide" Target="/ppt/slides/slide7.xml" Id="Rc136ed05e8744969" /><Relationship Type="http://schemas.openxmlformats.org/officeDocument/2006/relationships/slide" Target="/ppt/slides/slide8.xml" Id="R0dd4021198964d1c" /><Relationship Type="http://schemas.openxmlformats.org/officeDocument/2006/relationships/slide" Target="/ppt/slides/slide9.xml" Id="Rf71bd381ccf64ed9" /><Relationship Type="http://schemas.openxmlformats.org/officeDocument/2006/relationships/slide" Target="/ppt/slides/slide10.xml" Id="Ra8ecb120a8674d4e" /><Relationship Type="http://schemas.openxmlformats.org/officeDocument/2006/relationships/slide" Target="/ppt/slides/slide11.xml" Id="Rc81476b217a2477d" /><Relationship Type="http://schemas.openxmlformats.org/officeDocument/2006/relationships/slide" Target="/ppt/slides/slide12.xml" Id="Rb649ad3310d64ccb" /><Relationship Type="http://schemas.openxmlformats.org/officeDocument/2006/relationships/slide" Target="/ppt/slides/slide13.xml" Id="R659811834a3147b1" /><Relationship Type="http://schemas.openxmlformats.org/officeDocument/2006/relationships/slide" Target="/ppt/slides/slide14.xml" Id="Re0949d18f0a14ddb" /><Relationship Type="http://schemas.openxmlformats.org/officeDocument/2006/relationships/slide" Target="/ppt/slides/slide15.xml" Id="R1a6d7b8ad5834d6e" /><Relationship Type="http://schemas.openxmlformats.org/officeDocument/2006/relationships/slide" Target="/ppt/slides/slide16.xml" Id="R0e794497904b40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d6f12de3bb48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1d4ee901f34f75" /><Relationship Type="http://schemas.openxmlformats.org/officeDocument/2006/relationships/notesMaster" Target="/ppt/notesMasters/notesMaster1.xml" Id="Rd31766827dd442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2fcb6e926d4127" /><Relationship Type="http://schemas.openxmlformats.org/officeDocument/2006/relationships/notesMaster" Target="/ppt/notesMasters/notesMaster1.xml" Id="R215b9fa254164b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3123355497c41fa" /><Relationship Type="http://schemas.openxmlformats.org/officeDocument/2006/relationships/notesMaster" Target="/ppt/notesMasters/notesMaster1.xml" Id="R4a1d135fc07843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6aaca696d804cea" /><Relationship Type="http://schemas.openxmlformats.org/officeDocument/2006/relationships/notesMaster" Target="/ppt/notesMasters/notesMaster1.xml" Id="Ra4ead04fc83e46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3bf36b49b5174be1" /><Relationship Type="http://schemas.openxmlformats.org/officeDocument/2006/relationships/notesMaster" Target="/ppt/notesMasters/notesMaster1.xml" Id="R96d8e510ed4447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7c6252d5ab4e83" /><Relationship Type="http://schemas.openxmlformats.org/officeDocument/2006/relationships/notesMaster" Target="/ppt/notesMasters/notesMaster1.xml" Id="Re6460cd5009f44b2"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d63cec2fa842dc" /><Relationship Type="http://schemas.openxmlformats.org/officeDocument/2006/relationships/notesMaster" Target="/ppt/notesMasters/notesMaster1.xml" Id="R06c9aa8fd7a04fa1"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50864787354063" /><Relationship Type="http://schemas.openxmlformats.org/officeDocument/2006/relationships/notesMaster" Target="/ppt/notesMasters/notesMaster1.xml" Id="R882623b119d74498"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819f3ca8114db4" /><Relationship Type="http://schemas.openxmlformats.org/officeDocument/2006/relationships/notesMaster" Target="/ppt/notesMasters/notesMaster1.xml" Id="Rab81d929d7a84c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2d3ef2a49e4c93" /><Relationship Type="http://schemas.openxmlformats.org/officeDocument/2006/relationships/notesMaster" Target="/ppt/notesMasters/notesMaster1.xml" Id="Rcabb6559c6db49e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40d341cb1fc4247" /><Relationship Type="http://schemas.openxmlformats.org/officeDocument/2006/relationships/notesMaster" Target="/ppt/notesMasters/notesMaster1.xml" Id="Re3606836be32406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9839443fd0447a1" /><Relationship Type="http://schemas.openxmlformats.org/officeDocument/2006/relationships/notesMaster" Target="/ppt/notesMasters/notesMaster1.xml" Id="R1ee42246060046d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6bb06520d6549fe" /><Relationship Type="http://schemas.openxmlformats.org/officeDocument/2006/relationships/notesMaster" Target="/ppt/notesMasters/notesMaster1.xml" Id="R41cb2484b0de460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0ca66e1458e477c" /><Relationship Type="http://schemas.openxmlformats.org/officeDocument/2006/relationships/notesMaster" Target="/ppt/notesMasters/notesMaster1.xml" Id="Re3a21b89e824474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5b00fd4649e4fb6" /><Relationship Type="http://schemas.openxmlformats.org/officeDocument/2006/relationships/notesMaster" Target="/ppt/notesMasters/notesMaster1.xml" Id="R83373842bafb4d8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31e02523b5a4660" /><Relationship Type="http://schemas.openxmlformats.org/officeDocument/2006/relationships/notesMaster" Target="/ppt/notesMasters/notesMaster1.xml" Id="R08720f3de39a4c1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11, book pages 451-481.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11, book pages 451-481.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11, book pages 451-481.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11, book pages 451-481.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11, book pages 451-481.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11, book pages 451-481.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11, book pages 451-481.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11, book pages 451-481.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11, book pages 451-481.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11, book pages 451-481.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11, book pages 451-481. Figure 11-1, PDF page 494. Original caption: Figure 11-1. A MapReduce job with three mappers and three reducers</a:t>
            </a:r>
          </a:p>
          <a:p xmlns:a="http://schemas.openxmlformats.org/drawingml/2006/main">
            <a:r>
              <a:t>Explanation: Data is partitioned, shuffled by key, and combined in parallel. Shuffle and sorting are the major network and disk cost boundaries.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11, book pages 451-481. Figure 11-2, PDF page 496. Original caption: Figure 11-2. A join between a log of user activity events and a database of user profiles</a:t>
            </a:r>
          </a:p>
          <a:p xmlns:a="http://schemas.openxmlformats.org/drawingml/2006/main">
            <a:r>
              <a:t>Explanation: Data is partitioned, shuffled by key, and combined in parallel. Shuffle and sorting are the major network and disk cost boundaries.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11, book pages 451-481. Figure 11-3, PDF page 497. Original caption: Figure 11-3. A sort-merge join on user ID; if the input datasets are sharded into multiple</a:t>
            </a:r>
          </a:p>
          <a:p xmlns:a="http://schemas.openxmlformats.org/drawingml/2006/main">
            <a:r>
              <a:t>Explanation: Keys, requests, or index entries are assigned across partitions. The assignment controls balance, range locality, routing work, and rebalancing cost.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11, book pages 451-481.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11, book pages 451-481.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11, book pages 451-481.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7db7472ca442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8ccdfb7f9e4eb4" /><Relationship Type="http://schemas.openxmlformats.org/officeDocument/2006/relationships/slideLayout" Target="/ppt/slideLayouts/slideLayout1.xml" Id="R403e2c87cf0f418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3e2c87cf0f418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3ae3c7eab1e49bd" /><Relationship Type="http://schemas.openxmlformats.org/officeDocument/2006/relationships/notesSlide" Target="/ppt/notesSlides/notesSlide1.xml" Id="R08d6d8d8dff946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cb6da9733c24963" /><Relationship Type="http://schemas.openxmlformats.org/officeDocument/2006/relationships/notesSlide" Target="/ppt/notesSlides/notesSlide2.xml" Id="R256f3d67229047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9cbee3c7e445cd" /><Relationship Type="http://schemas.openxmlformats.org/officeDocument/2006/relationships/notesSlide" Target="/ppt/notesSlides/notesSlide3.xml" Id="R285a7720397249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7af95eea5ee432c" /><Relationship Type="http://schemas.openxmlformats.org/officeDocument/2006/relationships/notesSlide" Target="/ppt/notesSlides/notesSlide4.xml" Id="R94425ecd1f744a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e61ba367140470d" /><Relationship Type="http://schemas.openxmlformats.org/officeDocument/2006/relationships/notesSlide" Target="/ppt/notesSlides/notesSlide5.xml" Id="Rbdd1d80985874e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03e3e5541d84a66" /><Relationship Type="http://schemas.openxmlformats.org/officeDocument/2006/relationships/notesSlide" Target="/ppt/notesSlides/notesSlide6.xml" Id="Rd11632b7afeb48f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e2fb2759d2c44a5" /><Relationship Type="http://schemas.openxmlformats.org/officeDocument/2006/relationships/notesSlide" Target="/ppt/notesSlides/notesSlide7.xml" Id="Rb2a269fbab754aa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36a70ae0bc34993" /><Relationship Type="http://schemas.openxmlformats.org/officeDocument/2006/relationships/notesSlide" Target="/ppt/notesSlides/notesSlide8.xml" Id="R4c23e125a4a34dc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c5a63fb6df2402c" /><Relationship Type="http://schemas.openxmlformats.org/officeDocument/2006/relationships/notesSlide" Target="/ppt/notesSlides/notesSlide9.xml" Id="Rc2feacc0a8f349e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77b6844c1fe44bd" /><Relationship Type="http://schemas.openxmlformats.org/officeDocument/2006/relationships/notesSlide" Target="/ppt/notesSlides/notesSlide10.xml" Id="R68e7d30330d14d8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02a554ab0ce4413" /><Relationship Type="http://schemas.openxmlformats.org/officeDocument/2006/relationships/image" Target="/ppt/media/image.png" Id="R31550ce834e3435a" /><Relationship Type="http://schemas.openxmlformats.org/officeDocument/2006/relationships/notesSlide" Target="/ppt/notesSlides/notesSlide11.xml" Id="Rc95a881005884bb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f20b4a876f0478b" /><Relationship Type="http://schemas.openxmlformats.org/officeDocument/2006/relationships/image" Target="/ppt/media/image2.png" Id="R1723644f29ab4a75" /><Relationship Type="http://schemas.openxmlformats.org/officeDocument/2006/relationships/notesSlide" Target="/ppt/notesSlides/notesSlide12.xml" Id="R07febd4aebf24cf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298ae54b56742d1" /><Relationship Type="http://schemas.openxmlformats.org/officeDocument/2006/relationships/image" Target="/ppt/media/image3.png" Id="R36df9af4bd12459e" /><Relationship Type="http://schemas.openxmlformats.org/officeDocument/2006/relationships/notesSlide" Target="/ppt/notesSlides/notesSlide13.xml" Id="R9f82139c59a24b1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aa7ae9589ad4cea" /><Relationship Type="http://schemas.openxmlformats.org/officeDocument/2006/relationships/notesSlide" Target="/ppt/notesSlides/notesSlide14.xml" Id="R09d1e0f3d7244d6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69c09c821e8449d" /><Relationship Type="http://schemas.openxmlformats.org/officeDocument/2006/relationships/notesSlide" Target="/ppt/notesSlides/notesSlide15.xml" Id="Re1abe72f26f549a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5ff6d1b81364b2b" /><Relationship Type="http://schemas.openxmlformats.org/officeDocument/2006/relationships/notesSlide" Target="/ppt/notesSlides/notesSlide16.xml" Id="R07f05a539b8445a6"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1E38925-2541-42C3-9B1E-E6E08AF19503}"/>
              </a:ext>
            </a:extLst>
          </p:cNvPr>
          <p:cNvSpPr>
            <a:spLocks xmlns:a="http://schemas.openxmlformats.org/drawingml/2006/main" noGrp="1"/>
          </p:cNvSpPr>
          <p:nvPr/>
        </p:nvSpPr>
        <p:spPr>
          <a:xfrm xmlns:a="http://schemas.openxmlformats.org/drawingml/2006/main">
            <a:off x="714375" y="6667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spc="2">
                <a:solidFill>
                  <a:srgbClr val="5F6F52"/>
                </a:solidFill>
                <a:latin typeface="Arial"/>
                <a:ea typeface="Arial"/>
                <a:cs typeface="Arial"/>
              </a:defRPr>
            </a:pPr>
            <a:r>
              <a:rPr sz="1425" b="1" spc="2">
                <a:solidFill>
                  <a:srgbClr val="5F6F52"/>
                </a:solidFill>
                <a:latin typeface="Arial"/>
                <a:ea typeface="Arial"/>
                <a:cs typeface="Arial"/>
              </a:rPr>
              <a:t>CHAPTER 11</a:t>
            </a:r>
          </a:p>
        </p:txBody>
      </p:sp>
      <p:sp>
        <p:nvSpPr>
          <p:cNvPr id="2" name="">
            <a:extLst xmlns:a="http://schemas.openxmlformats.org/drawingml/2006/main">
              <a:ext uri="{FF2B5EF4-FFF2-40B4-BE49-F238E27FC236}">
                <a16:creationId xmlns:a16="http://schemas.microsoft.com/office/drawing/2014/main" id="{804605CF-431F-477E-9BB7-5396CA5F9D2C}"/>
              </a:ext>
            </a:extLst>
          </p:cNvPr>
          <p:cNvSpPr>
            <a:spLocks xmlns:a="http://schemas.openxmlformats.org/drawingml/2006/main" noGrp="1"/>
          </p:cNvSpPr>
          <p:nvPr/>
        </p:nvSpPr>
        <p:spPr>
          <a:xfrm xmlns:a="http://schemas.openxmlformats.org/drawingml/2006/main">
            <a:off x="714375" y="1571625"/>
            <a:ext cx="1028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Batch Processing</a:t>
            </a:r>
          </a:p>
        </p:txBody>
      </p:sp>
      <p:sp>
        <p:nvSpPr>
          <p:cNvPr id="3" name="">
            <a:extLst xmlns:a="http://schemas.openxmlformats.org/drawingml/2006/main">
              <a:ext uri="{FF2B5EF4-FFF2-40B4-BE49-F238E27FC236}">
                <a16:creationId xmlns:a16="http://schemas.microsoft.com/office/drawing/2014/main" id="{5FAF2F67-A354-454F-9E49-8BF42264C87D}"/>
              </a:ext>
            </a:extLst>
          </p:cNvPr>
          <p:cNvSpPr>
            <a:spLocks xmlns:a="http://schemas.openxmlformats.org/drawingml/2006/main" noGrp="1"/>
          </p:cNvSpPr>
          <p:nvPr/>
        </p:nvSpPr>
        <p:spPr>
          <a:xfrm xmlns:a="http://schemas.openxmlformats.org/drawingml/2006/main">
            <a:off x="742950" y="2809875"/>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D9E2EC"/>
                </a:solidFill>
                <a:latin typeface="Arial"/>
                <a:ea typeface="Arial"/>
                <a:cs typeface="Arial"/>
              </a:defRPr>
            </a:pPr>
            <a:r>
              <a:rPr sz="1725">
                <a:solidFill>
                  <a:srgbClr val="D9E2EC"/>
                </a:solidFill>
                <a:latin typeface="Arial"/>
                <a:ea typeface="Arial"/>
                <a:cs typeface="Arial"/>
              </a:rPr>
              <a:t>Designing Data-Intensive Applications, Second Edition</a:t>
            </a:r>
          </a:p>
        </p:txBody>
      </p:sp>
      <p:sp>
        <p:nvSpPr>
          <p:cNvPr id="4" name="">
            <a:extLst xmlns:a="http://schemas.openxmlformats.org/drawingml/2006/main">
              <a:ext uri="{FF2B5EF4-FFF2-40B4-BE49-F238E27FC236}">
                <a16:creationId xmlns:a16="http://schemas.microsoft.com/office/drawing/2014/main" id="{EEBB50AA-B035-4033-9BCD-3EB812D1982F}"/>
              </a:ext>
            </a:extLst>
          </p:cNvPr>
          <p:cNvSpPr>
            <a:spLocks xmlns:a="http://schemas.openxmlformats.org/drawingml/2006/main" noGrp="1"/>
          </p:cNvSpPr>
          <p:nvPr/>
        </p:nvSpPr>
        <p:spPr>
          <a:xfrm xmlns:a="http://schemas.openxmlformats.org/drawingml/2006/main">
            <a:off x="742950" y="52863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a:solidFill>
                  <a:srgbClr val="BCCCDC"/>
                </a:solidFill>
                <a:latin typeface="Arial"/>
                <a:ea typeface="Arial"/>
                <a:cs typeface="Arial"/>
              </a:defRPr>
            </a:pPr>
            <a:r>
              <a:rPr sz="1425">
                <a:solidFill>
                  <a:srgbClr val="BCCCDC"/>
                </a:solidFill>
                <a:latin typeface="Arial"/>
                <a:ea typeface="Arial"/>
                <a:cs typeface="Arial"/>
              </a:rPr>
              <a:t>Detailed English Study Edition</a:t>
            </a:r>
          </a:p>
        </p:txBody>
      </p:sp>
      <p:sp>
        <p:nvSpPr>
          <p:cNvPr id="5" name="">
            <a:extLst xmlns:a="http://schemas.openxmlformats.org/drawingml/2006/main">
              <a:ext uri="{FF2B5EF4-FFF2-40B4-BE49-F238E27FC236}">
                <a16:creationId xmlns:a16="http://schemas.microsoft.com/office/drawing/2014/main" id="{BD291D6B-5149-4EB5-AA8A-41EBCF96CFBC}"/>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9FB3C8"/>
                </a:solidFill>
                <a:latin typeface="Arial"/>
                <a:ea typeface="Arial"/>
                <a:cs typeface="Arial"/>
              </a:defRPr>
            </a:pPr>
            <a:r>
              <a:rPr sz="975">
                <a:solidFill>
                  <a:srgbClr val="9FB3C8"/>
                </a:solidFill>
                <a:latin typeface="Arial"/>
                <a:ea typeface="Arial"/>
                <a:cs typeface="Arial"/>
              </a:rPr>
              <a:t>01 / 16</a:t>
            </a:r>
          </a:p>
        </p:txBody>
      </p:sp>
    </p:spTree>
    <p:extLst>
      <p:ext uri="{BB962C8B-B14F-4D97-AF65-F5344CB8AC3E}">
        <p14:creationId xmlns:p14="http://schemas.microsoft.com/office/powerpoint/2010/main" val="482708835"/>
      </p:ext>
    </p:extLst>
  </p:cSld>
</p:sld>
</file>

<file path=ppt/slides/slide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311C935-85A5-4B4E-8D64-D0646DA86DC8}"/>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5F6F52"/>
                </a:solidFill>
                <a:latin typeface="Arial"/>
                <a:ea typeface="Arial"/>
                <a:cs typeface="Arial"/>
              </a:defRPr>
            </a:pPr>
            <a:r>
              <a:rPr sz="1200" b="1" spc="2">
                <a:solidFill>
                  <a:srgbClr val="5F6F52"/>
                </a:solidFill>
                <a:latin typeface="Arial"/>
                <a:ea typeface="Arial"/>
                <a:cs typeface="Arial"/>
              </a:rPr>
              <a:t>CHAPTER 11</a:t>
            </a:r>
          </a:p>
        </p:txBody>
      </p:sp>
      <p:sp>
        <p:nvSpPr>
          <p:cNvPr id="2" name="">
            <a:extLst xmlns:a="http://schemas.openxmlformats.org/drawingml/2006/main">
              <a:ext uri="{FF2B5EF4-FFF2-40B4-BE49-F238E27FC236}">
                <a16:creationId xmlns:a16="http://schemas.microsoft.com/office/drawing/2014/main" id="{07C2A126-108A-4FD8-8D1D-832A7DD0D790}"/>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Chapter map</a:t>
            </a:r>
          </a:p>
        </p:txBody>
      </p:sp>
      <p:sp>
        <p:nvSpPr>
          <p:cNvPr id="3" name="">
            <a:extLst xmlns:a="http://schemas.openxmlformats.org/drawingml/2006/main">
              <a:ext uri="{FF2B5EF4-FFF2-40B4-BE49-F238E27FC236}">
                <a16:creationId xmlns:a16="http://schemas.microsoft.com/office/drawing/2014/main" id="{04AEAABB-8B9B-47BF-97FE-566ADDA6C4D0}"/>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02 / 16</a:t>
            </a:r>
          </a:p>
        </p:txBody>
      </p:sp>
      <p:sp>
        <p:nvSpPr>
          <p:cNvPr id="4" name="">
            <a:extLst xmlns:a="http://schemas.openxmlformats.org/drawingml/2006/main">
              <a:ext uri="{FF2B5EF4-FFF2-40B4-BE49-F238E27FC236}">
                <a16:creationId xmlns:a16="http://schemas.microsoft.com/office/drawing/2014/main" id="{2D0A2B43-4DF7-4A62-87DC-64604AD9E3B4}"/>
              </a:ext>
            </a:extLst>
          </p:cNvPr>
          <p:cNvSpPr>
            <a:spLocks xmlns:a="http://schemas.openxmlformats.org/drawingml/2006/main" noGrp="1"/>
          </p:cNvSpPr>
          <p:nvPr/>
        </p:nvSpPr>
        <p:spPr>
          <a:xfrm xmlns:a="http://schemas.openxmlformats.org/drawingml/2006/main">
            <a:off x="857250" y="14763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5F6F52"/>
                </a:solidFill>
                <a:latin typeface="Arial"/>
                <a:ea typeface="Arial"/>
                <a:cs typeface="Arial"/>
              </a:defRPr>
            </a:pPr>
            <a:r>
              <a:rPr sz="2100" b="1">
                <a:solidFill>
                  <a:srgbClr val="5F6F52"/>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E75B0530-4327-41FF-B30C-2DEB0F7EAF27}"/>
              </a:ext>
            </a:extLst>
          </p:cNvPr>
          <p:cNvSpPr>
            <a:spLocks xmlns:a="http://schemas.openxmlformats.org/drawingml/2006/main" noGrp="1"/>
          </p:cNvSpPr>
          <p:nvPr/>
        </p:nvSpPr>
        <p:spPr>
          <a:xfrm xmlns:a="http://schemas.openxmlformats.org/drawingml/2006/main">
            <a:off x="1905000" y="14287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Batch processing model</a:t>
            </a:r>
          </a:p>
        </p:txBody>
      </p:sp>
      <p:sp>
        <p:nvSpPr>
          <p:cNvPr id="6" name="">
            <a:extLst xmlns:a="http://schemas.openxmlformats.org/drawingml/2006/main">
              <a:ext uri="{FF2B5EF4-FFF2-40B4-BE49-F238E27FC236}">
                <a16:creationId xmlns:a16="http://schemas.microsoft.com/office/drawing/2014/main" id="{14210BAA-86A5-4F5A-93CE-92142B8E92DC}"/>
              </a:ext>
            </a:extLst>
          </p:cNvPr>
          <p:cNvSpPr>
            <a:spLocks xmlns:a="http://schemas.openxmlformats.org/drawingml/2006/main" noGrp="1"/>
          </p:cNvSpPr>
          <p:nvPr/>
        </p:nvSpPr>
        <p:spPr>
          <a:xfrm xmlns:a="http://schemas.openxmlformats.org/drawingml/2006/main">
            <a:off x="6191250" y="14287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Batch jobs read bounded input and produce derived output.</a:t>
            </a:r>
          </a:p>
        </p:txBody>
      </p:sp>
      <p:sp>
        <p:nvSpPr>
          <p:cNvPr id="7" name="">
            <a:extLst xmlns:a="http://schemas.openxmlformats.org/drawingml/2006/main">
              <a:ext uri="{FF2B5EF4-FFF2-40B4-BE49-F238E27FC236}">
                <a16:creationId xmlns:a16="http://schemas.microsoft.com/office/drawing/2014/main" id="{C98AA99A-2F94-413B-990A-0A622BE6EBD2}"/>
              </a:ext>
            </a:extLst>
          </p:cNvPr>
          <p:cNvSpPr>
            <a:spLocks xmlns:a="http://schemas.openxmlformats.org/drawingml/2006/main" noGrp="1"/>
          </p:cNvSpPr>
          <p:nvPr/>
        </p:nvSpPr>
        <p:spPr>
          <a:xfrm xmlns:a="http://schemas.openxmlformats.org/drawingml/2006/main">
            <a:off x="857250" y="23526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5F6F52"/>
                </a:solidFill>
                <a:latin typeface="Arial"/>
                <a:ea typeface="Arial"/>
                <a:cs typeface="Arial"/>
              </a:defRPr>
            </a:pPr>
            <a:r>
              <a:rPr sz="2100" b="1">
                <a:solidFill>
                  <a:srgbClr val="5F6F52"/>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172C41D5-2921-4FA1-B910-57F5D88CE7D8}"/>
              </a:ext>
            </a:extLst>
          </p:cNvPr>
          <p:cNvSpPr>
            <a:spLocks xmlns:a="http://schemas.openxmlformats.org/drawingml/2006/main" noGrp="1"/>
          </p:cNvSpPr>
          <p:nvPr/>
        </p:nvSpPr>
        <p:spPr>
          <a:xfrm xmlns:a="http://schemas.openxmlformats.org/drawingml/2006/main">
            <a:off x="1905000" y="23050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Unix tools</a:t>
            </a:r>
          </a:p>
        </p:txBody>
      </p:sp>
      <p:sp>
        <p:nvSpPr>
          <p:cNvPr id="9" name="">
            <a:extLst xmlns:a="http://schemas.openxmlformats.org/drawingml/2006/main">
              <a:ext uri="{FF2B5EF4-FFF2-40B4-BE49-F238E27FC236}">
                <a16:creationId xmlns:a16="http://schemas.microsoft.com/office/drawing/2014/main" id="{0949F6E0-F78D-4CA2-99D3-5716A7641F3F}"/>
              </a:ext>
            </a:extLst>
          </p:cNvPr>
          <p:cNvSpPr>
            <a:spLocks xmlns:a="http://schemas.openxmlformats.org/drawingml/2006/main" noGrp="1"/>
          </p:cNvSpPr>
          <p:nvPr/>
        </p:nvSpPr>
        <p:spPr>
          <a:xfrm xmlns:a="http://schemas.openxmlformats.org/drawingml/2006/main">
            <a:off x="6191250" y="23050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Pipelines compose small tools through stream interfaces.</a:t>
            </a:r>
          </a:p>
        </p:txBody>
      </p:sp>
      <p:sp>
        <p:nvSpPr>
          <p:cNvPr id="10" name="">
            <a:extLst xmlns:a="http://schemas.openxmlformats.org/drawingml/2006/main">
              <a:ext uri="{FF2B5EF4-FFF2-40B4-BE49-F238E27FC236}">
                <a16:creationId xmlns:a16="http://schemas.microsoft.com/office/drawing/2014/main" id="{7434BE95-10CE-4088-A5D9-AB06CF4243B5}"/>
              </a:ext>
            </a:extLst>
          </p:cNvPr>
          <p:cNvSpPr>
            <a:spLocks xmlns:a="http://schemas.openxmlformats.org/drawingml/2006/main" noGrp="1"/>
          </p:cNvSpPr>
          <p:nvPr/>
        </p:nvSpPr>
        <p:spPr>
          <a:xfrm xmlns:a="http://schemas.openxmlformats.org/drawingml/2006/main">
            <a:off x="857250" y="32289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5F6F52"/>
                </a:solidFill>
                <a:latin typeface="Arial"/>
                <a:ea typeface="Arial"/>
                <a:cs typeface="Arial"/>
              </a:defRPr>
            </a:pPr>
            <a:r>
              <a:rPr sz="2100" b="1">
                <a:solidFill>
                  <a:srgbClr val="5F6F52"/>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B79661C1-8238-4435-BB36-8F00B84E90F2}"/>
              </a:ext>
            </a:extLst>
          </p:cNvPr>
          <p:cNvSpPr>
            <a:spLocks xmlns:a="http://schemas.openxmlformats.org/drawingml/2006/main" noGrp="1"/>
          </p:cNvSpPr>
          <p:nvPr/>
        </p:nvSpPr>
        <p:spPr>
          <a:xfrm xmlns:a="http://schemas.openxmlformats.org/drawingml/2006/main">
            <a:off x="1905000" y="31813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Distributed execution</a:t>
            </a:r>
          </a:p>
        </p:txBody>
      </p:sp>
      <p:sp>
        <p:nvSpPr>
          <p:cNvPr id="12" name="">
            <a:extLst xmlns:a="http://schemas.openxmlformats.org/drawingml/2006/main">
              <a:ext uri="{FF2B5EF4-FFF2-40B4-BE49-F238E27FC236}">
                <a16:creationId xmlns:a16="http://schemas.microsoft.com/office/drawing/2014/main" id="{2C952F2F-9AFF-4C4F-A592-878ED34A359F}"/>
              </a:ext>
            </a:extLst>
          </p:cNvPr>
          <p:cNvSpPr>
            <a:spLocks xmlns:a="http://schemas.openxmlformats.org/drawingml/2006/main" noGrp="1"/>
          </p:cNvSpPr>
          <p:nvPr/>
        </p:nvSpPr>
        <p:spPr>
          <a:xfrm xmlns:a="http://schemas.openxmlformats.org/drawingml/2006/main">
            <a:off x="6191250" y="31813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Distributed filesystems and object stores provide shared inputs and outputs.</a:t>
            </a:r>
          </a:p>
        </p:txBody>
      </p:sp>
      <p:sp>
        <p:nvSpPr>
          <p:cNvPr id="13" name="">
            <a:extLst xmlns:a="http://schemas.openxmlformats.org/drawingml/2006/main">
              <a:ext uri="{FF2B5EF4-FFF2-40B4-BE49-F238E27FC236}">
                <a16:creationId xmlns:a16="http://schemas.microsoft.com/office/drawing/2014/main" id="{1B2B43F6-5386-4A14-8A95-0B72BD8F2E7E}"/>
              </a:ext>
            </a:extLst>
          </p:cNvPr>
          <p:cNvSpPr>
            <a:spLocks xmlns:a="http://schemas.openxmlformats.org/drawingml/2006/main" noGrp="1"/>
          </p:cNvSpPr>
          <p:nvPr/>
        </p:nvSpPr>
        <p:spPr>
          <a:xfrm xmlns:a="http://schemas.openxmlformats.org/drawingml/2006/main">
            <a:off x="857250" y="41052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5F6F52"/>
                </a:solidFill>
                <a:latin typeface="Arial"/>
                <a:ea typeface="Arial"/>
                <a:cs typeface="Arial"/>
              </a:defRPr>
            </a:pPr>
            <a:r>
              <a:rPr sz="2100" b="1">
                <a:solidFill>
                  <a:srgbClr val="5F6F52"/>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E689F2C7-47EA-42C1-B0A0-0BFEBFB04779}"/>
              </a:ext>
            </a:extLst>
          </p:cNvPr>
          <p:cNvSpPr>
            <a:spLocks xmlns:a="http://schemas.openxmlformats.org/drawingml/2006/main" noGrp="1"/>
          </p:cNvSpPr>
          <p:nvPr/>
        </p:nvSpPr>
        <p:spPr>
          <a:xfrm xmlns:a="http://schemas.openxmlformats.org/drawingml/2006/main">
            <a:off x="1905000" y="40576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Execution models</a:t>
            </a:r>
          </a:p>
        </p:txBody>
      </p:sp>
      <p:sp>
        <p:nvSpPr>
          <p:cNvPr id="15" name="">
            <a:extLst xmlns:a="http://schemas.openxmlformats.org/drawingml/2006/main">
              <a:ext uri="{FF2B5EF4-FFF2-40B4-BE49-F238E27FC236}">
                <a16:creationId xmlns:a16="http://schemas.microsoft.com/office/drawing/2014/main" id="{4E8CC365-74ED-4C36-8EAD-59C18F1E0A8D}"/>
              </a:ext>
            </a:extLst>
          </p:cNvPr>
          <p:cNvSpPr>
            <a:spLocks xmlns:a="http://schemas.openxmlformats.org/drawingml/2006/main" noGrp="1"/>
          </p:cNvSpPr>
          <p:nvPr/>
        </p:nvSpPr>
        <p:spPr>
          <a:xfrm xmlns:a="http://schemas.openxmlformats.org/drawingml/2006/main">
            <a:off x="6191250" y="40576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MapReduce organizes map, shuffle, and reduce stages.</a:t>
            </a:r>
          </a:p>
        </p:txBody>
      </p:sp>
      <p:sp>
        <p:nvSpPr>
          <p:cNvPr id="16" name="">
            <a:extLst xmlns:a="http://schemas.openxmlformats.org/drawingml/2006/main">
              <a:ext uri="{FF2B5EF4-FFF2-40B4-BE49-F238E27FC236}">
                <a16:creationId xmlns:a16="http://schemas.microsoft.com/office/drawing/2014/main" id="{5AC0E0B3-7175-437B-882E-BD1BF122EB22}"/>
              </a:ext>
            </a:extLst>
          </p:cNvPr>
          <p:cNvSpPr>
            <a:spLocks xmlns:a="http://schemas.openxmlformats.org/drawingml/2006/main" noGrp="1"/>
          </p:cNvSpPr>
          <p:nvPr/>
        </p:nvSpPr>
        <p:spPr>
          <a:xfrm xmlns:a="http://schemas.openxmlformats.org/drawingml/2006/main">
            <a:off x="857250" y="49815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5F6F52"/>
                </a:solidFill>
                <a:latin typeface="Arial"/>
                <a:ea typeface="Arial"/>
                <a:cs typeface="Arial"/>
              </a:defRPr>
            </a:pPr>
            <a:r>
              <a:rPr sz="2100" b="1">
                <a:solidFill>
                  <a:srgbClr val="5F6F52"/>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A5598C56-0E3C-49CF-9694-2B53EC32DA35}"/>
              </a:ext>
            </a:extLst>
          </p:cNvPr>
          <p:cNvSpPr>
            <a:spLocks xmlns:a="http://schemas.openxmlformats.org/drawingml/2006/main" noGrp="1"/>
          </p:cNvSpPr>
          <p:nvPr/>
        </p:nvSpPr>
        <p:spPr>
          <a:xfrm xmlns:a="http://schemas.openxmlformats.org/drawingml/2006/main">
            <a:off x="1905000" y="49339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Batch use cases</a:t>
            </a:r>
          </a:p>
        </p:txBody>
      </p:sp>
      <p:sp>
        <p:nvSpPr>
          <p:cNvPr id="18" name="">
            <a:extLst xmlns:a="http://schemas.openxmlformats.org/drawingml/2006/main">
              <a:ext uri="{FF2B5EF4-FFF2-40B4-BE49-F238E27FC236}">
                <a16:creationId xmlns:a16="http://schemas.microsoft.com/office/drawing/2014/main" id="{BEE5CC98-0FF6-459C-9865-B3C2433F9EB7}"/>
              </a:ext>
            </a:extLst>
          </p:cNvPr>
          <p:cNvSpPr>
            <a:spLocks xmlns:a="http://schemas.openxmlformats.org/drawingml/2006/main" noGrp="1"/>
          </p:cNvSpPr>
          <p:nvPr/>
        </p:nvSpPr>
        <p:spPr>
          <a:xfrm xmlns:a="http://schemas.openxmlformats.org/drawingml/2006/main">
            <a:off x="6191250" y="49339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ETL cleans and reshapes data for downstream systems.</a:t>
            </a:r>
          </a:p>
        </p:txBody>
      </p:sp>
    </p:spTree>
    <p:extLst>
      <p:ext uri="{BB962C8B-B14F-4D97-AF65-F5344CB8AC3E}">
        <p14:creationId xmlns:p14="http://schemas.microsoft.com/office/powerpoint/2010/main" val="159602922"/>
      </p:ext>
    </p:extLst>
  </p:cSld>
</p:sld>
</file>

<file path=ppt/slides/slide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9D7799-468B-4A81-B571-8E29F8343A4F}"/>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5F6F52"/>
                </a:solidFill>
                <a:latin typeface="Arial"/>
                <a:ea typeface="Arial"/>
                <a:cs typeface="Arial"/>
              </a:defRPr>
            </a:pPr>
            <a:r>
              <a:rPr sz="1200" b="1" spc="2">
                <a:solidFill>
                  <a:srgbClr val="5F6F52"/>
                </a:solidFill>
                <a:latin typeface="Arial"/>
                <a:ea typeface="Arial"/>
                <a:cs typeface="Arial"/>
              </a:rPr>
              <a:t>CHAPTER 11</a:t>
            </a:r>
          </a:p>
        </p:txBody>
      </p:sp>
      <p:sp>
        <p:nvSpPr>
          <p:cNvPr id="2" name="">
            <a:extLst xmlns:a="http://schemas.openxmlformats.org/drawingml/2006/main">
              <a:ext uri="{FF2B5EF4-FFF2-40B4-BE49-F238E27FC236}">
                <a16:creationId xmlns:a16="http://schemas.microsoft.com/office/drawing/2014/main" id="{E1D83490-0B85-48F1-BD98-51441AC797D9}"/>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Batch processing model</a:t>
            </a:r>
          </a:p>
        </p:txBody>
      </p:sp>
      <p:sp>
        <p:nvSpPr>
          <p:cNvPr id="3" name="">
            <a:extLst xmlns:a="http://schemas.openxmlformats.org/drawingml/2006/main">
              <a:ext uri="{FF2B5EF4-FFF2-40B4-BE49-F238E27FC236}">
                <a16:creationId xmlns:a16="http://schemas.microsoft.com/office/drawing/2014/main" id="{DE1B2500-5930-4D68-A296-A9EAAA21BCC9}"/>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03 / 16</a:t>
            </a:r>
          </a:p>
        </p:txBody>
      </p:sp>
      <p:sp>
        <p:nvSpPr>
          <p:cNvPr id="4" name="">
            <a:extLst xmlns:a="http://schemas.openxmlformats.org/drawingml/2006/main">
              <a:ext uri="{FF2B5EF4-FFF2-40B4-BE49-F238E27FC236}">
                <a16:creationId xmlns:a16="http://schemas.microsoft.com/office/drawing/2014/main" id="{90463EC4-2071-4B3B-9656-B79D2AD83813}"/>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5F6F52"/>
                </a:solidFill>
                <a:latin typeface="Arial"/>
                <a:ea typeface="Arial"/>
                <a:cs typeface="Arial"/>
              </a:defRPr>
            </a:pPr>
            <a:r>
              <a:rPr sz="6750" b="1">
                <a:solidFill>
                  <a:srgbClr val="5F6F52"/>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A640BCDF-DB3A-4460-84B5-AFE1CAA465DC}"/>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Batch jobs read bounded input and produce derived output.</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Immutable input and rerunnable jobs simplify recovery.</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Throughput usually matters more than per-record latency.</a:t>
            </a:r>
          </a:p>
        </p:txBody>
      </p:sp>
      <p:sp>
        <p:nvSpPr>
          <p:cNvPr id="6" name="">
            <a:extLst xmlns:a="http://schemas.openxmlformats.org/drawingml/2006/main">
              <a:ext uri="{FF2B5EF4-FFF2-40B4-BE49-F238E27FC236}">
                <a16:creationId xmlns:a16="http://schemas.microsoft.com/office/drawing/2014/main" id="{6CE199CB-ACE3-4C49-A31F-85AB44F15B06}"/>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5F6F52"/>
                </a:solidFill>
                <a:latin typeface="Arial"/>
                <a:ea typeface="Arial"/>
                <a:cs typeface="Arial"/>
              </a:defRPr>
            </a:pPr>
            <a:r>
              <a:rPr sz="1200" b="1">
                <a:solidFill>
                  <a:srgbClr val="5F6F52"/>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F6E2B3F8-466E-4829-81A9-73C47D1003DC}"/>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248313533"/>
      </p:ext>
    </p:extLst>
  </p:cSld>
</p:sld>
</file>

<file path=ppt/slides/slide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6A3BCC9-5CDB-4B46-81B1-99ED4A63FC64}"/>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5F6F52"/>
                </a:solidFill>
                <a:latin typeface="Arial"/>
                <a:ea typeface="Arial"/>
                <a:cs typeface="Arial"/>
              </a:defRPr>
            </a:pPr>
            <a:r>
              <a:rPr sz="1200" b="1" spc="2">
                <a:solidFill>
                  <a:srgbClr val="5F6F52"/>
                </a:solidFill>
                <a:latin typeface="Arial"/>
                <a:ea typeface="Arial"/>
                <a:cs typeface="Arial"/>
              </a:rPr>
              <a:t>CHAPTER 11</a:t>
            </a:r>
          </a:p>
        </p:txBody>
      </p:sp>
      <p:sp>
        <p:nvSpPr>
          <p:cNvPr id="2" name="">
            <a:extLst xmlns:a="http://schemas.openxmlformats.org/drawingml/2006/main">
              <a:ext uri="{FF2B5EF4-FFF2-40B4-BE49-F238E27FC236}">
                <a16:creationId xmlns:a16="http://schemas.microsoft.com/office/drawing/2014/main" id="{865D0065-7695-412C-A2DA-14392472E9D6}"/>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Batch processing model: design trade-offs</a:t>
            </a:r>
          </a:p>
        </p:txBody>
      </p:sp>
      <p:sp>
        <p:nvSpPr>
          <p:cNvPr id="3" name="">
            <a:extLst xmlns:a="http://schemas.openxmlformats.org/drawingml/2006/main">
              <a:ext uri="{FF2B5EF4-FFF2-40B4-BE49-F238E27FC236}">
                <a16:creationId xmlns:a16="http://schemas.microsoft.com/office/drawing/2014/main" id="{2E7E072A-5FFC-4C73-888B-88F9CBB41DCA}"/>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04 / 16</a:t>
            </a:r>
          </a:p>
        </p:txBody>
      </p:sp>
      <p:sp>
        <p:nvSpPr>
          <p:cNvPr id="4" name="">
            <a:extLst xmlns:a="http://schemas.openxmlformats.org/drawingml/2006/main">
              <a:ext uri="{FF2B5EF4-FFF2-40B4-BE49-F238E27FC236}">
                <a16:creationId xmlns:a16="http://schemas.microsoft.com/office/drawing/2014/main" id="{D09C878A-5E76-4134-B74B-223E1693FC32}"/>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5F6F52"/>
                </a:solidFill>
                <a:latin typeface="Arial"/>
                <a:ea typeface="Arial"/>
                <a:cs typeface="Arial"/>
              </a:defRPr>
            </a:pPr>
            <a:r>
              <a:rPr sz="6750" b="1">
                <a:solidFill>
                  <a:srgbClr val="5F6F52"/>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809FBCA-D5A8-46DC-86A0-3F24F77FB76D}"/>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Batch jobs read bounded input and produce derived output.</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254698649"/>
      </p:ext>
    </p:extLst>
  </p:cSld>
</p:sld>
</file>

<file path=ppt/slides/slide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0A451E5-9EF5-4E8F-A5B5-154CD53D04DB}"/>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5F6F52"/>
                </a:solidFill>
                <a:latin typeface="Arial"/>
                <a:ea typeface="Arial"/>
                <a:cs typeface="Arial"/>
              </a:defRPr>
            </a:pPr>
            <a:r>
              <a:rPr sz="1200" b="1" spc="2">
                <a:solidFill>
                  <a:srgbClr val="5F6F52"/>
                </a:solidFill>
                <a:latin typeface="Arial"/>
                <a:ea typeface="Arial"/>
                <a:cs typeface="Arial"/>
              </a:rPr>
              <a:t>CHAPTER 11</a:t>
            </a:r>
          </a:p>
        </p:txBody>
      </p:sp>
      <p:sp>
        <p:nvSpPr>
          <p:cNvPr id="2" name="">
            <a:extLst xmlns:a="http://schemas.openxmlformats.org/drawingml/2006/main">
              <a:ext uri="{FF2B5EF4-FFF2-40B4-BE49-F238E27FC236}">
                <a16:creationId xmlns:a16="http://schemas.microsoft.com/office/drawing/2014/main" id="{C082802B-00D2-4BEE-AE61-C17385EC72DC}"/>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Unix tools</a:t>
            </a:r>
          </a:p>
        </p:txBody>
      </p:sp>
      <p:sp>
        <p:nvSpPr>
          <p:cNvPr id="3" name="">
            <a:extLst xmlns:a="http://schemas.openxmlformats.org/drawingml/2006/main">
              <a:ext uri="{FF2B5EF4-FFF2-40B4-BE49-F238E27FC236}">
                <a16:creationId xmlns:a16="http://schemas.microsoft.com/office/drawing/2014/main" id="{9C345114-4597-4E41-A559-7766E9309003}"/>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05 / 16</a:t>
            </a:r>
          </a:p>
        </p:txBody>
      </p:sp>
      <p:sp>
        <p:nvSpPr>
          <p:cNvPr id="4" name="">
            <a:extLst xmlns:a="http://schemas.openxmlformats.org/drawingml/2006/main">
              <a:ext uri="{FF2B5EF4-FFF2-40B4-BE49-F238E27FC236}">
                <a16:creationId xmlns:a16="http://schemas.microsoft.com/office/drawing/2014/main" id="{45338943-46B1-4233-8B2D-65E6DB4678FF}"/>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5F6F52"/>
                </a:solidFill>
                <a:latin typeface="Arial"/>
                <a:ea typeface="Arial"/>
                <a:cs typeface="Arial"/>
              </a:defRPr>
            </a:pPr>
            <a:r>
              <a:rPr sz="6750" b="1">
                <a:solidFill>
                  <a:srgbClr val="5F6F52"/>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2FCF5A54-EA55-46E2-B5BD-722E3F6447DE}"/>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Pipelines compose small tools through stream interfaces.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Sorting enables grouping and joins beyond memory size.</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Text streams are simple but lack rich types and distributed scheduling.</a:t>
            </a:r>
          </a:p>
        </p:txBody>
      </p:sp>
      <p:sp>
        <p:nvSpPr>
          <p:cNvPr id="6" name="">
            <a:extLst xmlns:a="http://schemas.openxmlformats.org/drawingml/2006/main">
              <a:ext uri="{FF2B5EF4-FFF2-40B4-BE49-F238E27FC236}">
                <a16:creationId xmlns:a16="http://schemas.microsoft.com/office/drawing/2014/main" id="{A81226C4-8358-4D40-9A6E-5B0FA95D63FE}"/>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5F6F52"/>
                </a:solidFill>
                <a:latin typeface="Arial"/>
                <a:ea typeface="Arial"/>
                <a:cs typeface="Arial"/>
              </a:defRPr>
            </a:pPr>
            <a:r>
              <a:rPr sz="1200" b="1">
                <a:solidFill>
                  <a:srgbClr val="5F6F52"/>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54FDBA5A-766E-43A1-B74D-EC63A377789C}"/>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57788312"/>
      </p:ext>
    </p:extLst>
  </p:cSld>
</p:sld>
</file>

<file path=ppt/slides/slide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F8F997-1808-4880-B4F8-42BC43361407}"/>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5F6F52"/>
                </a:solidFill>
                <a:latin typeface="Arial"/>
                <a:ea typeface="Arial"/>
                <a:cs typeface="Arial"/>
              </a:defRPr>
            </a:pPr>
            <a:r>
              <a:rPr sz="1200" b="1" spc="2">
                <a:solidFill>
                  <a:srgbClr val="5F6F52"/>
                </a:solidFill>
                <a:latin typeface="Arial"/>
                <a:ea typeface="Arial"/>
                <a:cs typeface="Arial"/>
              </a:rPr>
              <a:t>CHAPTER 11</a:t>
            </a:r>
          </a:p>
        </p:txBody>
      </p:sp>
      <p:sp>
        <p:nvSpPr>
          <p:cNvPr id="2" name="">
            <a:extLst xmlns:a="http://schemas.openxmlformats.org/drawingml/2006/main">
              <a:ext uri="{FF2B5EF4-FFF2-40B4-BE49-F238E27FC236}">
                <a16:creationId xmlns:a16="http://schemas.microsoft.com/office/drawing/2014/main" id="{BE232F8F-4AF5-4714-A6BB-AE3206E53F6E}"/>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Unix tools: design trade-offs</a:t>
            </a:r>
          </a:p>
        </p:txBody>
      </p:sp>
      <p:sp>
        <p:nvSpPr>
          <p:cNvPr id="3" name="">
            <a:extLst xmlns:a="http://schemas.openxmlformats.org/drawingml/2006/main">
              <a:ext uri="{FF2B5EF4-FFF2-40B4-BE49-F238E27FC236}">
                <a16:creationId xmlns:a16="http://schemas.microsoft.com/office/drawing/2014/main" id="{713C0AF8-20BD-484D-A654-58A8124CF5B9}"/>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06 / 16</a:t>
            </a:r>
          </a:p>
        </p:txBody>
      </p:sp>
      <p:sp>
        <p:nvSpPr>
          <p:cNvPr id="4" name="">
            <a:extLst xmlns:a="http://schemas.openxmlformats.org/drawingml/2006/main">
              <a:ext uri="{FF2B5EF4-FFF2-40B4-BE49-F238E27FC236}">
                <a16:creationId xmlns:a16="http://schemas.microsoft.com/office/drawing/2014/main" id="{6383EC89-98BB-4138-8360-298A3A0BD219}"/>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5F6F52"/>
                </a:solidFill>
                <a:latin typeface="Arial"/>
                <a:ea typeface="Arial"/>
                <a:cs typeface="Arial"/>
              </a:defRPr>
            </a:pPr>
            <a:r>
              <a:rPr sz="6750" b="1">
                <a:solidFill>
                  <a:srgbClr val="5F6F52"/>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8CAABF01-C206-44E5-8217-84E32EA8C896}"/>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Pipelines compose small tools through stream interfaces.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747886299"/>
      </p:ext>
    </p:extLst>
  </p:cSld>
</p:sld>
</file>

<file path=ppt/slides/slide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225FB0E-41EA-46A6-BE46-9AAB4944C3D5}"/>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5F6F52"/>
                </a:solidFill>
                <a:latin typeface="Arial"/>
                <a:ea typeface="Arial"/>
                <a:cs typeface="Arial"/>
              </a:defRPr>
            </a:pPr>
            <a:r>
              <a:rPr sz="1200" b="1" spc="2">
                <a:solidFill>
                  <a:srgbClr val="5F6F52"/>
                </a:solidFill>
                <a:latin typeface="Arial"/>
                <a:ea typeface="Arial"/>
                <a:cs typeface="Arial"/>
              </a:rPr>
              <a:t>CHAPTER 11</a:t>
            </a:r>
          </a:p>
        </p:txBody>
      </p:sp>
      <p:sp>
        <p:nvSpPr>
          <p:cNvPr id="2" name="">
            <a:extLst xmlns:a="http://schemas.openxmlformats.org/drawingml/2006/main">
              <a:ext uri="{FF2B5EF4-FFF2-40B4-BE49-F238E27FC236}">
                <a16:creationId xmlns:a16="http://schemas.microsoft.com/office/drawing/2014/main" id="{6DB20843-C82B-4798-B3D2-A6862877B98C}"/>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Distributed execution</a:t>
            </a:r>
          </a:p>
        </p:txBody>
      </p:sp>
      <p:sp>
        <p:nvSpPr>
          <p:cNvPr id="3" name="">
            <a:extLst xmlns:a="http://schemas.openxmlformats.org/drawingml/2006/main">
              <a:ext uri="{FF2B5EF4-FFF2-40B4-BE49-F238E27FC236}">
                <a16:creationId xmlns:a16="http://schemas.microsoft.com/office/drawing/2014/main" id="{D4395480-4124-472E-9010-F89EDCF54067}"/>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07 / 16</a:t>
            </a:r>
          </a:p>
        </p:txBody>
      </p:sp>
      <p:sp>
        <p:nvSpPr>
          <p:cNvPr id="4" name="">
            <a:extLst xmlns:a="http://schemas.openxmlformats.org/drawingml/2006/main">
              <a:ext uri="{FF2B5EF4-FFF2-40B4-BE49-F238E27FC236}">
                <a16:creationId xmlns:a16="http://schemas.microsoft.com/office/drawing/2014/main" id="{0B56552F-7578-4933-9CA2-9578BBB4244A}"/>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5F6F52"/>
                </a:solidFill>
                <a:latin typeface="Arial"/>
                <a:ea typeface="Arial"/>
                <a:cs typeface="Arial"/>
              </a:defRPr>
            </a:pPr>
            <a:r>
              <a:rPr sz="6750" b="1">
                <a:solidFill>
                  <a:srgbClr val="5F6F52"/>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3E6DBB6A-8601-4FE4-B57A-49214F1FC194}"/>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Distributed filesystems and object stores provide shared inputs and outputs.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Schedulers place tasks, monitor them, and retry failures.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Object storage shifts optimization from disk locality toward network and compute elasticity.</a:t>
            </a:r>
          </a:p>
        </p:txBody>
      </p:sp>
      <p:sp>
        <p:nvSpPr>
          <p:cNvPr id="6" name="">
            <a:extLst xmlns:a="http://schemas.openxmlformats.org/drawingml/2006/main">
              <a:ext uri="{FF2B5EF4-FFF2-40B4-BE49-F238E27FC236}">
                <a16:creationId xmlns:a16="http://schemas.microsoft.com/office/drawing/2014/main" id="{2C12A5E2-F405-40F9-8569-00C4D4667EC2}"/>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5F6F52"/>
                </a:solidFill>
                <a:latin typeface="Arial"/>
                <a:ea typeface="Arial"/>
                <a:cs typeface="Arial"/>
              </a:defRPr>
            </a:pPr>
            <a:r>
              <a:rPr sz="1200" b="1">
                <a:solidFill>
                  <a:srgbClr val="5F6F52"/>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63582603-D932-4995-A974-349B1B58F456}"/>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548443011"/>
      </p:ext>
    </p:extLst>
  </p:cSld>
</p:sld>
</file>

<file path=ppt/slides/slide8.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384D2A-B097-4502-9015-D0ED21EC9850}"/>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5F6F52"/>
                </a:solidFill>
                <a:latin typeface="Arial"/>
                <a:ea typeface="Arial"/>
                <a:cs typeface="Arial"/>
              </a:defRPr>
            </a:pPr>
            <a:r>
              <a:rPr sz="1200" b="1" spc="2">
                <a:solidFill>
                  <a:srgbClr val="5F6F52"/>
                </a:solidFill>
                <a:latin typeface="Arial"/>
                <a:ea typeface="Arial"/>
                <a:cs typeface="Arial"/>
              </a:rPr>
              <a:t>CHAPTER 11</a:t>
            </a:r>
          </a:p>
        </p:txBody>
      </p:sp>
      <p:sp>
        <p:nvSpPr>
          <p:cNvPr id="2" name="">
            <a:extLst xmlns:a="http://schemas.openxmlformats.org/drawingml/2006/main">
              <a:ext uri="{FF2B5EF4-FFF2-40B4-BE49-F238E27FC236}">
                <a16:creationId xmlns:a16="http://schemas.microsoft.com/office/drawing/2014/main" id="{8409A098-EFDF-4399-9A70-A25619CBA204}"/>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Distributed execution: design trade-offs</a:t>
            </a:r>
          </a:p>
        </p:txBody>
      </p:sp>
      <p:sp>
        <p:nvSpPr>
          <p:cNvPr id="3" name="">
            <a:extLst xmlns:a="http://schemas.openxmlformats.org/drawingml/2006/main">
              <a:ext uri="{FF2B5EF4-FFF2-40B4-BE49-F238E27FC236}">
                <a16:creationId xmlns:a16="http://schemas.microsoft.com/office/drawing/2014/main" id="{BBDEBE81-F36B-46BF-AF52-B8D750E615E7}"/>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08 / 16</a:t>
            </a:r>
          </a:p>
        </p:txBody>
      </p:sp>
      <p:sp>
        <p:nvSpPr>
          <p:cNvPr id="4" name="">
            <a:extLst xmlns:a="http://schemas.openxmlformats.org/drawingml/2006/main">
              <a:ext uri="{FF2B5EF4-FFF2-40B4-BE49-F238E27FC236}">
                <a16:creationId xmlns:a16="http://schemas.microsoft.com/office/drawing/2014/main" id="{2C3F0585-6982-4432-93E6-28F59DE505E4}"/>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5F6F52"/>
                </a:solidFill>
                <a:latin typeface="Arial"/>
                <a:ea typeface="Arial"/>
                <a:cs typeface="Arial"/>
              </a:defRPr>
            </a:pPr>
            <a:r>
              <a:rPr sz="6750" b="1">
                <a:solidFill>
                  <a:srgbClr val="5F6F52"/>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A10D2905-3C64-4C7E-9E43-E2B63621F284}"/>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Distributed filesystems and object stores provide shared inputs and outputs.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053796332"/>
      </p:ext>
    </p:extLst>
  </p:cSld>
</p:sld>
</file>

<file path=ppt/slides/slide9.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8C38B33-32D0-4CBA-98DE-49042BF20589}"/>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5F6F52"/>
                </a:solidFill>
                <a:latin typeface="Arial"/>
                <a:ea typeface="Arial"/>
                <a:cs typeface="Arial"/>
              </a:defRPr>
            </a:pPr>
            <a:r>
              <a:rPr sz="1200" b="1" spc="2">
                <a:solidFill>
                  <a:srgbClr val="5F6F52"/>
                </a:solidFill>
                <a:latin typeface="Arial"/>
                <a:ea typeface="Arial"/>
                <a:cs typeface="Arial"/>
              </a:rPr>
              <a:t>CHAPTER 11</a:t>
            </a:r>
          </a:p>
        </p:txBody>
      </p:sp>
      <p:sp>
        <p:nvSpPr>
          <p:cNvPr id="2" name="">
            <a:extLst xmlns:a="http://schemas.openxmlformats.org/drawingml/2006/main">
              <a:ext uri="{FF2B5EF4-FFF2-40B4-BE49-F238E27FC236}">
                <a16:creationId xmlns:a16="http://schemas.microsoft.com/office/drawing/2014/main" id="{04A31A5F-BD1C-4BFF-9EB4-3DF1825EBD91}"/>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Execution models</a:t>
            </a:r>
          </a:p>
        </p:txBody>
      </p:sp>
      <p:sp>
        <p:nvSpPr>
          <p:cNvPr id="3" name="">
            <a:extLst xmlns:a="http://schemas.openxmlformats.org/drawingml/2006/main">
              <a:ext uri="{FF2B5EF4-FFF2-40B4-BE49-F238E27FC236}">
                <a16:creationId xmlns:a16="http://schemas.microsoft.com/office/drawing/2014/main" id="{ADAD2FAA-FF66-4E1E-8852-9349145ACBE9}"/>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09 / 16</a:t>
            </a:r>
          </a:p>
        </p:txBody>
      </p:sp>
      <p:sp>
        <p:nvSpPr>
          <p:cNvPr id="4" name="">
            <a:extLst xmlns:a="http://schemas.openxmlformats.org/drawingml/2006/main">
              <a:ext uri="{FF2B5EF4-FFF2-40B4-BE49-F238E27FC236}">
                <a16:creationId xmlns:a16="http://schemas.microsoft.com/office/drawing/2014/main" id="{52450B9D-B47D-4129-8064-2895A6F62A6B}"/>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5F6F52"/>
                </a:solidFill>
                <a:latin typeface="Arial"/>
                <a:ea typeface="Arial"/>
                <a:cs typeface="Arial"/>
              </a:defRPr>
            </a:pPr>
            <a:r>
              <a:rPr sz="6750" b="1">
                <a:solidFill>
                  <a:srgbClr val="5F6F52"/>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D2EFD4B6-6F51-4BB6-A36A-F064474C27DE}"/>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MapReduce organizes map, shuffle, and reduce stages.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Dataflow engines fuse several operations into an execution graph.</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Shuffle boundaries dominate network, disk, and latency cost.</a:t>
            </a:r>
          </a:p>
        </p:txBody>
      </p:sp>
      <p:sp>
        <p:nvSpPr>
          <p:cNvPr id="6" name="">
            <a:extLst xmlns:a="http://schemas.openxmlformats.org/drawingml/2006/main">
              <a:ext uri="{FF2B5EF4-FFF2-40B4-BE49-F238E27FC236}">
                <a16:creationId xmlns:a16="http://schemas.microsoft.com/office/drawing/2014/main" id="{6611BFE9-F628-4A81-893C-FD93B0EE1390}"/>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5F6F52"/>
                </a:solidFill>
                <a:latin typeface="Arial"/>
                <a:ea typeface="Arial"/>
                <a:cs typeface="Arial"/>
              </a:defRPr>
            </a:pPr>
            <a:r>
              <a:rPr sz="1200" b="1">
                <a:solidFill>
                  <a:srgbClr val="5F6F52"/>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27F8B17C-7E8F-430A-8176-C03C0C7FBB82}"/>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717806063"/>
      </p:ext>
    </p:extLst>
  </p:cSld>
</p:sld>
</file>

<file path=ppt/slides/slide10.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74AC0C-B9A6-4519-A421-9F0CAF425350}"/>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5F6F52"/>
                </a:solidFill>
                <a:latin typeface="Arial"/>
                <a:ea typeface="Arial"/>
                <a:cs typeface="Arial"/>
              </a:defRPr>
            </a:pPr>
            <a:r>
              <a:rPr sz="1200" b="1" spc="2">
                <a:solidFill>
                  <a:srgbClr val="5F6F52"/>
                </a:solidFill>
                <a:latin typeface="Arial"/>
                <a:ea typeface="Arial"/>
                <a:cs typeface="Arial"/>
              </a:rPr>
              <a:t>CHAPTER 11</a:t>
            </a:r>
          </a:p>
        </p:txBody>
      </p:sp>
      <p:sp>
        <p:nvSpPr>
          <p:cNvPr id="2" name="">
            <a:extLst xmlns:a="http://schemas.openxmlformats.org/drawingml/2006/main">
              <a:ext uri="{FF2B5EF4-FFF2-40B4-BE49-F238E27FC236}">
                <a16:creationId xmlns:a16="http://schemas.microsoft.com/office/drawing/2014/main" id="{96F9236E-05FB-4C01-A265-D3A165E9EFEB}"/>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Execution models: design trade-offs</a:t>
            </a:r>
          </a:p>
        </p:txBody>
      </p:sp>
      <p:sp>
        <p:nvSpPr>
          <p:cNvPr id="3" name="">
            <a:extLst xmlns:a="http://schemas.openxmlformats.org/drawingml/2006/main">
              <a:ext uri="{FF2B5EF4-FFF2-40B4-BE49-F238E27FC236}">
                <a16:creationId xmlns:a16="http://schemas.microsoft.com/office/drawing/2014/main" id="{4AF9C1D4-E629-496E-AF31-7650633FECF5}"/>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10 / 16</a:t>
            </a:r>
          </a:p>
        </p:txBody>
      </p:sp>
      <p:sp>
        <p:nvSpPr>
          <p:cNvPr id="4" name="">
            <a:extLst xmlns:a="http://schemas.openxmlformats.org/drawingml/2006/main">
              <a:ext uri="{FF2B5EF4-FFF2-40B4-BE49-F238E27FC236}">
                <a16:creationId xmlns:a16="http://schemas.microsoft.com/office/drawing/2014/main" id="{1FE5C1D0-6195-43C5-B01A-1A53DE583F9C}"/>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5F6F52"/>
                </a:solidFill>
                <a:latin typeface="Arial"/>
                <a:ea typeface="Arial"/>
                <a:cs typeface="Arial"/>
              </a:defRPr>
            </a:pPr>
            <a:r>
              <a:rPr sz="6750" b="1">
                <a:solidFill>
                  <a:srgbClr val="5F6F52"/>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AD3DC1F4-1021-4E47-9822-8B4CC61C994D}"/>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MapReduce organizes map, shuffle, and reduce stages.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7416371"/>
      </p:ext>
    </p:extLst>
  </p:cSld>
</p:sld>
</file>

<file path=ppt/slides/slide11.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7BE12FB-82FB-404E-9194-96FD9EC2F3FE}"/>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5F6F52"/>
                </a:solidFill>
                <a:latin typeface="Arial"/>
                <a:ea typeface="Arial"/>
                <a:cs typeface="Arial"/>
              </a:defRPr>
            </a:pPr>
            <a:r>
              <a:rPr sz="1200" b="1" spc="2">
                <a:solidFill>
                  <a:srgbClr val="5F6F52"/>
                </a:solidFill>
                <a:latin typeface="Arial"/>
                <a:ea typeface="Arial"/>
                <a:cs typeface="Arial"/>
              </a:rPr>
              <a:t>CHAPTER 11</a:t>
            </a:r>
          </a:p>
        </p:txBody>
      </p:sp>
      <p:sp>
        <p:nvSpPr>
          <p:cNvPr id="2" name="">
            <a:extLst xmlns:a="http://schemas.openxmlformats.org/drawingml/2006/main">
              <a:ext uri="{FF2B5EF4-FFF2-40B4-BE49-F238E27FC236}">
                <a16:creationId xmlns:a16="http://schemas.microsoft.com/office/drawing/2014/main" id="{3B52ACF6-E59C-47BA-B2EF-A618274000EA}"/>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11-1: mechanism explained</a:t>
            </a:r>
          </a:p>
        </p:txBody>
      </p:sp>
      <p:sp>
        <p:nvSpPr>
          <p:cNvPr id="3" name="">
            <a:extLst xmlns:a="http://schemas.openxmlformats.org/drawingml/2006/main">
              <a:ext uri="{FF2B5EF4-FFF2-40B4-BE49-F238E27FC236}">
                <a16:creationId xmlns:a16="http://schemas.microsoft.com/office/drawing/2014/main" id="{A9BCF2FA-96A5-4E45-928E-3C0547137026}"/>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11 / 16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1550ce834e3435a"/>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9C209C7-30A5-46AC-B037-0AF55AFD1225}"/>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5F6F52"/>
                </a:solidFill>
                <a:latin typeface="Arial"/>
                <a:ea typeface="Arial"/>
                <a:cs typeface="Arial"/>
              </a:defRPr>
            </a:pPr>
            <a:r>
              <a:rPr sz="1200" b="1">
                <a:solidFill>
                  <a:srgbClr val="5F6F52"/>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861BB900-C081-4C39-8DBC-23C9C2EB0C55}"/>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Data is partitioned, shuffled by key, and combined in parallel.</a:t>
            </a:r>
          </a:p>
        </p:txBody>
      </p:sp>
      <p:sp>
        <p:nvSpPr>
          <p:cNvPr id="7" name="">
            <a:extLst xmlns:a="http://schemas.openxmlformats.org/drawingml/2006/main">
              <a:ext uri="{FF2B5EF4-FFF2-40B4-BE49-F238E27FC236}">
                <a16:creationId xmlns:a16="http://schemas.microsoft.com/office/drawing/2014/main" id="{C172CD7C-D70C-47A6-8BA1-7079671D7017}"/>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5F6F52"/>
                </a:solidFill>
                <a:latin typeface="Arial"/>
                <a:ea typeface="Arial"/>
                <a:cs typeface="Arial"/>
              </a:defRPr>
            </a:pPr>
            <a:r>
              <a:rPr sz="1200" b="1">
                <a:solidFill>
                  <a:srgbClr val="5F6F52"/>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D6AFCD5E-A245-42D4-B7C7-EC39C5C9A894}"/>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Shuffle and sorting are the major network and disk cost boundaries.</a:t>
            </a:r>
          </a:p>
        </p:txBody>
      </p:sp>
      <p:sp>
        <p:nvSpPr>
          <p:cNvPr id="9" name="">
            <a:extLst xmlns:a="http://schemas.openxmlformats.org/drawingml/2006/main">
              <a:ext uri="{FF2B5EF4-FFF2-40B4-BE49-F238E27FC236}">
                <a16:creationId xmlns:a16="http://schemas.microsoft.com/office/drawing/2014/main" id="{06C8E9DF-1090-4ACC-9430-91A59D4A8E1C}"/>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5F6F52"/>
                </a:solidFill>
                <a:latin typeface="Arial"/>
                <a:ea typeface="Arial"/>
                <a:cs typeface="Arial"/>
              </a:defRPr>
            </a:pPr>
            <a:r>
              <a:rPr sz="1200" b="1">
                <a:solidFill>
                  <a:srgbClr val="5F6F52"/>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4614B8E8-24FB-463E-9E27-A3785A97741A}"/>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942152488"/>
      </p:ext>
    </p:extLst>
  </p:cSld>
</p:sld>
</file>

<file path=ppt/slides/slide1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8791469-BEEB-4527-BD20-E13732CBA830}"/>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5F6F52"/>
                </a:solidFill>
                <a:latin typeface="Arial"/>
                <a:ea typeface="Arial"/>
                <a:cs typeface="Arial"/>
              </a:defRPr>
            </a:pPr>
            <a:r>
              <a:rPr sz="1200" b="1" spc="2">
                <a:solidFill>
                  <a:srgbClr val="5F6F52"/>
                </a:solidFill>
                <a:latin typeface="Arial"/>
                <a:ea typeface="Arial"/>
                <a:cs typeface="Arial"/>
              </a:rPr>
              <a:t>CHAPTER 11</a:t>
            </a:r>
          </a:p>
        </p:txBody>
      </p:sp>
      <p:sp>
        <p:nvSpPr>
          <p:cNvPr id="2" name="">
            <a:extLst xmlns:a="http://schemas.openxmlformats.org/drawingml/2006/main">
              <a:ext uri="{FF2B5EF4-FFF2-40B4-BE49-F238E27FC236}">
                <a16:creationId xmlns:a16="http://schemas.microsoft.com/office/drawing/2014/main" id="{07D96537-9FD6-4A90-BDA1-F40582D412CD}"/>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11-2: mechanism explained</a:t>
            </a:r>
          </a:p>
        </p:txBody>
      </p:sp>
      <p:sp>
        <p:nvSpPr>
          <p:cNvPr id="3" name="">
            <a:extLst xmlns:a="http://schemas.openxmlformats.org/drawingml/2006/main">
              <a:ext uri="{FF2B5EF4-FFF2-40B4-BE49-F238E27FC236}">
                <a16:creationId xmlns:a16="http://schemas.microsoft.com/office/drawing/2014/main" id="{3D4CCDB5-4B22-431A-B05A-C69A8892ACB3}"/>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12 / 16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723644f29ab4a75"/>
          <a:stretch xmlns:a="http://schemas.openxmlformats.org/drawingml/2006/main"/>
        </p:blipFill>
        <p:spPr>
          <a:xfrm xmlns:a="http://schemas.openxmlformats.org/drawingml/2006/main">
            <a:off x="514350" y="1501144"/>
            <a:ext cx="7762875" cy="433196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D040841-3452-452E-9CE0-24220F64C4FE}"/>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5F6F52"/>
                </a:solidFill>
                <a:latin typeface="Arial"/>
                <a:ea typeface="Arial"/>
                <a:cs typeface="Arial"/>
              </a:defRPr>
            </a:pPr>
            <a:r>
              <a:rPr sz="1200" b="1">
                <a:solidFill>
                  <a:srgbClr val="5F6F52"/>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83B6E068-0F3E-473A-9AA0-91E0B5CFCD2B}"/>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Data is partitioned, shuffled by key, and combined in parallel.</a:t>
            </a:r>
          </a:p>
        </p:txBody>
      </p:sp>
      <p:sp>
        <p:nvSpPr>
          <p:cNvPr id="7" name="">
            <a:extLst xmlns:a="http://schemas.openxmlformats.org/drawingml/2006/main">
              <a:ext uri="{FF2B5EF4-FFF2-40B4-BE49-F238E27FC236}">
                <a16:creationId xmlns:a16="http://schemas.microsoft.com/office/drawing/2014/main" id="{E2E7B1F1-FB64-4F1D-8046-90D5B16BAC21}"/>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5F6F52"/>
                </a:solidFill>
                <a:latin typeface="Arial"/>
                <a:ea typeface="Arial"/>
                <a:cs typeface="Arial"/>
              </a:defRPr>
            </a:pPr>
            <a:r>
              <a:rPr sz="1200" b="1">
                <a:solidFill>
                  <a:srgbClr val="5F6F52"/>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AA83F5A5-44FB-4564-B927-92732EC2DC18}"/>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Shuffle and sorting are the major network and disk cost boundaries.</a:t>
            </a:r>
          </a:p>
        </p:txBody>
      </p:sp>
      <p:sp>
        <p:nvSpPr>
          <p:cNvPr id="9" name="">
            <a:extLst xmlns:a="http://schemas.openxmlformats.org/drawingml/2006/main">
              <a:ext uri="{FF2B5EF4-FFF2-40B4-BE49-F238E27FC236}">
                <a16:creationId xmlns:a16="http://schemas.microsoft.com/office/drawing/2014/main" id="{3CB0D40E-C1D0-4E0C-AECB-9CBD19B0AB53}"/>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5F6F52"/>
                </a:solidFill>
                <a:latin typeface="Arial"/>
                <a:ea typeface="Arial"/>
                <a:cs typeface="Arial"/>
              </a:defRPr>
            </a:pPr>
            <a:r>
              <a:rPr sz="1200" b="1">
                <a:solidFill>
                  <a:srgbClr val="5F6F52"/>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B9CD5D3F-5469-4FAA-A1F4-1CA4C186A69F}"/>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585631136"/>
      </p:ext>
    </p:extLst>
  </p:cSld>
</p:sld>
</file>

<file path=ppt/slides/slide1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82CCC72-65E5-4CD3-8307-CF0D0961AC59}"/>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5F6F52"/>
                </a:solidFill>
                <a:latin typeface="Arial"/>
                <a:ea typeface="Arial"/>
                <a:cs typeface="Arial"/>
              </a:defRPr>
            </a:pPr>
            <a:r>
              <a:rPr sz="1200" b="1" spc="2">
                <a:solidFill>
                  <a:srgbClr val="5F6F52"/>
                </a:solidFill>
                <a:latin typeface="Arial"/>
                <a:ea typeface="Arial"/>
                <a:cs typeface="Arial"/>
              </a:rPr>
              <a:t>CHAPTER 11</a:t>
            </a:r>
          </a:p>
        </p:txBody>
      </p:sp>
      <p:sp>
        <p:nvSpPr>
          <p:cNvPr id="2" name="">
            <a:extLst xmlns:a="http://schemas.openxmlformats.org/drawingml/2006/main">
              <a:ext uri="{FF2B5EF4-FFF2-40B4-BE49-F238E27FC236}">
                <a16:creationId xmlns:a16="http://schemas.microsoft.com/office/drawing/2014/main" id="{8AE130BA-0CB6-4EBF-AB4A-9FA0846D040E}"/>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11-3: mechanism explained</a:t>
            </a:r>
          </a:p>
        </p:txBody>
      </p:sp>
      <p:sp>
        <p:nvSpPr>
          <p:cNvPr id="3" name="">
            <a:extLst xmlns:a="http://schemas.openxmlformats.org/drawingml/2006/main">
              <a:ext uri="{FF2B5EF4-FFF2-40B4-BE49-F238E27FC236}">
                <a16:creationId xmlns:a16="http://schemas.microsoft.com/office/drawing/2014/main" id="{DBA16407-0A27-4785-9099-E665C5B1D8AD}"/>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13 / 16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6df9af4bd12459e"/>
          <a:stretch xmlns:a="http://schemas.openxmlformats.org/drawingml/2006/main"/>
        </p:blipFill>
        <p:spPr>
          <a:xfrm xmlns:a="http://schemas.openxmlformats.org/drawingml/2006/main">
            <a:off x="1217003" y="1285875"/>
            <a:ext cx="6357569"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D81325D-F652-491E-BA00-5FD7DC3A8459}"/>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5F6F52"/>
                </a:solidFill>
                <a:latin typeface="Arial"/>
                <a:ea typeface="Arial"/>
                <a:cs typeface="Arial"/>
              </a:defRPr>
            </a:pPr>
            <a:r>
              <a:rPr sz="1200" b="1">
                <a:solidFill>
                  <a:srgbClr val="5F6F52"/>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8E82B650-BB55-4F98-A743-0189E8ECD1A0}"/>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Keys, requests, or index entries are assigned across partitions.</a:t>
            </a:r>
          </a:p>
        </p:txBody>
      </p:sp>
      <p:sp>
        <p:nvSpPr>
          <p:cNvPr id="7" name="">
            <a:extLst xmlns:a="http://schemas.openxmlformats.org/drawingml/2006/main">
              <a:ext uri="{FF2B5EF4-FFF2-40B4-BE49-F238E27FC236}">
                <a16:creationId xmlns:a16="http://schemas.microsoft.com/office/drawing/2014/main" id="{0EED5C90-06FD-41CB-ABE7-282F8BDA8216}"/>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5F6F52"/>
                </a:solidFill>
                <a:latin typeface="Arial"/>
                <a:ea typeface="Arial"/>
                <a:cs typeface="Arial"/>
              </a:defRPr>
            </a:pPr>
            <a:r>
              <a:rPr sz="1200" b="1">
                <a:solidFill>
                  <a:srgbClr val="5F6F52"/>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1D77DF9A-59AB-47E6-AED2-39D8EB8EFC95}"/>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assignment controls balance, range locality, routing work, and rebalancing cost.</a:t>
            </a:r>
          </a:p>
        </p:txBody>
      </p:sp>
      <p:sp>
        <p:nvSpPr>
          <p:cNvPr id="9" name="">
            <a:extLst xmlns:a="http://schemas.openxmlformats.org/drawingml/2006/main">
              <a:ext uri="{FF2B5EF4-FFF2-40B4-BE49-F238E27FC236}">
                <a16:creationId xmlns:a16="http://schemas.microsoft.com/office/drawing/2014/main" id="{A6644631-F377-43D0-95A0-1956C1606F54}"/>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5F6F52"/>
                </a:solidFill>
                <a:latin typeface="Arial"/>
                <a:ea typeface="Arial"/>
                <a:cs typeface="Arial"/>
              </a:defRPr>
            </a:pPr>
            <a:r>
              <a:rPr sz="1200" b="1">
                <a:solidFill>
                  <a:srgbClr val="5F6F52"/>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274B0AD7-363C-4127-8AF1-85D64AAB97D7}"/>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448452366"/>
      </p:ext>
    </p:extLst>
  </p:cSld>
</p:sld>
</file>

<file path=ppt/slides/slide1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7726E6-B6C8-4793-9364-0444D624027D}"/>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5F6F52"/>
                </a:solidFill>
                <a:latin typeface="Arial"/>
                <a:ea typeface="Arial"/>
                <a:cs typeface="Arial"/>
              </a:defRPr>
            </a:pPr>
            <a:r>
              <a:rPr sz="1200" b="1" spc="2">
                <a:solidFill>
                  <a:srgbClr val="5F6F52"/>
                </a:solidFill>
                <a:latin typeface="Arial"/>
                <a:ea typeface="Arial"/>
                <a:cs typeface="Arial"/>
              </a:rPr>
              <a:t>CHAPTER 11</a:t>
            </a:r>
          </a:p>
        </p:txBody>
      </p:sp>
      <p:sp>
        <p:nvSpPr>
          <p:cNvPr id="2" name="">
            <a:extLst xmlns:a="http://schemas.openxmlformats.org/drawingml/2006/main">
              <a:ext uri="{FF2B5EF4-FFF2-40B4-BE49-F238E27FC236}">
                <a16:creationId xmlns:a16="http://schemas.microsoft.com/office/drawing/2014/main" id="{13974F13-1A1F-4DB3-8727-FFE5266AF4B3}"/>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Batch use cases</a:t>
            </a:r>
          </a:p>
        </p:txBody>
      </p:sp>
      <p:sp>
        <p:nvSpPr>
          <p:cNvPr id="3" name="">
            <a:extLst xmlns:a="http://schemas.openxmlformats.org/drawingml/2006/main">
              <a:ext uri="{FF2B5EF4-FFF2-40B4-BE49-F238E27FC236}">
                <a16:creationId xmlns:a16="http://schemas.microsoft.com/office/drawing/2014/main" id="{5C33A22D-9349-41EE-A137-1A78893E7A53}"/>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14 / 16</a:t>
            </a:r>
          </a:p>
        </p:txBody>
      </p:sp>
      <p:sp>
        <p:nvSpPr>
          <p:cNvPr id="4" name="">
            <a:extLst xmlns:a="http://schemas.openxmlformats.org/drawingml/2006/main">
              <a:ext uri="{FF2B5EF4-FFF2-40B4-BE49-F238E27FC236}">
                <a16:creationId xmlns:a16="http://schemas.microsoft.com/office/drawing/2014/main" id="{ACEB4807-5745-471F-954E-7B9CA52C351F}"/>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5F6F52"/>
                </a:solidFill>
                <a:latin typeface="Arial"/>
                <a:ea typeface="Arial"/>
                <a:cs typeface="Arial"/>
              </a:defRPr>
            </a:pPr>
            <a:r>
              <a:rPr sz="6750" b="1">
                <a:solidFill>
                  <a:srgbClr val="5F6F52"/>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1354FE66-5025-44E9-A1B7-CC5673461874}"/>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ETL cleans and reshapes data for downstream systems.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Analytics and machine learning derive metrics and models from history.</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Serving layers load batch results into low-latency stores.</a:t>
            </a:r>
          </a:p>
        </p:txBody>
      </p:sp>
      <p:sp>
        <p:nvSpPr>
          <p:cNvPr id="6" name="">
            <a:extLst xmlns:a="http://schemas.openxmlformats.org/drawingml/2006/main">
              <a:ext uri="{FF2B5EF4-FFF2-40B4-BE49-F238E27FC236}">
                <a16:creationId xmlns:a16="http://schemas.microsoft.com/office/drawing/2014/main" id="{8699FAF6-ECA0-45F1-9DFB-D5F257BD919D}"/>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5F6F52"/>
                </a:solidFill>
                <a:latin typeface="Arial"/>
                <a:ea typeface="Arial"/>
                <a:cs typeface="Arial"/>
              </a:defRPr>
            </a:pPr>
            <a:r>
              <a:rPr sz="1200" b="1">
                <a:solidFill>
                  <a:srgbClr val="5F6F52"/>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58A67BE3-6C38-411C-9D8D-E46DE6680EED}"/>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08438501"/>
      </p:ext>
    </p:extLst>
  </p:cSld>
</p:sld>
</file>

<file path=ppt/slides/slide1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F85E01F-0711-4EBC-871D-57873D2A0646}"/>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5F6F52"/>
                </a:solidFill>
                <a:latin typeface="Arial"/>
                <a:ea typeface="Arial"/>
                <a:cs typeface="Arial"/>
              </a:defRPr>
            </a:pPr>
            <a:r>
              <a:rPr sz="1200" b="1" spc="2">
                <a:solidFill>
                  <a:srgbClr val="5F6F52"/>
                </a:solidFill>
                <a:latin typeface="Arial"/>
                <a:ea typeface="Arial"/>
                <a:cs typeface="Arial"/>
              </a:rPr>
              <a:t>CHAPTER 11</a:t>
            </a:r>
          </a:p>
        </p:txBody>
      </p:sp>
      <p:sp>
        <p:nvSpPr>
          <p:cNvPr id="2" name="">
            <a:extLst xmlns:a="http://schemas.openxmlformats.org/drawingml/2006/main">
              <a:ext uri="{FF2B5EF4-FFF2-40B4-BE49-F238E27FC236}">
                <a16:creationId xmlns:a16="http://schemas.microsoft.com/office/drawing/2014/main" id="{8C69E7D1-090A-43C2-8EE4-5BF4FCD8B513}"/>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Batch use cases: design trade-offs</a:t>
            </a:r>
          </a:p>
        </p:txBody>
      </p:sp>
      <p:sp>
        <p:nvSpPr>
          <p:cNvPr id="3" name="">
            <a:extLst xmlns:a="http://schemas.openxmlformats.org/drawingml/2006/main">
              <a:ext uri="{FF2B5EF4-FFF2-40B4-BE49-F238E27FC236}">
                <a16:creationId xmlns:a16="http://schemas.microsoft.com/office/drawing/2014/main" id="{61FBC02A-73D7-4A60-AFF7-E8686F285F70}"/>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15 / 16</a:t>
            </a:r>
          </a:p>
        </p:txBody>
      </p:sp>
      <p:sp>
        <p:nvSpPr>
          <p:cNvPr id="4" name="">
            <a:extLst xmlns:a="http://schemas.openxmlformats.org/drawingml/2006/main">
              <a:ext uri="{FF2B5EF4-FFF2-40B4-BE49-F238E27FC236}">
                <a16:creationId xmlns:a16="http://schemas.microsoft.com/office/drawing/2014/main" id="{5EBD69B7-8877-4AC4-BAF7-18A143E4965A}"/>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5F6F52"/>
                </a:solidFill>
                <a:latin typeface="Arial"/>
                <a:ea typeface="Arial"/>
                <a:cs typeface="Arial"/>
              </a:defRPr>
            </a:pPr>
            <a:r>
              <a:rPr sz="6750" b="1">
                <a:solidFill>
                  <a:srgbClr val="5F6F52"/>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1B7842AC-0433-4D91-AEA3-EB381ECCF6A6}"/>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ETL cleans and reshapes data for downstream systems.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927566404"/>
      </p:ext>
    </p:extLst>
  </p:cSld>
</p:sld>
</file>

<file path=ppt/slides/slide1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2C71A31-23DA-443D-950B-9D961F72FC5D}"/>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5F6F52"/>
                </a:solidFill>
                <a:latin typeface="Arial"/>
                <a:ea typeface="Arial"/>
                <a:cs typeface="Arial"/>
              </a:defRPr>
            </a:pPr>
            <a:r>
              <a:rPr sz="1200" b="1" spc="2">
                <a:solidFill>
                  <a:srgbClr val="5F6F52"/>
                </a:solidFill>
                <a:latin typeface="Arial"/>
                <a:ea typeface="Arial"/>
                <a:cs typeface="Arial"/>
              </a:rPr>
              <a:t>CHAPTER 11</a:t>
            </a:r>
          </a:p>
        </p:txBody>
      </p:sp>
      <p:sp>
        <p:nvSpPr>
          <p:cNvPr id="2" name="">
            <a:extLst xmlns:a="http://schemas.openxmlformats.org/drawingml/2006/main">
              <a:ext uri="{FF2B5EF4-FFF2-40B4-BE49-F238E27FC236}">
                <a16:creationId xmlns:a16="http://schemas.microsoft.com/office/drawing/2014/main" id="{B654528E-D520-430F-8B75-02861388BFE0}"/>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Review and application</a:t>
            </a:r>
          </a:p>
        </p:txBody>
      </p:sp>
      <p:sp>
        <p:nvSpPr>
          <p:cNvPr id="3" name="">
            <a:extLst xmlns:a="http://schemas.openxmlformats.org/drawingml/2006/main">
              <a:ext uri="{FF2B5EF4-FFF2-40B4-BE49-F238E27FC236}">
                <a16:creationId xmlns:a16="http://schemas.microsoft.com/office/drawing/2014/main" id="{C0309D4F-340F-49E4-9684-0BF6D0DE5193}"/>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16 / 16</a:t>
            </a:r>
          </a:p>
        </p:txBody>
      </p:sp>
      <p:sp>
        <p:nvSpPr>
          <p:cNvPr id="4" name="">
            <a:extLst xmlns:a="http://schemas.openxmlformats.org/drawingml/2006/main">
              <a:ext uri="{FF2B5EF4-FFF2-40B4-BE49-F238E27FC236}">
                <a16:creationId xmlns:a16="http://schemas.microsoft.com/office/drawing/2014/main" id="{B8AB80DF-2FD8-4922-8967-512E58FDF305}"/>
              </a:ext>
            </a:extLst>
          </p:cNvPr>
          <p:cNvSpPr>
            <a:spLocks xmlns:a="http://schemas.openxmlformats.org/drawingml/2006/main" noGrp="1"/>
          </p:cNvSpPr>
          <p:nvPr/>
        </p:nvSpPr>
        <p:spPr>
          <a:xfrm xmlns:a="http://schemas.openxmlformats.org/drawingml/2006/main">
            <a:off x="1285875" y="1666875"/>
            <a:ext cx="9525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State the chapter’s central problem in one sentence.</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Choose one mechanism and list the assumptions it relies on.</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Describe a failure scenario and explain the recovery path.</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Apply one trade-off from the chapter to a system you are designing.</a:t>
            </a:r>
          </a:p>
        </p:txBody>
      </p:sp>
    </p:spTree>
    <p:extLst>
      <p:ext uri="{BB962C8B-B14F-4D97-AF65-F5344CB8AC3E}">
        <p14:creationId xmlns:p14="http://schemas.microsoft.com/office/powerpoint/2010/main" val="7639924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2026-09-27T19:47:47.5560000Z</dcterms:created>
  <dcterms:modified xsi:type="dcterms:W3CDTF">2026-09-27T19:47:47.5560000Z</dcterms:modified>
</coreProperties>
</file>