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1c93dbb3545461a" /><Relationship Type="http://schemas.openxmlformats.org/officeDocument/2006/relationships/extended-properties" Target="/docProps/app.xml" Id="R8309b54976494f71" /><Relationship Type="http://schemas.openxmlformats.org/officeDocument/2006/relationships/officeDocument" Target="/ppt/presentation.xml" Id="Reef30878b6574987" /></Relationships>
</file>

<file path=ppt/presentation.xml><?xml version="1.0" encoding="utf-8"?>
<p:presentation xmlns:p="http://schemas.openxmlformats.org/presentationml/2006/main">
  <p:sldMasterIdLst>
    <p:sldMasterId xmlns:r="http://schemas.openxmlformats.org/officeDocument/2006/relationships" id="2147483648" r:id="Rfdbdff16422d4fd0"/>
  </p:sldMasterIdLst>
  <p:notesMasterIdLst>
    <p:notesMasterId xmlns:r="http://schemas.openxmlformats.org/officeDocument/2006/relationships" r:id="R06724e3040954bb5"/>
  </p:notesMasterIdLst>
  <p:sldIdLst>
    <p:sldId xmlns:r="http://schemas.openxmlformats.org/officeDocument/2006/relationships" id="256" r:id="Rf43e1ef7fb6847be"/>
    <p:sldId xmlns:r="http://schemas.openxmlformats.org/officeDocument/2006/relationships" id="257" r:id="R4a60d339a5da4fb8"/>
    <p:sldId xmlns:r="http://schemas.openxmlformats.org/officeDocument/2006/relationships" id="258" r:id="R6a5a1c55d8734885"/>
    <p:sldId xmlns:r="http://schemas.openxmlformats.org/officeDocument/2006/relationships" id="259" r:id="Re0a5a98f235048a8"/>
    <p:sldId xmlns:r="http://schemas.openxmlformats.org/officeDocument/2006/relationships" id="260" r:id="Raaccb04636da4ef0"/>
    <p:sldId xmlns:r="http://schemas.openxmlformats.org/officeDocument/2006/relationships" id="261" r:id="Rcf628523859c44e4"/>
    <p:sldId xmlns:r="http://schemas.openxmlformats.org/officeDocument/2006/relationships" id="262" r:id="Rf397477190784a11"/>
    <p:sldId xmlns:r="http://schemas.openxmlformats.org/officeDocument/2006/relationships" id="263" r:id="R859ff308996a42ed"/>
    <p:sldId xmlns:r="http://schemas.openxmlformats.org/officeDocument/2006/relationships" id="264" r:id="R893c4d14d8014b9f"/>
    <p:sldId xmlns:r="http://schemas.openxmlformats.org/officeDocument/2006/relationships" id="265" r:id="R6e12df7b617c4530"/>
    <p:sldId xmlns:r="http://schemas.openxmlformats.org/officeDocument/2006/relationships" id="266" r:id="R4f972d8476334279"/>
    <p:sldId xmlns:r="http://schemas.openxmlformats.org/officeDocument/2006/relationships" id="267" r:id="R96cb3e7f1cf84b72"/>
    <p:sldId xmlns:r="http://schemas.openxmlformats.org/officeDocument/2006/relationships" id="268" r:id="Rc83941bf32944c38"/>
    <p:sldId xmlns:r="http://schemas.openxmlformats.org/officeDocument/2006/relationships" id="269" r:id="R9dfc1cad54bd4783"/>
    <p:sldId xmlns:r="http://schemas.openxmlformats.org/officeDocument/2006/relationships" id="270" r:id="R10c72feb88a74bab"/>
    <p:sldId xmlns:r="http://schemas.openxmlformats.org/officeDocument/2006/relationships" id="271" r:id="Rc650c054225e483b"/>
    <p:sldId xmlns:r="http://schemas.openxmlformats.org/officeDocument/2006/relationships" id="272" r:id="R19365a0f29a242b2"/>
    <p:sldId xmlns:r="http://schemas.openxmlformats.org/officeDocument/2006/relationships" id="273" r:id="R94a37d352f0145c9"/>
    <p:sldId xmlns:r="http://schemas.openxmlformats.org/officeDocument/2006/relationships" id="274" r:id="R380141b70ab84799"/>
    <p:sldId xmlns:r="http://schemas.openxmlformats.org/officeDocument/2006/relationships" id="275" r:id="R374c5ebec0094907"/>
    <p:sldId xmlns:r="http://schemas.openxmlformats.org/officeDocument/2006/relationships" id="276" r:id="Rf2848ea7e5ba43be"/>
    <p:sldId xmlns:r="http://schemas.openxmlformats.org/officeDocument/2006/relationships" id="277" r:id="R510373d940eb4f5c"/>
    <p:sldId xmlns:r="http://schemas.openxmlformats.org/officeDocument/2006/relationships" id="278" r:id="R5ff24956b6024d6a"/>
    <p:sldId xmlns:r="http://schemas.openxmlformats.org/officeDocument/2006/relationships" id="279" r:id="R7a9ab509e14a421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f54795ef504481" /><Relationship Type="http://schemas.openxmlformats.org/officeDocument/2006/relationships/slideMaster" Target="/ppt/slideMasters/slideMaster1.xml" Id="Rfdbdff16422d4fd0" /><Relationship Type="http://schemas.openxmlformats.org/officeDocument/2006/relationships/notesMaster" Target="/ppt/notesMasters/notesMaster1.xml" Id="R06724e3040954bb5" /><Relationship Type="http://schemas.openxmlformats.org/officeDocument/2006/relationships/presProps" Target="/ppt/presProps.xml" Id="R72729710f73946ef" /><Relationship Type="http://schemas.openxmlformats.org/officeDocument/2006/relationships/tableStyles" Target="/ppt/tableStyles.xml" Id="Re2cdf4a262c44592" /><Relationship Type="http://schemas.openxmlformats.org/officeDocument/2006/relationships/slide" Target="/ppt/slides/slide1.xml" Id="Rf43e1ef7fb6847be" /><Relationship Type="http://schemas.openxmlformats.org/officeDocument/2006/relationships/slide" Target="/ppt/slides/slide2.xml" Id="R4a60d339a5da4fb8" /><Relationship Type="http://schemas.openxmlformats.org/officeDocument/2006/relationships/slide" Target="/ppt/slides/slide3.xml" Id="R6a5a1c55d8734885" /><Relationship Type="http://schemas.openxmlformats.org/officeDocument/2006/relationships/slide" Target="/ppt/slides/slide4.xml" Id="Re0a5a98f235048a8" /><Relationship Type="http://schemas.openxmlformats.org/officeDocument/2006/relationships/slide" Target="/ppt/slides/slide5.xml" Id="Raaccb04636da4ef0" /><Relationship Type="http://schemas.openxmlformats.org/officeDocument/2006/relationships/slide" Target="/ppt/slides/slide6.xml" Id="Rcf628523859c44e4" /><Relationship Type="http://schemas.openxmlformats.org/officeDocument/2006/relationships/slide" Target="/ppt/slides/slide7.xml" Id="Rf397477190784a11" /><Relationship Type="http://schemas.openxmlformats.org/officeDocument/2006/relationships/slide" Target="/ppt/slides/slide8.xml" Id="R859ff308996a42ed" /><Relationship Type="http://schemas.openxmlformats.org/officeDocument/2006/relationships/slide" Target="/ppt/slides/slide9.xml" Id="R893c4d14d8014b9f" /><Relationship Type="http://schemas.openxmlformats.org/officeDocument/2006/relationships/slide" Target="/ppt/slides/slide10.xml" Id="R6e12df7b617c4530" /><Relationship Type="http://schemas.openxmlformats.org/officeDocument/2006/relationships/slide" Target="/ppt/slides/slide11.xml" Id="R4f972d8476334279" /><Relationship Type="http://schemas.openxmlformats.org/officeDocument/2006/relationships/slide" Target="/ppt/slides/slide12.xml" Id="R96cb3e7f1cf84b72" /><Relationship Type="http://schemas.openxmlformats.org/officeDocument/2006/relationships/slide" Target="/ppt/slides/slide13.xml" Id="Rc83941bf32944c38" /><Relationship Type="http://schemas.openxmlformats.org/officeDocument/2006/relationships/slide" Target="/ppt/slides/slide14.xml" Id="R9dfc1cad54bd4783" /><Relationship Type="http://schemas.openxmlformats.org/officeDocument/2006/relationships/slide" Target="/ppt/slides/slide15.xml" Id="R10c72feb88a74bab" /><Relationship Type="http://schemas.openxmlformats.org/officeDocument/2006/relationships/slide" Target="/ppt/slides/slide16.xml" Id="Rc650c054225e483b" /><Relationship Type="http://schemas.openxmlformats.org/officeDocument/2006/relationships/slide" Target="/ppt/slides/slide17.xml" Id="R19365a0f29a242b2" /><Relationship Type="http://schemas.openxmlformats.org/officeDocument/2006/relationships/slide" Target="/ppt/slides/slide18.xml" Id="R94a37d352f0145c9" /><Relationship Type="http://schemas.openxmlformats.org/officeDocument/2006/relationships/slide" Target="/ppt/slides/slide19.xml" Id="R380141b70ab84799" /><Relationship Type="http://schemas.openxmlformats.org/officeDocument/2006/relationships/slide" Target="/ppt/slides/slide20.xml" Id="R374c5ebec0094907" /><Relationship Type="http://schemas.openxmlformats.org/officeDocument/2006/relationships/slide" Target="/ppt/slides/slide21.xml" Id="Rf2848ea7e5ba43be" /><Relationship Type="http://schemas.openxmlformats.org/officeDocument/2006/relationships/slide" Target="/ppt/slides/slide22.xml" Id="R510373d940eb4f5c" /><Relationship Type="http://schemas.openxmlformats.org/officeDocument/2006/relationships/slide" Target="/ppt/slides/slide23.xml" Id="R5ff24956b6024d6a" /><Relationship Type="http://schemas.openxmlformats.org/officeDocument/2006/relationships/slide" Target="/ppt/slides/slide24.xml" Id="R7a9ab509e14a42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4bb9e457e34b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c2c352de3a48e9" /><Relationship Type="http://schemas.openxmlformats.org/officeDocument/2006/relationships/notesMaster" Target="/ppt/notesMasters/notesMaster1.xml" Id="Rf0e858cdce914d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bffa3663974477" /><Relationship Type="http://schemas.openxmlformats.org/officeDocument/2006/relationships/notesMaster" Target="/ppt/notesMasters/notesMaster1.xml" Id="R39481d3b57b147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818492f6364dba" /><Relationship Type="http://schemas.openxmlformats.org/officeDocument/2006/relationships/notesMaster" Target="/ppt/notesMasters/notesMaster1.xml" Id="R972c6771a3e94f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17f8058d394a9f" /><Relationship Type="http://schemas.openxmlformats.org/officeDocument/2006/relationships/notesMaster" Target="/ppt/notesMasters/notesMaster1.xml" Id="Rbf54454eb31f44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96a0e43eae4e91" /><Relationship Type="http://schemas.openxmlformats.org/officeDocument/2006/relationships/notesMaster" Target="/ppt/notesMasters/notesMaster1.xml" Id="Rb92e6bac4f9a4c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c9b31ccfa443d0" /><Relationship Type="http://schemas.openxmlformats.org/officeDocument/2006/relationships/notesMaster" Target="/ppt/notesMasters/notesMaster1.xml" Id="Reda21a1280ca49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6b55baa97a414c" /><Relationship Type="http://schemas.openxmlformats.org/officeDocument/2006/relationships/notesMaster" Target="/ppt/notesMasters/notesMaster1.xml" Id="Rff162fae39404f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85600dfed3422b" /><Relationship Type="http://schemas.openxmlformats.org/officeDocument/2006/relationships/notesMaster" Target="/ppt/notesMasters/notesMaster1.xml" Id="Raf2fd745308642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baf7fc84ad4544" /><Relationship Type="http://schemas.openxmlformats.org/officeDocument/2006/relationships/notesMaster" Target="/ppt/notesMasters/notesMaster1.xml" Id="R552f884b237a4a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61e099bb9c46a5" /><Relationship Type="http://schemas.openxmlformats.org/officeDocument/2006/relationships/notesMaster" Target="/ppt/notesMasters/notesMaster1.xml" Id="Rd2243bd936d94d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3103f5d0c9949a3" /><Relationship Type="http://schemas.openxmlformats.org/officeDocument/2006/relationships/notesMaster" Target="/ppt/notesMasters/notesMaster1.xml" Id="R192e03fa171e42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a24838626e0429d" /><Relationship Type="http://schemas.openxmlformats.org/officeDocument/2006/relationships/notesMaster" Target="/ppt/notesMasters/notesMaster1.xml" Id="Reacef77b3bcd44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e8db816763c4b41" /><Relationship Type="http://schemas.openxmlformats.org/officeDocument/2006/relationships/notesMaster" Target="/ppt/notesMasters/notesMaster1.xml" Id="R9f554e20b0a043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e63cc902df5419d" /><Relationship Type="http://schemas.openxmlformats.org/officeDocument/2006/relationships/notesMaster" Target="/ppt/notesMasters/notesMaster1.xml" Id="Rdadc68d20aef4dd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693dab5d06f4970" /><Relationship Type="http://schemas.openxmlformats.org/officeDocument/2006/relationships/notesMaster" Target="/ppt/notesMasters/notesMaster1.xml" Id="R8db45424999247f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e261474b50c4f24" /><Relationship Type="http://schemas.openxmlformats.org/officeDocument/2006/relationships/notesMaster" Target="/ppt/notesMasters/notesMaster1.xml" Id="R08d48eda1cbe4b2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28a83d8ee1540ef" /><Relationship Type="http://schemas.openxmlformats.org/officeDocument/2006/relationships/notesMaster" Target="/ppt/notesMasters/notesMaster1.xml" Id="R243293a290ef431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c61f2c9d8d44e9f" /><Relationship Type="http://schemas.openxmlformats.org/officeDocument/2006/relationships/notesMaster" Target="/ppt/notesMasters/notesMaster1.xml" Id="R571cc3a6fd8a434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d8c2fe25f324d18" /><Relationship Type="http://schemas.openxmlformats.org/officeDocument/2006/relationships/notesMaster" Target="/ppt/notesMasters/notesMaster1.xml" Id="Ra27cc5f837d4494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f7df602bf384624" /><Relationship Type="http://schemas.openxmlformats.org/officeDocument/2006/relationships/notesMaster" Target="/ppt/notesMasters/notesMaster1.xml" Id="R634719a5a862490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c2b855369d5467f" /><Relationship Type="http://schemas.openxmlformats.org/officeDocument/2006/relationships/notesMaster" Target="/ppt/notesMasters/notesMaster1.xml" Id="Re33b4de14aa44ce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7d9567769c14a5b" /><Relationship Type="http://schemas.openxmlformats.org/officeDocument/2006/relationships/notesMaster" Target="/ppt/notesMasters/notesMaster1.xml" Id="R52d8f970933c4f9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5f7bc79c42f4655" /><Relationship Type="http://schemas.openxmlformats.org/officeDocument/2006/relationships/notesMaster" Target="/ppt/notesMasters/notesMaster1.xml" Id="R0920e7f7c84d4fe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67d37a42cb44c8e" /><Relationship Type="http://schemas.openxmlformats.org/officeDocument/2006/relationships/notesMaster" Target="/ppt/notesMasters/notesMaster1.xml" Id="R5b32e7f2666745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Figure 4-1, PDF page 142. Original caption: Figure 4-1. Storing a log of key-value pairs in a CSV-like format, indexed with an</a:t>
            </a:r>
          </a:p>
          <a:p xmlns:a="http://schemas.openxmlformats.org/drawingml/2006/main">
            <a:r>
              <a:t>Explanation: Storing a log of key-value pairs in a CSV-like format, indexed with an It turns the chapter concept into a concrete dataflow, timeline, or state transition. Check the actors, data direction, operation order, and hidden system assumptions.</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Figure 4-2, PDF page 143. Original caption: Figure 4-2. An SSTable with a sparse index, allowing queries to jump to the right block</a:t>
            </a:r>
          </a:p>
          <a:p xmlns:a="http://schemas.openxmlformats.org/drawingml/2006/main">
            <a:r>
              <a:t>Explanation: The figure exposes the physical data structure used to accelerate reads or writes. Performance comes from data layout and precomputation, with added write, space, or maintenance cost.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Figure 4-3, PDF page 145. Original caption: Figure 4-3. Merging several SSTable segments, retaining only the most recent value for</a:t>
            </a:r>
          </a:p>
          <a:p xmlns:a="http://schemas.openxmlformats.org/drawingml/2006/main">
            <a:r>
              <a:t>Explanation: The figure exposes the physical data structure used to accelerate reads or writes. Performance comes from data layout and precomputation, with added write, space, or maintenance cost.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Figure 4-4, PDF page 147. Original caption: Figure 4-4. A Bloom filter provides a fast, probabilistic check on whether a particular key</a:t>
            </a:r>
          </a:p>
          <a:p xmlns:a="http://schemas.openxmlformats.org/drawingml/2006/main">
            <a:r>
              <a:t>Explanation: The figure exposes the physical data structure used to accelerate reads or writes. Performance comes from data layout and precomputation, with added write, space, or maintenance cost.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Figure 4-5, PDF page 150. Original caption: Figure 4-5. Looking up key 251 by using a B-tree index. From the root page, we first</a:t>
            </a:r>
          </a:p>
          <a:p xmlns:a="http://schemas.openxmlformats.org/drawingml/2006/main">
            <a:r>
              <a:t>Explanation: The figure exposes the physical data structure used to accelerate reads or writes. Performance comes from data layout and precomputation, with added write, space, or maintenance cost.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Figure 4-6, PDF page 151. Original caption: Figure 4-6. Growing a B-tree by splitting a page on the boundary key 337. The parent</a:t>
            </a:r>
          </a:p>
          <a:p xmlns:a="http://schemas.openxmlformats.org/drawingml/2006/main">
            <a:r>
              <a:t>Explanation: The figure exposes the physical data structure used to accelerate reads or writes. Performance comes from data layout and precomputation, with added write, space, or maintenance cost.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Figure 4-7, PDF page 162. Original caption: Figure 4-7. Storing relational data by column rather than by row</a:t>
            </a:r>
          </a:p>
          <a:p xmlns:a="http://schemas.openxmlformats.org/drawingml/2006/main">
            <a:r>
              <a:t>Explanation: The diagram shows how entities and relationships are represented by keys, nesting, or joins. The model changes read locality, duplication, and update complexity.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Figure 4-8, PDF page 163. Original caption: Figure 4-8. Compressed, bitmap-indexed storage of a single column</a:t>
            </a:r>
          </a:p>
          <a:p xmlns:a="http://schemas.openxmlformats.org/drawingml/2006/main">
            <a:r>
              <a:t>Explanation: The figure exposes the physical data structure used to accelerate reads or writes. Performance comes from data layout and precomputation, with added write, space, or maintenance cost.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Figure 4-9, PDF page 167. Original caption: Figure 4-9. A bitwise AND between two bitmaps lends itself to vectorization.</a:t>
            </a:r>
          </a:p>
          <a:p xmlns:a="http://schemas.openxmlformats.org/drawingml/2006/main">
            <a:r>
              <a:t>Explanation: The figure exposes the physical data structure used to accelerate reads or writes. Performance comes from data layout and precomputation, with added write, space, or maintenance cost.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Figure 4-10, PDF page 168. Original caption: Figure 4-10. Two dimensions of a data cube, aggregating data by summing</a:t>
            </a:r>
          </a:p>
          <a:p xmlns:a="http://schemas.openxmlformats.org/drawingml/2006/main">
            <a:r>
              <a:t>Explanation: The figure exposes the physical data structure used to accelerate reads or writes. Performance comes from data layout and precomputation, with added write, space, or maintenance cost.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Figure 4-11, PDF page 173. Original caption: Figure 4-11. Searching for the database entry that is closest to a given query vector in an</a:t>
            </a:r>
          </a:p>
          <a:p xmlns:a="http://schemas.openxmlformats.org/drawingml/2006/main">
            <a:r>
              <a:t>Explanation: The figure exposes the physical data structure used to accelerate reads or writes. Performance comes from data layout and precomputation, with added write, space, or maintenance cost.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4, book pages 115-150.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7d0c99f1e54f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260be71bcc4281" /><Relationship Type="http://schemas.openxmlformats.org/officeDocument/2006/relationships/slideLayout" Target="/ppt/slideLayouts/slideLayout1.xml" Id="R7e30ffb7f63f4ca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30ffb7f63f4ca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ba0968dc5484cb9" /><Relationship Type="http://schemas.openxmlformats.org/officeDocument/2006/relationships/notesSlide" Target="/ppt/notesSlides/notesSlide1.xml" Id="Ra0e679493be143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041f37ef76d45c9" /><Relationship Type="http://schemas.openxmlformats.org/officeDocument/2006/relationships/notesSlide" Target="/ppt/notesSlides/notesSlide2.xml" Id="R2ecbf8bb472f42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81249bde24f4dd7" /><Relationship Type="http://schemas.openxmlformats.org/officeDocument/2006/relationships/notesSlide" Target="/ppt/notesSlides/notesSlide3.xml" Id="Re4b62de240be40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d5c8d84abc4915" /><Relationship Type="http://schemas.openxmlformats.org/officeDocument/2006/relationships/notesSlide" Target="/ppt/notesSlides/notesSlide4.xml" Id="R43dd2c3ad27048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fcbcf4348664af7" /><Relationship Type="http://schemas.openxmlformats.org/officeDocument/2006/relationships/image" Target="/ppt/media/image.png" Id="R876ea2e30e124499" /><Relationship Type="http://schemas.openxmlformats.org/officeDocument/2006/relationships/notesSlide" Target="/ppt/notesSlides/notesSlide5.xml" Id="R6c652f28425e41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5941a88168545d0" /><Relationship Type="http://schemas.openxmlformats.org/officeDocument/2006/relationships/notesSlide" Target="/ppt/notesSlides/notesSlide6.xml" Id="R60cae46056cc42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7c4856707254021" /><Relationship Type="http://schemas.openxmlformats.org/officeDocument/2006/relationships/notesSlide" Target="/ppt/notesSlides/notesSlide7.xml" Id="R19c6f07e86de4f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6cdf8cc32b04d81" /><Relationship Type="http://schemas.openxmlformats.org/officeDocument/2006/relationships/image" Target="/ppt/media/image2.png" Id="Re2a07007b6f04042" /><Relationship Type="http://schemas.openxmlformats.org/officeDocument/2006/relationships/notesSlide" Target="/ppt/notesSlides/notesSlide8.xml" Id="R3129d8406efc4c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e2d93e86865459c" /><Relationship Type="http://schemas.openxmlformats.org/officeDocument/2006/relationships/image" Target="/ppt/media/image3.png" Id="Re41b80e1ada447f8" /><Relationship Type="http://schemas.openxmlformats.org/officeDocument/2006/relationships/notesSlide" Target="/ppt/notesSlides/notesSlide9.xml" Id="R59e27a16151945a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e9c6f409c4a418c" /><Relationship Type="http://schemas.openxmlformats.org/officeDocument/2006/relationships/image" Target="/ppt/media/image4.png" Id="R832742f6949643f8" /><Relationship Type="http://schemas.openxmlformats.org/officeDocument/2006/relationships/notesSlide" Target="/ppt/notesSlides/notesSlide10.xml" Id="R3ead4b2d001d47a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607cdc0eacf4ba3" /><Relationship Type="http://schemas.openxmlformats.org/officeDocument/2006/relationships/notesSlide" Target="/ppt/notesSlides/notesSlide11.xml" Id="R2d9e17acfd0a4c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7731e1a47db4df0" /><Relationship Type="http://schemas.openxmlformats.org/officeDocument/2006/relationships/notesSlide" Target="/ppt/notesSlides/notesSlide12.xml" Id="R696abef6a7e54a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769011bd85a4f2c" /><Relationship Type="http://schemas.openxmlformats.org/officeDocument/2006/relationships/image" Target="/ppt/media/image5.png" Id="R41778e3d807b422c" /><Relationship Type="http://schemas.openxmlformats.org/officeDocument/2006/relationships/notesSlide" Target="/ppt/notesSlides/notesSlide13.xml" Id="Ra4c229035e89407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fcfd3cbcae44e2a" /><Relationship Type="http://schemas.openxmlformats.org/officeDocument/2006/relationships/image" Target="/ppt/media/image6.png" Id="R0757771f93794c74" /><Relationship Type="http://schemas.openxmlformats.org/officeDocument/2006/relationships/notesSlide" Target="/ppt/notesSlides/notesSlide14.xml" Id="Rf23b0d9c8dc547d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3a3abf384574730" /><Relationship Type="http://schemas.openxmlformats.org/officeDocument/2006/relationships/notesSlide" Target="/ppt/notesSlides/notesSlide15.xml" Id="R5b6c1fdcf9534f4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736829b985f4949" /><Relationship Type="http://schemas.openxmlformats.org/officeDocument/2006/relationships/notesSlide" Target="/ppt/notesSlides/notesSlide16.xml" Id="R8f28e684c79849d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5e2a110a61547e2" /><Relationship Type="http://schemas.openxmlformats.org/officeDocument/2006/relationships/image" Target="/ppt/media/image7.png" Id="R13a7804a3bec4104" /><Relationship Type="http://schemas.openxmlformats.org/officeDocument/2006/relationships/notesSlide" Target="/ppt/notesSlides/notesSlide17.xml" Id="R6eb271c346f8474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e2ed2b0ef6b4602" /><Relationship Type="http://schemas.openxmlformats.org/officeDocument/2006/relationships/image" Target="/ppt/media/image8.png" Id="R5bc3c2ca0f1a40a2" /><Relationship Type="http://schemas.openxmlformats.org/officeDocument/2006/relationships/notesSlide" Target="/ppt/notesSlides/notesSlide18.xml" Id="Rcc0b8973afcd4fa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20331692d5f4076" /><Relationship Type="http://schemas.openxmlformats.org/officeDocument/2006/relationships/image" Target="/ppt/media/image9.png" Id="R644942ca95c544c2" /><Relationship Type="http://schemas.openxmlformats.org/officeDocument/2006/relationships/notesSlide" Target="/ppt/notesSlides/notesSlide19.xml" Id="Raf0367ab786c4ba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034abfc6d424212" /><Relationship Type="http://schemas.openxmlformats.org/officeDocument/2006/relationships/image" Target="/ppt/media/image10.png" Id="R82efd65b67e14c69" /><Relationship Type="http://schemas.openxmlformats.org/officeDocument/2006/relationships/notesSlide" Target="/ppt/notesSlides/notesSlide20.xml" Id="R2152ed1de0144fe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2e925666ff8408a" /><Relationship Type="http://schemas.openxmlformats.org/officeDocument/2006/relationships/notesSlide" Target="/ppt/notesSlides/notesSlide21.xml" Id="R60bbf3da43e343d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13713b94d8348a6" /><Relationship Type="http://schemas.openxmlformats.org/officeDocument/2006/relationships/notesSlide" Target="/ppt/notesSlides/notesSlide22.xml" Id="R703a86061b7343c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ac06db9d9164b95" /><Relationship Type="http://schemas.openxmlformats.org/officeDocument/2006/relationships/image" Target="/ppt/media/image11.png" Id="R3a79740af6bd4654" /><Relationship Type="http://schemas.openxmlformats.org/officeDocument/2006/relationships/notesSlide" Target="/ppt/notesSlides/notesSlide23.xml" Id="R77e0713f7cd1455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75e9977a0eb40db" /><Relationship Type="http://schemas.openxmlformats.org/officeDocument/2006/relationships/notesSlide" Target="/ppt/notesSlides/notesSlide24.xml" Id="Rb26ccbdd73f74a33"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6E6E1B8-CBC1-40A9-8AD5-6E494CF84979}"/>
              </a:ext>
            </a:extLst>
          </p:cNvPr>
          <p:cNvSpPr>
            <a:spLocks xmlns:a="http://schemas.openxmlformats.org/drawingml/2006/main" noGrp="1"/>
          </p:cNvSpPr>
          <p:nvPr/>
        </p:nvSpPr>
        <p:spPr>
          <a:xfrm xmlns:a="http://schemas.openxmlformats.org/drawingml/2006/main">
            <a:off x="714375" y="666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spc="2">
                <a:solidFill>
                  <a:srgbClr val="F4A261"/>
                </a:solidFill>
                <a:latin typeface="Arial"/>
                <a:ea typeface="Arial"/>
                <a:cs typeface="Arial"/>
              </a:defRPr>
            </a:pPr>
            <a:r>
              <a:rPr sz="1425"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AB1AC992-7B32-4AC3-A21D-FD3D6E996501}"/>
              </a:ext>
            </a:extLst>
          </p:cNvPr>
          <p:cNvSpPr>
            <a:spLocks xmlns:a="http://schemas.openxmlformats.org/drawingml/2006/main" noGrp="1"/>
          </p:cNvSpPr>
          <p:nvPr/>
        </p:nvSpPr>
        <p:spPr>
          <a:xfrm xmlns:a="http://schemas.openxmlformats.org/drawingml/2006/main">
            <a:off x="714375" y="1571625"/>
            <a:ext cx="1028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Storage and Retrieval</a:t>
            </a:r>
          </a:p>
        </p:txBody>
      </p:sp>
      <p:sp>
        <p:nvSpPr>
          <p:cNvPr id="3" name="">
            <a:extLst xmlns:a="http://schemas.openxmlformats.org/drawingml/2006/main">
              <a:ext uri="{FF2B5EF4-FFF2-40B4-BE49-F238E27FC236}">
                <a16:creationId xmlns:a16="http://schemas.microsoft.com/office/drawing/2014/main" id="{484094ED-3EBE-4185-A739-E13FAA5E4D2C}"/>
              </a:ext>
            </a:extLst>
          </p:cNvPr>
          <p:cNvSpPr>
            <a:spLocks xmlns:a="http://schemas.openxmlformats.org/drawingml/2006/main" noGrp="1"/>
          </p:cNvSpPr>
          <p:nvPr/>
        </p:nvSpPr>
        <p:spPr>
          <a:xfrm xmlns:a="http://schemas.openxmlformats.org/drawingml/2006/main">
            <a:off x="742950" y="2809875"/>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D9E2EC"/>
                </a:solidFill>
                <a:latin typeface="Arial"/>
                <a:ea typeface="Arial"/>
                <a:cs typeface="Arial"/>
              </a:defRPr>
            </a:pPr>
            <a:r>
              <a:rPr sz="1725">
                <a:solidFill>
                  <a:srgbClr val="D9E2EC"/>
                </a:solidFill>
                <a:latin typeface="Arial"/>
                <a:ea typeface="Arial"/>
                <a:cs typeface="Arial"/>
              </a:rPr>
              <a:t>Designing Data-Intensive Applications, Second Edition</a:t>
            </a:r>
          </a:p>
        </p:txBody>
      </p:sp>
      <p:sp>
        <p:nvSpPr>
          <p:cNvPr id="4" name="">
            <a:extLst xmlns:a="http://schemas.openxmlformats.org/drawingml/2006/main">
              <a:ext uri="{FF2B5EF4-FFF2-40B4-BE49-F238E27FC236}">
                <a16:creationId xmlns:a16="http://schemas.microsoft.com/office/drawing/2014/main" id="{FF166BDE-DA0C-4C64-A47D-D90D5D3F5D88}"/>
              </a:ext>
            </a:extLst>
          </p:cNvPr>
          <p:cNvSpPr>
            <a:spLocks xmlns:a="http://schemas.openxmlformats.org/drawingml/2006/main" noGrp="1"/>
          </p:cNvSpPr>
          <p:nvPr/>
        </p:nvSpPr>
        <p:spPr>
          <a:xfrm xmlns:a="http://schemas.openxmlformats.org/drawingml/2006/main">
            <a:off x="742950" y="52863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a:solidFill>
                  <a:srgbClr val="BCCCDC"/>
                </a:solidFill>
                <a:latin typeface="Arial"/>
                <a:ea typeface="Arial"/>
                <a:cs typeface="Arial"/>
              </a:defRPr>
            </a:pPr>
            <a:r>
              <a:rPr sz="1425">
                <a:solidFill>
                  <a:srgbClr val="BCCCDC"/>
                </a:solidFill>
                <a:latin typeface="Arial"/>
                <a:ea typeface="Arial"/>
                <a:cs typeface="Arial"/>
              </a:rPr>
              <a:t>Detailed English Study Edition</a:t>
            </a:r>
          </a:p>
        </p:txBody>
      </p:sp>
      <p:sp>
        <p:nvSpPr>
          <p:cNvPr id="5" name="">
            <a:extLst xmlns:a="http://schemas.openxmlformats.org/drawingml/2006/main">
              <a:ext uri="{FF2B5EF4-FFF2-40B4-BE49-F238E27FC236}">
                <a16:creationId xmlns:a16="http://schemas.microsoft.com/office/drawing/2014/main" id="{46C3BE58-815B-484E-9A8A-9AC1A9183783}"/>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9FB3C8"/>
                </a:solidFill>
                <a:latin typeface="Arial"/>
                <a:ea typeface="Arial"/>
                <a:cs typeface="Arial"/>
              </a:defRPr>
            </a:pPr>
            <a:r>
              <a:rPr sz="975">
                <a:solidFill>
                  <a:srgbClr val="9FB3C8"/>
                </a:solidFill>
                <a:latin typeface="Arial"/>
                <a:ea typeface="Arial"/>
                <a:cs typeface="Arial"/>
              </a:rPr>
              <a:t>01 / 24</a:t>
            </a:r>
          </a:p>
        </p:txBody>
      </p:sp>
    </p:spTree>
    <p:extLst>
      <p:ext uri="{BB962C8B-B14F-4D97-AF65-F5344CB8AC3E}">
        <p14:creationId xmlns:p14="http://schemas.microsoft.com/office/powerpoint/2010/main" val="652268283"/>
      </p:ext>
    </p:extLst>
  </p:cSld>
</p:sld>
</file>

<file path=ppt/slides/slide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93A97A7-AB56-4DFC-AA22-0F70115F08A9}"/>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8030E5B0-D2CD-4103-9708-EAC72DE4F9CD}"/>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Chapter map</a:t>
            </a:r>
          </a:p>
        </p:txBody>
      </p:sp>
      <p:sp>
        <p:nvSpPr>
          <p:cNvPr id="3" name="">
            <a:extLst xmlns:a="http://schemas.openxmlformats.org/drawingml/2006/main">
              <a:ext uri="{FF2B5EF4-FFF2-40B4-BE49-F238E27FC236}">
                <a16:creationId xmlns:a16="http://schemas.microsoft.com/office/drawing/2014/main" id="{01A05EC4-0DD3-4334-9FC4-A5405A6DB096}"/>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02 / 24</a:t>
            </a:r>
          </a:p>
        </p:txBody>
      </p:sp>
      <p:sp>
        <p:nvSpPr>
          <p:cNvPr id="4" name="">
            <a:extLst xmlns:a="http://schemas.openxmlformats.org/drawingml/2006/main">
              <a:ext uri="{FF2B5EF4-FFF2-40B4-BE49-F238E27FC236}">
                <a16:creationId xmlns:a16="http://schemas.microsoft.com/office/drawing/2014/main" id="{D85BAC26-D6A5-4311-8F60-5635682200DA}"/>
              </a:ext>
            </a:extLst>
          </p:cNvPr>
          <p:cNvSpPr>
            <a:spLocks xmlns:a="http://schemas.openxmlformats.org/drawingml/2006/main" noGrp="1"/>
          </p:cNvSpPr>
          <p:nvPr/>
        </p:nvSpPr>
        <p:spPr>
          <a:xfrm xmlns:a="http://schemas.openxmlformats.org/drawingml/2006/main">
            <a:off x="857250" y="14763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F4A261"/>
                </a:solidFill>
                <a:latin typeface="Arial"/>
                <a:ea typeface="Arial"/>
                <a:cs typeface="Arial"/>
              </a:defRPr>
            </a:pPr>
            <a:r>
              <a:rPr sz="2100" b="1">
                <a:solidFill>
                  <a:srgbClr val="F4A261"/>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7D279B5-5CDA-4CF6-B868-3B23086456E6}"/>
              </a:ext>
            </a:extLst>
          </p:cNvPr>
          <p:cNvSpPr>
            <a:spLocks xmlns:a="http://schemas.openxmlformats.org/drawingml/2006/main" noGrp="1"/>
          </p:cNvSpPr>
          <p:nvPr/>
        </p:nvSpPr>
        <p:spPr>
          <a:xfrm xmlns:a="http://schemas.openxmlformats.org/drawingml/2006/main">
            <a:off x="1905000" y="14287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OLTP storage engines</a:t>
            </a:r>
          </a:p>
        </p:txBody>
      </p:sp>
      <p:sp>
        <p:nvSpPr>
          <p:cNvPr id="6" name="">
            <a:extLst xmlns:a="http://schemas.openxmlformats.org/drawingml/2006/main">
              <a:ext uri="{FF2B5EF4-FFF2-40B4-BE49-F238E27FC236}">
                <a16:creationId xmlns:a16="http://schemas.microsoft.com/office/drawing/2014/main" id="{2486EFC7-090B-46CD-9C33-47B2DD177DF8}"/>
              </a:ext>
            </a:extLst>
          </p:cNvPr>
          <p:cNvSpPr>
            <a:spLocks xmlns:a="http://schemas.openxmlformats.org/drawingml/2006/main" noGrp="1"/>
          </p:cNvSpPr>
          <p:nvPr/>
        </p:nvSpPr>
        <p:spPr>
          <a:xfrm xmlns:a="http://schemas.openxmlformats.org/drawingml/2006/main">
            <a:off x="6191250" y="14287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Log-structured storage converts random writes into sequential appends.</a:t>
            </a:r>
          </a:p>
        </p:txBody>
      </p:sp>
      <p:sp>
        <p:nvSpPr>
          <p:cNvPr id="7" name="">
            <a:extLst xmlns:a="http://schemas.openxmlformats.org/drawingml/2006/main">
              <a:ext uri="{FF2B5EF4-FFF2-40B4-BE49-F238E27FC236}">
                <a16:creationId xmlns:a16="http://schemas.microsoft.com/office/drawing/2014/main" id="{44F669A0-F558-4F50-BAC6-2176CFC9FA92}"/>
              </a:ext>
            </a:extLst>
          </p:cNvPr>
          <p:cNvSpPr>
            <a:spLocks xmlns:a="http://schemas.openxmlformats.org/drawingml/2006/main" noGrp="1"/>
          </p:cNvSpPr>
          <p:nvPr/>
        </p:nvSpPr>
        <p:spPr>
          <a:xfrm xmlns:a="http://schemas.openxmlformats.org/drawingml/2006/main">
            <a:off x="857250" y="23526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F4A261"/>
                </a:solidFill>
                <a:latin typeface="Arial"/>
                <a:ea typeface="Arial"/>
                <a:cs typeface="Arial"/>
              </a:defRPr>
            </a:pPr>
            <a:r>
              <a:rPr sz="2100" b="1">
                <a:solidFill>
                  <a:srgbClr val="F4A261"/>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3F77EF30-DB49-4959-B898-BE957AF3695E}"/>
              </a:ext>
            </a:extLst>
          </p:cNvPr>
          <p:cNvSpPr>
            <a:spLocks xmlns:a="http://schemas.openxmlformats.org/drawingml/2006/main" noGrp="1"/>
          </p:cNvSpPr>
          <p:nvPr/>
        </p:nvSpPr>
        <p:spPr>
          <a:xfrm xmlns:a="http://schemas.openxmlformats.org/drawingml/2006/main">
            <a:off x="1905000" y="23050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LSM trees</a:t>
            </a:r>
          </a:p>
        </p:txBody>
      </p:sp>
      <p:sp>
        <p:nvSpPr>
          <p:cNvPr id="9" name="">
            <a:extLst xmlns:a="http://schemas.openxmlformats.org/drawingml/2006/main">
              <a:ext uri="{FF2B5EF4-FFF2-40B4-BE49-F238E27FC236}">
                <a16:creationId xmlns:a16="http://schemas.microsoft.com/office/drawing/2014/main" id="{EFCA7C34-0396-4A9A-B421-7353B2E8E17E}"/>
              </a:ext>
            </a:extLst>
          </p:cNvPr>
          <p:cNvSpPr>
            <a:spLocks xmlns:a="http://schemas.openxmlformats.org/drawingml/2006/main" noGrp="1"/>
          </p:cNvSpPr>
          <p:nvPr/>
        </p:nvSpPr>
        <p:spPr>
          <a:xfrm xmlns:a="http://schemas.openxmlformats.org/drawingml/2006/main">
            <a:off x="6191250" y="23050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Writes enter an in-memory table and later flush to sorted files.</a:t>
            </a:r>
          </a:p>
        </p:txBody>
      </p:sp>
      <p:sp>
        <p:nvSpPr>
          <p:cNvPr id="10" name="">
            <a:extLst xmlns:a="http://schemas.openxmlformats.org/drawingml/2006/main">
              <a:ext uri="{FF2B5EF4-FFF2-40B4-BE49-F238E27FC236}">
                <a16:creationId xmlns:a16="http://schemas.microsoft.com/office/drawing/2014/main" id="{1EBBCA6F-9375-434F-84F0-19A2B46AE820}"/>
              </a:ext>
            </a:extLst>
          </p:cNvPr>
          <p:cNvSpPr>
            <a:spLocks xmlns:a="http://schemas.openxmlformats.org/drawingml/2006/main" noGrp="1"/>
          </p:cNvSpPr>
          <p:nvPr/>
        </p:nvSpPr>
        <p:spPr>
          <a:xfrm xmlns:a="http://schemas.openxmlformats.org/drawingml/2006/main">
            <a:off x="857250" y="32289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F4A261"/>
                </a:solidFill>
                <a:latin typeface="Arial"/>
                <a:ea typeface="Arial"/>
                <a:cs typeface="Arial"/>
              </a:defRPr>
            </a:pPr>
            <a:r>
              <a:rPr sz="2100" b="1">
                <a:solidFill>
                  <a:srgbClr val="F4A261"/>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0F1C9D94-D076-4F1E-BD9C-596791DACF93}"/>
              </a:ext>
            </a:extLst>
          </p:cNvPr>
          <p:cNvSpPr>
            <a:spLocks xmlns:a="http://schemas.openxmlformats.org/drawingml/2006/main" noGrp="1"/>
          </p:cNvSpPr>
          <p:nvPr/>
        </p:nvSpPr>
        <p:spPr>
          <a:xfrm xmlns:a="http://schemas.openxmlformats.org/drawingml/2006/main">
            <a:off x="1905000" y="31813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B-trees and indexes</a:t>
            </a:r>
          </a:p>
        </p:txBody>
      </p:sp>
      <p:sp>
        <p:nvSpPr>
          <p:cNvPr id="12" name="">
            <a:extLst xmlns:a="http://schemas.openxmlformats.org/drawingml/2006/main">
              <a:ext uri="{FF2B5EF4-FFF2-40B4-BE49-F238E27FC236}">
                <a16:creationId xmlns:a16="http://schemas.microsoft.com/office/drawing/2014/main" id="{D5B803C6-4554-4925-82DA-E7577D1E5ED5}"/>
              </a:ext>
            </a:extLst>
          </p:cNvPr>
          <p:cNvSpPr>
            <a:spLocks xmlns:a="http://schemas.openxmlformats.org/drawingml/2006/main" noGrp="1"/>
          </p:cNvSpPr>
          <p:nvPr/>
        </p:nvSpPr>
        <p:spPr>
          <a:xfrm xmlns:a="http://schemas.openxmlformats.org/drawingml/2006/main">
            <a:off x="6191250" y="31813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Page splits and write-ahead logging preserve recoverability.</a:t>
            </a:r>
          </a:p>
        </p:txBody>
      </p:sp>
      <p:sp>
        <p:nvSpPr>
          <p:cNvPr id="13" name="">
            <a:extLst xmlns:a="http://schemas.openxmlformats.org/drawingml/2006/main">
              <a:ext uri="{FF2B5EF4-FFF2-40B4-BE49-F238E27FC236}">
                <a16:creationId xmlns:a16="http://schemas.microsoft.com/office/drawing/2014/main" id="{3A68BBCD-AE08-4F27-B74B-9758FEBFDCD9}"/>
              </a:ext>
            </a:extLst>
          </p:cNvPr>
          <p:cNvSpPr>
            <a:spLocks xmlns:a="http://schemas.openxmlformats.org/drawingml/2006/main" noGrp="1"/>
          </p:cNvSpPr>
          <p:nvPr/>
        </p:nvSpPr>
        <p:spPr>
          <a:xfrm xmlns:a="http://schemas.openxmlformats.org/drawingml/2006/main">
            <a:off x="857250" y="41052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F4A261"/>
                </a:solidFill>
                <a:latin typeface="Arial"/>
                <a:ea typeface="Arial"/>
                <a:cs typeface="Arial"/>
              </a:defRPr>
            </a:pPr>
            <a:r>
              <a:rPr sz="2100" b="1">
                <a:solidFill>
                  <a:srgbClr val="F4A261"/>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34833EE9-909F-4638-BAC5-3545556F964D}"/>
              </a:ext>
            </a:extLst>
          </p:cNvPr>
          <p:cNvSpPr>
            <a:spLocks xmlns:a="http://schemas.openxmlformats.org/drawingml/2006/main" noGrp="1"/>
          </p:cNvSpPr>
          <p:nvPr/>
        </p:nvSpPr>
        <p:spPr>
          <a:xfrm xmlns:a="http://schemas.openxmlformats.org/drawingml/2006/main">
            <a:off x="1905000" y="40576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Analytical storage</a:t>
            </a:r>
          </a:p>
        </p:txBody>
      </p:sp>
      <p:sp>
        <p:nvSpPr>
          <p:cNvPr id="15" name="">
            <a:extLst xmlns:a="http://schemas.openxmlformats.org/drawingml/2006/main">
              <a:ext uri="{FF2B5EF4-FFF2-40B4-BE49-F238E27FC236}">
                <a16:creationId xmlns:a16="http://schemas.microsoft.com/office/drawing/2014/main" id="{23EC771D-7676-4FA7-9C70-6093A8ABA2AB}"/>
              </a:ext>
            </a:extLst>
          </p:cNvPr>
          <p:cNvSpPr>
            <a:spLocks xmlns:a="http://schemas.openxmlformats.org/drawingml/2006/main" noGrp="1"/>
          </p:cNvSpPr>
          <p:nvPr/>
        </p:nvSpPr>
        <p:spPr>
          <a:xfrm xmlns:a="http://schemas.openxmlformats.org/drawingml/2006/main">
            <a:off x="6191250" y="40576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Columnar files read only requested columns and compress similar values.</a:t>
            </a:r>
          </a:p>
        </p:txBody>
      </p:sp>
      <p:sp>
        <p:nvSpPr>
          <p:cNvPr id="16" name="">
            <a:extLst xmlns:a="http://schemas.openxmlformats.org/drawingml/2006/main">
              <a:ext uri="{FF2B5EF4-FFF2-40B4-BE49-F238E27FC236}">
                <a16:creationId xmlns:a16="http://schemas.microsoft.com/office/drawing/2014/main" id="{D3682736-C82A-4181-9E78-B0E65D23AF58}"/>
              </a:ext>
            </a:extLst>
          </p:cNvPr>
          <p:cNvSpPr>
            <a:spLocks xmlns:a="http://schemas.openxmlformats.org/drawingml/2006/main" noGrp="1"/>
          </p:cNvSpPr>
          <p:nvPr/>
        </p:nvSpPr>
        <p:spPr>
          <a:xfrm xmlns:a="http://schemas.openxmlformats.org/drawingml/2006/main">
            <a:off x="857250" y="49815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F4A261"/>
                </a:solidFill>
                <a:latin typeface="Arial"/>
                <a:ea typeface="Arial"/>
                <a:cs typeface="Arial"/>
              </a:defRPr>
            </a:pPr>
            <a:r>
              <a:rPr sz="2100" b="1">
                <a:solidFill>
                  <a:srgbClr val="F4A261"/>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5A35B588-E1E6-4D07-A747-C701C1103A78}"/>
              </a:ext>
            </a:extLst>
          </p:cNvPr>
          <p:cNvSpPr>
            <a:spLocks xmlns:a="http://schemas.openxmlformats.org/drawingml/2006/main" noGrp="1"/>
          </p:cNvSpPr>
          <p:nvPr/>
        </p:nvSpPr>
        <p:spPr>
          <a:xfrm xmlns:a="http://schemas.openxmlformats.org/drawingml/2006/main">
            <a:off x="1905000" y="49339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Specialized indexes</a:t>
            </a:r>
          </a:p>
        </p:txBody>
      </p:sp>
      <p:sp>
        <p:nvSpPr>
          <p:cNvPr id="18" name="">
            <a:extLst xmlns:a="http://schemas.openxmlformats.org/drawingml/2006/main">
              <a:ext uri="{FF2B5EF4-FFF2-40B4-BE49-F238E27FC236}">
                <a16:creationId xmlns:a16="http://schemas.microsoft.com/office/drawing/2014/main" id="{63DD7BAF-F22E-4FB6-BB87-FE96EEBE8808}"/>
              </a:ext>
            </a:extLst>
          </p:cNvPr>
          <p:cNvSpPr>
            <a:spLocks xmlns:a="http://schemas.openxmlformats.org/drawingml/2006/main" noGrp="1"/>
          </p:cNvSpPr>
          <p:nvPr/>
        </p:nvSpPr>
        <p:spPr>
          <a:xfrm xmlns:a="http://schemas.openxmlformats.org/drawingml/2006/main">
            <a:off x="6191250" y="49339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Full-text indexes support term retrieval and ranking.</a:t>
            </a:r>
          </a:p>
        </p:txBody>
      </p:sp>
    </p:spTree>
    <p:extLst>
      <p:ext uri="{BB962C8B-B14F-4D97-AF65-F5344CB8AC3E}">
        <p14:creationId xmlns:p14="http://schemas.microsoft.com/office/powerpoint/2010/main" val="544219789"/>
      </p:ext>
    </p:extLst>
  </p:cSld>
</p:sld>
</file>

<file path=ppt/slides/slide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87DA80-C809-4674-8382-C9A53B84A4AC}"/>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A10B1386-8A62-45B5-9AA4-1B02BE369A05}"/>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OLTP storage engines</a:t>
            </a:r>
          </a:p>
        </p:txBody>
      </p:sp>
      <p:sp>
        <p:nvSpPr>
          <p:cNvPr id="3" name="">
            <a:extLst xmlns:a="http://schemas.openxmlformats.org/drawingml/2006/main">
              <a:ext uri="{FF2B5EF4-FFF2-40B4-BE49-F238E27FC236}">
                <a16:creationId xmlns:a16="http://schemas.microsoft.com/office/drawing/2014/main" id="{B9F16AE2-424E-46CA-B7CE-52183448A064}"/>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03 / 24</a:t>
            </a:r>
          </a:p>
        </p:txBody>
      </p:sp>
      <p:sp>
        <p:nvSpPr>
          <p:cNvPr id="4" name="">
            <a:extLst xmlns:a="http://schemas.openxmlformats.org/drawingml/2006/main">
              <a:ext uri="{FF2B5EF4-FFF2-40B4-BE49-F238E27FC236}">
                <a16:creationId xmlns:a16="http://schemas.microsoft.com/office/drawing/2014/main" id="{4C946638-C404-4219-B06B-36BD4949FD67}"/>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F4A261"/>
                </a:solidFill>
                <a:latin typeface="Arial"/>
                <a:ea typeface="Arial"/>
                <a:cs typeface="Arial"/>
              </a:defRPr>
            </a:pPr>
            <a:r>
              <a:rPr sz="6750" b="1">
                <a:solidFill>
                  <a:srgbClr val="F4A261"/>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89885D9-9F1B-49BD-BF53-FB3D09C4DF77}"/>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Log-structured storage converts random writes into sequential appends.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B-trees maintain ordered pages and predictable point or range lookups.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Both trade read, write, and space amplification.</a:t>
            </a:r>
          </a:p>
        </p:txBody>
      </p:sp>
      <p:sp>
        <p:nvSpPr>
          <p:cNvPr id="6" name="">
            <a:extLst xmlns:a="http://schemas.openxmlformats.org/drawingml/2006/main">
              <a:ext uri="{FF2B5EF4-FFF2-40B4-BE49-F238E27FC236}">
                <a16:creationId xmlns:a16="http://schemas.microsoft.com/office/drawing/2014/main" id="{BB482C34-3272-4996-99D0-139DBD2A2EC5}"/>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2C056F42-F7C2-4D6E-85B2-2700ED2B8C74}"/>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676380509"/>
      </p:ext>
    </p:extLst>
  </p:cSld>
</p:sld>
</file>

<file path=ppt/slides/slide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9176C3F-6EB6-476D-871E-0D6272DB4385}"/>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38413F05-0BA8-4776-9290-840B69054A01}"/>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OLTP storage engines: design trade-offs</a:t>
            </a:r>
          </a:p>
        </p:txBody>
      </p:sp>
      <p:sp>
        <p:nvSpPr>
          <p:cNvPr id="3" name="">
            <a:extLst xmlns:a="http://schemas.openxmlformats.org/drawingml/2006/main">
              <a:ext uri="{FF2B5EF4-FFF2-40B4-BE49-F238E27FC236}">
                <a16:creationId xmlns:a16="http://schemas.microsoft.com/office/drawing/2014/main" id="{6186C367-9ED6-4E98-9E58-F309A8EF2490}"/>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04 / 24</a:t>
            </a:r>
          </a:p>
        </p:txBody>
      </p:sp>
      <p:sp>
        <p:nvSpPr>
          <p:cNvPr id="4" name="">
            <a:extLst xmlns:a="http://schemas.openxmlformats.org/drawingml/2006/main">
              <a:ext uri="{FF2B5EF4-FFF2-40B4-BE49-F238E27FC236}">
                <a16:creationId xmlns:a16="http://schemas.microsoft.com/office/drawing/2014/main" id="{6133735A-8E3B-4A1B-9636-B80824FB62CE}"/>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F4A261"/>
                </a:solidFill>
                <a:latin typeface="Arial"/>
                <a:ea typeface="Arial"/>
                <a:cs typeface="Arial"/>
              </a:defRPr>
            </a:pPr>
            <a:r>
              <a:rPr sz="6750" b="1">
                <a:solidFill>
                  <a:srgbClr val="F4A261"/>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E494EF9E-337F-4ACD-A7F4-035773F858D4}"/>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Log-structured storage converts random writes into sequential appends.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669861983"/>
      </p:ext>
    </p:extLst>
  </p:cSld>
</p:sld>
</file>

<file path=ppt/slides/slide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A742B19-55E0-430F-9611-E9B7B19C6101}"/>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863E8A8B-1EB5-486B-8E28-7F073A228BA7}"/>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4-1: mechanism explained</a:t>
            </a:r>
          </a:p>
        </p:txBody>
      </p:sp>
      <p:sp>
        <p:nvSpPr>
          <p:cNvPr id="3" name="">
            <a:extLst xmlns:a="http://schemas.openxmlformats.org/drawingml/2006/main">
              <a:ext uri="{FF2B5EF4-FFF2-40B4-BE49-F238E27FC236}">
                <a16:creationId xmlns:a16="http://schemas.microsoft.com/office/drawing/2014/main" id="{6D53D718-983A-4703-96A8-60AA19AD5618}"/>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05 / 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76ea2e30e124499"/>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3E33CF3-802C-4039-A999-8B871CD10AF0}"/>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EF869886-FF88-4AEA-B169-5F09DE3729B2}"/>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Storing a log of key-value pairs in a CSV-like format, indexed with an</a:t>
            </a:r>
          </a:p>
        </p:txBody>
      </p:sp>
      <p:sp>
        <p:nvSpPr>
          <p:cNvPr id="7" name="">
            <a:extLst xmlns:a="http://schemas.openxmlformats.org/drawingml/2006/main">
              <a:ext uri="{FF2B5EF4-FFF2-40B4-BE49-F238E27FC236}">
                <a16:creationId xmlns:a16="http://schemas.microsoft.com/office/drawing/2014/main" id="{71C31ABF-FD5A-4D28-81AF-EDF6DA7819BC}"/>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56FD57DB-BF75-401C-A16A-7B79C338AFBF}"/>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It turns the chapter concept into a concrete dataflow, timeline, or state transition.</a:t>
            </a:r>
          </a:p>
        </p:txBody>
      </p:sp>
      <p:sp>
        <p:nvSpPr>
          <p:cNvPr id="9" name="">
            <a:extLst xmlns:a="http://schemas.openxmlformats.org/drawingml/2006/main">
              <a:ext uri="{FF2B5EF4-FFF2-40B4-BE49-F238E27FC236}">
                <a16:creationId xmlns:a16="http://schemas.microsoft.com/office/drawing/2014/main" id="{6ACBAE3C-19E8-42BC-A3F2-3B3EDA42770E}"/>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D5DBCED6-13C4-49A9-ADE5-BF49CF93E892}"/>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Check the actors, data direction, operation order, and hidden system assumptions.</a:t>
            </a:r>
          </a:p>
        </p:txBody>
      </p:sp>
    </p:spTree>
    <p:extLst>
      <p:ext uri="{BB962C8B-B14F-4D97-AF65-F5344CB8AC3E}">
        <p14:creationId xmlns:p14="http://schemas.microsoft.com/office/powerpoint/2010/main" val="1021677926"/>
      </p:ext>
    </p:extLst>
  </p:cSld>
</p:sld>
</file>

<file path=ppt/slides/slide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5F0BC1-1301-48E5-9253-7EBE7E70A279}"/>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F901F3F4-4BCF-4FC6-9391-C331729C65DE}"/>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LSM trees</a:t>
            </a:r>
          </a:p>
        </p:txBody>
      </p:sp>
      <p:sp>
        <p:nvSpPr>
          <p:cNvPr id="3" name="">
            <a:extLst xmlns:a="http://schemas.openxmlformats.org/drawingml/2006/main">
              <a:ext uri="{FF2B5EF4-FFF2-40B4-BE49-F238E27FC236}">
                <a16:creationId xmlns:a16="http://schemas.microsoft.com/office/drawing/2014/main" id="{74312FF1-7FFC-4B12-A17D-473B94339684}"/>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06 / 24</a:t>
            </a:r>
          </a:p>
        </p:txBody>
      </p:sp>
      <p:sp>
        <p:nvSpPr>
          <p:cNvPr id="4" name="">
            <a:extLst xmlns:a="http://schemas.openxmlformats.org/drawingml/2006/main">
              <a:ext uri="{FF2B5EF4-FFF2-40B4-BE49-F238E27FC236}">
                <a16:creationId xmlns:a16="http://schemas.microsoft.com/office/drawing/2014/main" id="{57992616-EA61-41BC-A8C8-156F09B60E0C}"/>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F4A261"/>
                </a:solidFill>
                <a:latin typeface="Arial"/>
                <a:ea typeface="Arial"/>
                <a:cs typeface="Arial"/>
              </a:defRPr>
            </a:pPr>
            <a:r>
              <a:rPr sz="6750" b="1">
                <a:solidFill>
                  <a:srgbClr val="F4A261"/>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D8EAF946-94CE-46D8-A1D4-AC61FA6127FE}"/>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Writes enter an in-memory table and later flush to sorted files.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Background compaction merges levels and removes obsolete versions.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Bloom filters and compaction policy reduce unnecessary reads.</a:t>
            </a:r>
          </a:p>
        </p:txBody>
      </p:sp>
      <p:sp>
        <p:nvSpPr>
          <p:cNvPr id="6" name="">
            <a:extLst xmlns:a="http://schemas.openxmlformats.org/drawingml/2006/main">
              <a:ext uri="{FF2B5EF4-FFF2-40B4-BE49-F238E27FC236}">
                <a16:creationId xmlns:a16="http://schemas.microsoft.com/office/drawing/2014/main" id="{4BD70865-84F8-4DD6-9C79-827DCEA61D82}"/>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1B6C9CA1-20E8-45BC-AAD1-B8622F3DD1DA}"/>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34896165"/>
      </p:ext>
    </p:extLst>
  </p:cSld>
</p:sld>
</file>

<file path=ppt/slides/slide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A8B9ED-1344-464A-A21A-85E652D38624}"/>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4849FB66-B5FE-4EE9-9DF7-0A054291AB6A}"/>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LSM trees: design trade-offs</a:t>
            </a:r>
          </a:p>
        </p:txBody>
      </p:sp>
      <p:sp>
        <p:nvSpPr>
          <p:cNvPr id="3" name="">
            <a:extLst xmlns:a="http://schemas.openxmlformats.org/drawingml/2006/main">
              <a:ext uri="{FF2B5EF4-FFF2-40B4-BE49-F238E27FC236}">
                <a16:creationId xmlns:a16="http://schemas.microsoft.com/office/drawing/2014/main" id="{8851435F-9772-497F-9E32-584944960F80}"/>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07 / 24</a:t>
            </a:r>
          </a:p>
        </p:txBody>
      </p:sp>
      <p:sp>
        <p:nvSpPr>
          <p:cNvPr id="4" name="">
            <a:extLst xmlns:a="http://schemas.openxmlformats.org/drawingml/2006/main">
              <a:ext uri="{FF2B5EF4-FFF2-40B4-BE49-F238E27FC236}">
                <a16:creationId xmlns:a16="http://schemas.microsoft.com/office/drawing/2014/main" id="{E6385CEE-9618-4D2A-AD9C-5E925985A58B}"/>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F4A261"/>
                </a:solidFill>
                <a:latin typeface="Arial"/>
                <a:ea typeface="Arial"/>
                <a:cs typeface="Arial"/>
              </a:defRPr>
            </a:pPr>
            <a:r>
              <a:rPr sz="6750" b="1">
                <a:solidFill>
                  <a:srgbClr val="F4A261"/>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7A179C1-463F-4CB7-8F62-F4FB44C3BC67}"/>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Writes enter an in-memory table and later flush to sorted files.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875624449"/>
      </p:ext>
    </p:extLst>
  </p:cSld>
</p:sld>
</file>

<file path=ppt/slides/slide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F746E0C-B3E1-4C66-93F5-D23256A5691F}"/>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69097D60-8D50-467B-AA56-942B6995E26F}"/>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4-2: mechanism explained</a:t>
            </a:r>
          </a:p>
        </p:txBody>
      </p:sp>
      <p:sp>
        <p:nvSpPr>
          <p:cNvPr id="3" name="">
            <a:extLst xmlns:a="http://schemas.openxmlformats.org/drawingml/2006/main">
              <a:ext uri="{FF2B5EF4-FFF2-40B4-BE49-F238E27FC236}">
                <a16:creationId xmlns:a16="http://schemas.microsoft.com/office/drawing/2014/main" id="{28B7A046-3DC7-47F8-A31D-5E9E9EF576A0}"/>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08 / 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2a07007b6f04042"/>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501E7B3-157A-46E7-89FC-32D742086FE6}"/>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0F56F13A-0E4A-44AB-BECF-DC7FC3220B8D}"/>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figure exposes the physical data structure used to accelerate reads or writes.</a:t>
            </a:r>
          </a:p>
        </p:txBody>
      </p:sp>
      <p:sp>
        <p:nvSpPr>
          <p:cNvPr id="7" name="">
            <a:extLst xmlns:a="http://schemas.openxmlformats.org/drawingml/2006/main">
              <a:ext uri="{FF2B5EF4-FFF2-40B4-BE49-F238E27FC236}">
                <a16:creationId xmlns:a16="http://schemas.microsoft.com/office/drawing/2014/main" id="{15361222-F859-436B-AABA-164AC228B408}"/>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A7C136FE-BBBB-4570-A533-5B8FF696F867}"/>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Performance comes from data layout and precomputation, with added write, space, or maintenance cost.</a:t>
            </a:r>
          </a:p>
        </p:txBody>
      </p:sp>
      <p:sp>
        <p:nvSpPr>
          <p:cNvPr id="9" name="">
            <a:extLst xmlns:a="http://schemas.openxmlformats.org/drawingml/2006/main">
              <a:ext uri="{FF2B5EF4-FFF2-40B4-BE49-F238E27FC236}">
                <a16:creationId xmlns:a16="http://schemas.microsoft.com/office/drawing/2014/main" id="{FE6D2861-56A0-40A7-BE0B-BC03A156C1A6}"/>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A36BEC17-CD1F-41B9-9C81-296845429ED8}"/>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79751277"/>
      </p:ext>
    </p:extLst>
  </p:cSld>
</p:sld>
</file>

<file path=ppt/slides/slide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3AA6835-82E5-4C2D-A341-172A51D3BD88}"/>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1CD53BF9-EBCF-47D8-84BA-627A84065C7B}"/>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4-3: mechanism explained</a:t>
            </a:r>
          </a:p>
        </p:txBody>
      </p:sp>
      <p:sp>
        <p:nvSpPr>
          <p:cNvPr id="3" name="">
            <a:extLst xmlns:a="http://schemas.openxmlformats.org/drawingml/2006/main">
              <a:ext uri="{FF2B5EF4-FFF2-40B4-BE49-F238E27FC236}">
                <a16:creationId xmlns:a16="http://schemas.microsoft.com/office/drawing/2014/main" id="{3C6F69D1-953D-4BCD-99CC-1F11738EC03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09 / 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41b80e1ada447f8"/>
          <a:stretch xmlns:a="http://schemas.openxmlformats.org/drawingml/2006/main"/>
        </p:blipFill>
        <p:spPr>
          <a:xfrm xmlns:a="http://schemas.openxmlformats.org/drawingml/2006/main">
            <a:off x="1213210" y="1285875"/>
            <a:ext cx="636515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BC7D0AE-075B-4AD0-9710-C3CF3C47CC9D}"/>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98DC8A9D-85AA-469B-A3FE-8E899D916887}"/>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figure exposes the physical data structure used to accelerate reads or writes.</a:t>
            </a:r>
          </a:p>
        </p:txBody>
      </p:sp>
      <p:sp>
        <p:nvSpPr>
          <p:cNvPr id="7" name="">
            <a:extLst xmlns:a="http://schemas.openxmlformats.org/drawingml/2006/main">
              <a:ext uri="{FF2B5EF4-FFF2-40B4-BE49-F238E27FC236}">
                <a16:creationId xmlns:a16="http://schemas.microsoft.com/office/drawing/2014/main" id="{90D91F3D-92F8-4D90-8144-13B0C818E071}"/>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4DBC3B3E-05B4-4385-A895-877DB1CD0F1E}"/>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Performance comes from data layout and precomputation, with added write, space, or maintenance cost.</a:t>
            </a:r>
          </a:p>
        </p:txBody>
      </p:sp>
      <p:sp>
        <p:nvSpPr>
          <p:cNvPr id="9" name="">
            <a:extLst xmlns:a="http://schemas.openxmlformats.org/drawingml/2006/main">
              <a:ext uri="{FF2B5EF4-FFF2-40B4-BE49-F238E27FC236}">
                <a16:creationId xmlns:a16="http://schemas.microsoft.com/office/drawing/2014/main" id="{BF653F6B-3765-4B2E-85A5-C5382AE063CF}"/>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E325FCCB-738D-47C2-8572-7E0938F57735}"/>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710025257"/>
      </p:ext>
    </p:extLst>
  </p:cSld>
</p:sld>
</file>

<file path=ppt/slides/slide1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38C4B5F-4A47-425E-A8BC-B6A1143DBCA2}"/>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F205BC9B-DB1E-45E4-B0E1-C0D4DCF2E97C}"/>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4-4: mechanism explained</a:t>
            </a:r>
          </a:p>
        </p:txBody>
      </p:sp>
      <p:sp>
        <p:nvSpPr>
          <p:cNvPr id="3" name="">
            <a:extLst xmlns:a="http://schemas.openxmlformats.org/drawingml/2006/main">
              <a:ext uri="{FF2B5EF4-FFF2-40B4-BE49-F238E27FC236}">
                <a16:creationId xmlns:a16="http://schemas.microsoft.com/office/drawing/2014/main" id="{25B1718B-F937-4828-AFE7-E43DBAA88753}"/>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10 / 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32742f6949643f8"/>
          <a:stretch xmlns:a="http://schemas.openxmlformats.org/drawingml/2006/main"/>
        </p:blipFill>
        <p:spPr>
          <a:xfrm xmlns:a="http://schemas.openxmlformats.org/drawingml/2006/main">
            <a:off x="514350" y="1518472"/>
            <a:ext cx="7762875" cy="4297306"/>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6D66364-949D-4919-B853-903D244AAC0F}"/>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F0079347-CA72-4396-B282-053ACB909A66}"/>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figure exposes the physical data structure used to accelerate reads or writes.</a:t>
            </a:r>
          </a:p>
        </p:txBody>
      </p:sp>
      <p:sp>
        <p:nvSpPr>
          <p:cNvPr id="7" name="">
            <a:extLst xmlns:a="http://schemas.openxmlformats.org/drawingml/2006/main">
              <a:ext uri="{FF2B5EF4-FFF2-40B4-BE49-F238E27FC236}">
                <a16:creationId xmlns:a16="http://schemas.microsoft.com/office/drawing/2014/main" id="{96CDF99A-0DA4-4910-A308-60E3F14B97D6}"/>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4D36A484-7F8E-43FF-BF6E-379CEDB2343C}"/>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Performance comes from data layout and precomputation, with added write, space, or maintenance cost.</a:t>
            </a:r>
          </a:p>
        </p:txBody>
      </p:sp>
      <p:sp>
        <p:nvSpPr>
          <p:cNvPr id="9" name="">
            <a:extLst xmlns:a="http://schemas.openxmlformats.org/drawingml/2006/main">
              <a:ext uri="{FF2B5EF4-FFF2-40B4-BE49-F238E27FC236}">
                <a16:creationId xmlns:a16="http://schemas.microsoft.com/office/drawing/2014/main" id="{D3B0FD53-DFE8-4F69-B19E-7AD88386BC05}"/>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21DA16D3-6264-43E1-8A76-83CC8DB6FB7E}"/>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409782640"/>
      </p:ext>
    </p:extLst>
  </p:cSld>
</p:sld>
</file>

<file path=ppt/slides/slide1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C2AA399-850A-42B9-BDA6-8B2FBF4FE087}"/>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4512E5C0-078D-498C-B97A-97607CAC9C90}"/>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B-trees and indexes</a:t>
            </a:r>
          </a:p>
        </p:txBody>
      </p:sp>
      <p:sp>
        <p:nvSpPr>
          <p:cNvPr id="3" name="">
            <a:extLst xmlns:a="http://schemas.openxmlformats.org/drawingml/2006/main">
              <a:ext uri="{FF2B5EF4-FFF2-40B4-BE49-F238E27FC236}">
                <a16:creationId xmlns:a16="http://schemas.microsoft.com/office/drawing/2014/main" id="{1482D622-4D34-45E1-A2E4-D3C5F819277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11 / 24</a:t>
            </a:r>
          </a:p>
        </p:txBody>
      </p:sp>
      <p:sp>
        <p:nvSpPr>
          <p:cNvPr id="4" name="">
            <a:extLst xmlns:a="http://schemas.openxmlformats.org/drawingml/2006/main">
              <a:ext uri="{FF2B5EF4-FFF2-40B4-BE49-F238E27FC236}">
                <a16:creationId xmlns:a16="http://schemas.microsoft.com/office/drawing/2014/main" id="{B28F1C77-D333-44CB-907C-5308FEF492B6}"/>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F4A261"/>
                </a:solidFill>
                <a:latin typeface="Arial"/>
                <a:ea typeface="Arial"/>
                <a:cs typeface="Arial"/>
              </a:defRPr>
            </a:pPr>
            <a:r>
              <a:rPr sz="6750" b="1">
                <a:solidFill>
                  <a:srgbClr val="F4A261"/>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358B32AF-01D4-44F9-8293-D58AC0819C0F}"/>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Page splits and write-ahead logging preserve recoverability.</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Column order determines which queries a composite index can serve.</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Covering indexes reduce table lookups while increasing write and storage cost.</a:t>
            </a:r>
          </a:p>
        </p:txBody>
      </p:sp>
      <p:sp>
        <p:nvSpPr>
          <p:cNvPr id="6" name="">
            <a:extLst xmlns:a="http://schemas.openxmlformats.org/drawingml/2006/main">
              <a:ext uri="{FF2B5EF4-FFF2-40B4-BE49-F238E27FC236}">
                <a16:creationId xmlns:a16="http://schemas.microsoft.com/office/drawing/2014/main" id="{43F70409-4115-456F-8D19-D1B23D37649C}"/>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93A0E04D-43CD-4058-BFA4-B9CD1BAB7FBE}"/>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441567056"/>
      </p:ext>
    </p:extLst>
  </p:cSld>
</p:sld>
</file>

<file path=ppt/slides/slide1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7DAF1E-7D13-47B5-B7D1-D90183EC8F3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719463E6-0B46-44C8-ACF7-98ADF7352E91}"/>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B-trees and indexes: design trade-offs</a:t>
            </a:r>
          </a:p>
        </p:txBody>
      </p:sp>
      <p:sp>
        <p:nvSpPr>
          <p:cNvPr id="3" name="">
            <a:extLst xmlns:a="http://schemas.openxmlformats.org/drawingml/2006/main">
              <a:ext uri="{FF2B5EF4-FFF2-40B4-BE49-F238E27FC236}">
                <a16:creationId xmlns:a16="http://schemas.microsoft.com/office/drawing/2014/main" id="{AF5DAEF9-B8A9-4DA1-9ED2-0A91481ECAAE}"/>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12 / 24</a:t>
            </a:r>
          </a:p>
        </p:txBody>
      </p:sp>
      <p:sp>
        <p:nvSpPr>
          <p:cNvPr id="4" name="">
            <a:extLst xmlns:a="http://schemas.openxmlformats.org/drawingml/2006/main">
              <a:ext uri="{FF2B5EF4-FFF2-40B4-BE49-F238E27FC236}">
                <a16:creationId xmlns:a16="http://schemas.microsoft.com/office/drawing/2014/main" id="{5BAA5CE1-3245-4754-97F7-3B35307C2C8C}"/>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F4A261"/>
                </a:solidFill>
                <a:latin typeface="Arial"/>
                <a:ea typeface="Arial"/>
                <a:cs typeface="Arial"/>
              </a:defRPr>
            </a:pPr>
            <a:r>
              <a:rPr sz="6750" b="1">
                <a:solidFill>
                  <a:srgbClr val="F4A261"/>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C4380942-DAB5-4D93-8705-9543E6D837C0}"/>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Page splits and write-ahead logging preserve recoverability.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2118434551"/>
      </p:ext>
    </p:extLst>
  </p:cSld>
</p:sld>
</file>

<file path=ppt/slides/slide1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275E8FB-66D5-41D7-8822-8946440B4A94}"/>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A8471AC7-A3CD-4D2C-9533-595C8DC589D8}"/>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4-5: mechanism explained</a:t>
            </a:r>
          </a:p>
        </p:txBody>
      </p:sp>
      <p:sp>
        <p:nvSpPr>
          <p:cNvPr id="3" name="">
            <a:extLst xmlns:a="http://schemas.openxmlformats.org/drawingml/2006/main">
              <a:ext uri="{FF2B5EF4-FFF2-40B4-BE49-F238E27FC236}">
                <a16:creationId xmlns:a16="http://schemas.microsoft.com/office/drawing/2014/main" id="{561EF6E4-0F95-4069-9174-14432F5BA716}"/>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13 / 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1778e3d807b422c"/>
          <a:stretch xmlns:a="http://schemas.openxmlformats.org/drawingml/2006/main"/>
        </p:blipFill>
        <p:spPr>
          <a:xfrm xmlns:a="http://schemas.openxmlformats.org/drawingml/2006/main">
            <a:off x="941124" y="1285875"/>
            <a:ext cx="6909326"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BB49290-AA04-4750-8462-71E2AE459F58}"/>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E97AB9B9-AE1C-4EEE-91DD-81E9F7906B66}"/>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figure exposes the physical data structure used to accelerate reads or writes.</a:t>
            </a:r>
          </a:p>
        </p:txBody>
      </p:sp>
      <p:sp>
        <p:nvSpPr>
          <p:cNvPr id="7" name="">
            <a:extLst xmlns:a="http://schemas.openxmlformats.org/drawingml/2006/main">
              <a:ext uri="{FF2B5EF4-FFF2-40B4-BE49-F238E27FC236}">
                <a16:creationId xmlns:a16="http://schemas.microsoft.com/office/drawing/2014/main" id="{EFF2AEAE-18CD-457A-90CB-6D8A3EF065F2}"/>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AEE43012-5D09-4464-B30F-350566BF7ED5}"/>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Performance comes from data layout and precomputation, with added write, space, or maintenance cost.</a:t>
            </a:r>
          </a:p>
        </p:txBody>
      </p:sp>
      <p:sp>
        <p:nvSpPr>
          <p:cNvPr id="9" name="">
            <a:extLst xmlns:a="http://schemas.openxmlformats.org/drawingml/2006/main">
              <a:ext uri="{FF2B5EF4-FFF2-40B4-BE49-F238E27FC236}">
                <a16:creationId xmlns:a16="http://schemas.microsoft.com/office/drawing/2014/main" id="{5310A46A-9504-47F0-87C5-D0345E102B9B}"/>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AF2462BF-299E-4C41-A033-D01057DC02D9}"/>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507303412"/>
      </p:ext>
    </p:extLst>
  </p:cSld>
</p:sld>
</file>

<file path=ppt/slides/slide1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D02561C-CC0A-45DE-881F-FBC543B8484F}"/>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B09FE2A8-021F-4153-9485-46C5B273FCEE}"/>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4-6: mechanism explained</a:t>
            </a:r>
          </a:p>
        </p:txBody>
      </p:sp>
      <p:sp>
        <p:nvSpPr>
          <p:cNvPr id="3" name="">
            <a:extLst xmlns:a="http://schemas.openxmlformats.org/drawingml/2006/main">
              <a:ext uri="{FF2B5EF4-FFF2-40B4-BE49-F238E27FC236}">
                <a16:creationId xmlns:a16="http://schemas.microsoft.com/office/drawing/2014/main" id="{5BF260C8-41F7-4F46-BE08-255686E54CCE}"/>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14 / 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757771f93794c74"/>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7058E97-3CC1-415A-85AA-4F72B530DEBC}"/>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F9D0043B-26CF-42C6-9B0D-75165303C3A0}"/>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figure exposes the physical data structure used to accelerate reads or writes.</a:t>
            </a:r>
          </a:p>
        </p:txBody>
      </p:sp>
      <p:sp>
        <p:nvSpPr>
          <p:cNvPr id="7" name="">
            <a:extLst xmlns:a="http://schemas.openxmlformats.org/drawingml/2006/main">
              <a:ext uri="{FF2B5EF4-FFF2-40B4-BE49-F238E27FC236}">
                <a16:creationId xmlns:a16="http://schemas.microsoft.com/office/drawing/2014/main" id="{3A3B8DEA-A2C0-405B-A49B-6B158AAD67F9}"/>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5E4F690F-7D33-4361-A006-191B6EA96200}"/>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Performance comes from data layout and precomputation, with added write, space, or maintenance cost.</a:t>
            </a:r>
          </a:p>
        </p:txBody>
      </p:sp>
      <p:sp>
        <p:nvSpPr>
          <p:cNvPr id="9" name="">
            <a:extLst xmlns:a="http://schemas.openxmlformats.org/drawingml/2006/main">
              <a:ext uri="{FF2B5EF4-FFF2-40B4-BE49-F238E27FC236}">
                <a16:creationId xmlns:a16="http://schemas.microsoft.com/office/drawing/2014/main" id="{BD730A4C-BD54-4244-B810-107611570766}"/>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6D7351F6-C491-4498-87B4-FE9C764C12E9}"/>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3632449"/>
      </p:ext>
    </p:extLst>
  </p:cSld>
</p:sld>
</file>

<file path=ppt/slides/slide1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3DC674E-72B4-4705-B220-E5911F82E660}"/>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123BDF88-0F88-4698-8781-851BD50CF91F}"/>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Analytical storage</a:t>
            </a:r>
          </a:p>
        </p:txBody>
      </p:sp>
      <p:sp>
        <p:nvSpPr>
          <p:cNvPr id="3" name="">
            <a:extLst xmlns:a="http://schemas.openxmlformats.org/drawingml/2006/main">
              <a:ext uri="{FF2B5EF4-FFF2-40B4-BE49-F238E27FC236}">
                <a16:creationId xmlns:a16="http://schemas.microsoft.com/office/drawing/2014/main" id="{90A8D1B9-F9F2-4B86-9CB6-74A2FA9D9222}"/>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15 / 24</a:t>
            </a:r>
          </a:p>
        </p:txBody>
      </p:sp>
      <p:sp>
        <p:nvSpPr>
          <p:cNvPr id="4" name="">
            <a:extLst xmlns:a="http://schemas.openxmlformats.org/drawingml/2006/main">
              <a:ext uri="{FF2B5EF4-FFF2-40B4-BE49-F238E27FC236}">
                <a16:creationId xmlns:a16="http://schemas.microsoft.com/office/drawing/2014/main" id="{8EBED631-180B-4555-AA5D-E545651DE49A}"/>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F4A261"/>
                </a:solidFill>
                <a:latin typeface="Arial"/>
                <a:ea typeface="Arial"/>
                <a:cs typeface="Arial"/>
              </a:defRPr>
            </a:pPr>
            <a:r>
              <a:rPr sz="6750" b="1">
                <a:solidFill>
                  <a:srgbClr val="F4A261"/>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2B082E12-0B40-4B8B-821B-ADD54B172757}"/>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Columnar files read only requested columns and compress similar values.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Vectorized execution processes batches efficiently on modern CPUs.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Materialized views exchange refresh cost for faster queries.</a:t>
            </a:r>
          </a:p>
        </p:txBody>
      </p:sp>
      <p:sp>
        <p:nvSpPr>
          <p:cNvPr id="6" name="">
            <a:extLst xmlns:a="http://schemas.openxmlformats.org/drawingml/2006/main">
              <a:ext uri="{FF2B5EF4-FFF2-40B4-BE49-F238E27FC236}">
                <a16:creationId xmlns:a16="http://schemas.microsoft.com/office/drawing/2014/main" id="{9F7587C6-B342-4F4B-A479-D4C5266DEF98}"/>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72A03F8C-516F-465A-A01E-77F6A543FC50}"/>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935169874"/>
      </p:ext>
    </p:extLst>
  </p:cSld>
</p:sld>
</file>

<file path=ppt/slides/slide1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DE23A83-FD23-47F6-94F1-89624F3FE109}"/>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9709630D-6F0B-430A-926A-B0BA59D3ACAC}"/>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Analytical storage: design trade-offs</a:t>
            </a:r>
          </a:p>
        </p:txBody>
      </p:sp>
      <p:sp>
        <p:nvSpPr>
          <p:cNvPr id="3" name="">
            <a:extLst xmlns:a="http://schemas.openxmlformats.org/drawingml/2006/main">
              <a:ext uri="{FF2B5EF4-FFF2-40B4-BE49-F238E27FC236}">
                <a16:creationId xmlns:a16="http://schemas.microsoft.com/office/drawing/2014/main" id="{DC354FE7-73E3-40E1-BF65-4D4077E3BB68}"/>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16 / 24</a:t>
            </a:r>
          </a:p>
        </p:txBody>
      </p:sp>
      <p:sp>
        <p:nvSpPr>
          <p:cNvPr id="4" name="">
            <a:extLst xmlns:a="http://schemas.openxmlformats.org/drawingml/2006/main">
              <a:ext uri="{FF2B5EF4-FFF2-40B4-BE49-F238E27FC236}">
                <a16:creationId xmlns:a16="http://schemas.microsoft.com/office/drawing/2014/main" id="{DB55D658-D24A-4B64-883E-AA64DA26214F}"/>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F4A261"/>
                </a:solidFill>
                <a:latin typeface="Arial"/>
                <a:ea typeface="Arial"/>
                <a:cs typeface="Arial"/>
              </a:defRPr>
            </a:pPr>
            <a:r>
              <a:rPr sz="6750" b="1">
                <a:solidFill>
                  <a:srgbClr val="F4A261"/>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B10EDF7B-00ED-4C5F-891B-7F43A96273CD}"/>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Columnar files read only requested columns and compress similar values.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059349008"/>
      </p:ext>
    </p:extLst>
  </p:cSld>
</p:sld>
</file>

<file path=ppt/slides/slide1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3B7CADA-3895-464B-B03B-9C2BADE92E90}"/>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6F1F9F47-540F-4CD4-B52A-74B223D42D2B}"/>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4-7: mechanism explained</a:t>
            </a:r>
          </a:p>
        </p:txBody>
      </p:sp>
      <p:sp>
        <p:nvSpPr>
          <p:cNvPr id="3" name="">
            <a:extLst xmlns:a="http://schemas.openxmlformats.org/drawingml/2006/main">
              <a:ext uri="{FF2B5EF4-FFF2-40B4-BE49-F238E27FC236}">
                <a16:creationId xmlns:a16="http://schemas.microsoft.com/office/drawing/2014/main" id="{93B970E5-75D9-4F45-87A1-8B554E584073}"/>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17 / 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3a7804a3bec4104"/>
          <a:stretch xmlns:a="http://schemas.openxmlformats.org/drawingml/2006/main"/>
        </p:blipFill>
        <p:spPr>
          <a:xfrm xmlns:a="http://schemas.openxmlformats.org/drawingml/2006/main">
            <a:off x="1232086" y="1285875"/>
            <a:ext cx="6327402"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3B45E4C-FA5F-4D15-B912-32D1F0188A4E}"/>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5F195398-2A76-4693-8129-73052F649797}"/>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diagram shows how entities and relationships are represented by keys, nesting, or joins.</a:t>
            </a:r>
          </a:p>
        </p:txBody>
      </p:sp>
      <p:sp>
        <p:nvSpPr>
          <p:cNvPr id="7" name="">
            <a:extLst xmlns:a="http://schemas.openxmlformats.org/drawingml/2006/main">
              <a:ext uri="{FF2B5EF4-FFF2-40B4-BE49-F238E27FC236}">
                <a16:creationId xmlns:a16="http://schemas.microsoft.com/office/drawing/2014/main" id="{7450FDDD-6F64-4BD5-8753-9613925A00A4}"/>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2A899E40-84C5-4B55-BFA7-2A04B0270124}"/>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model changes read locality, duplication, and update complexity.</a:t>
            </a:r>
          </a:p>
        </p:txBody>
      </p:sp>
      <p:sp>
        <p:nvSpPr>
          <p:cNvPr id="9" name="">
            <a:extLst xmlns:a="http://schemas.openxmlformats.org/drawingml/2006/main">
              <a:ext uri="{FF2B5EF4-FFF2-40B4-BE49-F238E27FC236}">
                <a16:creationId xmlns:a16="http://schemas.microsoft.com/office/drawing/2014/main" id="{18B7C26F-73CE-471F-B929-04A657B3E90E}"/>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6084D08E-BB38-4F00-B6DC-9171BB595868}"/>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475211305"/>
      </p:ext>
    </p:extLst>
  </p:cSld>
</p:sld>
</file>

<file path=ppt/slides/slide1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32E97B7-3C24-46A7-9DEA-39648B8ECBB9}"/>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119D96EB-6F9B-4168-BC67-A147DA60B0C4}"/>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4-8: mechanism explained</a:t>
            </a:r>
          </a:p>
        </p:txBody>
      </p:sp>
      <p:sp>
        <p:nvSpPr>
          <p:cNvPr id="3" name="">
            <a:extLst xmlns:a="http://schemas.openxmlformats.org/drawingml/2006/main">
              <a:ext uri="{FF2B5EF4-FFF2-40B4-BE49-F238E27FC236}">
                <a16:creationId xmlns:a16="http://schemas.microsoft.com/office/drawing/2014/main" id="{9BBC472E-6F53-4E0C-AD36-9F448FA9A2A4}"/>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18 / 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bc3c2ca0f1a40a2"/>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402445D-6E83-4E03-B225-5D393945F88D}"/>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CC6E19A7-C91D-47F3-AB59-19200F05F5A8}"/>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figure exposes the physical data structure used to accelerate reads or writes.</a:t>
            </a:r>
          </a:p>
        </p:txBody>
      </p:sp>
      <p:sp>
        <p:nvSpPr>
          <p:cNvPr id="7" name="">
            <a:extLst xmlns:a="http://schemas.openxmlformats.org/drawingml/2006/main">
              <a:ext uri="{FF2B5EF4-FFF2-40B4-BE49-F238E27FC236}">
                <a16:creationId xmlns:a16="http://schemas.microsoft.com/office/drawing/2014/main" id="{C6551456-694B-444D-B840-36B4E5AFDC55}"/>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0618CCA6-3393-41AF-944B-CB1422BC2531}"/>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Performance comes from data layout and precomputation, with added write, space, or maintenance cost.</a:t>
            </a:r>
          </a:p>
        </p:txBody>
      </p:sp>
      <p:sp>
        <p:nvSpPr>
          <p:cNvPr id="9" name="">
            <a:extLst xmlns:a="http://schemas.openxmlformats.org/drawingml/2006/main">
              <a:ext uri="{FF2B5EF4-FFF2-40B4-BE49-F238E27FC236}">
                <a16:creationId xmlns:a16="http://schemas.microsoft.com/office/drawing/2014/main" id="{55D65D12-5633-4369-A5FB-F05D54FA06AE}"/>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09F10034-AFEF-4B1D-954E-C4293936245E}"/>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012132413"/>
      </p:ext>
    </p:extLst>
  </p:cSld>
</p:sld>
</file>

<file path=ppt/slides/slide1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A11A862-5A5C-482B-A806-EC94EC6733E2}"/>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5D729B08-830A-4557-8CA7-3744FA18F390}"/>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4-9: mechanism explained</a:t>
            </a:r>
          </a:p>
        </p:txBody>
      </p:sp>
      <p:sp>
        <p:nvSpPr>
          <p:cNvPr id="3" name="">
            <a:extLst xmlns:a="http://schemas.openxmlformats.org/drawingml/2006/main">
              <a:ext uri="{FF2B5EF4-FFF2-40B4-BE49-F238E27FC236}">
                <a16:creationId xmlns:a16="http://schemas.microsoft.com/office/drawing/2014/main" id="{BBEF7ACF-2626-4A00-8513-24EF782C38D3}"/>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19 / 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44942ca95c544c2"/>
          <a:stretch xmlns:a="http://schemas.openxmlformats.org/drawingml/2006/main"/>
        </p:blipFill>
        <p:spPr>
          <a:xfrm xmlns:a="http://schemas.openxmlformats.org/drawingml/2006/main">
            <a:off x="514350" y="1369453"/>
            <a:ext cx="7762875" cy="459534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D2D8BB0-E07A-417B-87DF-316FE0423487}"/>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DD8FD3F7-82D2-412A-8A9A-43825CC6E99B}"/>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figure exposes the physical data structure used to accelerate reads or writes.</a:t>
            </a:r>
          </a:p>
        </p:txBody>
      </p:sp>
      <p:sp>
        <p:nvSpPr>
          <p:cNvPr id="7" name="">
            <a:extLst xmlns:a="http://schemas.openxmlformats.org/drawingml/2006/main">
              <a:ext uri="{FF2B5EF4-FFF2-40B4-BE49-F238E27FC236}">
                <a16:creationId xmlns:a16="http://schemas.microsoft.com/office/drawing/2014/main" id="{D0F2A832-D07E-4EDC-991C-855595B06E9C}"/>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6591B689-3F63-462F-A8CB-04900143FD5E}"/>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Performance comes from data layout and precomputation, with added write, space, or maintenance cost.</a:t>
            </a:r>
          </a:p>
        </p:txBody>
      </p:sp>
      <p:sp>
        <p:nvSpPr>
          <p:cNvPr id="9" name="">
            <a:extLst xmlns:a="http://schemas.openxmlformats.org/drawingml/2006/main">
              <a:ext uri="{FF2B5EF4-FFF2-40B4-BE49-F238E27FC236}">
                <a16:creationId xmlns:a16="http://schemas.microsoft.com/office/drawing/2014/main" id="{F3277A36-A26F-4E63-8318-5973B71D13B1}"/>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F147B1B1-6EC1-4339-B39A-E1930289519F}"/>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388419044"/>
      </p:ext>
    </p:extLst>
  </p:cSld>
</p:sld>
</file>

<file path=ppt/slides/slide2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59A93A4-3E8F-45E5-9240-5B59EC5A88E2}"/>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E70CE77C-26CA-4655-8B6C-A7D6369C8A01}"/>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4-10: mechanism explained</a:t>
            </a:r>
          </a:p>
        </p:txBody>
      </p:sp>
      <p:sp>
        <p:nvSpPr>
          <p:cNvPr id="3" name="">
            <a:extLst xmlns:a="http://schemas.openxmlformats.org/drawingml/2006/main">
              <a:ext uri="{FF2B5EF4-FFF2-40B4-BE49-F238E27FC236}">
                <a16:creationId xmlns:a16="http://schemas.microsoft.com/office/drawing/2014/main" id="{F0F07454-9EC2-48A9-B359-A724E98ADA12}"/>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20 / 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2efd65b67e14c69"/>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67BF734-D55D-42C2-8576-52CE0E07FA68}"/>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C0103EAB-BE52-4873-B622-98D1756EF12F}"/>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figure exposes the physical data structure used to accelerate reads or writes.</a:t>
            </a:r>
          </a:p>
        </p:txBody>
      </p:sp>
      <p:sp>
        <p:nvSpPr>
          <p:cNvPr id="7" name="">
            <a:extLst xmlns:a="http://schemas.openxmlformats.org/drawingml/2006/main">
              <a:ext uri="{FF2B5EF4-FFF2-40B4-BE49-F238E27FC236}">
                <a16:creationId xmlns:a16="http://schemas.microsoft.com/office/drawing/2014/main" id="{AF1DCC3C-8868-4A8F-9C8F-1427D8F04525}"/>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207ED390-4651-4C6B-96DA-FD07F1316A4B}"/>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Performance comes from data layout and precomputation, with added write, space, or maintenance cost.</a:t>
            </a:r>
          </a:p>
        </p:txBody>
      </p:sp>
      <p:sp>
        <p:nvSpPr>
          <p:cNvPr id="9" name="">
            <a:extLst xmlns:a="http://schemas.openxmlformats.org/drawingml/2006/main">
              <a:ext uri="{FF2B5EF4-FFF2-40B4-BE49-F238E27FC236}">
                <a16:creationId xmlns:a16="http://schemas.microsoft.com/office/drawing/2014/main" id="{201F1E4E-EF2F-4885-9E72-156065187335}"/>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8CAB7E68-DE5E-4D75-A0C0-3B9F02924B93}"/>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995495339"/>
      </p:ext>
    </p:extLst>
  </p:cSld>
</p:sld>
</file>

<file path=ppt/slides/slide2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35D5DC-43A6-4CF3-8419-79DAFA8BB3CF}"/>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DC2E88D0-64A2-4646-8D7F-E57D21A9388F}"/>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Specialized indexes</a:t>
            </a:r>
          </a:p>
        </p:txBody>
      </p:sp>
      <p:sp>
        <p:nvSpPr>
          <p:cNvPr id="3" name="">
            <a:extLst xmlns:a="http://schemas.openxmlformats.org/drawingml/2006/main">
              <a:ext uri="{FF2B5EF4-FFF2-40B4-BE49-F238E27FC236}">
                <a16:creationId xmlns:a16="http://schemas.microsoft.com/office/drawing/2014/main" id="{D7ED0915-7009-4237-B181-D13F201F5AE6}"/>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21 / 24</a:t>
            </a:r>
          </a:p>
        </p:txBody>
      </p:sp>
      <p:sp>
        <p:nvSpPr>
          <p:cNvPr id="4" name="">
            <a:extLst xmlns:a="http://schemas.openxmlformats.org/drawingml/2006/main">
              <a:ext uri="{FF2B5EF4-FFF2-40B4-BE49-F238E27FC236}">
                <a16:creationId xmlns:a16="http://schemas.microsoft.com/office/drawing/2014/main" id="{44BC31D7-F821-4639-BDBC-E454AFEBA5FE}"/>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F4A261"/>
                </a:solidFill>
                <a:latin typeface="Arial"/>
                <a:ea typeface="Arial"/>
                <a:cs typeface="Arial"/>
              </a:defRPr>
            </a:pPr>
            <a:r>
              <a:rPr sz="6750" b="1">
                <a:solidFill>
                  <a:srgbClr val="F4A261"/>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4FBDFC9F-3127-4BF0-A722-9AE02168E748}"/>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Full-text indexes support term retrieval and ranking.</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Multidimensional indexes serve spatial and compound predicates.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Vector indexes use approximate nearest-neighbor search for semantic similarity.</a:t>
            </a:r>
          </a:p>
        </p:txBody>
      </p:sp>
      <p:sp>
        <p:nvSpPr>
          <p:cNvPr id="6" name="">
            <a:extLst xmlns:a="http://schemas.openxmlformats.org/drawingml/2006/main">
              <a:ext uri="{FF2B5EF4-FFF2-40B4-BE49-F238E27FC236}">
                <a16:creationId xmlns:a16="http://schemas.microsoft.com/office/drawing/2014/main" id="{9E0F682A-766D-4A50-A361-E603746B5505}"/>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49910597-6B1C-4F48-B774-8078091C5FDD}"/>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2143928619"/>
      </p:ext>
    </p:extLst>
  </p:cSld>
</p:sld>
</file>

<file path=ppt/slides/slide2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5943D98-4372-4D88-8C50-3D2D9320CBDB}"/>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0381617E-8DF4-4FC2-97EE-54E267AC91BC}"/>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Specialized indexes: design trade-offs</a:t>
            </a:r>
          </a:p>
        </p:txBody>
      </p:sp>
      <p:sp>
        <p:nvSpPr>
          <p:cNvPr id="3" name="">
            <a:extLst xmlns:a="http://schemas.openxmlformats.org/drawingml/2006/main">
              <a:ext uri="{FF2B5EF4-FFF2-40B4-BE49-F238E27FC236}">
                <a16:creationId xmlns:a16="http://schemas.microsoft.com/office/drawing/2014/main" id="{0BD67F6F-B17C-4B57-BDEA-CBC7CEC478B4}"/>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22 / 24</a:t>
            </a:r>
          </a:p>
        </p:txBody>
      </p:sp>
      <p:sp>
        <p:nvSpPr>
          <p:cNvPr id="4" name="">
            <a:extLst xmlns:a="http://schemas.openxmlformats.org/drawingml/2006/main">
              <a:ext uri="{FF2B5EF4-FFF2-40B4-BE49-F238E27FC236}">
                <a16:creationId xmlns:a16="http://schemas.microsoft.com/office/drawing/2014/main" id="{F1FA0E3B-CB06-4119-884D-79F309CEB226}"/>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F4A261"/>
                </a:solidFill>
                <a:latin typeface="Arial"/>
                <a:ea typeface="Arial"/>
                <a:cs typeface="Arial"/>
              </a:defRPr>
            </a:pPr>
            <a:r>
              <a:rPr sz="6750" b="1">
                <a:solidFill>
                  <a:srgbClr val="F4A261"/>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C0FEBF98-FBCF-4631-9487-FAB960BEA241}"/>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Full-text indexes support term retrieval and ranking.</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517270452"/>
      </p:ext>
    </p:extLst>
  </p:cSld>
</p:sld>
</file>

<file path=ppt/slides/slide2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4F03DA7-6CF9-4BA9-86FD-EEED87B5089A}"/>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A3F2B9B1-BC76-4C97-82B4-883A7F7A9320}"/>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4-11: mechanism explained</a:t>
            </a:r>
          </a:p>
        </p:txBody>
      </p:sp>
      <p:sp>
        <p:nvSpPr>
          <p:cNvPr id="3" name="">
            <a:extLst xmlns:a="http://schemas.openxmlformats.org/drawingml/2006/main">
              <a:ext uri="{FF2B5EF4-FFF2-40B4-BE49-F238E27FC236}">
                <a16:creationId xmlns:a16="http://schemas.microsoft.com/office/drawing/2014/main" id="{C6AE6E71-5B7A-4CC7-953F-0D93A937D87D}"/>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23 / 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a79740af6bd4654"/>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AF67485-B563-4C0E-91DD-EE41B9C64D4C}"/>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6B1C7185-642E-4681-AE60-892F83947370}"/>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The figure exposes the physical data structure used to accelerate reads or writes.</a:t>
            </a:r>
          </a:p>
        </p:txBody>
      </p:sp>
      <p:sp>
        <p:nvSpPr>
          <p:cNvPr id="7" name="">
            <a:extLst xmlns:a="http://schemas.openxmlformats.org/drawingml/2006/main">
              <a:ext uri="{FF2B5EF4-FFF2-40B4-BE49-F238E27FC236}">
                <a16:creationId xmlns:a16="http://schemas.microsoft.com/office/drawing/2014/main" id="{D2AE1630-F3B2-4346-9158-9B0A1A1DA22E}"/>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0B54E58E-9362-461E-BF74-ACA6A73B02E0}"/>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Performance comes from data layout and precomputation, with added write, space, or maintenance cost.</a:t>
            </a:r>
          </a:p>
        </p:txBody>
      </p:sp>
      <p:sp>
        <p:nvSpPr>
          <p:cNvPr id="9" name="">
            <a:extLst xmlns:a="http://schemas.openxmlformats.org/drawingml/2006/main">
              <a:ext uri="{FF2B5EF4-FFF2-40B4-BE49-F238E27FC236}">
                <a16:creationId xmlns:a16="http://schemas.microsoft.com/office/drawing/2014/main" id="{F99B451D-9865-410E-BF03-BF502127EB91}"/>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F4A261"/>
                </a:solidFill>
                <a:latin typeface="Arial"/>
                <a:ea typeface="Arial"/>
                <a:cs typeface="Arial"/>
              </a:defRPr>
            </a:pPr>
            <a:r>
              <a:rPr sz="1200" b="1">
                <a:solidFill>
                  <a:srgbClr val="F4A261"/>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52FE5E04-AB56-48E0-9DDC-191B0DCC2B1D}"/>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310921703"/>
      </p:ext>
    </p:extLst>
  </p:cSld>
</p:sld>
</file>

<file path=ppt/slides/slide2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68413A8-A551-4444-882F-6C3AEC52F975}"/>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F4A261"/>
                </a:solidFill>
                <a:latin typeface="Arial"/>
                <a:ea typeface="Arial"/>
                <a:cs typeface="Arial"/>
              </a:defRPr>
            </a:pPr>
            <a:r>
              <a:rPr sz="1200" b="1" spc="2">
                <a:solidFill>
                  <a:srgbClr val="F4A261"/>
                </a:solidFill>
                <a:latin typeface="Arial"/>
                <a:ea typeface="Arial"/>
                <a:cs typeface="Arial"/>
              </a:rPr>
              <a:t>CHAPTER 04</a:t>
            </a:r>
          </a:p>
        </p:txBody>
      </p:sp>
      <p:sp>
        <p:nvSpPr>
          <p:cNvPr id="2" name="">
            <a:extLst xmlns:a="http://schemas.openxmlformats.org/drawingml/2006/main">
              <a:ext uri="{FF2B5EF4-FFF2-40B4-BE49-F238E27FC236}">
                <a16:creationId xmlns:a16="http://schemas.microsoft.com/office/drawing/2014/main" id="{8EB66AEB-0332-4A71-B7D1-6AFB81D930B7}"/>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Review and application</a:t>
            </a:r>
          </a:p>
        </p:txBody>
      </p:sp>
      <p:sp>
        <p:nvSpPr>
          <p:cNvPr id="3" name="">
            <a:extLst xmlns:a="http://schemas.openxmlformats.org/drawingml/2006/main">
              <a:ext uri="{FF2B5EF4-FFF2-40B4-BE49-F238E27FC236}">
                <a16:creationId xmlns:a16="http://schemas.microsoft.com/office/drawing/2014/main" id="{A151800A-66CF-46B7-9CB1-F08F255DFA7B}"/>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24 / 24</a:t>
            </a:r>
          </a:p>
        </p:txBody>
      </p:sp>
      <p:sp>
        <p:nvSpPr>
          <p:cNvPr id="4" name="">
            <a:extLst xmlns:a="http://schemas.openxmlformats.org/drawingml/2006/main">
              <a:ext uri="{FF2B5EF4-FFF2-40B4-BE49-F238E27FC236}">
                <a16:creationId xmlns:a16="http://schemas.microsoft.com/office/drawing/2014/main" id="{5DEAF8F0-D135-42EC-B875-AA70132DC5BE}"/>
              </a:ext>
            </a:extLst>
          </p:cNvPr>
          <p:cNvSpPr>
            <a:spLocks xmlns:a="http://schemas.openxmlformats.org/drawingml/2006/main" noGrp="1"/>
          </p:cNvSpPr>
          <p:nvPr/>
        </p:nvSpPr>
        <p:spPr>
          <a:xfrm xmlns:a="http://schemas.openxmlformats.org/drawingml/2006/main">
            <a:off x="1285875" y="1666875"/>
            <a:ext cx="9525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State the chapter’s central problem in one sentence.</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Choose one mechanism and list the assumptions it relies on.</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Describe a failure scenario and explain the recovery path.</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Apply one trade-off from the chapter to a system you are designing.</a:t>
            </a:r>
          </a:p>
        </p:txBody>
      </p:sp>
    </p:spTree>
    <p:extLst>
      <p:ext uri="{BB962C8B-B14F-4D97-AF65-F5344CB8AC3E}">
        <p14:creationId xmlns:p14="http://schemas.microsoft.com/office/powerpoint/2010/main" val="13059782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2026-09-27T19:47:08.8490000Z</dcterms:created>
  <dcterms:modified xsi:type="dcterms:W3CDTF">2026-09-27T19:47:08.8490000Z</dcterms:modified>
</coreProperties>
</file>