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61881c1ea0488c" /><Relationship Type="http://schemas.openxmlformats.org/officeDocument/2006/relationships/extended-properties" Target="/docProps/app.xml" Id="Rb2971413bd4d41dd" /><Relationship Type="http://schemas.openxmlformats.org/officeDocument/2006/relationships/officeDocument" Target="/ppt/presentation.xml" Id="Rc7c53e8668a94cf6" /></Relationships>
</file>

<file path=ppt/presentation.xml><?xml version="1.0" encoding="utf-8"?>
<p:presentation xmlns:p="http://schemas.openxmlformats.org/presentationml/2006/main">
  <p:sldMasterIdLst>
    <p:sldMasterId xmlns:r="http://schemas.openxmlformats.org/officeDocument/2006/relationships" id="2147483648" r:id="R22978aa5539a4f71"/>
  </p:sldMasterIdLst>
  <p:notesMasterIdLst>
    <p:notesMasterId xmlns:r="http://schemas.openxmlformats.org/officeDocument/2006/relationships" r:id="R97074ef0b1804c88"/>
  </p:notesMasterIdLst>
  <p:sldIdLst>
    <p:sldId xmlns:r="http://schemas.openxmlformats.org/officeDocument/2006/relationships" id="256" r:id="Rd853fd82e9c64f68"/>
    <p:sldId xmlns:r="http://schemas.openxmlformats.org/officeDocument/2006/relationships" id="257" r:id="R742833ea9a884802"/>
    <p:sldId xmlns:r="http://schemas.openxmlformats.org/officeDocument/2006/relationships" id="258" r:id="R4905b34207fa48e1"/>
    <p:sldId xmlns:r="http://schemas.openxmlformats.org/officeDocument/2006/relationships" id="259" r:id="Rfbc69e35c09d48b1"/>
    <p:sldId xmlns:r="http://schemas.openxmlformats.org/officeDocument/2006/relationships" id="260" r:id="Rd80906b221304d28"/>
    <p:sldId xmlns:r="http://schemas.openxmlformats.org/officeDocument/2006/relationships" id="261" r:id="R946c89f0e3044177"/>
    <p:sldId xmlns:r="http://schemas.openxmlformats.org/officeDocument/2006/relationships" id="262" r:id="R27a24f8d3b164f72"/>
    <p:sldId xmlns:r="http://schemas.openxmlformats.org/officeDocument/2006/relationships" id="263" r:id="R2b4aeb50472446b2"/>
    <p:sldId xmlns:r="http://schemas.openxmlformats.org/officeDocument/2006/relationships" id="264" r:id="R0ff6795db31248de"/>
    <p:sldId xmlns:r="http://schemas.openxmlformats.org/officeDocument/2006/relationships" id="265" r:id="Rcb2bf1f5407f4270"/>
    <p:sldId xmlns:r="http://schemas.openxmlformats.org/officeDocument/2006/relationships" id="266" r:id="Re8cc85f8833c4a78"/>
    <p:sldId xmlns:r="http://schemas.openxmlformats.org/officeDocument/2006/relationships" id="267" r:id="Rbaa6ac1d6fa04470"/>
    <p:sldId xmlns:r="http://schemas.openxmlformats.org/officeDocument/2006/relationships" id="268" r:id="R07bb568184d94a96"/>
    <p:sldId xmlns:r="http://schemas.openxmlformats.org/officeDocument/2006/relationships" id="269" r:id="Rc45ace59ad764017"/>
    <p:sldId xmlns:r="http://schemas.openxmlformats.org/officeDocument/2006/relationships" id="270" r:id="Rd7cbea7cd2024d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310bafb38e48df" /><Relationship Type="http://schemas.openxmlformats.org/officeDocument/2006/relationships/slideMaster" Target="/ppt/slideMasters/slideMaster1.xml" Id="R22978aa5539a4f71" /><Relationship Type="http://schemas.openxmlformats.org/officeDocument/2006/relationships/notesMaster" Target="/ppt/notesMasters/notesMaster1.xml" Id="R97074ef0b1804c88" /><Relationship Type="http://schemas.openxmlformats.org/officeDocument/2006/relationships/presProps" Target="/ppt/presProps.xml" Id="R868dc5e1ac874550" /><Relationship Type="http://schemas.openxmlformats.org/officeDocument/2006/relationships/tableStyles" Target="/ppt/tableStyles.xml" Id="R11939ae0fdd54fd7" /><Relationship Type="http://schemas.openxmlformats.org/officeDocument/2006/relationships/slide" Target="/ppt/slides/slide1.xml" Id="Rd853fd82e9c64f68" /><Relationship Type="http://schemas.openxmlformats.org/officeDocument/2006/relationships/slide" Target="/ppt/slides/slide2.xml" Id="R742833ea9a884802" /><Relationship Type="http://schemas.openxmlformats.org/officeDocument/2006/relationships/slide" Target="/ppt/slides/slide3.xml" Id="R4905b34207fa48e1" /><Relationship Type="http://schemas.openxmlformats.org/officeDocument/2006/relationships/slide" Target="/ppt/slides/slide4.xml" Id="Rfbc69e35c09d48b1" /><Relationship Type="http://schemas.openxmlformats.org/officeDocument/2006/relationships/slide" Target="/ppt/slides/slide5.xml" Id="Rd80906b221304d28" /><Relationship Type="http://schemas.openxmlformats.org/officeDocument/2006/relationships/slide" Target="/ppt/slides/slide6.xml" Id="R946c89f0e3044177" /><Relationship Type="http://schemas.openxmlformats.org/officeDocument/2006/relationships/slide" Target="/ppt/slides/slide7.xml" Id="R27a24f8d3b164f72" /><Relationship Type="http://schemas.openxmlformats.org/officeDocument/2006/relationships/slide" Target="/ppt/slides/slide8.xml" Id="R2b4aeb50472446b2" /><Relationship Type="http://schemas.openxmlformats.org/officeDocument/2006/relationships/slide" Target="/ppt/slides/slide9.xml" Id="R0ff6795db31248de" /><Relationship Type="http://schemas.openxmlformats.org/officeDocument/2006/relationships/slide" Target="/ppt/slides/slide10.xml" Id="Rcb2bf1f5407f4270" /><Relationship Type="http://schemas.openxmlformats.org/officeDocument/2006/relationships/slide" Target="/ppt/slides/slide11.xml" Id="Re8cc85f8833c4a78" /><Relationship Type="http://schemas.openxmlformats.org/officeDocument/2006/relationships/slide" Target="/ppt/slides/slide12.xml" Id="Rbaa6ac1d6fa04470" /><Relationship Type="http://schemas.openxmlformats.org/officeDocument/2006/relationships/slide" Target="/ppt/slides/slide13.xml" Id="R07bb568184d94a96" /><Relationship Type="http://schemas.openxmlformats.org/officeDocument/2006/relationships/slide" Target="/ppt/slides/slide14.xml" Id="Rc45ace59ad764017" /><Relationship Type="http://schemas.openxmlformats.org/officeDocument/2006/relationships/slide" Target="/ppt/slides/slide15.xml" Id="Rd7cbea7cd2024d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611a78012449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fd14bb68f7428a" /><Relationship Type="http://schemas.openxmlformats.org/officeDocument/2006/relationships/notesMaster" Target="/ppt/notesMasters/notesMaster1.xml" Id="R6dba38abd88e4f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9d2f8a79d54e3b" /><Relationship Type="http://schemas.openxmlformats.org/officeDocument/2006/relationships/notesMaster" Target="/ppt/notesMasters/notesMaster1.xml" Id="R882891ed448a43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0cdc6b497f4db4" /><Relationship Type="http://schemas.openxmlformats.org/officeDocument/2006/relationships/notesMaster" Target="/ppt/notesMasters/notesMaster1.xml" Id="Rd87ac236f2484e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3ddbd7fffc4b1f" /><Relationship Type="http://schemas.openxmlformats.org/officeDocument/2006/relationships/notesMaster" Target="/ppt/notesMasters/notesMaster1.xml" Id="Rddaf6f2ed8e84a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13b84f67c84f00" /><Relationship Type="http://schemas.openxmlformats.org/officeDocument/2006/relationships/notesMaster" Target="/ppt/notesMasters/notesMaster1.xml" Id="R4bd9482ba11445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3e80e1fe494462" /><Relationship Type="http://schemas.openxmlformats.org/officeDocument/2006/relationships/notesMaster" Target="/ppt/notesMasters/notesMaster1.xml" Id="Rcad5336c855547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bf494325c64df2" /><Relationship Type="http://schemas.openxmlformats.org/officeDocument/2006/relationships/notesMaster" Target="/ppt/notesMasters/notesMaster1.xml" Id="R7075bbe376a04b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57eb7ecf0a4a1f" /><Relationship Type="http://schemas.openxmlformats.org/officeDocument/2006/relationships/notesMaster" Target="/ppt/notesMasters/notesMaster1.xml" Id="Rfe802d08a7d54f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fa85edaa174f61" /><Relationship Type="http://schemas.openxmlformats.org/officeDocument/2006/relationships/notesMaster" Target="/ppt/notesMasters/notesMaster1.xml" Id="R9664310384d942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ab188286c0403e" /><Relationship Type="http://schemas.openxmlformats.org/officeDocument/2006/relationships/notesMaster" Target="/ppt/notesMasters/notesMaster1.xml" Id="Rb7a6fee0d75846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8976609db74e53" /><Relationship Type="http://schemas.openxmlformats.org/officeDocument/2006/relationships/notesMaster" Target="/ppt/notesMasters/notesMaster1.xml" Id="R21b5cdc8f3ca46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884150d486445b" /><Relationship Type="http://schemas.openxmlformats.org/officeDocument/2006/relationships/notesMaster" Target="/ppt/notesMasters/notesMaster1.xml" Id="Rae469463d8574d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f87d6dd771485b" /><Relationship Type="http://schemas.openxmlformats.org/officeDocument/2006/relationships/notesMaster" Target="/ppt/notesMasters/notesMaster1.xml" Id="R22193d2117e34e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f962871757145ce" /><Relationship Type="http://schemas.openxmlformats.org/officeDocument/2006/relationships/notesMaster" Target="/ppt/notesMasters/notesMaster1.xml" Id="R986bbf190e314c9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aa6a550a6084020" /><Relationship Type="http://schemas.openxmlformats.org/officeDocument/2006/relationships/notesMaster" Target="/ppt/notesMasters/notesMaster1.xml" Id="R31d70b682be44b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Figure 1-1, PDF page 32. Original caption: Figure 1-1. A simplified outline of ETL into a data warehouse</a:t>
            </a:r>
          </a:p>
          <a:p xmlns:a="http://schemas.openxmlformats.org/drawingml/2006/main">
            <a:r>
              <a:t>Explanation: Data moves from operational sources through transformation into an analytical store. The warehouse is derived data, so repeatable loads and lineage are essential.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Figure 1-2, PDF page 36. Original caption: Figure 1-2. The spectrum of decisions on outsourcing software and its operations</a:t>
            </a:r>
          </a:p>
          <a:p xmlns:a="http://schemas.openxmlformats.org/drawingml/2006/main">
            <a:r>
              <a:t>Explanation: The spectrum of decisions on outsourcing software and its operations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 book pages 1-25.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eba67904a34e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32628c245e43ac" /><Relationship Type="http://schemas.openxmlformats.org/officeDocument/2006/relationships/slideLayout" Target="/ppt/slideLayouts/slideLayout1.xml" Id="R64d9062f23a146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d9062f23a146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fc2782582840a1" /><Relationship Type="http://schemas.openxmlformats.org/officeDocument/2006/relationships/notesSlide" Target="/ppt/notesSlides/notesSlide1.xml" Id="Rb4d9cf456fb24e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58fef16c5046f4" /><Relationship Type="http://schemas.openxmlformats.org/officeDocument/2006/relationships/notesSlide" Target="/ppt/notesSlides/notesSlide2.xml" Id="R51461da10b394f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78360705114856" /><Relationship Type="http://schemas.openxmlformats.org/officeDocument/2006/relationships/notesSlide" Target="/ppt/notesSlides/notesSlide3.xml" Id="Rfd62a132612d4e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369ed9b8494d27" /><Relationship Type="http://schemas.openxmlformats.org/officeDocument/2006/relationships/notesSlide" Target="/ppt/notesSlides/notesSlide4.xml" Id="R7010c32ad1014b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5a1939e66d4792" /><Relationship Type="http://schemas.openxmlformats.org/officeDocument/2006/relationships/image" Target="/ppt/media/image.png" Id="R1cd7f6a2348e4435" /><Relationship Type="http://schemas.openxmlformats.org/officeDocument/2006/relationships/notesSlide" Target="/ppt/notesSlides/notesSlide5.xml" Id="Rcdbb2c4580c748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dc0ac2ada142ab" /><Relationship Type="http://schemas.openxmlformats.org/officeDocument/2006/relationships/notesSlide" Target="/ppt/notesSlides/notesSlide6.xml" Id="Rf0a973c5fe424a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ccae5cb8324e19" /><Relationship Type="http://schemas.openxmlformats.org/officeDocument/2006/relationships/notesSlide" Target="/ppt/notesSlides/notesSlide7.xml" Id="Rf99bb40156a14c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8645c2b2e74519" /><Relationship Type="http://schemas.openxmlformats.org/officeDocument/2006/relationships/image" Target="/ppt/media/image2.png" Id="Rd7d47769c6e745a0" /><Relationship Type="http://schemas.openxmlformats.org/officeDocument/2006/relationships/notesSlide" Target="/ppt/notesSlides/notesSlide8.xml" Id="R48d735c35fd543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d364fea84a54789" /><Relationship Type="http://schemas.openxmlformats.org/officeDocument/2006/relationships/notesSlide" Target="/ppt/notesSlides/notesSlide9.xml" Id="R729e660a29a348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ce0226050d2459a" /><Relationship Type="http://schemas.openxmlformats.org/officeDocument/2006/relationships/notesSlide" Target="/ppt/notesSlides/notesSlide10.xml" Id="R90ba791c426a4e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28029d5d309465c" /><Relationship Type="http://schemas.openxmlformats.org/officeDocument/2006/relationships/notesSlide" Target="/ppt/notesSlides/notesSlide11.xml" Id="Ra6897571c4b248b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9a6f31446844209" /><Relationship Type="http://schemas.openxmlformats.org/officeDocument/2006/relationships/notesSlide" Target="/ppt/notesSlides/notesSlide12.xml" Id="Rb5e4b6c737324d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d5319cf72224136" /><Relationship Type="http://schemas.openxmlformats.org/officeDocument/2006/relationships/notesSlide" Target="/ppt/notesSlides/notesSlide13.xml" Id="R9525b5d950c840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11a90f990674376" /><Relationship Type="http://schemas.openxmlformats.org/officeDocument/2006/relationships/notesSlide" Target="/ppt/notesSlides/notesSlide14.xml" Id="R82d1a85f89be44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bfc34e6983e41e7" /><Relationship Type="http://schemas.openxmlformats.org/officeDocument/2006/relationships/notesSlide" Target="/ppt/notesSlides/notesSlide15.xml" Id="R0435c6d0d37145c0"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0CC08F-2CC4-43C9-8439-6570464756C0}"/>
              </a:ext>
            </a:extLst>
          </p:cNvPr>
          <p:cNvSpPr>
            <a:spLocks xmlns:a="http://schemas.openxmlformats.org/drawingml/2006/main" noGrp="1"/>
          </p:cNvSpPr>
          <p:nvPr/>
        </p:nvSpPr>
        <p:spPr>
          <a:xfrm xmlns:a="http://schemas.openxmlformats.org/drawingml/2006/main">
            <a:off x="714375" y="666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spc="2">
                <a:solidFill>
                  <a:srgbClr val="E76F51"/>
                </a:solidFill>
                <a:latin typeface="Arial"/>
                <a:ea typeface="Arial"/>
                <a:cs typeface="Arial"/>
              </a:defRPr>
            </a:pPr>
            <a:r>
              <a:rPr sz="1425"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70ABECC5-E115-4E38-8943-37BB85F2466F}"/>
              </a:ext>
            </a:extLst>
          </p:cNvPr>
          <p:cNvSpPr>
            <a:spLocks xmlns:a="http://schemas.openxmlformats.org/drawingml/2006/main" noGrp="1"/>
          </p:cNvSpPr>
          <p:nvPr/>
        </p:nvSpPr>
        <p:spPr>
          <a:xfrm xmlns:a="http://schemas.openxmlformats.org/drawingml/2006/main">
            <a:off x="714375" y="15716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Trade-Offs in Data Systems Architecture</a:t>
            </a:r>
          </a:p>
        </p:txBody>
      </p:sp>
      <p:sp>
        <p:nvSpPr>
          <p:cNvPr id="3" name="">
            <a:extLst xmlns:a="http://schemas.openxmlformats.org/drawingml/2006/main">
              <a:ext uri="{FF2B5EF4-FFF2-40B4-BE49-F238E27FC236}">
                <a16:creationId xmlns:a16="http://schemas.microsoft.com/office/drawing/2014/main" id="{58E73A76-4237-4D6B-82B0-14F6106A2FA5}"/>
              </a:ext>
            </a:extLst>
          </p:cNvPr>
          <p:cNvSpPr>
            <a:spLocks xmlns:a="http://schemas.openxmlformats.org/drawingml/2006/main" noGrp="1"/>
          </p:cNvSpPr>
          <p:nvPr/>
        </p:nvSpPr>
        <p:spPr>
          <a:xfrm xmlns:a="http://schemas.openxmlformats.org/drawingml/2006/main">
            <a:off x="742950" y="28098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D9E2EC"/>
                </a:solidFill>
                <a:latin typeface="Arial"/>
                <a:ea typeface="Arial"/>
                <a:cs typeface="Arial"/>
              </a:defRPr>
            </a:pPr>
            <a:r>
              <a:rPr sz="1725">
                <a:solidFill>
                  <a:srgbClr val="D9E2EC"/>
                </a:solidFill>
                <a:latin typeface="Arial"/>
                <a:ea typeface="Arial"/>
                <a:cs typeface="Arial"/>
              </a:rPr>
              <a:t>Designing Data-Intensive Applications, Second Edition</a:t>
            </a:r>
          </a:p>
        </p:txBody>
      </p:sp>
      <p:sp>
        <p:nvSpPr>
          <p:cNvPr id="4" name="">
            <a:extLst xmlns:a="http://schemas.openxmlformats.org/drawingml/2006/main">
              <a:ext uri="{FF2B5EF4-FFF2-40B4-BE49-F238E27FC236}">
                <a16:creationId xmlns:a16="http://schemas.microsoft.com/office/drawing/2014/main" id="{248E01BC-F27B-4F99-82ED-33469ABAF134}"/>
              </a:ext>
            </a:extLst>
          </p:cNvPr>
          <p:cNvSpPr>
            <a:spLocks xmlns:a="http://schemas.openxmlformats.org/drawingml/2006/main" noGrp="1"/>
          </p:cNvSpPr>
          <p:nvPr/>
        </p:nvSpPr>
        <p:spPr>
          <a:xfrm xmlns:a="http://schemas.openxmlformats.org/drawingml/2006/main">
            <a:off x="742950" y="5286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BCCCDC"/>
                </a:solidFill>
                <a:latin typeface="Arial"/>
                <a:ea typeface="Arial"/>
                <a:cs typeface="Arial"/>
              </a:defRPr>
            </a:pPr>
            <a:r>
              <a:rPr sz="1425">
                <a:solidFill>
                  <a:srgbClr val="BCCCDC"/>
                </a:solidFill>
                <a:latin typeface="Arial"/>
                <a:ea typeface="Arial"/>
                <a:cs typeface="Arial"/>
              </a:rPr>
              <a:t>Detailed English Study Edition</a:t>
            </a:r>
          </a:p>
        </p:txBody>
      </p:sp>
      <p:sp>
        <p:nvSpPr>
          <p:cNvPr id="5" name="">
            <a:extLst xmlns:a="http://schemas.openxmlformats.org/drawingml/2006/main">
              <a:ext uri="{FF2B5EF4-FFF2-40B4-BE49-F238E27FC236}">
                <a16:creationId xmlns:a16="http://schemas.microsoft.com/office/drawing/2014/main" id="{69E91816-F1F0-41C7-A33C-FA3D92945E7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9FB3C8"/>
                </a:solidFill>
                <a:latin typeface="Arial"/>
                <a:ea typeface="Arial"/>
                <a:cs typeface="Arial"/>
              </a:defRPr>
            </a:pPr>
            <a:r>
              <a:rPr sz="975">
                <a:solidFill>
                  <a:srgbClr val="9FB3C8"/>
                </a:solidFill>
                <a:latin typeface="Arial"/>
                <a:ea typeface="Arial"/>
                <a:cs typeface="Arial"/>
              </a:rPr>
              <a:t>01 / 15</a:t>
            </a:r>
          </a:p>
        </p:txBody>
      </p:sp>
    </p:spTree>
    <p:extLst>
      <p:ext uri="{BB962C8B-B14F-4D97-AF65-F5344CB8AC3E}">
        <p14:creationId xmlns:p14="http://schemas.microsoft.com/office/powerpoint/2010/main" val="180910915"/>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7BF6BDE-EE17-4C5D-883F-E2471D212008}"/>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1AE8A5B8-BC6D-41D4-9763-5D80C14BED8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Chapter map</a:t>
            </a:r>
          </a:p>
        </p:txBody>
      </p:sp>
      <p:sp>
        <p:nvSpPr>
          <p:cNvPr id="3" name="">
            <a:extLst xmlns:a="http://schemas.openxmlformats.org/drawingml/2006/main">
              <a:ext uri="{FF2B5EF4-FFF2-40B4-BE49-F238E27FC236}">
                <a16:creationId xmlns:a16="http://schemas.microsoft.com/office/drawing/2014/main" id="{9FAD1686-F0E7-42D5-BDEA-61D8CB19CD34}"/>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02 / 15</a:t>
            </a:r>
          </a:p>
        </p:txBody>
      </p:sp>
      <p:sp>
        <p:nvSpPr>
          <p:cNvPr id="4" name="">
            <a:extLst xmlns:a="http://schemas.openxmlformats.org/drawingml/2006/main">
              <a:ext uri="{FF2B5EF4-FFF2-40B4-BE49-F238E27FC236}">
                <a16:creationId xmlns:a16="http://schemas.microsoft.com/office/drawing/2014/main" id="{213C6875-1D3F-4BCC-8E00-B7C4693C9DE8}"/>
              </a:ext>
            </a:extLst>
          </p:cNvPr>
          <p:cNvSpPr>
            <a:spLocks xmlns:a="http://schemas.openxmlformats.org/drawingml/2006/main" noGrp="1"/>
          </p:cNvSpPr>
          <p:nvPr/>
        </p:nvSpPr>
        <p:spPr>
          <a:xfrm xmlns:a="http://schemas.openxmlformats.org/drawingml/2006/main">
            <a:off x="857250" y="14763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E76F51"/>
                </a:solidFill>
                <a:latin typeface="Arial"/>
                <a:ea typeface="Arial"/>
                <a:cs typeface="Arial"/>
              </a:defRPr>
            </a:pPr>
            <a:r>
              <a:rPr sz="2100" b="1">
                <a:solidFill>
                  <a:srgbClr val="E76F51"/>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CED00F0-5371-4736-8494-AB4231B9DA0C}"/>
              </a:ext>
            </a:extLst>
          </p:cNvPr>
          <p:cNvSpPr>
            <a:spLocks xmlns:a="http://schemas.openxmlformats.org/drawingml/2006/main" noGrp="1"/>
          </p:cNvSpPr>
          <p:nvPr/>
        </p:nvSpPr>
        <p:spPr>
          <a:xfrm xmlns:a="http://schemas.openxmlformats.org/drawingml/2006/main">
            <a:off x="1905000" y="1428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Operational and analytical systems</a:t>
            </a:r>
          </a:p>
        </p:txBody>
      </p:sp>
      <p:sp>
        <p:nvSpPr>
          <p:cNvPr id="6" name="">
            <a:extLst xmlns:a="http://schemas.openxmlformats.org/drawingml/2006/main">
              <a:ext uri="{FF2B5EF4-FFF2-40B4-BE49-F238E27FC236}">
                <a16:creationId xmlns:a16="http://schemas.microsoft.com/office/drawing/2014/main" id="{66EE9751-639E-430A-99F5-39E96C312403}"/>
              </a:ext>
            </a:extLst>
          </p:cNvPr>
          <p:cNvSpPr>
            <a:spLocks xmlns:a="http://schemas.openxmlformats.org/drawingml/2006/main" noGrp="1"/>
          </p:cNvSpPr>
          <p:nvPr/>
        </p:nvSpPr>
        <p:spPr>
          <a:xfrm xmlns:a="http://schemas.openxmlformats.org/drawingml/2006/main">
            <a:off x="6191250" y="1428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OLTP serves frequent, low-latency reads and writes over small data slices.</a:t>
            </a:r>
          </a:p>
        </p:txBody>
      </p:sp>
      <p:sp>
        <p:nvSpPr>
          <p:cNvPr id="7" name="">
            <a:extLst xmlns:a="http://schemas.openxmlformats.org/drawingml/2006/main">
              <a:ext uri="{FF2B5EF4-FFF2-40B4-BE49-F238E27FC236}">
                <a16:creationId xmlns:a16="http://schemas.microsoft.com/office/drawing/2014/main" id="{59C22F88-60A7-45E1-8F0F-F09C41044824}"/>
              </a:ext>
            </a:extLst>
          </p:cNvPr>
          <p:cNvSpPr>
            <a:spLocks xmlns:a="http://schemas.openxmlformats.org/drawingml/2006/main" noGrp="1"/>
          </p:cNvSpPr>
          <p:nvPr/>
        </p:nvSpPr>
        <p:spPr>
          <a:xfrm xmlns:a="http://schemas.openxmlformats.org/drawingml/2006/main">
            <a:off x="857250" y="2352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E76F51"/>
                </a:solidFill>
                <a:latin typeface="Arial"/>
                <a:ea typeface="Arial"/>
                <a:cs typeface="Arial"/>
              </a:defRPr>
            </a:pPr>
            <a:r>
              <a:rPr sz="2100" b="1">
                <a:solidFill>
                  <a:srgbClr val="E76F51"/>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CBA0DFF-F2B6-4FBD-8DC3-5281FE9E1D62}"/>
              </a:ext>
            </a:extLst>
          </p:cNvPr>
          <p:cNvSpPr>
            <a:spLocks xmlns:a="http://schemas.openxmlformats.org/drawingml/2006/main" noGrp="1"/>
          </p:cNvSpPr>
          <p:nvPr/>
        </p:nvSpPr>
        <p:spPr>
          <a:xfrm xmlns:a="http://schemas.openxmlformats.org/drawingml/2006/main">
            <a:off x="1905000" y="2305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Systems of record and derived data</a:t>
            </a:r>
          </a:p>
        </p:txBody>
      </p:sp>
      <p:sp>
        <p:nvSpPr>
          <p:cNvPr id="9" name="">
            <a:extLst xmlns:a="http://schemas.openxmlformats.org/drawingml/2006/main">
              <a:ext uri="{FF2B5EF4-FFF2-40B4-BE49-F238E27FC236}">
                <a16:creationId xmlns:a16="http://schemas.microsoft.com/office/drawing/2014/main" id="{BF9C5116-603B-4BD5-878F-F9F94FE9B6D1}"/>
              </a:ext>
            </a:extLst>
          </p:cNvPr>
          <p:cNvSpPr>
            <a:spLocks xmlns:a="http://schemas.openxmlformats.org/drawingml/2006/main" noGrp="1"/>
          </p:cNvSpPr>
          <p:nvPr/>
        </p:nvSpPr>
        <p:spPr>
          <a:xfrm xmlns:a="http://schemas.openxmlformats.org/drawingml/2006/main">
            <a:off x="6191250" y="23050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A system of record owns the authoritative business facts.</a:t>
            </a:r>
          </a:p>
        </p:txBody>
      </p:sp>
      <p:sp>
        <p:nvSpPr>
          <p:cNvPr id="10" name="">
            <a:extLst xmlns:a="http://schemas.openxmlformats.org/drawingml/2006/main">
              <a:ext uri="{FF2B5EF4-FFF2-40B4-BE49-F238E27FC236}">
                <a16:creationId xmlns:a16="http://schemas.microsoft.com/office/drawing/2014/main" id="{AD02E1C5-EAA5-4372-BE6A-1FFC7D761AF4}"/>
              </a:ext>
            </a:extLst>
          </p:cNvPr>
          <p:cNvSpPr>
            <a:spLocks xmlns:a="http://schemas.openxmlformats.org/drawingml/2006/main" noGrp="1"/>
          </p:cNvSpPr>
          <p:nvPr/>
        </p:nvSpPr>
        <p:spPr>
          <a:xfrm xmlns:a="http://schemas.openxmlformats.org/drawingml/2006/main">
            <a:off x="857250" y="32289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E76F51"/>
                </a:solidFill>
                <a:latin typeface="Arial"/>
                <a:ea typeface="Arial"/>
                <a:cs typeface="Arial"/>
              </a:defRPr>
            </a:pPr>
            <a:r>
              <a:rPr sz="2100" b="1">
                <a:solidFill>
                  <a:srgbClr val="E76F51"/>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FE11EE7-E5BB-469C-8B15-4951CB6D231B}"/>
              </a:ext>
            </a:extLst>
          </p:cNvPr>
          <p:cNvSpPr>
            <a:spLocks xmlns:a="http://schemas.openxmlformats.org/drawingml/2006/main" noGrp="1"/>
          </p:cNvSpPr>
          <p:nvPr/>
        </p:nvSpPr>
        <p:spPr>
          <a:xfrm xmlns:a="http://schemas.openxmlformats.org/drawingml/2006/main">
            <a:off x="1905000" y="31813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Cloud services and self-hosting</a:t>
            </a:r>
          </a:p>
        </p:txBody>
      </p:sp>
      <p:sp>
        <p:nvSpPr>
          <p:cNvPr id="12" name="">
            <a:extLst xmlns:a="http://schemas.openxmlformats.org/drawingml/2006/main">
              <a:ext uri="{FF2B5EF4-FFF2-40B4-BE49-F238E27FC236}">
                <a16:creationId xmlns:a16="http://schemas.microsoft.com/office/drawing/2014/main" id="{731E245C-1DB1-49B3-A0BE-256BA4D91156}"/>
              </a:ext>
            </a:extLst>
          </p:cNvPr>
          <p:cNvSpPr>
            <a:spLocks xmlns:a="http://schemas.openxmlformats.org/drawingml/2006/main" noGrp="1"/>
          </p:cNvSpPr>
          <p:nvPr/>
        </p:nvSpPr>
        <p:spPr>
          <a:xfrm xmlns:a="http://schemas.openxmlformats.org/drawingml/2006/main">
            <a:off x="6191250" y="3181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Managed services exchange operational control for elasticity and reduced administration.</a:t>
            </a:r>
          </a:p>
        </p:txBody>
      </p:sp>
      <p:sp>
        <p:nvSpPr>
          <p:cNvPr id="13" name="">
            <a:extLst xmlns:a="http://schemas.openxmlformats.org/drawingml/2006/main">
              <a:ext uri="{FF2B5EF4-FFF2-40B4-BE49-F238E27FC236}">
                <a16:creationId xmlns:a16="http://schemas.microsoft.com/office/drawing/2014/main" id="{4EA563C8-BAAA-447F-A279-7C489F5990B7}"/>
              </a:ext>
            </a:extLst>
          </p:cNvPr>
          <p:cNvSpPr>
            <a:spLocks xmlns:a="http://schemas.openxmlformats.org/drawingml/2006/main" noGrp="1"/>
          </p:cNvSpPr>
          <p:nvPr/>
        </p:nvSpPr>
        <p:spPr>
          <a:xfrm xmlns:a="http://schemas.openxmlformats.org/drawingml/2006/main">
            <a:off x="857250" y="41052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E76F51"/>
                </a:solidFill>
                <a:latin typeface="Arial"/>
                <a:ea typeface="Arial"/>
                <a:cs typeface="Arial"/>
              </a:defRPr>
            </a:pPr>
            <a:r>
              <a:rPr sz="2100" b="1">
                <a:solidFill>
                  <a:srgbClr val="E76F51"/>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98C654A0-0669-433E-8AB5-409D064496B8}"/>
              </a:ext>
            </a:extLst>
          </p:cNvPr>
          <p:cNvSpPr>
            <a:spLocks xmlns:a="http://schemas.openxmlformats.org/drawingml/2006/main" noGrp="1"/>
          </p:cNvSpPr>
          <p:nvPr/>
        </p:nvSpPr>
        <p:spPr>
          <a:xfrm xmlns:a="http://schemas.openxmlformats.org/drawingml/2006/main">
            <a:off x="1905000" y="40576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01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Distributed and single-node systems</a:t>
            </a:r>
          </a:p>
        </p:txBody>
      </p:sp>
      <p:sp>
        <p:nvSpPr>
          <p:cNvPr id="15" name="">
            <a:extLst xmlns:a="http://schemas.openxmlformats.org/drawingml/2006/main">
              <a:ext uri="{FF2B5EF4-FFF2-40B4-BE49-F238E27FC236}">
                <a16:creationId xmlns:a16="http://schemas.microsoft.com/office/drawing/2014/main" id="{94952E23-030B-4D57-9165-3FD88940BA70}"/>
              </a:ext>
            </a:extLst>
          </p:cNvPr>
          <p:cNvSpPr>
            <a:spLocks xmlns:a="http://schemas.openxmlformats.org/drawingml/2006/main" noGrp="1"/>
          </p:cNvSpPr>
          <p:nvPr/>
        </p:nvSpPr>
        <p:spPr>
          <a:xfrm xmlns:a="http://schemas.openxmlformats.org/drawingml/2006/main">
            <a:off x="6191250" y="40576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A single node is easier to reason about and may satisfy many workloads.</a:t>
            </a:r>
          </a:p>
        </p:txBody>
      </p:sp>
      <p:sp>
        <p:nvSpPr>
          <p:cNvPr id="16" name="">
            <a:extLst xmlns:a="http://schemas.openxmlformats.org/drawingml/2006/main">
              <a:ext uri="{FF2B5EF4-FFF2-40B4-BE49-F238E27FC236}">
                <a16:creationId xmlns:a16="http://schemas.microsoft.com/office/drawing/2014/main" id="{3341C273-0D73-45FB-AA35-9672D5C9B146}"/>
              </a:ext>
            </a:extLst>
          </p:cNvPr>
          <p:cNvSpPr>
            <a:spLocks xmlns:a="http://schemas.openxmlformats.org/drawingml/2006/main" noGrp="1"/>
          </p:cNvSpPr>
          <p:nvPr/>
        </p:nvSpPr>
        <p:spPr>
          <a:xfrm xmlns:a="http://schemas.openxmlformats.org/drawingml/2006/main">
            <a:off x="857250" y="49815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E76F51"/>
                </a:solidFill>
                <a:latin typeface="Arial"/>
                <a:ea typeface="Arial"/>
                <a:cs typeface="Arial"/>
              </a:defRPr>
            </a:pPr>
            <a:r>
              <a:rPr sz="2100" b="1">
                <a:solidFill>
                  <a:srgbClr val="E76F51"/>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C5516ED1-3920-4653-9340-CEF5CB27C8E1}"/>
              </a:ext>
            </a:extLst>
          </p:cNvPr>
          <p:cNvSpPr>
            <a:spLocks xmlns:a="http://schemas.openxmlformats.org/drawingml/2006/main" noGrp="1"/>
          </p:cNvSpPr>
          <p:nvPr/>
        </p:nvSpPr>
        <p:spPr>
          <a:xfrm xmlns:a="http://schemas.openxmlformats.org/drawingml/2006/main">
            <a:off x="1905000" y="49339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Architecture decisions</a:t>
            </a:r>
          </a:p>
        </p:txBody>
      </p:sp>
      <p:sp>
        <p:nvSpPr>
          <p:cNvPr id="18" name="">
            <a:extLst xmlns:a="http://schemas.openxmlformats.org/drawingml/2006/main">
              <a:ext uri="{FF2B5EF4-FFF2-40B4-BE49-F238E27FC236}">
                <a16:creationId xmlns:a16="http://schemas.microsoft.com/office/drawing/2014/main" id="{43A874A7-81FE-4D07-BC21-D4C8375FBF61}"/>
              </a:ext>
            </a:extLst>
          </p:cNvPr>
          <p:cNvSpPr>
            <a:spLocks xmlns:a="http://schemas.openxmlformats.org/drawingml/2006/main" noGrp="1"/>
          </p:cNvSpPr>
          <p:nvPr/>
        </p:nvSpPr>
        <p:spPr>
          <a:xfrm xmlns:a="http://schemas.openxmlformats.org/drawingml/2006/main">
            <a:off x="6191250" y="49339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Start with workload, data volume, SLOs, and the assumed failure model.</a:t>
            </a:r>
          </a:p>
        </p:txBody>
      </p:sp>
    </p:spTree>
    <p:extLst>
      <p:ext uri="{BB962C8B-B14F-4D97-AF65-F5344CB8AC3E}">
        <p14:creationId xmlns:p14="http://schemas.microsoft.com/office/powerpoint/2010/main" val="1705616090"/>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707A0F-5CFF-498A-9A5F-BC2694FFF8C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622A2DC5-13DB-4E4F-B96F-E299F6F7FEA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Operational and analytical systems</a:t>
            </a:r>
          </a:p>
        </p:txBody>
      </p:sp>
      <p:sp>
        <p:nvSpPr>
          <p:cNvPr id="3" name="">
            <a:extLst xmlns:a="http://schemas.openxmlformats.org/drawingml/2006/main">
              <a:ext uri="{FF2B5EF4-FFF2-40B4-BE49-F238E27FC236}">
                <a16:creationId xmlns:a16="http://schemas.microsoft.com/office/drawing/2014/main" id="{4638E6A1-96C3-49E5-8C19-D40AC21516B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03 / 15</a:t>
            </a:r>
          </a:p>
        </p:txBody>
      </p:sp>
      <p:sp>
        <p:nvSpPr>
          <p:cNvPr id="4" name="">
            <a:extLst xmlns:a="http://schemas.openxmlformats.org/drawingml/2006/main">
              <a:ext uri="{FF2B5EF4-FFF2-40B4-BE49-F238E27FC236}">
                <a16:creationId xmlns:a16="http://schemas.microsoft.com/office/drawing/2014/main" id="{75F2DC5F-0871-4CB5-A57D-AA729A5801FD}"/>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E76F51"/>
                </a:solidFill>
                <a:latin typeface="Arial"/>
                <a:ea typeface="Arial"/>
                <a:cs typeface="Arial"/>
              </a:defRPr>
            </a:pPr>
            <a:r>
              <a:rPr sz="6750" b="1">
                <a:solidFill>
                  <a:srgbClr val="E76F51"/>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D3FACE6-6D83-4B4A-9055-2C1442823A9A}"/>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OLTP serves frequent, low-latency reads and writes over small data slices.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Analytical systems scan large histories and compute aggregates.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Separating the workloads enables independent optimization but creates integration work.</a:t>
            </a:r>
          </a:p>
        </p:txBody>
      </p:sp>
      <p:sp>
        <p:nvSpPr>
          <p:cNvPr id="6" name="">
            <a:extLst xmlns:a="http://schemas.openxmlformats.org/drawingml/2006/main">
              <a:ext uri="{FF2B5EF4-FFF2-40B4-BE49-F238E27FC236}">
                <a16:creationId xmlns:a16="http://schemas.microsoft.com/office/drawing/2014/main" id="{D5E0FB0D-343F-4455-AE44-72D536C52AA2}"/>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E76F51"/>
                </a:solidFill>
                <a:latin typeface="Arial"/>
                <a:ea typeface="Arial"/>
                <a:cs typeface="Arial"/>
              </a:defRPr>
            </a:pPr>
            <a:r>
              <a:rPr sz="1200" b="1">
                <a:solidFill>
                  <a:srgbClr val="E76F5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3100392A-BCD3-4089-802B-5E7AD02C3EA6}"/>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128746839"/>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8B71CF-D2FA-4124-B173-D817DE4A8CD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C2E43A37-8E00-491A-8A62-C5E4D7F1377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Operational and analytical systems: design trade-offs</a:t>
            </a:r>
          </a:p>
        </p:txBody>
      </p:sp>
      <p:sp>
        <p:nvSpPr>
          <p:cNvPr id="3" name="">
            <a:extLst xmlns:a="http://schemas.openxmlformats.org/drawingml/2006/main">
              <a:ext uri="{FF2B5EF4-FFF2-40B4-BE49-F238E27FC236}">
                <a16:creationId xmlns:a16="http://schemas.microsoft.com/office/drawing/2014/main" id="{975B5EC8-5A03-4EEE-825E-4654246DA02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04 / 15</a:t>
            </a:r>
          </a:p>
        </p:txBody>
      </p:sp>
      <p:sp>
        <p:nvSpPr>
          <p:cNvPr id="4" name="">
            <a:extLst xmlns:a="http://schemas.openxmlformats.org/drawingml/2006/main">
              <a:ext uri="{FF2B5EF4-FFF2-40B4-BE49-F238E27FC236}">
                <a16:creationId xmlns:a16="http://schemas.microsoft.com/office/drawing/2014/main" id="{701AFCE6-C6A2-47F0-AB0D-DE8C5E3CFE9B}"/>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E76F51"/>
                </a:solidFill>
                <a:latin typeface="Arial"/>
                <a:ea typeface="Arial"/>
                <a:cs typeface="Arial"/>
              </a:defRPr>
            </a:pPr>
            <a:r>
              <a:rPr sz="6750" b="1">
                <a:solidFill>
                  <a:srgbClr val="E76F51"/>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E96319D-9428-41A2-B1B3-E06969563CC7}"/>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OLTP serves frequent, low-latency reads and writes over small data slices.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707100805"/>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F0329FE-10E3-4B26-8A8E-6E2F956E89E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4196DF9F-0BCD-4D51-A0D4-459B84184506}"/>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1-1: mechanism explained</a:t>
            </a:r>
          </a:p>
        </p:txBody>
      </p:sp>
      <p:sp>
        <p:nvSpPr>
          <p:cNvPr id="3" name="">
            <a:extLst xmlns:a="http://schemas.openxmlformats.org/drawingml/2006/main">
              <a:ext uri="{FF2B5EF4-FFF2-40B4-BE49-F238E27FC236}">
                <a16:creationId xmlns:a16="http://schemas.microsoft.com/office/drawing/2014/main" id="{BD76B555-9080-4105-8A13-5759C789733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05 / 15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cd7f6a2348e4435"/>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208E829-07E4-4CB4-90B8-F1B9F3AB73DB}"/>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E76F51"/>
                </a:solidFill>
                <a:latin typeface="Arial"/>
                <a:ea typeface="Arial"/>
                <a:cs typeface="Arial"/>
              </a:defRPr>
            </a:pPr>
            <a:r>
              <a:rPr sz="1200" b="1">
                <a:solidFill>
                  <a:srgbClr val="E76F5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D654C5C5-FBAB-43C8-A75C-D9460D1DCDFE}"/>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Data moves from operational sources through transformation into an analytical store.</a:t>
            </a:r>
          </a:p>
        </p:txBody>
      </p:sp>
      <p:sp>
        <p:nvSpPr>
          <p:cNvPr id="7" name="">
            <a:extLst xmlns:a="http://schemas.openxmlformats.org/drawingml/2006/main">
              <a:ext uri="{FF2B5EF4-FFF2-40B4-BE49-F238E27FC236}">
                <a16:creationId xmlns:a16="http://schemas.microsoft.com/office/drawing/2014/main" id="{C119E8E4-E620-401C-8BF7-D22414FE45C6}"/>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E76F51"/>
                </a:solidFill>
                <a:latin typeface="Arial"/>
                <a:ea typeface="Arial"/>
                <a:cs typeface="Arial"/>
              </a:defRPr>
            </a:pPr>
            <a:r>
              <a:rPr sz="1200" b="1">
                <a:solidFill>
                  <a:srgbClr val="E76F5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B7C836B3-B330-4563-A2C9-AD898179A3B1}"/>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warehouse is derived data, so repeatable loads and lineage are essential.</a:t>
            </a:r>
          </a:p>
        </p:txBody>
      </p:sp>
      <p:sp>
        <p:nvSpPr>
          <p:cNvPr id="9" name="">
            <a:extLst xmlns:a="http://schemas.openxmlformats.org/drawingml/2006/main">
              <a:ext uri="{FF2B5EF4-FFF2-40B4-BE49-F238E27FC236}">
                <a16:creationId xmlns:a16="http://schemas.microsoft.com/office/drawing/2014/main" id="{B9CA1E28-C90D-4D1E-8D68-21505A67F123}"/>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E76F51"/>
                </a:solidFill>
                <a:latin typeface="Arial"/>
                <a:ea typeface="Arial"/>
                <a:cs typeface="Arial"/>
              </a:defRPr>
            </a:pPr>
            <a:r>
              <a:rPr sz="1200" b="1">
                <a:solidFill>
                  <a:srgbClr val="E76F5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C1B5DD3B-F4FF-4440-8AD1-4FBBCA269C22}"/>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413442532"/>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44AB32-D795-4131-86BE-6D69DF1D023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451E7437-83EC-4037-8173-152866FD366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Systems of record and derived data</a:t>
            </a:r>
          </a:p>
        </p:txBody>
      </p:sp>
      <p:sp>
        <p:nvSpPr>
          <p:cNvPr id="3" name="">
            <a:extLst xmlns:a="http://schemas.openxmlformats.org/drawingml/2006/main">
              <a:ext uri="{FF2B5EF4-FFF2-40B4-BE49-F238E27FC236}">
                <a16:creationId xmlns:a16="http://schemas.microsoft.com/office/drawing/2014/main" id="{D040CBC0-7546-4C76-BCF3-660B1DE4C96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06 / 15</a:t>
            </a:r>
          </a:p>
        </p:txBody>
      </p:sp>
      <p:sp>
        <p:nvSpPr>
          <p:cNvPr id="4" name="">
            <a:extLst xmlns:a="http://schemas.openxmlformats.org/drawingml/2006/main">
              <a:ext uri="{FF2B5EF4-FFF2-40B4-BE49-F238E27FC236}">
                <a16:creationId xmlns:a16="http://schemas.microsoft.com/office/drawing/2014/main" id="{8D99C051-6E12-468D-9F89-35AE79626AB1}"/>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E76F51"/>
                </a:solidFill>
                <a:latin typeface="Arial"/>
                <a:ea typeface="Arial"/>
                <a:cs typeface="Arial"/>
              </a:defRPr>
            </a:pPr>
            <a:r>
              <a:rPr sz="6750" b="1">
                <a:solidFill>
                  <a:srgbClr val="E76F5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58199A4-6EF6-46A5-A520-345B7734F7FB}"/>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 system of record owns the authoritative business facts.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Indexes, caches, search stores, and warehouses are derived and rebuildable.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Architecture must make ownership, propagation, and recovery paths explicit.</a:t>
            </a:r>
          </a:p>
        </p:txBody>
      </p:sp>
      <p:sp>
        <p:nvSpPr>
          <p:cNvPr id="6" name="">
            <a:extLst xmlns:a="http://schemas.openxmlformats.org/drawingml/2006/main">
              <a:ext uri="{FF2B5EF4-FFF2-40B4-BE49-F238E27FC236}">
                <a16:creationId xmlns:a16="http://schemas.microsoft.com/office/drawing/2014/main" id="{4E998495-156A-440E-AE37-6F278119A5E2}"/>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E76F51"/>
                </a:solidFill>
                <a:latin typeface="Arial"/>
                <a:ea typeface="Arial"/>
                <a:cs typeface="Arial"/>
              </a:defRPr>
            </a:pPr>
            <a:r>
              <a:rPr sz="1200" b="1">
                <a:solidFill>
                  <a:srgbClr val="E76F5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E7E72579-6D6A-4D19-8C6A-72EEF4B9CE29}"/>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2099847064"/>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40FC07-8410-4684-B30B-54CB0745AFC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9B241225-67F8-41C5-A999-C982A5678DE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Systems of record and derived data: design trade-offs</a:t>
            </a:r>
          </a:p>
        </p:txBody>
      </p:sp>
      <p:sp>
        <p:nvSpPr>
          <p:cNvPr id="3" name="">
            <a:extLst xmlns:a="http://schemas.openxmlformats.org/drawingml/2006/main">
              <a:ext uri="{FF2B5EF4-FFF2-40B4-BE49-F238E27FC236}">
                <a16:creationId xmlns:a16="http://schemas.microsoft.com/office/drawing/2014/main" id="{B6967828-947F-4545-92A6-912E996642B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07 / 15</a:t>
            </a:r>
          </a:p>
        </p:txBody>
      </p:sp>
      <p:sp>
        <p:nvSpPr>
          <p:cNvPr id="4" name="">
            <a:extLst xmlns:a="http://schemas.openxmlformats.org/drawingml/2006/main">
              <a:ext uri="{FF2B5EF4-FFF2-40B4-BE49-F238E27FC236}">
                <a16:creationId xmlns:a16="http://schemas.microsoft.com/office/drawing/2014/main" id="{449A732A-21EB-4909-88D2-D47BD4CE70FD}"/>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E76F51"/>
                </a:solidFill>
                <a:latin typeface="Arial"/>
                <a:ea typeface="Arial"/>
                <a:cs typeface="Arial"/>
              </a:defRPr>
            </a:pPr>
            <a:r>
              <a:rPr sz="6750" b="1">
                <a:solidFill>
                  <a:srgbClr val="E76F5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320CCF6-295C-4B6B-A959-CF8BCE7F11EC}"/>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A system of record owns the authoritative business facts.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47579459"/>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601AD5-33BA-456A-8A05-5D7DF093E8E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61F874D9-DC84-468C-9DDC-8FFD4AD4622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1-2: mechanism explained</a:t>
            </a:r>
          </a:p>
        </p:txBody>
      </p:sp>
      <p:sp>
        <p:nvSpPr>
          <p:cNvPr id="3" name="">
            <a:extLst xmlns:a="http://schemas.openxmlformats.org/drawingml/2006/main">
              <a:ext uri="{FF2B5EF4-FFF2-40B4-BE49-F238E27FC236}">
                <a16:creationId xmlns:a16="http://schemas.microsoft.com/office/drawing/2014/main" id="{1BD5DFBB-2F6B-49DA-B8EE-FD2A7FE44BC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08 / 15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7d47769c6e745a0"/>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DDA6C4C-08F1-48F2-937D-D8B42C4455D7}"/>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E76F51"/>
                </a:solidFill>
                <a:latin typeface="Arial"/>
                <a:ea typeface="Arial"/>
                <a:cs typeface="Arial"/>
              </a:defRPr>
            </a:pPr>
            <a:r>
              <a:rPr sz="1200" b="1">
                <a:solidFill>
                  <a:srgbClr val="E76F5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DBD68C35-523A-4E8B-B4BB-070D4941549E}"/>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spectrum of decisions on outsourcing software and its operations</a:t>
            </a:r>
          </a:p>
        </p:txBody>
      </p:sp>
      <p:sp>
        <p:nvSpPr>
          <p:cNvPr id="7" name="">
            <a:extLst xmlns:a="http://schemas.openxmlformats.org/drawingml/2006/main">
              <a:ext uri="{FF2B5EF4-FFF2-40B4-BE49-F238E27FC236}">
                <a16:creationId xmlns:a16="http://schemas.microsoft.com/office/drawing/2014/main" id="{A51BF9EF-6981-4E75-A6D7-FFB23BA2E5F2}"/>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E76F51"/>
                </a:solidFill>
                <a:latin typeface="Arial"/>
                <a:ea typeface="Arial"/>
                <a:cs typeface="Arial"/>
              </a:defRPr>
            </a:pPr>
            <a:r>
              <a:rPr sz="1200" b="1">
                <a:solidFill>
                  <a:srgbClr val="E76F5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2FF557FA-B495-4F06-8082-FAB5EE4D5ECA}"/>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EBA9AB24-4B0D-4882-8876-308EFBF7C429}"/>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E76F51"/>
                </a:solidFill>
                <a:latin typeface="Arial"/>
                <a:ea typeface="Arial"/>
                <a:cs typeface="Arial"/>
              </a:defRPr>
            </a:pPr>
            <a:r>
              <a:rPr sz="1200" b="1">
                <a:solidFill>
                  <a:srgbClr val="E76F5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1E0F929D-6F18-4286-A329-DF935FD138D1}"/>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809072011"/>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417805-FB84-4E9E-925C-48661A36900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DADCE11E-EAD4-4D6C-8618-14F3D0D75E3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Cloud services and self-hosting</a:t>
            </a:r>
          </a:p>
        </p:txBody>
      </p:sp>
      <p:sp>
        <p:nvSpPr>
          <p:cNvPr id="3" name="">
            <a:extLst xmlns:a="http://schemas.openxmlformats.org/drawingml/2006/main">
              <a:ext uri="{FF2B5EF4-FFF2-40B4-BE49-F238E27FC236}">
                <a16:creationId xmlns:a16="http://schemas.microsoft.com/office/drawing/2014/main" id="{02A2943B-C085-4C8D-9E1B-AF74D952D51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09 / 15</a:t>
            </a:r>
          </a:p>
        </p:txBody>
      </p:sp>
      <p:sp>
        <p:nvSpPr>
          <p:cNvPr id="4" name="">
            <a:extLst xmlns:a="http://schemas.openxmlformats.org/drawingml/2006/main">
              <a:ext uri="{FF2B5EF4-FFF2-40B4-BE49-F238E27FC236}">
                <a16:creationId xmlns:a16="http://schemas.microsoft.com/office/drawing/2014/main" id="{DBE5DD5A-18AC-44BD-AAF5-148290D481DB}"/>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E76F51"/>
                </a:solidFill>
                <a:latin typeface="Arial"/>
                <a:ea typeface="Arial"/>
                <a:cs typeface="Arial"/>
              </a:defRPr>
            </a:pPr>
            <a:r>
              <a:rPr sz="6750" b="1">
                <a:solidFill>
                  <a:srgbClr val="E76F5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674FC7C-6615-42CA-AF63-061D38DD7CC0}"/>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Managed services exchange operational control for elasticity and reduced administration.</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Cloud-native systems often separate compute, storage, and control planes.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Team skills, regulation, cost behavior, and exit options shape the decision.</a:t>
            </a:r>
          </a:p>
        </p:txBody>
      </p:sp>
      <p:sp>
        <p:nvSpPr>
          <p:cNvPr id="6" name="">
            <a:extLst xmlns:a="http://schemas.openxmlformats.org/drawingml/2006/main">
              <a:ext uri="{FF2B5EF4-FFF2-40B4-BE49-F238E27FC236}">
                <a16:creationId xmlns:a16="http://schemas.microsoft.com/office/drawing/2014/main" id="{DE1FE4E0-6014-490E-9430-374812A151BC}"/>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E76F51"/>
                </a:solidFill>
                <a:latin typeface="Arial"/>
                <a:ea typeface="Arial"/>
                <a:cs typeface="Arial"/>
              </a:defRPr>
            </a:pPr>
            <a:r>
              <a:rPr sz="1200" b="1">
                <a:solidFill>
                  <a:srgbClr val="E76F5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49462538-6FD3-4A17-952A-504B2484267C}"/>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316676691"/>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F28F0B-167A-4774-AFEB-E8972A19814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63F841EE-FD7A-41CB-95A3-0B747E5E91C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Cloud services and self-hosting: design trade-offs</a:t>
            </a:r>
          </a:p>
        </p:txBody>
      </p:sp>
      <p:sp>
        <p:nvSpPr>
          <p:cNvPr id="3" name="">
            <a:extLst xmlns:a="http://schemas.openxmlformats.org/drawingml/2006/main">
              <a:ext uri="{FF2B5EF4-FFF2-40B4-BE49-F238E27FC236}">
                <a16:creationId xmlns:a16="http://schemas.microsoft.com/office/drawing/2014/main" id="{D1EE8519-E0D5-4400-A855-A5F35453690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10 / 15</a:t>
            </a:r>
          </a:p>
        </p:txBody>
      </p:sp>
      <p:sp>
        <p:nvSpPr>
          <p:cNvPr id="4" name="">
            <a:extLst xmlns:a="http://schemas.openxmlformats.org/drawingml/2006/main">
              <a:ext uri="{FF2B5EF4-FFF2-40B4-BE49-F238E27FC236}">
                <a16:creationId xmlns:a16="http://schemas.microsoft.com/office/drawing/2014/main" id="{9095CE96-13B4-4BA3-9DBD-E0A7A091C072}"/>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E76F51"/>
                </a:solidFill>
                <a:latin typeface="Arial"/>
                <a:ea typeface="Arial"/>
                <a:cs typeface="Arial"/>
              </a:defRPr>
            </a:pPr>
            <a:r>
              <a:rPr sz="6750" b="1">
                <a:solidFill>
                  <a:srgbClr val="E76F5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C0B6ACE0-3A9F-4BD1-BFFA-8152FB0CBAC9}"/>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Managed services exchange operational control for elasticity and reduced administration.</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88420947"/>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E22969-8791-495C-AB46-C82280F131F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C60F1E2E-E863-4D7D-9E08-38A8EEEBC86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Distributed and single-node systems</a:t>
            </a:r>
          </a:p>
        </p:txBody>
      </p:sp>
      <p:sp>
        <p:nvSpPr>
          <p:cNvPr id="3" name="">
            <a:extLst xmlns:a="http://schemas.openxmlformats.org/drawingml/2006/main">
              <a:ext uri="{FF2B5EF4-FFF2-40B4-BE49-F238E27FC236}">
                <a16:creationId xmlns:a16="http://schemas.microsoft.com/office/drawing/2014/main" id="{50BCD696-B3AD-4E7E-B3CA-150B06FEE12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11 / 15</a:t>
            </a:r>
          </a:p>
        </p:txBody>
      </p:sp>
      <p:sp>
        <p:nvSpPr>
          <p:cNvPr id="4" name="">
            <a:extLst xmlns:a="http://schemas.openxmlformats.org/drawingml/2006/main">
              <a:ext uri="{FF2B5EF4-FFF2-40B4-BE49-F238E27FC236}">
                <a16:creationId xmlns:a16="http://schemas.microsoft.com/office/drawing/2014/main" id="{A39E6152-48C8-4B5E-9EFB-58541490670E}"/>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E76F51"/>
                </a:solidFill>
                <a:latin typeface="Arial"/>
                <a:ea typeface="Arial"/>
                <a:cs typeface="Arial"/>
              </a:defRPr>
            </a:pPr>
            <a:r>
              <a:rPr sz="6750" b="1">
                <a:solidFill>
                  <a:srgbClr val="E76F51"/>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E7FF5A98-02D5-4FC5-86DF-7CB35571732A}"/>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 single node is easier to reason about and may satisfy many workloads.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Distribution adds capacity and resilience but introduces partial failure.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Microservices and serverless help only when their organizational or scaling benefits are concrete.</a:t>
            </a:r>
          </a:p>
        </p:txBody>
      </p:sp>
      <p:sp>
        <p:nvSpPr>
          <p:cNvPr id="6" name="">
            <a:extLst xmlns:a="http://schemas.openxmlformats.org/drawingml/2006/main">
              <a:ext uri="{FF2B5EF4-FFF2-40B4-BE49-F238E27FC236}">
                <a16:creationId xmlns:a16="http://schemas.microsoft.com/office/drawing/2014/main" id="{DFA7C5CF-83E9-44EC-A181-E307E2087503}"/>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E76F51"/>
                </a:solidFill>
                <a:latin typeface="Arial"/>
                <a:ea typeface="Arial"/>
                <a:cs typeface="Arial"/>
              </a:defRPr>
            </a:pPr>
            <a:r>
              <a:rPr sz="1200" b="1">
                <a:solidFill>
                  <a:srgbClr val="E76F5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F0796963-067F-400A-BD64-FEF19EA6771D}"/>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267802531"/>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14603A-0F16-41CB-92A4-3A780D6EF00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04EEFAB0-EAE4-4D58-9574-31BC2F9BD3A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Distributed and single-node systems: design trade-offs</a:t>
            </a:r>
          </a:p>
        </p:txBody>
      </p:sp>
      <p:sp>
        <p:nvSpPr>
          <p:cNvPr id="3" name="">
            <a:extLst xmlns:a="http://schemas.openxmlformats.org/drawingml/2006/main">
              <a:ext uri="{FF2B5EF4-FFF2-40B4-BE49-F238E27FC236}">
                <a16:creationId xmlns:a16="http://schemas.microsoft.com/office/drawing/2014/main" id="{6E51F845-AF1D-4E85-AAE4-5CF42DDF362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12 / 15</a:t>
            </a:r>
          </a:p>
        </p:txBody>
      </p:sp>
      <p:sp>
        <p:nvSpPr>
          <p:cNvPr id="4" name="">
            <a:extLst xmlns:a="http://schemas.openxmlformats.org/drawingml/2006/main">
              <a:ext uri="{FF2B5EF4-FFF2-40B4-BE49-F238E27FC236}">
                <a16:creationId xmlns:a16="http://schemas.microsoft.com/office/drawing/2014/main" id="{CB855E80-40C9-4ED8-AE0C-BB74E7B00190}"/>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E76F51"/>
                </a:solidFill>
                <a:latin typeface="Arial"/>
                <a:ea typeface="Arial"/>
                <a:cs typeface="Arial"/>
              </a:defRPr>
            </a:pPr>
            <a:r>
              <a:rPr sz="6750" b="1">
                <a:solidFill>
                  <a:srgbClr val="E76F51"/>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96F0833-2616-4270-AA56-E340D1D2F8B0}"/>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A single node is easier to reason about and may satisfy many workloads.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094308610"/>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4AFEEC-CC24-4FD0-BB1D-AC8BC6E6205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97547732-0974-47B1-ABE6-060C1CD5DA1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Architecture decisions</a:t>
            </a:r>
          </a:p>
        </p:txBody>
      </p:sp>
      <p:sp>
        <p:nvSpPr>
          <p:cNvPr id="3" name="">
            <a:extLst xmlns:a="http://schemas.openxmlformats.org/drawingml/2006/main">
              <a:ext uri="{FF2B5EF4-FFF2-40B4-BE49-F238E27FC236}">
                <a16:creationId xmlns:a16="http://schemas.microsoft.com/office/drawing/2014/main" id="{88F9CC53-74A4-4862-87B3-61DBD180FEC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13 / 15</a:t>
            </a:r>
          </a:p>
        </p:txBody>
      </p:sp>
      <p:sp>
        <p:nvSpPr>
          <p:cNvPr id="4" name="">
            <a:extLst xmlns:a="http://schemas.openxmlformats.org/drawingml/2006/main">
              <a:ext uri="{FF2B5EF4-FFF2-40B4-BE49-F238E27FC236}">
                <a16:creationId xmlns:a16="http://schemas.microsoft.com/office/drawing/2014/main" id="{5BF5B876-DC88-4C18-A7FF-AD39E272BB7D}"/>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E76F51"/>
                </a:solidFill>
                <a:latin typeface="Arial"/>
                <a:ea typeface="Arial"/>
                <a:cs typeface="Arial"/>
              </a:defRPr>
            </a:pPr>
            <a:r>
              <a:rPr sz="6750" b="1">
                <a:solidFill>
                  <a:srgbClr val="E76F5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7080ECF-092C-423E-8F77-963C94CA412B}"/>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Start with workload, data volume, SLOs, and the assumed failure model.</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Compare total operating cost, not only unit prices.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Treat privacy, law, and social impact as architecture constraints.</a:t>
            </a:r>
          </a:p>
        </p:txBody>
      </p:sp>
      <p:sp>
        <p:nvSpPr>
          <p:cNvPr id="6" name="">
            <a:extLst xmlns:a="http://schemas.openxmlformats.org/drawingml/2006/main">
              <a:ext uri="{FF2B5EF4-FFF2-40B4-BE49-F238E27FC236}">
                <a16:creationId xmlns:a16="http://schemas.microsoft.com/office/drawing/2014/main" id="{B56E6E29-B400-45C7-8473-E01F9E376B8F}"/>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E76F51"/>
                </a:solidFill>
                <a:latin typeface="Arial"/>
                <a:ea typeface="Arial"/>
                <a:cs typeface="Arial"/>
              </a:defRPr>
            </a:pPr>
            <a:r>
              <a:rPr sz="1200" b="1">
                <a:solidFill>
                  <a:srgbClr val="E76F5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90B6A90C-DDA5-4A34-90C2-2D8BBFF5A4CA}"/>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145155741"/>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40569F-E52D-4CD9-AD60-29CC64068C8C}"/>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9E0B03AF-AE12-4E9B-A2AC-5BBA662274C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Architecture decisions: design trade-offs</a:t>
            </a:r>
          </a:p>
        </p:txBody>
      </p:sp>
      <p:sp>
        <p:nvSpPr>
          <p:cNvPr id="3" name="">
            <a:extLst xmlns:a="http://schemas.openxmlformats.org/drawingml/2006/main">
              <a:ext uri="{FF2B5EF4-FFF2-40B4-BE49-F238E27FC236}">
                <a16:creationId xmlns:a16="http://schemas.microsoft.com/office/drawing/2014/main" id="{5A99E727-6400-473F-8C93-D7672092736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14 / 15</a:t>
            </a:r>
          </a:p>
        </p:txBody>
      </p:sp>
      <p:sp>
        <p:nvSpPr>
          <p:cNvPr id="4" name="">
            <a:extLst xmlns:a="http://schemas.openxmlformats.org/drawingml/2006/main">
              <a:ext uri="{FF2B5EF4-FFF2-40B4-BE49-F238E27FC236}">
                <a16:creationId xmlns:a16="http://schemas.microsoft.com/office/drawing/2014/main" id="{88179903-6546-49A9-99B6-89597DC16031}"/>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E76F51"/>
                </a:solidFill>
                <a:latin typeface="Arial"/>
                <a:ea typeface="Arial"/>
                <a:cs typeface="Arial"/>
              </a:defRPr>
            </a:pPr>
            <a:r>
              <a:rPr sz="6750" b="1">
                <a:solidFill>
                  <a:srgbClr val="E76F5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94E4902-372F-484E-9E46-EA729D4C0AF9}"/>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Start with workload, data volume, SLOs, and the assumed failure model.</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52558872"/>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C65B90-91EA-4CDB-A1CB-12F75625EDB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E76F51"/>
                </a:solidFill>
                <a:latin typeface="Arial"/>
                <a:ea typeface="Arial"/>
                <a:cs typeface="Arial"/>
              </a:defRPr>
            </a:pPr>
            <a:r>
              <a:rPr sz="1200" b="1" spc="2">
                <a:solidFill>
                  <a:srgbClr val="E76F51"/>
                </a:solidFill>
                <a:latin typeface="Arial"/>
                <a:ea typeface="Arial"/>
                <a:cs typeface="Arial"/>
              </a:rPr>
              <a:t>CHAPTER 01</a:t>
            </a:r>
          </a:p>
        </p:txBody>
      </p:sp>
      <p:sp>
        <p:nvSpPr>
          <p:cNvPr id="2" name="">
            <a:extLst xmlns:a="http://schemas.openxmlformats.org/drawingml/2006/main">
              <a:ext uri="{FF2B5EF4-FFF2-40B4-BE49-F238E27FC236}">
                <a16:creationId xmlns:a16="http://schemas.microsoft.com/office/drawing/2014/main" id="{E0C2B426-45BA-45C7-9A58-194F73291B0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Review and application</a:t>
            </a:r>
          </a:p>
        </p:txBody>
      </p:sp>
      <p:sp>
        <p:nvSpPr>
          <p:cNvPr id="3" name="">
            <a:extLst xmlns:a="http://schemas.openxmlformats.org/drawingml/2006/main">
              <a:ext uri="{FF2B5EF4-FFF2-40B4-BE49-F238E27FC236}">
                <a16:creationId xmlns:a16="http://schemas.microsoft.com/office/drawing/2014/main" id="{A3642B8C-DBF0-4C4B-A031-2CEEF902FA5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15 / 15</a:t>
            </a:r>
          </a:p>
        </p:txBody>
      </p:sp>
      <p:sp>
        <p:nvSpPr>
          <p:cNvPr id="4" name="">
            <a:extLst xmlns:a="http://schemas.openxmlformats.org/drawingml/2006/main">
              <a:ext uri="{FF2B5EF4-FFF2-40B4-BE49-F238E27FC236}">
                <a16:creationId xmlns:a16="http://schemas.microsoft.com/office/drawing/2014/main" id="{66EA8B6A-8DA2-4E1A-BDA8-F2DF9C01DDE2}"/>
              </a:ext>
            </a:extLst>
          </p:cNvPr>
          <p:cNvSpPr>
            <a:spLocks xmlns:a="http://schemas.openxmlformats.org/drawingml/2006/main" noGrp="1"/>
          </p:cNvSpPr>
          <p:nvPr/>
        </p:nvSpPr>
        <p:spPr>
          <a:xfrm xmlns:a="http://schemas.openxmlformats.org/drawingml/2006/main">
            <a:off x="1285875" y="1666875"/>
            <a:ext cx="952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State the chapter’s central problem in one sentence.</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Choose one mechanism and list the assumptions it relies on.</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Describe a failure scenario and explain the recovery path.</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Apply one trade-off from the chapter to a system you are designing.</a:t>
            </a:r>
          </a:p>
        </p:txBody>
      </p:sp>
    </p:spTree>
    <p:extLst>
      <p:ext uri="{BB962C8B-B14F-4D97-AF65-F5344CB8AC3E}">
        <p14:creationId xmlns:p14="http://schemas.microsoft.com/office/powerpoint/2010/main" val="7707445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2026-09-27T19:46:51.2420000Z</dcterms:created>
  <dcterms:modified xsi:type="dcterms:W3CDTF">2026-09-27T19:46:51.2420000Z</dcterms:modified>
</coreProperties>
</file>