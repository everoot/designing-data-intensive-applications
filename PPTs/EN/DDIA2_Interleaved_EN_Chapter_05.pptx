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f438ed68984464" /><Relationship Type="http://schemas.openxmlformats.org/officeDocument/2006/relationships/extended-properties" Target="/docProps/app.xml" Id="R22efd274a739401a" /><Relationship Type="http://schemas.openxmlformats.org/officeDocument/2006/relationships/officeDocument" Target="/ppt/presentation.xml" Id="Rdf320449fd434e47" /></Relationships>
</file>

<file path=ppt/presentation.xml><?xml version="1.0" encoding="utf-8"?>
<p:presentation xmlns:p="http://schemas.openxmlformats.org/presentationml/2006/main">
  <p:sldMasterIdLst>
    <p:sldMasterId xmlns:r="http://schemas.openxmlformats.org/officeDocument/2006/relationships" id="2147483648" r:id="Re8233d5ff00f4915"/>
  </p:sldMasterIdLst>
  <p:notesMasterIdLst>
    <p:notesMasterId xmlns:r="http://schemas.openxmlformats.org/officeDocument/2006/relationships" r:id="Rcf11a46cb4cd4abc"/>
  </p:notesMasterIdLst>
  <p:sldIdLst>
    <p:sldId xmlns:r="http://schemas.openxmlformats.org/officeDocument/2006/relationships" id="256" r:id="R8e0dd8b07f5c414d"/>
    <p:sldId xmlns:r="http://schemas.openxmlformats.org/officeDocument/2006/relationships" id="257" r:id="R05eb289edc254221"/>
    <p:sldId xmlns:r="http://schemas.openxmlformats.org/officeDocument/2006/relationships" id="258" r:id="R2821e4ae20c7438c"/>
    <p:sldId xmlns:r="http://schemas.openxmlformats.org/officeDocument/2006/relationships" id="259" r:id="R2e5d680200864a07"/>
    <p:sldId xmlns:r="http://schemas.openxmlformats.org/officeDocument/2006/relationships" id="260" r:id="R3102e67af23944bc"/>
    <p:sldId xmlns:r="http://schemas.openxmlformats.org/officeDocument/2006/relationships" id="261" r:id="R01ab011bb5414b25"/>
    <p:sldId xmlns:r="http://schemas.openxmlformats.org/officeDocument/2006/relationships" id="262" r:id="R8e63e1f8038d4ef3"/>
    <p:sldId xmlns:r="http://schemas.openxmlformats.org/officeDocument/2006/relationships" id="263" r:id="Rd16342e84d694179"/>
    <p:sldId xmlns:r="http://schemas.openxmlformats.org/officeDocument/2006/relationships" id="264" r:id="R2c4f8a66bca94941"/>
    <p:sldId xmlns:r="http://schemas.openxmlformats.org/officeDocument/2006/relationships" id="265" r:id="R0be942440a0145b0"/>
    <p:sldId xmlns:r="http://schemas.openxmlformats.org/officeDocument/2006/relationships" id="266" r:id="Rf75dc73ad1e643d5"/>
    <p:sldId xmlns:r="http://schemas.openxmlformats.org/officeDocument/2006/relationships" id="267" r:id="R6c7ca41eab9f41c4"/>
    <p:sldId xmlns:r="http://schemas.openxmlformats.org/officeDocument/2006/relationships" id="268" r:id="R9710897cbf3f4fb2"/>
    <p:sldId xmlns:r="http://schemas.openxmlformats.org/officeDocument/2006/relationships" id="269" r:id="R33b273c76c4b47cf"/>
    <p:sldId xmlns:r="http://schemas.openxmlformats.org/officeDocument/2006/relationships" id="270" r:id="R8fc16e69f26c4679"/>
    <p:sldId xmlns:r="http://schemas.openxmlformats.org/officeDocument/2006/relationships" id="271" r:id="Re6644731b54e481f"/>
    <p:sldId xmlns:r="http://schemas.openxmlformats.org/officeDocument/2006/relationships" id="272" r:id="R3bab3dc4e69645eb"/>
    <p:sldId xmlns:r="http://schemas.openxmlformats.org/officeDocument/2006/relationships" id="273" r:id="Rb99eb1ff3c8d4351"/>
    <p:sldId xmlns:r="http://schemas.openxmlformats.org/officeDocument/2006/relationships" id="274" r:id="Ra66bcfd996414cf1"/>
    <p:sldId xmlns:r="http://schemas.openxmlformats.org/officeDocument/2006/relationships" id="275" r:id="Rc0503966bc1d4b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462e76ecf348c5" /><Relationship Type="http://schemas.openxmlformats.org/officeDocument/2006/relationships/slideMaster" Target="/ppt/slideMasters/slideMaster1.xml" Id="Re8233d5ff00f4915" /><Relationship Type="http://schemas.openxmlformats.org/officeDocument/2006/relationships/notesMaster" Target="/ppt/notesMasters/notesMaster1.xml" Id="Rcf11a46cb4cd4abc" /><Relationship Type="http://schemas.openxmlformats.org/officeDocument/2006/relationships/presProps" Target="/ppt/presProps.xml" Id="Rab9190419dfd48ca" /><Relationship Type="http://schemas.openxmlformats.org/officeDocument/2006/relationships/tableStyles" Target="/ppt/tableStyles.xml" Id="Rc3ad9abc5c1f44db" /><Relationship Type="http://schemas.openxmlformats.org/officeDocument/2006/relationships/slide" Target="/ppt/slides/slide1.xml" Id="R8e0dd8b07f5c414d" /><Relationship Type="http://schemas.openxmlformats.org/officeDocument/2006/relationships/slide" Target="/ppt/slides/slide2.xml" Id="R05eb289edc254221" /><Relationship Type="http://schemas.openxmlformats.org/officeDocument/2006/relationships/slide" Target="/ppt/slides/slide3.xml" Id="R2821e4ae20c7438c" /><Relationship Type="http://schemas.openxmlformats.org/officeDocument/2006/relationships/slide" Target="/ppt/slides/slide4.xml" Id="R2e5d680200864a07" /><Relationship Type="http://schemas.openxmlformats.org/officeDocument/2006/relationships/slide" Target="/ppt/slides/slide5.xml" Id="R3102e67af23944bc" /><Relationship Type="http://schemas.openxmlformats.org/officeDocument/2006/relationships/slide" Target="/ppt/slides/slide6.xml" Id="R01ab011bb5414b25" /><Relationship Type="http://schemas.openxmlformats.org/officeDocument/2006/relationships/slide" Target="/ppt/slides/slide7.xml" Id="R8e63e1f8038d4ef3" /><Relationship Type="http://schemas.openxmlformats.org/officeDocument/2006/relationships/slide" Target="/ppt/slides/slide8.xml" Id="Rd16342e84d694179" /><Relationship Type="http://schemas.openxmlformats.org/officeDocument/2006/relationships/slide" Target="/ppt/slides/slide9.xml" Id="R2c4f8a66bca94941" /><Relationship Type="http://schemas.openxmlformats.org/officeDocument/2006/relationships/slide" Target="/ppt/slides/slide10.xml" Id="R0be942440a0145b0" /><Relationship Type="http://schemas.openxmlformats.org/officeDocument/2006/relationships/slide" Target="/ppt/slides/slide11.xml" Id="Rf75dc73ad1e643d5" /><Relationship Type="http://schemas.openxmlformats.org/officeDocument/2006/relationships/slide" Target="/ppt/slides/slide12.xml" Id="R6c7ca41eab9f41c4" /><Relationship Type="http://schemas.openxmlformats.org/officeDocument/2006/relationships/slide" Target="/ppt/slides/slide13.xml" Id="R9710897cbf3f4fb2" /><Relationship Type="http://schemas.openxmlformats.org/officeDocument/2006/relationships/slide" Target="/ppt/slides/slide14.xml" Id="R33b273c76c4b47cf" /><Relationship Type="http://schemas.openxmlformats.org/officeDocument/2006/relationships/slide" Target="/ppt/slides/slide15.xml" Id="R8fc16e69f26c4679" /><Relationship Type="http://schemas.openxmlformats.org/officeDocument/2006/relationships/slide" Target="/ppt/slides/slide16.xml" Id="Re6644731b54e481f" /><Relationship Type="http://schemas.openxmlformats.org/officeDocument/2006/relationships/slide" Target="/ppt/slides/slide17.xml" Id="R3bab3dc4e69645eb" /><Relationship Type="http://schemas.openxmlformats.org/officeDocument/2006/relationships/slide" Target="/ppt/slides/slide18.xml" Id="Rb99eb1ff3c8d4351" /><Relationship Type="http://schemas.openxmlformats.org/officeDocument/2006/relationships/slide" Target="/ppt/slides/slide19.xml" Id="Ra66bcfd996414cf1" /><Relationship Type="http://schemas.openxmlformats.org/officeDocument/2006/relationships/slide" Target="/ppt/slides/slide20.xml" Id="Rc0503966bc1d4b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a45bdf6d0547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dee8d01b9a44e7" /><Relationship Type="http://schemas.openxmlformats.org/officeDocument/2006/relationships/notesMaster" Target="/ppt/notesMasters/notesMaster1.xml" Id="R2612c8c5517e42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559fd1ce334849" /><Relationship Type="http://schemas.openxmlformats.org/officeDocument/2006/relationships/notesMaster" Target="/ppt/notesMasters/notesMaster1.xml" Id="R8cfefff708ad48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1c24951ec24431" /><Relationship Type="http://schemas.openxmlformats.org/officeDocument/2006/relationships/notesMaster" Target="/ppt/notesMasters/notesMaster1.xml" Id="R4e8d2821a4ed40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54e0c9156d46a6" /><Relationship Type="http://schemas.openxmlformats.org/officeDocument/2006/relationships/notesMaster" Target="/ppt/notesMasters/notesMaster1.xml" Id="R23c9abd0f1ca48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4a05694f2b4649" /><Relationship Type="http://schemas.openxmlformats.org/officeDocument/2006/relationships/notesMaster" Target="/ppt/notesMasters/notesMaster1.xml" Id="R7fe8d24343c546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311a71df9a494e" /><Relationship Type="http://schemas.openxmlformats.org/officeDocument/2006/relationships/notesMaster" Target="/ppt/notesMasters/notesMaster1.xml" Id="Ra43d2c30535c44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cae3f50e484dc5" /><Relationship Type="http://schemas.openxmlformats.org/officeDocument/2006/relationships/notesMaster" Target="/ppt/notesMasters/notesMaster1.xml" Id="Rd9252324bc8645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0b0a23ccb0441a" /><Relationship Type="http://schemas.openxmlformats.org/officeDocument/2006/relationships/notesMaster" Target="/ppt/notesMasters/notesMaster1.xml" Id="R096b63cc3e804a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206e2d23c74519" /><Relationship Type="http://schemas.openxmlformats.org/officeDocument/2006/relationships/notesMaster" Target="/ppt/notesMasters/notesMaster1.xml" Id="R8596351f359341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c47e69e10349a7" /><Relationship Type="http://schemas.openxmlformats.org/officeDocument/2006/relationships/notesMaster" Target="/ppt/notesMasters/notesMaster1.xml" Id="Refc2fd4d4fc243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93c0ceb47a4ea7" /><Relationship Type="http://schemas.openxmlformats.org/officeDocument/2006/relationships/notesMaster" Target="/ppt/notesMasters/notesMaster1.xml" Id="R46d3d918d39a4b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28e77f1e974bda" /><Relationship Type="http://schemas.openxmlformats.org/officeDocument/2006/relationships/notesMaster" Target="/ppt/notesMasters/notesMaster1.xml" Id="Re745b21e627a49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3ec37c057445b4" /><Relationship Type="http://schemas.openxmlformats.org/officeDocument/2006/relationships/notesMaster" Target="/ppt/notesMasters/notesMaster1.xml" Id="R168b72bd23d546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9695ea638b49b8" /><Relationship Type="http://schemas.openxmlformats.org/officeDocument/2006/relationships/notesMaster" Target="/ppt/notesMasters/notesMaster1.xml" Id="Radcc4897e76f4cb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7362afb416415d" /><Relationship Type="http://schemas.openxmlformats.org/officeDocument/2006/relationships/notesMaster" Target="/ppt/notesMasters/notesMaster1.xml" Id="R31b3c11062fd42e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1fc3d55e3f42f0" /><Relationship Type="http://schemas.openxmlformats.org/officeDocument/2006/relationships/notesMaster" Target="/ppt/notesMasters/notesMaster1.xml" Id="Rdef0c13a42f9407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ea6587dde5947a5" /><Relationship Type="http://schemas.openxmlformats.org/officeDocument/2006/relationships/notesMaster" Target="/ppt/notesMasters/notesMaster1.xml" Id="Ra44ff173c14c4c1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576ae6bade4c75" /><Relationship Type="http://schemas.openxmlformats.org/officeDocument/2006/relationships/notesMaster" Target="/ppt/notesMasters/notesMaster1.xml" Id="R714834ec90c4452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1ee74cad25e45b4" /><Relationship Type="http://schemas.openxmlformats.org/officeDocument/2006/relationships/notesMaster" Target="/ppt/notesMasters/notesMaster1.xml" Id="R274eed9850084b5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6457d815a734b49" /><Relationship Type="http://schemas.openxmlformats.org/officeDocument/2006/relationships/notesMaster" Target="/ppt/notesMasters/notesMaster1.xml" Id="R235b7361aea947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Figure 5-1, PDF page 187. Original caption: Figure 5-1. When an older version of the application updates data previously written by</a:t>
            </a:r>
          </a:p>
          <a:p xmlns:a="http://schemas.openxmlformats.org/drawingml/2006/main">
            <a:r>
              <a:t>Explanation: When an older version of the application updates data previously written by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Figure 5-2, PDF page 192. Original caption: Figure 5-2. Our record (Example 5-2) encoded using MessagePack</a:t>
            </a:r>
          </a:p>
          <a:p xmlns:a="http://schemas.openxmlformats.org/drawingml/2006/main">
            <a:r>
              <a:t>Explanation: The bytes encode field identity, type, or schema information in different ways. Compatibility depends on how readers handle fields written by other schema versions.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Figure 5-3, PDF page 194. Original caption: Figure 5-3. Our record encoded using Protocol Buffers</a:t>
            </a:r>
          </a:p>
          <a:p xmlns:a="http://schemas.openxmlformats.org/drawingml/2006/main">
            <a:r>
              <a:t>Explanation: The bytes encode field identity, type, or schema information in different ways. Compatibility depends on how readers handle fields written by other schema versions.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Figure 5-4, PDF page 197. Original caption: Figure 5-4. Our record encoded using Avro</a:t>
            </a:r>
          </a:p>
          <a:p xmlns:a="http://schemas.openxmlformats.org/drawingml/2006/main">
            <a:r>
              <a:t>Explanation: The bytes encode field identity, type, or schema information in different ways. Compatibility depends on how readers handle fields written by other schema versions.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Figure 5-5, PDF page 198. Original caption: Figure 5-5. In Protocol Buffers, encoding and decoding can use different versions of a</a:t>
            </a:r>
          </a:p>
          <a:p xmlns:a="http://schemas.openxmlformats.org/drawingml/2006/main">
            <a:r>
              <a:t>Explanation: The bytes encode field identity, type, or schema information in different ways. Compatibility depends on how readers handle fields written by other schema versions.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Figure 5-6, PDF page 198. Original caption: Figure 5-6. An Avro reader resolving differences between the writer’s schema and the</a:t>
            </a:r>
          </a:p>
          <a:p xmlns:a="http://schemas.openxmlformats.org/drawingml/2006/main">
            <a:r>
              <a:t>Explanation: The bytes encode field identity, type, or schema information in different ways. Compatibility depends on how readers handle fields written by other schema versions.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Figure 5-7, PDF page 211. Original caption: Figure 5-7. A workflow expressed using Business Process Model and Notation (BPMN),</a:t>
            </a:r>
          </a:p>
          <a:p xmlns:a="http://schemas.openxmlformats.org/drawingml/2006/main">
            <a:r>
              <a:t>Explanation: A durable workflow records progress across service calls, waits, and retries. Persisted state lets execution resume after process or machine failure.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5, book pages 161-191.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9be42431d142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abc5f152d24fe1" /><Relationship Type="http://schemas.openxmlformats.org/officeDocument/2006/relationships/slideLayout" Target="/ppt/slideLayouts/slideLayout1.xml" Id="Rab8a63d045634d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8a63d045634d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933ffcbac24712" /><Relationship Type="http://schemas.openxmlformats.org/officeDocument/2006/relationships/notesSlide" Target="/ppt/notesSlides/notesSlide1.xml" Id="R63149764c17b47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c3544d01e64b56" /><Relationship Type="http://schemas.openxmlformats.org/officeDocument/2006/relationships/notesSlide" Target="/ppt/notesSlides/notesSlide2.xml" Id="Rbf85b9c9ccdd49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591829ef9048ef" /><Relationship Type="http://schemas.openxmlformats.org/officeDocument/2006/relationships/notesSlide" Target="/ppt/notesSlides/notesSlide3.xml" Id="Rcc9024b30afa47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758e2832229486b" /><Relationship Type="http://schemas.openxmlformats.org/officeDocument/2006/relationships/notesSlide" Target="/ppt/notesSlides/notesSlide4.xml" Id="Rcf3e4027df2341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4d09eb799f4669" /><Relationship Type="http://schemas.openxmlformats.org/officeDocument/2006/relationships/image" Target="/ppt/media/image.png" Id="Rf0cf65c6cb3d4118" /><Relationship Type="http://schemas.openxmlformats.org/officeDocument/2006/relationships/notesSlide" Target="/ppt/notesSlides/notesSlide5.xml" Id="Re1255d59b0164d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c0fe40650b4ef3" /><Relationship Type="http://schemas.openxmlformats.org/officeDocument/2006/relationships/image" Target="/ppt/media/image2.png" Id="R544a1d00bfb3498a" /><Relationship Type="http://schemas.openxmlformats.org/officeDocument/2006/relationships/notesSlide" Target="/ppt/notesSlides/notesSlide6.xml" Id="R10d32c19227a45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fe437353774fd2" /><Relationship Type="http://schemas.openxmlformats.org/officeDocument/2006/relationships/image" Target="/ppt/media/image3.png" Id="R6bc3c9ad30344532" /><Relationship Type="http://schemas.openxmlformats.org/officeDocument/2006/relationships/notesSlide" Target="/ppt/notesSlides/notesSlide7.xml" Id="R8e29b108ae5d44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2a2a8c007194af5" /><Relationship Type="http://schemas.openxmlformats.org/officeDocument/2006/relationships/image" Target="/ppt/media/image4.png" Id="Rcfe173f623d04e63" /><Relationship Type="http://schemas.openxmlformats.org/officeDocument/2006/relationships/notesSlide" Target="/ppt/notesSlides/notesSlide8.xml" Id="R67e5e572b5ef48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d5990bd04874deb" /><Relationship Type="http://schemas.openxmlformats.org/officeDocument/2006/relationships/notesSlide" Target="/ppt/notesSlides/notesSlide9.xml" Id="Rdb5f9c2f715340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9436b03165b4f53" /><Relationship Type="http://schemas.openxmlformats.org/officeDocument/2006/relationships/notesSlide" Target="/ppt/notesSlides/notesSlide10.xml" Id="R6fcebe72f8644c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6e407639b714afd" /><Relationship Type="http://schemas.openxmlformats.org/officeDocument/2006/relationships/image" Target="/ppt/media/image5.png" Id="R024c555d2dbe43a1" /><Relationship Type="http://schemas.openxmlformats.org/officeDocument/2006/relationships/notesSlide" Target="/ppt/notesSlides/notesSlide11.xml" Id="R25047c71330541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54341525874465f" /><Relationship Type="http://schemas.openxmlformats.org/officeDocument/2006/relationships/image" Target="/ppt/media/image6.png" Id="R926276e125934fc6" /><Relationship Type="http://schemas.openxmlformats.org/officeDocument/2006/relationships/notesSlide" Target="/ppt/notesSlides/notesSlide12.xml" Id="Re5cdce93250e42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72f940d3cfa447c" /><Relationship Type="http://schemas.openxmlformats.org/officeDocument/2006/relationships/notesSlide" Target="/ppt/notesSlides/notesSlide13.xml" Id="Rbd15e04fab4f47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d42892a076f4e73" /><Relationship Type="http://schemas.openxmlformats.org/officeDocument/2006/relationships/notesSlide" Target="/ppt/notesSlides/notesSlide14.xml" Id="R635440ed2ea642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9af0ac1a14b4398" /><Relationship Type="http://schemas.openxmlformats.org/officeDocument/2006/relationships/notesSlide" Target="/ppt/notesSlides/notesSlide15.xml" Id="R82ee6222693140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370e31ec83d446c" /><Relationship Type="http://schemas.openxmlformats.org/officeDocument/2006/relationships/notesSlide" Target="/ppt/notesSlides/notesSlide16.xml" Id="R1cbf694e8e4a4e0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82a53fa3b4d457e" /><Relationship Type="http://schemas.openxmlformats.org/officeDocument/2006/relationships/image" Target="/ppt/media/image7.png" Id="Rcbe7f1434e2943ee" /><Relationship Type="http://schemas.openxmlformats.org/officeDocument/2006/relationships/notesSlide" Target="/ppt/notesSlides/notesSlide17.xml" Id="R603362ce2be8464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d91f63b98de499b" /><Relationship Type="http://schemas.openxmlformats.org/officeDocument/2006/relationships/notesSlide" Target="/ppt/notesSlides/notesSlide18.xml" Id="R62071fdd44db4e0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9a94fd7dcec4a3f" /><Relationship Type="http://schemas.openxmlformats.org/officeDocument/2006/relationships/notesSlide" Target="/ppt/notesSlides/notesSlide19.xml" Id="R9c570511fd6443b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2e6a5e69ba6418f" /><Relationship Type="http://schemas.openxmlformats.org/officeDocument/2006/relationships/notesSlide" Target="/ppt/notesSlides/notesSlide20.xml" Id="R3fc2e184e381419c"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50E3D0-B65D-43F1-BAA9-9B79A23CA073}"/>
              </a:ext>
            </a:extLst>
          </p:cNvPr>
          <p:cNvSpPr>
            <a:spLocks xmlns:a="http://schemas.openxmlformats.org/drawingml/2006/main" noGrp="1"/>
          </p:cNvSpPr>
          <p:nvPr/>
        </p:nvSpPr>
        <p:spPr>
          <a:xfrm xmlns:a="http://schemas.openxmlformats.org/drawingml/2006/main">
            <a:off x="714375" y="666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spc="2">
                <a:solidFill>
                  <a:srgbClr val="8D5A97"/>
                </a:solidFill>
                <a:latin typeface="Arial"/>
                <a:ea typeface="Arial"/>
                <a:cs typeface="Arial"/>
              </a:defRPr>
            </a:pPr>
            <a:r>
              <a:rPr sz="1425"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400A7514-E343-4CD4-9515-DF6D5DA27E2D}"/>
              </a:ext>
            </a:extLst>
          </p:cNvPr>
          <p:cNvSpPr>
            <a:spLocks xmlns:a="http://schemas.openxmlformats.org/drawingml/2006/main" noGrp="1"/>
          </p:cNvSpPr>
          <p:nvPr/>
        </p:nvSpPr>
        <p:spPr>
          <a:xfrm xmlns:a="http://schemas.openxmlformats.org/drawingml/2006/main">
            <a:off x="714375" y="157162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Encoding and Evolution</a:t>
            </a:r>
          </a:p>
        </p:txBody>
      </p:sp>
      <p:sp>
        <p:nvSpPr>
          <p:cNvPr id="3" name="">
            <a:extLst xmlns:a="http://schemas.openxmlformats.org/drawingml/2006/main">
              <a:ext uri="{FF2B5EF4-FFF2-40B4-BE49-F238E27FC236}">
                <a16:creationId xmlns:a16="http://schemas.microsoft.com/office/drawing/2014/main" id="{B354EE9E-F412-4F70-9D62-8C330EE28C54}"/>
              </a:ext>
            </a:extLst>
          </p:cNvPr>
          <p:cNvSpPr>
            <a:spLocks xmlns:a="http://schemas.openxmlformats.org/drawingml/2006/main" noGrp="1"/>
          </p:cNvSpPr>
          <p:nvPr/>
        </p:nvSpPr>
        <p:spPr>
          <a:xfrm xmlns:a="http://schemas.openxmlformats.org/drawingml/2006/main">
            <a:off x="742950" y="28098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D9E2EC"/>
                </a:solidFill>
                <a:latin typeface="Arial"/>
                <a:ea typeface="Arial"/>
                <a:cs typeface="Arial"/>
              </a:defRPr>
            </a:pPr>
            <a:r>
              <a:rPr sz="1725">
                <a:solidFill>
                  <a:srgbClr val="D9E2EC"/>
                </a:solidFill>
                <a:latin typeface="Arial"/>
                <a:ea typeface="Arial"/>
                <a:cs typeface="Arial"/>
              </a:rPr>
              <a:t>Designing Data-Intensive Applications, Second Edition</a:t>
            </a:r>
          </a:p>
        </p:txBody>
      </p:sp>
      <p:sp>
        <p:nvSpPr>
          <p:cNvPr id="4" name="">
            <a:extLst xmlns:a="http://schemas.openxmlformats.org/drawingml/2006/main">
              <a:ext uri="{FF2B5EF4-FFF2-40B4-BE49-F238E27FC236}">
                <a16:creationId xmlns:a16="http://schemas.microsoft.com/office/drawing/2014/main" id="{315928B0-B443-40AE-A2F0-4985EA30C0DF}"/>
              </a:ext>
            </a:extLst>
          </p:cNvPr>
          <p:cNvSpPr>
            <a:spLocks xmlns:a="http://schemas.openxmlformats.org/drawingml/2006/main" noGrp="1"/>
          </p:cNvSpPr>
          <p:nvPr/>
        </p:nvSpPr>
        <p:spPr>
          <a:xfrm xmlns:a="http://schemas.openxmlformats.org/drawingml/2006/main">
            <a:off x="742950" y="5286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a:solidFill>
                  <a:srgbClr val="BCCCDC"/>
                </a:solidFill>
                <a:latin typeface="Arial"/>
                <a:ea typeface="Arial"/>
                <a:cs typeface="Arial"/>
              </a:defRPr>
            </a:pPr>
            <a:r>
              <a:rPr sz="1425">
                <a:solidFill>
                  <a:srgbClr val="BCCCDC"/>
                </a:solidFill>
                <a:latin typeface="Arial"/>
                <a:ea typeface="Arial"/>
                <a:cs typeface="Arial"/>
              </a:rPr>
              <a:t>Detailed English Study Edition</a:t>
            </a:r>
          </a:p>
        </p:txBody>
      </p:sp>
      <p:sp>
        <p:nvSpPr>
          <p:cNvPr id="5" name="">
            <a:extLst xmlns:a="http://schemas.openxmlformats.org/drawingml/2006/main">
              <a:ext uri="{FF2B5EF4-FFF2-40B4-BE49-F238E27FC236}">
                <a16:creationId xmlns:a16="http://schemas.microsoft.com/office/drawing/2014/main" id="{DC7BBF63-E07B-45C9-B284-C928F00E5BD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9FB3C8"/>
                </a:solidFill>
                <a:latin typeface="Arial"/>
                <a:ea typeface="Arial"/>
                <a:cs typeface="Arial"/>
              </a:defRPr>
            </a:pPr>
            <a:r>
              <a:rPr sz="975">
                <a:solidFill>
                  <a:srgbClr val="9FB3C8"/>
                </a:solidFill>
                <a:latin typeface="Arial"/>
                <a:ea typeface="Arial"/>
                <a:cs typeface="Arial"/>
              </a:rPr>
              <a:t>01 / 20</a:t>
            </a:r>
          </a:p>
        </p:txBody>
      </p:sp>
    </p:spTree>
    <p:extLst>
      <p:ext uri="{BB962C8B-B14F-4D97-AF65-F5344CB8AC3E}">
        <p14:creationId xmlns:p14="http://schemas.microsoft.com/office/powerpoint/2010/main" val="1085424947"/>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F384C8F-C8AA-45DC-8399-922EAEA517E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1F63EADC-1889-41AD-A997-B8E62A22197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Chapter map</a:t>
            </a:r>
          </a:p>
        </p:txBody>
      </p:sp>
      <p:sp>
        <p:nvSpPr>
          <p:cNvPr id="3" name="">
            <a:extLst xmlns:a="http://schemas.openxmlformats.org/drawingml/2006/main">
              <a:ext uri="{FF2B5EF4-FFF2-40B4-BE49-F238E27FC236}">
                <a16:creationId xmlns:a16="http://schemas.microsoft.com/office/drawing/2014/main" id="{8441CB35-B652-45A9-88F0-2F25C71B3E91}"/>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02 / 20</a:t>
            </a:r>
          </a:p>
        </p:txBody>
      </p:sp>
      <p:sp>
        <p:nvSpPr>
          <p:cNvPr id="4" name="">
            <a:extLst xmlns:a="http://schemas.openxmlformats.org/drawingml/2006/main">
              <a:ext uri="{FF2B5EF4-FFF2-40B4-BE49-F238E27FC236}">
                <a16:creationId xmlns:a16="http://schemas.microsoft.com/office/drawing/2014/main" id="{B18100A1-4703-4B70-AA39-45F5889D1E09}"/>
              </a:ext>
            </a:extLst>
          </p:cNvPr>
          <p:cNvSpPr>
            <a:spLocks xmlns:a="http://schemas.openxmlformats.org/drawingml/2006/main" noGrp="1"/>
          </p:cNvSpPr>
          <p:nvPr/>
        </p:nvSpPr>
        <p:spPr>
          <a:xfrm xmlns:a="http://schemas.openxmlformats.org/drawingml/2006/main">
            <a:off x="857250" y="14763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8D5A97"/>
                </a:solidFill>
                <a:latin typeface="Arial"/>
                <a:ea typeface="Arial"/>
                <a:cs typeface="Arial"/>
              </a:defRPr>
            </a:pPr>
            <a:r>
              <a:rPr sz="2100" b="1">
                <a:solidFill>
                  <a:srgbClr val="8D5A97"/>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21081C1-D9CE-41B1-8370-FE2CE8EE6D64}"/>
              </a:ext>
            </a:extLst>
          </p:cNvPr>
          <p:cNvSpPr>
            <a:spLocks xmlns:a="http://schemas.openxmlformats.org/drawingml/2006/main" noGrp="1"/>
          </p:cNvSpPr>
          <p:nvPr/>
        </p:nvSpPr>
        <p:spPr>
          <a:xfrm xmlns:a="http://schemas.openxmlformats.org/drawingml/2006/main">
            <a:off x="1905000" y="1428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Encoding formats</a:t>
            </a:r>
          </a:p>
        </p:txBody>
      </p:sp>
      <p:sp>
        <p:nvSpPr>
          <p:cNvPr id="6" name="">
            <a:extLst xmlns:a="http://schemas.openxmlformats.org/drawingml/2006/main">
              <a:ext uri="{FF2B5EF4-FFF2-40B4-BE49-F238E27FC236}">
                <a16:creationId xmlns:a16="http://schemas.microsoft.com/office/drawing/2014/main" id="{AB1B42DD-6ED2-4A24-B276-8BC9455EE885}"/>
              </a:ext>
            </a:extLst>
          </p:cNvPr>
          <p:cNvSpPr>
            <a:spLocks xmlns:a="http://schemas.openxmlformats.org/drawingml/2006/main" noGrp="1"/>
          </p:cNvSpPr>
          <p:nvPr/>
        </p:nvSpPr>
        <p:spPr>
          <a:xfrm xmlns:a="http://schemas.openxmlformats.org/drawingml/2006/main">
            <a:off x="6191250" y="14287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Text formats aid inspection but carry parsing and typing costs.</a:t>
            </a:r>
          </a:p>
        </p:txBody>
      </p:sp>
      <p:sp>
        <p:nvSpPr>
          <p:cNvPr id="7" name="">
            <a:extLst xmlns:a="http://schemas.openxmlformats.org/drawingml/2006/main">
              <a:ext uri="{FF2B5EF4-FFF2-40B4-BE49-F238E27FC236}">
                <a16:creationId xmlns:a16="http://schemas.microsoft.com/office/drawing/2014/main" id="{AE4A3A9E-AF6F-490E-ADFC-C226116B8E07}"/>
              </a:ext>
            </a:extLst>
          </p:cNvPr>
          <p:cNvSpPr>
            <a:spLocks xmlns:a="http://schemas.openxmlformats.org/drawingml/2006/main" noGrp="1"/>
          </p:cNvSpPr>
          <p:nvPr/>
        </p:nvSpPr>
        <p:spPr>
          <a:xfrm xmlns:a="http://schemas.openxmlformats.org/drawingml/2006/main">
            <a:off x="857250" y="2352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8D5A97"/>
                </a:solidFill>
                <a:latin typeface="Arial"/>
                <a:ea typeface="Arial"/>
                <a:cs typeface="Arial"/>
              </a:defRPr>
            </a:pPr>
            <a:r>
              <a:rPr sz="2100" b="1">
                <a:solidFill>
                  <a:srgbClr val="8D5A97"/>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3487452-558F-42AC-87F0-FD86840D6A36}"/>
              </a:ext>
            </a:extLst>
          </p:cNvPr>
          <p:cNvSpPr>
            <a:spLocks xmlns:a="http://schemas.openxmlformats.org/drawingml/2006/main" noGrp="1"/>
          </p:cNvSpPr>
          <p:nvPr/>
        </p:nvSpPr>
        <p:spPr>
          <a:xfrm xmlns:a="http://schemas.openxmlformats.org/drawingml/2006/main">
            <a:off x="1905000" y="23050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Compatibility</a:t>
            </a:r>
          </a:p>
        </p:txBody>
      </p:sp>
      <p:sp>
        <p:nvSpPr>
          <p:cNvPr id="9" name="">
            <a:extLst xmlns:a="http://schemas.openxmlformats.org/drawingml/2006/main">
              <a:ext uri="{FF2B5EF4-FFF2-40B4-BE49-F238E27FC236}">
                <a16:creationId xmlns:a16="http://schemas.microsoft.com/office/drawing/2014/main" id="{F9FF76F0-9258-4BD4-9B81-94C7DBC207CE}"/>
              </a:ext>
            </a:extLst>
          </p:cNvPr>
          <p:cNvSpPr>
            <a:spLocks xmlns:a="http://schemas.openxmlformats.org/drawingml/2006/main" noGrp="1"/>
          </p:cNvSpPr>
          <p:nvPr/>
        </p:nvSpPr>
        <p:spPr>
          <a:xfrm xmlns:a="http://schemas.openxmlformats.org/drawingml/2006/main">
            <a:off x="6191250" y="23050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Backward compatibility lets new code read old data.</a:t>
            </a:r>
          </a:p>
        </p:txBody>
      </p:sp>
      <p:sp>
        <p:nvSpPr>
          <p:cNvPr id="10" name="">
            <a:extLst xmlns:a="http://schemas.openxmlformats.org/drawingml/2006/main">
              <a:ext uri="{FF2B5EF4-FFF2-40B4-BE49-F238E27FC236}">
                <a16:creationId xmlns:a16="http://schemas.microsoft.com/office/drawing/2014/main" id="{2EA78086-6CF0-4D30-809D-6D34216DB10C}"/>
              </a:ext>
            </a:extLst>
          </p:cNvPr>
          <p:cNvSpPr>
            <a:spLocks xmlns:a="http://schemas.openxmlformats.org/drawingml/2006/main" noGrp="1"/>
          </p:cNvSpPr>
          <p:nvPr/>
        </p:nvSpPr>
        <p:spPr>
          <a:xfrm xmlns:a="http://schemas.openxmlformats.org/drawingml/2006/main">
            <a:off x="857250" y="32289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8D5A97"/>
                </a:solidFill>
                <a:latin typeface="Arial"/>
                <a:ea typeface="Arial"/>
                <a:cs typeface="Arial"/>
              </a:defRPr>
            </a:pPr>
            <a:r>
              <a:rPr sz="2100" b="1">
                <a:solidFill>
                  <a:srgbClr val="8D5A97"/>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5F9ADDB-B819-497F-8E66-48670780B71A}"/>
              </a:ext>
            </a:extLst>
          </p:cNvPr>
          <p:cNvSpPr>
            <a:spLocks xmlns:a="http://schemas.openxmlformats.org/drawingml/2006/main" noGrp="1"/>
          </p:cNvSpPr>
          <p:nvPr/>
        </p:nvSpPr>
        <p:spPr>
          <a:xfrm xmlns:a="http://schemas.openxmlformats.org/drawingml/2006/main">
            <a:off x="1905000" y="31813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Database dataflow</a:t>
            </a:r>
          </a:p>
        </p:txBody>
      </p:sp>
      <p:sp>
        <p:nvSpPr>
          <p:cNvPr id="12" name="">
            <a:extLst xmlns:a="http://schemas.openxmlformats.org/drawingml/2006/main">
              <a:ext uri="{FF2B5EF4-FFF2-40B4-BE49-F238E27FC236}">
                <a16:creationId xmlns:a16="http://schemas.microsoft.com/office/drawing/2014/main" id="{C0BBEAFC-E50F-4837-8944-59881024747D}"/>
              </a:ext>
            </a:extLst>
          </p:cNvPr>
          <p:cNvSpPr>
            <a:spLocks xmlns:a="http://schemas.openxmlformats.org/drawingml/2006/main" noGrp="1"/>
          </p:cNvSpPr>
          <p:nvPr/>
        </p:nvSpPr>
        <p:spPr>
          <a:xfrm xmlns:a="http://schemas.openxmlformats.org/drawingml/2006/main">
            <a:off x="6191250" y="31813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Old records may retain earlier encodings for years.</a:t>
            </a:r>
          </a:p>
        </p:txBody>
      </p:sp>
      <p:sp>
        <p:nvSpPr>
          <p:cNvPr id="13" name="">
            <a:extLst xmlns:a="http://schemas.openxmlformats.org/drawingml/2006/main">
              <a:ext uri="{FF2B5EF4-FFF2-40B4-BE49-F238E27FC236}">
                <a16:creationId xmlns:a16="http://schemas.microsoft.com/office/drawing/2014/main" id="{802AD573-828D-4996-9F42-C828F87A71EC}"/>
              </a:ext>
            </a:extLst>
          </p:cNvPr>
          <p:cNvSpPr>
            <a:spLocks xmlns:a="http://schemas.openxmlformats.org/drawingml/2006/main" noGrp="1"/>
          </p:cNvSpPr>
          <p:nvPr/>
        </p:nvSpPr>
        <p:spPr>
          <a:xfrm xmlns:a="http://schemas.openxmlformats.org/drawingml/2006/main">
            <a:off x="857250" y="41052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8D5A97"/>
                </a:solidFill>
                <a:latin typeface="Arial"/>
                <a:ea typeface="Arial"/>
                <a:cs typeface="Arial"/>
              </a:defRPr>
            </a:pPr>
            <a:r>
              <a:rPr sz="2100" b="1">
                <a:solidFill>
                  <a:srgbClr val="8D5A97"/>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E112C4EE-B7A9-4F1A-BF04-53AE655AD0B4}"/>
              </a:ext>
            </a:extLst>
          </p:cNvPr>
          <p:cNvSpPr>
            <a:spLocks xmlns:a="http://schemas.openxmlformats.org/drawingml/2006/main" noGrp="1"/>
          </p:cNvSpPr>
          <p:nvPr/>
        </p:nvSpPr>
        <p:spPr>
          <a:xfrm xmlns:a="http://schemas.openxmlformats.org/drawingml/2006/main">
            <a:off x="1905000" y="40576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Services and workflows</a:t>
            </a:r>
          </a:p>
        </p:txBody>
      </p:sp>
      <p:sp>
        <p:nvSpPr>
          <p:cNvPr id="15" name="">
            <a:extLst xmlns:a="http://schemas.openxmlformats.org/drawingml/2006/main">
              <a:ext uri="{FF2B5EF4-FFF2-40B4-BE49-F238E27FC236}">
                <a16:creationId xmlns:a16="http://schemas.microsoft.com/office/drawing/2014/main" id="{4012988B-B0BD-4A1D-8CB7-272C530FFEF7}"/>
              </a:ext>
            </a:extLst>
          </p:cNvPr>
          <p:cNvSpPr>
            <a:spLocks xmlns:a="http://schemas.openxmlformats.org/drawingml/2006/main" noGrp="1"/>
          </p:cNvSpPr>
          <p:nvPr/>
        </p:nvSpPr>
        <p:spPr>
          <a:xfrm xmlns:a="http://schemas.openxmlformats.org/drawingml/2006/main">
            <a:off x="6191250" y="40576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REST emphasizes resources and shared protocols while RPC emphasizes method calls.</a:t>
            </a:r>
          </a:p>
        </p:txBody>
      </p:sp>
      <p:sp>
        <p:nvSpPr>
          <p:cNvPr id="16" name="">
            <a:extLst xmlns:a="http://schemas.openxmlformats.org/drawingml/2006/main">
              <a:ext uri="{FF2B5EF4-FFF2-40B4-BE49-F238E27FC236}">
                <a16:creationId xmlns:a16="http://schemas.microsoft.com/office/drawing/2014/main" id="{5C5449D9-D654-44E8-BD75-F03C44B1CD97}"/>
              </a:ext>
            </a:extLst>
          </p:cNvPr>
          <p:cNvSpPr>
            <a:spLocks xmlns:a="http://schemas.openxmlformats.org/drawingml/2006/main" noGrp="1"/>
          </p:cNvSpPr>
          <p:nvPr/>
        </p:nvSpPr>
        <p:spPr>
          <a:xfrm xmlns:a="http://schemas.openxmlformats.org/drawingml/2006/main">
            <a:off x="857250" y="49815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8D5A97"/>
                </a:solidFill>
                <a:latin typeface="Arial"/>
                <a:ea typeface="Arial"/>
                <a:cs typeface="Arial"/>
              </a:defRPr>
            </a:pPr>
            <a:r>
              <a:rPr sz="2100" b="1">
                <a:solidFill>
                  <a:srgbClr val="8D5A97"/>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D44B7A7F-905A-4E8C-9DFE-069807F662BA}"/>
              </a:ext>
            </a:extLst>
          </p:cNvPr>
          <p:cNvSpPr>
            <a:spLocks xmlns:a="http://schemas.openxmlformats.org/drawingml/2006/main" noGrp="1"/>
          </p:cNvSpPr>
          <p:nvPr/>
        </p:nvSpPr>
        <p:spPr>
          <a:xfrm xmlns:a="http://schemas.openxmlformats.org/drawingml/2006/main">
            <a:off x="1905000" y="49339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Event-driven systems</a:t>
            </a:r>
          </a:p>
        </p:txBody>
      </p:sp>
      <p:sp>
        <p:nvSpPr>
          <p:cNvPr id="18" name="">
            <a:extLst xmlns:a="http://schemas.openxmlformats.org/drawingml/2006/main">
              <a:ext uri="{FF2B5EF4-FFF2-40B4-BE49-F238E27FC236}">
                <a16:creationId xmlns:a16="http://schemas.microsoft.com/office/drawing/2014/main" id="{FCF962B7-7642-46B2-99C6-DA83697D7E11}"/>
              </a:ext>
            </a:extLst>
          </p:cNvPr>
          <p:cNvSpPr>
            <a:spLocks xmlns:a="http://schemas.openxmlformats.org/drawingml/2006/main" noGrp="1"/>
          </p:cNvSpPr>
          <p:nvPr/>
        </p:nvSpPr>
        <p:spPr>
          <a:xfrm xmlns:a="http://schemas.openxmlformats.org/drawingml/2006/main">
            <a:off x="6191250" y="49339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Messages decouple producers and consumers in time and ownership.</a:t>
            </a:r>
          </a:p>
        </p:txBody>
      </p:sp>
    </p:spTree>
    <p:extLst>
      <p:ext uri="{BB962C8B-B14F-4D97-AF65-F5344CB8AC3E}">
        <p14:creationId xmlns:p14="http://schemas.microsoft.com/office/powerpoint/2010/main" val="1116154842"/>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4DE315-6FBF-4A66-B408-9EB6F226909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4F4F697D-4913-4D37-B0E9-DF35F26DF2B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Encoding formats</a:t>
            </a:r>
          </a:p>
        </p:txBody>
      </p:sp>
      <p:sp>
        <p:nvSpPr>
          <p:cNvPr id="3" name="">
            <a:extLst xmlns:a="http://schemas.openxmlformats.org/drawingml/2006/main">
              <a:ext uri="{FF2B5EF4-FFF2-40B4-BE49-F238E27FC236}">
                <a16:creationId xmlns:a16="http://schemas.microsoft.com/office/drawing/2014/main" id="{630A219C-12C3-46D7-BBD5-E47C6C72B93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03 / 20</a:t>
            </a:r>
          </a:p>
        </p:txBody>
      </p:sp>
      <p:sp>
        <p:nvSpPr>
          <p:cNvPr id="4" name="">
            <a:extLst xmlns:a="http://schemas.openxmlformats.org/drawingml/2006/main">
              <a:ext uri="{FF2B5EF4-FFF2-40B4-BE49-F238E27FC236}">
                <a16:creationId xmlns:a16="http://schemas.microsoft.com/office/drawing/2014/main" id="{0996F78A-0941-46FF-9609-A12492D825AB}"/>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8D5A97"/>
                </a:solidFill>
                <a:latin typeface="Arial"/>
                <a:ea typeface="Arial"/>
                <a:cs typeface="Arial"/>
              </a:defRPr>
            </a:pPr>
            <a:r>
              <a:rPr sz="6750" b="1">
                <a:solidFill>
                  <a:srgbClr val="8D5A97"/>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590F57E-D616-437A-A372-B020CE360296}"/>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Text formats aid inspection but carry parsing and typing costs.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Binary formats often use field tags and schemas for compactness.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Schemas support validation, documentation, code generation, and compatibility checks.</a:t>
            </a:r>
          </a:p>
        </p:txBody>
      </p:sp>
      <p:sp>
        <p:nvSpPr>
          <p:cNvPr id="6" name="">
            <a:extLst xmlns:a="http://schemas.openxmlformats.org/drawingml/2006/main">
              <a:ext uri="{FF2B5EF4-FFF2-40B4-BE49-F238E27FC236}">
                <a16:creationId xmlns:a16="http://schemas.microsoft.com/office/drawing/2014/main" id="{6042CCD2-A127-4C15-8B89-05586E9352E6}"/>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8D7CA627-9BCF-4E76-B9F2-E6A94EA55615}"/>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922651872"/>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85D4D1-5807-4F57-A170-B4D11D3F52A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C9673514-D1CB-448A-844D-5194B17D29B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Encoding formats: design trade-offs</a:t>
            </a:r>
          </a:p>
        </p:txBody>
      </p:sp>
      <p:sp>
        <p:nvSpPr>
          <p:cNvPr id="3" name="">
            <a:extLst xmlns:a="http://schemas.openxmlformats.org/drawingml/2006/main">
              <a:ext uri="{FF2B5EF4-FFF2-40B4-BE49-F238E27FC236}">
                <a16:creationId xmlns:a16="http://schemas.microsoft.com/office/drawing/2014/main" id="{7B3FD4FF-7AEE-4AE6-B00C-56D23F0EF0C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04 / 20</a:t>
            </a:r>
          </a:p>
        </p:txBody>
      </p:sp>
      <p:sp>
        <p:nvSpPr>
          <p:cNvPr id="4" name="">
            <a:extLst xmlns:a="http://schemas.openxmlformats.org/drawingml/2006/main">
              <a:ext uri="{FF2B5EF4-FFF2-40B4-BE49-F238E27FC236}">
                <a16:creationId xmlns:a16="http://schemas.microsoft.com/office/drawing/2014/main" id="{0FEF3A9E-75F0-40CD-8DDB-91B19961A557}"/>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8D5A97"/>
                </a:solidFill>
                <a:latin typeface="Arial"/>
                <a:ea typeface="Arial"/>
                <a:cs typeface="Arial"/>
              </a:defRPr>
            </a:pPr>
            <a:r>
              <a:rPr sz="6750" b="1">
                <a:solidFill>
                  <a:srgbClr val="8D5A97"/>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8A57F29-A37F-4967-958D-44B44A808919}"/>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Text formats aid inspection but carry parsing and typing costs.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680389424"/>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7247B6-46F1-4B48-A7AC-62DE06B83E1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B00D319B-25F5-4497-9AE4-CABD4D9D42B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5-1: mechanism explained</a:t>
            </a:r>
          </a:p>
        </p:txBody>
      </p:sp>
      <p:sp>
        <p:nvSpPr>
          <p:cNvPr id="3" name="">
            <a:extLst xmlns:a="http://schemas.openxmlformats.org/drawingml/2006/main">
              <a:ext uri="{FF2B5EF4-FFF2-40B4-BE49-F238E27FC236}">
                <a16:creationId xmlns:a16="http://schemas.microsoft.com/office/drawing/2014/main" id="{3F446AF5-7E32-449F-94FB-DFE9A7681771}"/>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05 / 20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0cf65c6cb3d4118"/>
          <a:stretch xmlns:a="http://schemas.openxmlformats.org/drawingml/2006/main"/>
        </p:blipFill>
        <p:spPr>
          <a:xfrm xmlns:a="http://schemas.openxmlformats.org/drawingml/2006/main">
            <a:off x="858652" y="1285875"/>
            <a:ext cx="7074271"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20EEBB7-7A38-41D2-A9E9-A8FE244A3CEE}"/>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9A00263A-FD7D-4551-A97F-9DE551FA50C1}"/>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When an older version of the application updates data previously written by</a:t>
            </a:r>
          </a:p>
        </p:txBody>
      </p:sp>
      <p:sp>
        <p:nvSpPr>
          <p:cNvPr id="7" name="">
            <a:extLst xmlns:a="http://schemas.openxmlformats.org/drawingml/2006/main">
              <a:ext uri="{FF2B5EF4-FFF2-40B4-BE49-F238E27FC236}">
                <a16:creationId xmlns:a16="http://schemas.microsoft.com/office/drawing/2014/main" id="{641E06CD-1D0B-4631-9092-E2F264698E0B}"/>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B2D69D11-086F-4659-84FF-A6B71F5AD590}"/>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1EC58AF7-C6EB-45B6-8199-1352D27DE860}"/>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7A4A9890-D283-49AF-A9C1-EE12466CDEE2}"/>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233361071"/>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99A6B98-A22D-497B-B2B3-BC7FCD4AADC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63281EC9-5EC6-421D-8015-8342F1391DC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5-2: mechanism explained</a:t>
            </a:r>
          </a:p>
        </p:txBody>
      </p:sp>
      <p:sp>
        <p:nvSpPr>
          <p:cNvPr id="3" name="">
            <a:extLst xmlns:a="http://schemas.openxmlformats.org/drawingml/2006/main">
              <a:ext uri="{FF2B5EF4-FFF2-40B4-BE49-F238E27FC236}">
                <a16:creationId xmlns:a16="http://schemas.microsoft.com/office/drawing/2014/main" id="{43F7163B-F7B6-43EB-9F2A-A9A05C2040E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06 / 20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44a1d00bfb3498a"/>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BDBE911-C182-4F79-A728-0D3B627C84C5}"/>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F9A5D6D4-8A0A-4F97-B916-B682B86D8CF7}"/>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bytes encode field identity, type, or schema information in different ways.</a:t>
            </a:r>
          </a:p>
        </p:txBody>
      </p:sp>
      <p:sp>
        <p:nvSpPr>
          <p:cNvPr id="7" name="">
            <a:extLst xmlns:a="http://schemas.openxmlformats.org/drawingml/2006/main">
              <a:ext uri="{FF2B5EF4-FFF2-40B4-BE49-F238E27FC236}">
                <a16:creationId xmlns:a16="http://schemas.microsoft.com/office/drawing/2014/main" id="{5C55F6BF-E7E3-4E6C-988F-AC43C1335AA7}"/>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7C313C7E-57BE-43E0-9E52-30AEF8D80A22}"/>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Compatibility depends on how readers handle fields written by other schema versions.</a:t>
            </a:r>
          </a:p>
        </p:txBody>
      </p:sp>
      <p:sp>
        <p:nvSpPr>
          <p:cNvPr id="9" name="">
            <a:extLst xmlns:a="http://schemas.openxmlformats.org/drawingml/2006/main">
              <a:ext uri="{FF2B5EF4-FFF2-40B4-BE49-F238E27FC236}">
                <a16:creationId xmlns:a16="http://schemas.microsoft.com/office/drawing/2014/main" id="{778FF202-F130-4BFA-8427-62C66E37503A}"/>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E5FC14B4-B44F-4C01-BF2F-5E0BB9977C76}"/>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211948883"/>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937F31-D254-4464-A0D8-732967B6EE0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85273116-EFC1-4AA6-8E7D-165126C7948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5-3: mechanism explained</a:t>
            </a:r>
          </a:p>
        </p:txBody>
      </p:sp>
      <p:sp>
        <p:nvSpPr>
          <p:cNvPr id="3" name="">
            <a:extLst xmlns:a="http://schemas.openxmlformats.org/drawingml/2006/main">
              <a:ext uri="{FF2B5EF4-FFF2-40B4-BE49-F238E27FC236}">
                <a16:creationId xmlns:a16="http://schemas.microsoft.com/office/drawing/2014/main" id="{24297B43-FE5B-4C3C-8086-B0EFE45E579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07 / 20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bc3c9ad30344532"/>
          <a:stretch xmlns:a="http://schemas.openxmlformats.org/drawingml/2006/main"/>
        </p:blipFill>
        <p:spPr>
          <a:xfrm xmlns:a="http://schemas.openxmlformats.org/drawingml/2006/main">
            <a:off x="963355" y="1285875"/>
            <a:ext cx="686486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B59D70C-7BEC-41EF-ABC8-A1E11F5A694C}"/>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8D5ED91A-DDD9-4CED-8555-07A940B8B86F}"/>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bytes encode field identity, type, or schema information in different ways.</a:t>
            </a:r>
          </a:p>
        </p:txBody>
      </p:sp>
      <p:sp>
        <p:nvSpPr>
          <p:cNvPr id="7" name="">
            <a:extLst xmlns:a="http://schemas.openxmlformats.org/drawingml/2006/main">
              <a:ext uri="{FF2B5EF4-FFF2-40B4-BE49-F238E27FC236}">
                <a16:creationId xmlns:a16="http://schemas.microsoft.com/office/drawing/2014/main" id="{E8B45F3D-0AAE-466D-B0F3-83D4F911157F}"/>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0D1D7CD2-2239-4CD2-AE86-712EC1C405F5}"/>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Compatibility depends on how readers handle fields written by other schema versions.</a:t>
            </a:r>
          </a:p>
        </p:txBody>
      </p:sp>
      <p:sp>
        <p:nvSpPr>
          <p:cNvPr id="9" name="">
            <a:extLst xmlns:a="http://schemas.openxmlformats.org/drawingml/2006/main">
              <a:ext uri="{FF2B5EF4-FFF2-40B4-BE49-F238E27FC236}">
                <a16:creationId xmlns:a16="http://schemas.microsoft.com/office/drawing/2014/main" id="{FB454A43-6C70-48EA-AF19-2DE96E135D65}"/>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CDF19C78-4224-4C95-AD4B-F5C4EB7B8C2D}"/>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052742527"/>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62D561-BACD-4D68-827F-9D3F29B463D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164F4085-0243-40AB-823B-BADB00E275F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5-4: mechanism explained</a:t>
            </a:r>
          </a:p>
        </p:txBody>
      </p:sp>
      <p:sp>
        <p:nvSpPr>
          <p:cNvPr id="3" name="">
            <a:extLst xmlns:a="http://schemas.openxmlformats.org/drawingml/2006/main">
              <a:ext uri="{FF2B5EF4-FFF2-40B4-BE49-F238E27FC236}">
                <a16:creationId xmlns:a16="http://schemas.microsoft.com/office/drawing/2014/main" id="{FF366C24-6B54-4AD1-A2E2-7CC6A3718E8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08 / 20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fe173f623d04e63"/>
          <a:stretch xmlns:a="http://schemas.openxmlformats.org/drawingml/2006/main"/>
        </p:blipFill>
        <p:spPr>
          <a:xfrm xmlns:a="http://schemas.openxmlformats.org/drawingml/2006/main">
            <a:off x="1213210" y="1285875"/>
            <a:ext cx="636515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589C633-B2F0-498A-8929-7722FE669BB9}"/>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BF85F961-2AF8-4BCD-B4AE-478A885FEDEC}"/>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bytes encode field identity, type, or schema information in different ways.</a:t>
            </a:r>
          </a:p>
        </p:txBody>
      </p:sp>
      <p:sp>
        <p:nvSpPr>
          <p:cNvPr id="7" name="">
            <a:extLst xmlns:a="http://schemas.openxmlformats.org/drawingml/2006/main">
              <a:ext uri="{FF2B5EF4-FFF2-40B4-BE49-F238E27FC236}">
                <a16:creationId xmlns:a16="http://schemas.microsoft.com/office/drawing/2014/main" id="{C3B92021-5095-462E-9854-59ECBA827EBC}"/>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9F4EF197-CFCC-41F6-9278-91E1D224A28B}"/>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Compatibility depends on how readers handle fields written by other schema versions.</a:t>
            </a:r>
          </a:p>
        </p:txBody>
      </p:sp>
      <p:sp>
        <p:nvSpPr>
          <p:cNvPr id="9" name="">
            <a:extLst xmlns:a="http://schemas.openxmlformats.org/drawingml/2006/main">
              <a:ext uri="{FF2B5EF4-FFF2-40B4-BE49-F238E27FC236}">
                <a16:creationId xmlns:a16="http://schemas.microsoft.com/office/drawing/2014/main" id="{DA45AD70-A5AA-4F3F-8308-CF911A7F5B97}"/>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74398577-096B-4858-9DFC-BC9BFDB6A63C}"/>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524364890"/>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27D9136-BBD6-4102-9E04-4A9DE068520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A3CC5D54-4ABA-4AA2-B0C6-78A4FF50407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Compatibility</a:t>
            </a:r>
          </a:p>
        </p:txBody>
      </p:sp>
      <p:sp>
        <p:nvSpPr>
          <p:cNvPr id="3" name="">
            <a:extLst xmlns:a="http://schemas.openxmlformats.org/drawingml/2006/main">
              <a:ext uri="{FF2B5EF4-FFF2-40B4-BE49-F238E27FC236}">
                <a16:creationId xmlns:a16="http://schemas.microsoft.com/office/drawing/2014/main" id="{3559B768-4E23-459A-8A4B-A20F3358074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09 / 20</a:t>
            </a:r>
          </a:p>
        </p:txBody>
      </p:sp>
      <p:sp>
        <p:nvSpPr>
          <p:cNvPr id="4" name="">
            <a:extLst xmlns:a="http://schemas.openxmlformats.org/drawingml/2006/main">
              <a:ext uri="{FF2B5EF4-FFF2-40B4-BE49-F238E27FC236}">
                <a16:creationId xmlns:a16="http://schemas.microsoft.com/office/drawing/2014/main" id="{A49E8140-E718-4D61-8B61-7B29FDF590FF}"/>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8D5A97"/>
                </a:solidFill>
                <a:latin typeface="Arial"/>
                <a:ea typeface="Arial"/>
                <a:cs typeface="Arial"/>
              </a:defRPr>
            </a:pPr>
            <a:r>
              <a:rPr sz="6750" b="1">
                <a:solidFill>
                  <a:srgbClr val="8D5A9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DCB1626-2AB6-40B3-B53E-BDC7CF4E87EB}"/>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Backward compatibility lets new code read old data.</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Forward compatibility lets old code tolerate new data.</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Rolling upgrades require old and new versions to coexist.</a:t>
            </a:r>
          </a:p>
        </p:txBody>
      </p:sp>
      <p:sp>
        <p:nvSpPr>
          <p:cNvPr id="6" name="">
            <a:extLst xmlns:a="http://schemas.openxmlformats.org/drawingml/2006/main">
              <a:ext uri="{FF2B5EF4-FFF2-40B4-BE49-F238E27FC236}">
                <a16:creationId xmlns:a16="http://schemas.microsoft.com/office/drawing/2014/main" id="{57B90919-9C26-4A1A-B250-34B2E7B38067}"/>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F08404C6-E63A-4278-A813-8989EBE6D80A}"/>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419898993"/>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4F61E0-E222-461C-BE90-86AC3AA49F7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9A868FED-706F-41C4-84BC-357B273403B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Compatibility: design trade-offs</a:t>
            </a:r>
          </a:p>
        </p:txBody>
      </p:sp>
      <p:sp>
        <p:nvSpPr>
          <p:cNvPr id="3" name="">
            <a:extLst xmlns:a="http://schemas.openxmlformats.org/drawingml/2006/main">
              <a:ext uri="{FF2B5EF4-FFF2-40B4-BE49-F238E27FC236}">
                <a16:creationId xmlns:a16="http://schemas.microsoft.com/office/drawing/2014/main" id="{04C3BE23-B85A-4CC4-AA7C-03B0AE7AF95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10 / 20</a:t>
            </a:r>
          </a:p>
        </p:txBody>
      </p:sp>
      <p:sp>
        <p:nvSpPr>
          <p:cNvPr id="4" name="">
            <a:extLst xmlns:a="http://schemas.openxmlformats.org/drawingml/2006/main">
              <a:ext uri="{FF2B5EF4-FFF2-40B4-BE49-F238E27FC236}">
                <a16:creationId xmlns:a16="http://schemas.microsoft.com/office/drawing/2014/main" id="{482693A1-613C-4BFA-8DAB-F27A4109DB50}"/>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8D5A97"/>
                </a:solidFill>
                <a:latin typeface="Arial"/>
                <a:ea typeface="Arial"/>
                <a:cs typeface="Arial"/>
              </a:defRPr>
            </a:pPr>
            <a:r>
              <a:rPr sz="6750" b="1">
                <a:solidFill>
                  <a:srgbClr val="8D5A9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B795842-634F-400D-9661-EA0C804D9A38}"/>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Backward compatibility lets new code read old data.</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249154199"/>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5B2916A-B993-4F56-8E67-3A43B70F0CD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26F5D507-CF1C-4D71-8B66-F6D2380608A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5-5: mechanism explained</a:t>
            </a:r>
          </a:p>
        </p:txBody>
      </p:sp>
      <p:sp>
        <p:nvSpPr>
          <p:cNvPr id="3" name="">
            <a:extLst xmlns:a="http://schemas.openxmlformats.org/drawingml/2006/main">
              <a:ext uri="{FF2B5EF4-FFF2-40B4-BE49-F238E27FC236}">
                <a16:creationId xmlns:a16="http://schemas.microsoft.com/office/drawing/2014/main" id="{F616D24A-5EE1-4B5B-9E09-F9C8CF80010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11 / 20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24c555d2dbe43a1"/>
          <a:stretch xmlns:a="http://schemas.openxmlformats.org/drawingml/2006/main"/>
        </p:blipFill>
        <p:spPr>
          <a:xfrm xmlns:a="http://schemas.openxmlformats.org/drawingml/2006/main">
            <a:off x="514350" y="1355590"/>
            <a:ext cx="7762875" cy="462306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B12B7CE-77C1-4A0F-B791-6BE539BA44CA}"/>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84C62722-7A13-489A-9B86-573A9F0F8504}"/>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bytes encode field identity, type, or schema information in different ways.</a:t>
            </a:r>
          </a:p>
        </p:txBody>
      </p:sp>
      <p:sp>
        <p:nvSpPr>
          <p:cNvPr id="7" name="">
            <a:extLst xmlns:a="http://schemas.openxmlformats.org/drawingml/2006/main">
              <a:ext uri="{FF2B5EF4-FFF2-40B4-BE49-F238E27FC236}">
                <a16:creationId xmlns:a16="http://schemas.microsoft.com/office/drawing/2014/main" id="{612B9A7B-42C2-49C9-9380-A28676EF3CB9}"/>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2D9D075B-C735-4E23-8E46-569A0ECCFE8E}"/>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Compatibility depends on how readers handle fields written by other schema versions.</a:t>
            </a:r>
          </a:p>
        </p:txBody>
      </p:sp>
      <p:sp>
        <p:nvSpPr>
          <p:cNvPr id="9" name="">
            <a:extLst xmlns:a="http://schemas.openxmlformats.org/drawingml/2006/main">
              <a:ext uri="{FF2B5EF4-FFF2-40B4-BE49-F238E27FC236}">
                <a16:creationId xmlns:a16="http://schemas.microsoft.com/office/drawing/2014/main" id="{958AE27F-C883-4716-A206-884BD8AE71D2}"/>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C4B35DBF-F2F4-4EE4-8B3A-8A3DBA3E29F6}"/>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2120592729"/>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C604CF-933C-4712-9568-61A2F590BE6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AD7F0F5D-9DEA-4683-BF05-802D24F7330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5-6: mechanism explained</a:t>
            </a:r>
          </a:p>
        </p:txBody>
      </p:sp>
      <p:sp>
        <p:nvSpPr>
          <p:cNvPr id="3" name="">
            <a:extLst xmlns:a="http://schemas.openxmlformats.org/drawingml/2006/main">
              <a:ext uri="{FF2B5EF4-FFF2-40B4-BE49-F238E27FC236}">
                <a16:creationId xmlns:a16="http://schemas.microsoft.com/office/drawing/2014/main" id="{DE415B32-F883-4C5C-A4F5-245F4240D25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12 / 20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26276e125934fc6"/>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EFA7EA8-7FC5-4C0E-AAC9-B1488401744E}"/>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3F763181-A677-433A-9D89-833AACBF0E69}"/>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bytes encode field identity, type, or schema information in different ways.</a:t>
            </a:r>
          </a:p>
        </p:txBody>
      </p:sp>
      <p:sp>
        <p:nvSpPr>
          <p:cNvPr id="7" name="">
            <a:extLst xmlns:a="http://schemas.openxmlformats.org/drawingml/2006/main">
              <a:ext uri="{FF2B5EF4-FFF2-40B4-BE49-F238E27FC236}">
                <a16:creationId xmlns:a16="http://schemas.microsoft.com/office/drawing/2014/main" id="{2C2316CA-0FA8-466E-8723-C705D55FD1E2}"/>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63CA10F0-CB33-4E74-A753-811C7CCCFE4B}"/>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Compatibility depends on how readers handle fields written by other schema versions.</a:t>
            </a:r>
          </a:p>
        </p:txBody>
      </p:sp>
      <p:sp>
        <p:nvSpPr>
          <p:cNvPr id="9" name="">
            <a:extLst xmlns:a="http://schemas.openxmlformats.org/drawingml/2006/main">
              <a:ext uri="{FF2B5EF4-FFF2-40B4-BE49-F238E27FC236}">
                <a16:creationId xmlns:a16="http://schemas.microsoft.com/office/drawing/2014/main" id="{C3C758CC-F71C-4F8C-B53A-17BF45F99F42}"/>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97E4C4D8-A988-4CD9-B368-1C01C8997E79}"/>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684646048"/>
      </p:ext>
    </p:extLst>
  </p:cSld>
</p:sld>
</file>

<file path=ppt/slides/slide1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A8F031-4C92-4243-A0BF-43B1F73C1A4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69672D12-17A8-4F06-8D07-7FAB67753BF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Database dataflow</a:t>
            </a:r>
          </a:p>
        </p:txBody>
      </p:sp>
      <p:sp>
        <p:nvSpPr>
          <p:cNvPr id="3" name="">
            <a:extLst xmlns:a="http://schemas.openxmlformats.org/drawingml/2006/main">
              <a:ext uri="{FF2B5EF4-FFF2-40B4-BE49-F238E27FC236}">
                <a16:creationId xmlns:a16="http://schemas.microsoft.com/office/drawing/2014/main" id="{7D9CC374-232F-482C-840D-6E7BC62F776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13 / 20</a:t>
            </a:r>
          </a:p>
        </p:txBody>
      </p:sp>
      <p:sp>
        <p:nvSpPr>
          <p:cNvPr id="4" name="">
            <a:extLst xmlns:a="http://schemas.openxmlformats.org/drawingml/2006/main">
              <a:ext uri="{FF2B5EF4-FFF2-40B4-BE49-F238E27FC236}">
                <a16:creationId xmlns:a16="http://schemas.microsoft.com/office/drawing/2014/main" id="{1709ACE8-7F1A-4AD1-8585-00C0F4799CEB}"/>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8D5A97"/>
                </a:solidFill>
                <a:latin typeface="Arial"/>
                <a:ea typeface="Arial"/>
                <a:cs typeface="Arial"/>
              </a:defRPr>
            </a:pPr>
            <a:r>
              <a:rPr sz="6750" b="1">
                <a:solidFill>
                  <a:srgbClr val="8D5A9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F32CE9A-83D1-404C-B3FF-5CDA34BF4628}"/>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Old records may retain earlier encodings for years.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Migration can happen on write, on read, or through background rewriting.</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Schema evolution should avoid coupling a deployment to full data conversion.</a:t>
            </a:r>
          </a:p>
        </p:txBody>
      </p:sp>
      <p:sp>
        <p:nvSpPr>
          <p:cNvPr id="6" name="">
            <a:extLst xmlns:a="http://schemas.openxmlformats.org/drawingml/2006/main">
              <a:ext uri="{FF2B5EF4-FFF2-40B4-BE49-F238E27FC236}">
                <a16:creationId xmlns:a16="http://schemas.microsoft.com/office/drawing/2014/main" id="{BDE70B41-37D4-4AC1-9577-75942FC36094}"/>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7A33EBA7-6F22-4006-88F0-95CF2B326FD0}"/>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814297067"/>
      </p:ext>
    </p:extLst>
  </p:cSld>
</p:sld>
</file>

<file path=ppt/slides/slide1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25B776-634D-45D7-981D-140D9553F706}"/>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CAA5EAB5-08E5-430A-BB87-2DA2017BC31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Database dataflow: design trade-offs</a:t>
            </a:r>
          </a:p>
        </p:txBody>
      </p:sp>
      <p:sp>
        <p:nvSpPr>
          <p:cNvPr id="3" name="">
            <a:extLst xmlns:a="http://schemas.openxmlformats.org/drawingml/2006/main">
              <a:ext uri="{FF2B5EF4-FFF2-40B4-BE49-F238E27FC236}">
                <a16:creationId xmlns:a16="http://schemas.microsoft.com/office/drawing/2014/main" id="{4CD46C54-DECA-41FA-8BA5-BFCAD3E82CF1}"/>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14 / 20</a:t>
            </a:r>
          </a:p>
        </p:txBody>
      </p:sp>
      <p:sp>
        <p:nvSpPr>
          <p:cNvPr id="4" name="">
            <a:extLst xmlns:a="http://schemas.openxmlformats.org/drawingml/2006/main">
              <a:ext uri="{FF2B5EF4-FFF2-40B4-BE49-F238E27FC236}">
                <a16:creationId xmlns:a16="http://schemas.microsoft.com/office/drawing/2014/main" id="{747F7AE3-E404-47AB-912E-5B4339358AF1}"/>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8D5A97"/>
                </a:solidFill>
                <a:latin typeface="Arial"/>
                <a:ea typeface="Arial"/>
                <a:cs typeface="Arial"/>
              </a:defRPr>
            </a:pPr>
            <a:r>
              <a:rPr sz="6750" b="1">
                <a:solidFill>
                  <a:srgbClr val="8D5A9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3AB1C22-EDF0-495D-92E5-E8523C2DC82F}"/>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Old records may retain earlier encodings for years.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078570127"/>
      </p:ext>
    </p:extLst>
  </p:cSld>
</p:sld>
</file>

<file path=ppt/slides/slide1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FB253D-9080-4517-A22E-1FF93D10CE56}"/>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26EE6A5C-E134-473C-9CCF-DD15D1069ED6}"/>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Services and workflows</a:t>
            </a:r>
          </a:p>
        </p:txBody>
      </p:sp>
      <p:sp>
        <p:nvSpPr>
          <p:cNvPr id="3" name="">
            <a:extLst xmlns:a="http://schemas.openxmlformats.org/drawingml/2006/main">
              <a:ext uri="{FF2B5EF4-FFF2-40B4-BE49-F238E27FC236}">
                <a16:creationId xmlns:a16="http://schemas.microsoft.com/office/drawing/2014/main" id="{E1475505-8B50-4F64-8211-3983D47C661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15 / 20</a:t>
            </a:r>
          </a:p>
        </p:txBody>
      </p:sp>
      <p:sp>
        <p:nvSpPr>
          <p:cNvPr id="4" name="">
            <a:extLst xmlns:a="http://schemas.openxmlformats.org/drawingml/2006/main">
              <a:ext uri="{FF2B5EF4-FFF2-40B4-BE49-F238E27FC236}">
                <a16:creationId xmlns:a16="http://schemas.microsoft.com/office/drawing/2014/main" id="{2156FFB8-6340-4D87-8F93-D63C76214CE3}"/>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8D5A97"/>
                </a:solidFill>
                <a:latin typeface="Arial"/>
                <a:ea typeface="Arial"/>
                <a:cs typeface="Arial"/>
              </a:defRPr>
            </a:pPr>
            <a:r>
              <a:rPr sz="6750" b="1">
                <a:solidFill>
                  <a:srgbClr val="8D5A97"/>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BCBDF3F-2B95-41A2-9A21-8EE56AB31C68}"/>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REST emphasizes resources and shared protocols while RPC emphasizes method calls.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Interface evolution must account for independently deployed clients.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Durable workflows persist execution state and resume across failures.</a:t>
            </a:r>
          </a:p>
        </p:txBody>
      </p:sp>
      <p:sp>
        <p:nvSpPr>
          <p:cNvPr id="6" name="">
            <a:extLst xmlns:a="http://schemas.openxmlformats.org/drawingml/2006/main">
              <a:ext uri="{FF2B5EF4-FFF2-40B4-BE49-F238E27FC236}">
                <a16:creationId xmlns:a16="http://schemas.microsoft.com/office/drawing/2014/main" id="{47F7DC64-AF65-4185-A235-F43717E8FC4E}"/>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1FC5FBF6-D599-4DEA-A655-8B6DAAA19DB3}"/>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288286842"/>
      </p:ext>
    </p:extLst>
  </p:cSld>
</p:sld>
</file>

<file path=ppt/slides/slide1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DC59E6-CE40-4573-BD7E-53E140ECC8F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7F84F26B-D27A-4B60-AEAF-D2D9A122529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Services and workflows: design trade-offs</a:t>
            </a:r>
          </a:p>
        </p:txBody>
      </p:sp>
      <p:sp>
        <p:nvSpPr>
          <p:cNvPr id="3" name="">
            <a:extLst xmlns:a="http://schemas.openxmlformats.org/drawingml/2006/main">
              <a:ext uri="{FF2B5EF4-FFF2-40B4-BE49-F238E27FC236}">
                <a16:creationId xmlns:a16="http://schemas.microsoft.com/office/drawing/2014/main" id="{9E166463-171A-49AB-9C9E-EE58032989A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16 / 20</a:t>
            </a:r>
          </a:p>
        </p:txBody>
      </p:sp>
      <p:sp>
        <p:nvSpPr>
          <p:cNvPr id="4" name="">
            <a:extLst xmlns:a="http://schemas.openxmlformats.org/drawingml/2006/main">
              <a:ext uri="{FF2B5EF4-FFF2-40B4-BE49-F238E27FC236}">
                <a16:creationId xmlns:a16="http://schemas.microsoft.com/office/drawing/2014/main" id="{C13A69A6-0813-4D32-A883-B0B210237929}"/>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8D5A97"/>
                </a:solidFill>
                <a:latin typeface="Arial"/>
                <a:ea typeface="Arial"/>
                <a:cs typeface="Arial"/>
              </a:defRPr>
            </a:pPr>
            <a:r>
              <a:rPr sz="6750" b="1">
                <a:solidFill>
                  <a:srgbClr val="8D5A97"/>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BCD75D5-3E3D-4CA9-8845-FDBDF3628859}"/>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REST emphasizes resources and shared protocols while RPC emphasizes method calls.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916763855"/>
      </p:ext>
    </p:extLst>
  </p:cSld>
</p:sld>
</file>

<file path=ppt/slides/slide1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3BB370-A916-4D9F-BF40-7ADE98FFA20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5AF32901-F374-4C45-BE08-4986DBB5E27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5-7: mechanism explained</a:t>
            </a:r>
          </a:p>
        </p:txBody>
      </p:sp>
      <p:sp>
        <p:nvSpPr>
          <p:cNvPr id="3" name="">
            <a:extLst xmlns:a="http://schemas.openxmlformats.org/drawingml/2006/main">
              <a:ext uri="{FF2B5EF4-FFF2-40B4-BE49-F238E27FC236}">
                <a16:creationId xmlns:a16="http://schemas.microsoft.com/office/drawing/2014/main" id="{87B9EA3B-135B-47A4-9E81-8D2931139A05}"/>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17 / 20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be7f1434e2943ee"/>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6D4D34B-85DB-424E-B6F9-4A95D98D8CC1}"/>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A287E925-E064-4C4E-A681-C2308503D460}"/>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A durable workflow records progress across service calls, waits, and retries.</a:t>
            </a:r>
          </a:p>
        </p:txBody>
      </p:sp>
      <p:sp>
        <p:nvSpPr>
          <p:cNvPr id="7" name="">
            <a:extLst xmlns:a="http://schemas.openxmlformats.org/drawingml/2006/main">
              <a:ext uri="{FF2B5EF4-FFF2-40B4-BE49-F238E27FC236}">
                <a16:creationId xmlns:a16="http://schemas.microsoft.com/office/drawing/2014/main" id="{9757B96D-F3D8-499D-85BB-6CDC749E67ED}"/>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01FA9779-0541-4989-AFC8-E0B9B7117239}"/>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Persisted state lets execution resume after process or machine failure.</a:t>
            </a:r>
          </a:p>
        </p:txBody>
      </p:sp>
      <p:sp>
        <p:nvSpPr>
          <p:cNvPr id="9" name="">
            <a:extLst xmlns:a="http://schemas.openxmlformats.org/drawingml/2006/main">
              <a:ext uri="{FF2B5EF4-FFF2-40B4-BE49-F238E27FC236}">
                <a16:creationId xmlns:a16="http://schemas.microsoft.com/office/drawing/2014/main" id="{55B3C09C-826C-413B-AC84-61546DA6BB14}"/>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EEFD9B6-BD95-4016-8753-9E1EAE17D18D}"/>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027052853"/>
      </p:ext>
    </p:extLst>
  </p:cSld>
</p:sld>
</file>

<file path=ppt/slides/slide1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DF2ECC-AE87-49C2-ABE8-08ADBDB4BEB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2DEC4FA8-1DD6-4911-ADF9-F9E8BA93813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Event-driven systems</a:t>
            </a:r>
          </a:p>
        </p:txBody>
      </p:sp>
      <p:sp>
        <p:nvSpPr>
          <p:cNvPr id="3" name="">
            <a:extLst xmlns:a="http://schemas.openxmlformats.org/drawingml/2006/main">
              <a:ext uri="{FF2B5EF4-FFF2-40B4-BE49-F238E27FC236}">
                <a16:creationId xmlns:a16="http://schemas.microsoft.com/office/drawing/2014/main" id="{73187452-E12D-4B88-A75C-649CE2DA4FB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18 / 20</a:t>
            </a:r>
          </a:p>
        </p:txBody>
      </p:sp>
      <p:sp>
        <p:nvSpPr>
          <p:cNvPr id="4" name="">
            <a:extLst xmlns:a="http://schemas.openxmlformats.org/drawingml/2006/main">
              <a:ext uri="{FF2B5EF4-FFF2-40B4-BE49-F238E27FC236}">
                <a16:creationId xmlns:a16="http://schemas.microsoft.com/office/drawing/2014/main" id="{883E251C-65B2-4541-BB60-1C42C071A413}"/>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8D5A97"/>
                </a:solidFill>
                <a:latin typeface="Arial"/>
                <a:ea typeface="Arial"/>
                <a:cs typeface="Arial"/>
              </a:defRPr>
            </a:pPr>
            <a:r>
              <a:rPr sz="6750" b="1">
                <a:solidFill>
                  <a:srgbClr val="8D5A9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1883A22-61A1-4674-9386-E0EAF58AE12F}"/>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Messages decouple producers and consumers in time and ownership.</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Event schemas need the same compatibility discipline as stored data.</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Replay requires idempotent processing and controlled side effects.</a:t>
            </a:r>
          </a:p>
        </p:txBody>
      </p:sp>
      <p:sp>
        <p:nvSpPr>
          <p:cNvPr id="6" name="">
            <a:extLst xmlns:a="http://schemas.openxmlformats.org/drawingml/2006/main">
              <a:ext uri="{FF2B5EF4-FFF2-40B4-BE49-F238E27FC236}">
                <a16:creationId xmlns:a16="http://schemas.microsoft.com/office/drawing/2014/main" id="{0B6ED4B9-0EC7-4872-B477-6CB37F12E332}"/>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8D5A97"/>
                </a:solidFill>
                <a:latin typeface="Arial"/>
                <a:ea typeface="Arial"/>
                <a:cs typeface="Arial"/>
              </a:defRPr>
            </a:pPr>
            <a:r>
              <a:rPr sz="1200" b="1">
                <a:solidFill>
                  <a:srgbClr val="8D5A97"/>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B9D3650B-8DB9-4EC7-BAA5-D8A5ACED8900}"/>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799873864"/>
      </p:ext>
    </p:extLst>
  </p:cSld>
</p:sld>
</file>

<file path=ppt/slides/slide1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1FD8D8-F9AE-403E-AFE3-B6F229EEEBC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EFBD24D9-D28C-4C4B-8BF2-7D183C2C91D6}"/>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Event-driven systems: design trade-offs</a:t>
            </a:r>
          </a:p>
        </p:txBody>
      </p:sp>
      <p:sp>
        <p:nvSpPr>
          <p:cNvPr id="3" name="">
            <a:extLst xmlns:a="http://schemas.openxmlformats.org/drawingml/2006/main">
              <a:ext uri="{FF2B5EF4-FFF2-40B4-BE49-F238E27FC236}">
                <a16:creationId xmlns:a16="http://schemas.microsoft.com/office/drawing/2014/main" id="{F652FC72-974A-45E6-A84E-7851F0230B5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19 / 20</a:t>
            </a:r>
          </a:p>
        </p:txBody>
      </p:sp>
      <p:sp>
        <p:nvSpPr>
          <p:cNvPr id="4" name="">
            <a:extLst xmlns:a="http://schemas.openxmlformats.org/drawingml/2006/main">
              <a:ext uri="{FF2B5EF4-FFF2-40B4-BE49-F238E27FC236}">
                <a16:creationId xmlns:a16="http://schemas.microsoft.com/office/drawing/2014/main" id="{12152642-44AF-491C-BF0B-71DC236F86BE}"/>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8D5A97"/>
                </a:solidFill>
                <a:latin typeface="Arial"/>
                <a:ea typeface="Arial"/>
                <a:cs typeface="Arial"/>
              </a:defRPr>
            </a:pPr>
            <a:r>
              <a:rPr sz="6750" b="1">
                <a:solidFill>
                  <a:srgbClr val="8D5A9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0BE962F-BEC6-4CEA-A0E6-17AADEC4BF25}"/>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Messages decouple producers and consumers in time and ownership.</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350225797"/>
      </p:ext>
    </p:extLst>
  </p:cSld>
</p:sld>
</file>

<file path=ppt/slides/slide2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5744C7-3F26-43CC-AFFD-E97F62F5B0E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8D5A97"/>
                </a:solidFill>
                <a:latin typeface="Arial"/>
                <a:ea typeface="Arial"/>
                <a:cs typeface="Arial"/>
              </a:defRPr>
            </a:pPr>
            <a:r>
              <a:rPr sz="1200" b="1" spc="2">
                <a:solidFill>
                  <a:srgbClr val="8D5A97"/>
                </a:solidFill>
                <a:latin typeface="Arial"/>
                <a:ea typeface="Arial"/>
                <a:cs typeface="Arial"/>
              </a:rPr>
              <a:t>CHAPTER 05</a:t>
            </a:r>
          </a:p>
        </p:txBody>
      </p:sp>
      <p:sp>
        <p:nvSpPr>
          <p:cNvPr id="2" name="">
            <a:extLst xmlns:a="http://schemas.openxmlformats.org/drawingml/2006/main">
              <a:ext uri="{FF2B5EF4-FFF2-40B4-BE49-F238E27FC236}">
                <a16:creationId xmlns:a16="http://schemas.microsoft.com/office/drawing/2014/main" id="{05DB79B7-7BD5-4779-BF36-D972BFC22D8B}"/>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Review and application</a:t>
            </a:r>
          </a:p>
        </p:txBody>
      </p:sp>
      <p:sp>
        <p:nvSpPr>
          <p:cNvPr id="3" name="">
            <a:extLst xmlns:a="http://schemas.openxmlformats.org/drawingml/2006/main">
              <a:ext uri="{FF2B5EF4-FFF2-40B4-BE49-F238E27FC236}">
                <a16:creationId xmlns:a16="http://schemas.microsoft.com/office/drawing/2014/main" id="{90776020-C5F6-4179-9145-B5C2269ABC70}"/>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20 / 20</a:t>
            </a:r>
          </a:p>
        </p:txBody>
      </p:sp>
      <p:sp>
        <p:nvSpPr>
          <p:cNvPr id="4" name="">
            <a:extLst xmlns:a="http://schemas.openxmlformats.org/drawingml/2006/main">
              <a:ext uri="{FF2B5EF4-FFF2-40B4-BE49-F238E27FC236}">
                <a16:creationId xmlns:a16="http://schemas.microsoft.com/office/drawing/2014/main" id="{1DD2D72D-0C29-452D-9781-233AEB9B1D28}"/>
              </a:ext>
            </a:extLst>
          </p:cNvPr>
          <p:cNvSpPr>
            <a:spLocks xmlns:a="http://schemas.openxmlformats.org/drawingml/2006/main" noGrp="1"/>
          </p:cNvSpPr>
          <p:nvPr/>
        </p:nvSpPr>
        <p:spPr>
          <a:xfrm xmlns:a="http://schemas.openxmlformats.org/drawingml/2006/main">
            <a:off x="1285875" y="1666875"/>
            <a:ext cx="952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State the chapter’s central problem in one sentence.</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Choose one mechanism and list the assumptions it relies on.</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Describe a failure scenario and explain the recovery path.</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Apply one trade-off from the chapter to a system you are designing.</a:t>
            </a:r>
          </a:p>
        </p:txBody>
      </p:sp>
    </p:spTree>
    <p:extLst>
      <p:ext uri="{BB962C8B-B14F-4D97-AF65-F5344CB8AC3E}">
        <p14:creationId xmlns:p14="http://schemas.microsoft.com/office/powerpoint/2010/main" val="8263213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2026-09-27T19:47:14.5490000Z</dcterms:created>
  <dcterms:modified xsi:type="dcterms:W3CDTF">2026-09-27T19:47:14.5490000Z</dcterms:modified>
</coreProperties>
</file>