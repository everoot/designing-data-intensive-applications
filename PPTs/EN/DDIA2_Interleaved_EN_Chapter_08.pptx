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3dbdec18074b40" /><Relationship Type="http://schemas.openxmlformats.org/officeDocument/2006/relationships/extended-properties" Target="/docProps/app.xml" Id="R71bd0015c80744b6" /><Relationship Type="http://schemas.openxmlformats.org/officeDocument/2006/relationships/officeDocument" Target="/ppt/presentation.xml" Id="R3f90ea1ad843423d" /></Relationships>
</file>

<file path=ppt/presentation.xml><?xml version="1.0" encoding="utf-8"?>
<p:presentation xmlns:p="http://schemas.openxmlformats.org/presentationml/2006/main">
  <p:sldMasterIdLst>
    <p:sldMasterId xmlns:r="http://schemas.openxmlformats.org/officeDocument/2006/relationships" id="2147483648" r:id="Ra38c214050d44186"/>
  </p:sldMasterIdLst>
  <p:notesMasterIdLst>
    <p:notesMasterId xmlns:r="http://schemas.openxmlformats.org/officeDocument/2006/relationships" r:id="Rf6213e23be4d41f9"/>
  </p:notesMasterIdLst>
  <p:sldIdLst>
    <p:sldId xmlns:r="http://schemas.openxmlformats.org/officeDocument/2006/relationships" id="256" r:id="R23ab91281753488f"/>
    <p:sldId xmlns:r="http://schemas.openxmlformats.org/officeDocument/2006/relationships" id="257" r:id="R1aa515bbc2344148"/>
    <p:sldId xmlns:r="http://schemas.openxmlformats.org/officeDocument/2006/relationships" id="258" r:id="Rc3651a7371f2439e"/>
    <p:sldId xmlns:r="http://schemas.openxmlformats.org/officeDocument/2006/relationships" id="259" r:id="R187414f72a16482f"/>
    <p:sldId xmlns:r="http://schemas.openxmlformats.org/officeDocument/2006/relationships" id="260" r:id="Rff286bb29bfd4019"/>
    <p:sldId xmlns:r="http://schemas.openxmlformats.org/officeDocument/2006/relationships" id="261" r:id="R6568fbf7d71341c7"/>
    <p:sldId xmlns:r="http://schemas.openxmlformats.org/officeDocument/2006/relationships" id="262" r:id="R6b56a891580b4ffe"/>
    <p:sldId xmlns:r="http://schemas.openxmlformats.org/officeDocument/2006/relationships" id="263" r:id="R7fa3cf1dbbaf4fc5"/>
    <p:sldId xmlns:r="http://schemas.openxmlformats.org/officeDocument/2006/relationships" id="264" r:id="R6cb6174085b843f2"/>
    <p:sldId xmlns:r="http://schemas.openxmlformats.org/officeDocument/2006/relationships" id="265" r:id="R3b9563d48ddd459e"/>
    <p:sldId xmlns:r="http://schemas.openxmlformats.org/officeDocument/2006/relationships" id="266" r:id="Rb23e350170764d5c"/>
    <p:sldId xmlns:r="http://schemas.openxmlformats.org/officeDocument/2006/relationships" id="267" r:id="Rfa8ee5957b444958"/>
    <p:sldId xmlns:r="http://schemas.openxmlformats.org/officeDocument/2006/relationships" id="268" r:id="Rb878dd89f79c41df"/>
    <p:sldId xmlns:r="http://schemas.openxmlformats.org/officeDocument/2006/relationships" id="269" r:id="Rca98ebeec29f458b"/>
    <p:sldId xmlns:r="http://schemas.openxmlformats.org/officeDocument/2006/relationships" id="270" r:id="R0f1e2212e7044c23"/>
    <p:sldId xmlns:r="http://schemas.openxmlformats.org/officeDocument/2006/relationships" id="271" r:id="R9d014bca2c644c5f"/>
    <p:sldId xmlns:r="http://schemas.openxmlformats.org/officeDocument/2006/relationships" id="272" r:id="R9fb0bc994eb04fe6"/>
    <p:sldId xmlns:r="http://schemas.openxmlformats.org/officeDocument/2006/relationships" id="273" r:id="R5a9c7c061dc8452a"/>
    <p:sldId xmlns:r="http://schemas.openxmlformats.org/officeDocument/2006/relationships" id="274" r:id="R8076c90760904ac0"/>
    <p:sldId xmlns:r="http://schemas.openxmlformats.org/officeDocument/2006/relationships" id="275" r:id="R7bc44a2e7b5342b8"/>
    <p:sldId xmlns:r="http://schemas.openxmlformats.org/officeDocument/2006/relationships" id="276" r:id="Rc2c4f65f7e924cda"/>
    <p:sldId xmlns:r="http://schemas.openxmlformats.org/officeDocument/2006/relationships" id="277" r:id="Rd8464f3037d9437a"/>
    <p:sldId xmlns:r="http://schemas.openxmlformats.org/officeDocument/2006/relationships" id="278" r:id="R587e7a6e995741dc"/>
    <p:sldId xmlns:r="http://schemas.openxmlformats.org/officeDocument/2006/relationships" id="279" r:id="R04d672cc0b8d47fa"/>
    <p:sldId xmlns:r="http://schemas.openxmlformats.org/officeDocument/2006/relationships" id="280" r:id="Ra52ce294f8574a33"/>
    <p:sldId xmlns:r="http://schemas.openxmlformats.org/officeDocument/2006/relationships" id="281" r:id="R18d28a0ee0bd4698"/>
    <p:sldId xmlns:r="http://schemas.openxmlformats.org/officeDocument/2006/relationships" id="282" r:id="R54c724a19bbb4b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5715e7023b4021" /><Relationship Type="http://schemas.openxmlformats.org/officeDocument/2006/relationships/slideMaster" Target="/ppt/slideMasters/slideMaster1.xml" Id="Ra38c214050d44186" /><Relationship Type="http://schemas.openxmlformats.org/officeDocument/2006/relationships/notesMaster" Target="/ppt/notesMasters/notesMaster1.xml" Id="Rf6213e23be4d41f9" /><Relationship Type="http://schemas.openxmlformats.org/officeDocument/2006/relationships/presProps" Target="/ppt/presProps.xml" Id="R8a45a4d10e784762" /><Relationship Type="http://schemas.openxmlformats.org/officeDocument/2006/relationships/tableStyles" Target="/ppt/tableStyles.xml" Id="Rb2f8cf598688427e" /><Relationship Type="http://schemas.openxmlformats.org/officeDocument/2006/relationships/slide" Target="/ppt/slides/slide1.xml" Id="R23ab91281753488f" /><Relationship Type="http://schemas.openxmlformats.org/officeDocument/2006/relationships/slide" Target="/ppt/slides/slide2.xml" Id="R1aa515bbc2344148" /><Relationship Type="http://schemas.openxmlformats.org/officeDocument/2006/relationships/slide" Target="/ppt/slides/slide3.xml" Id="Rc3651a7371f2439e" /><Relationship Type="http://schemas.openxmlformats.org/officeDocument/2006/relationships/slide" Target="/ppt/slides/slide4.xml" Id="R187414f72a16482f" /><Relationship Type="http://schemas.openxmlformats.org/officeDocument/2006/relationships/slide" Target="/ppt/slides/slide5.xml" Id="Rff286bb29bfd4019" /><Relationship Type="http://schemas.openxmlformats.org/officeDocument/2006/relationships/slide" Target="/ppt/slides/slide6.xml" Id="R6568fbf7d71341c7" /><Relationship Type="http://schemas.openxmlformats.org/officeDocument/2006/relationships/slide" Target="/ppt/slides/slide7.xml" Id="R6b56a891580b4ffe" /><Relationship Type="http://schemas.openxmlformats.org/officeDocument/2006/relationships/slide" Target="/ppt/slides/slide8.xml" Id="R7fa3cf1dbbaf4fc5" /><Relationship Type="http://schemas.openxmlformats.org/officeDocument/2006/relationships/slide" Target="/ppt/slides/slide9.xml" Id="R6cb6174085b843f2" /><Relationship Type="http://schemas.openxmlformats.org/officeDocument/2006/relationships/slide" Target="/ppt/slides/slide10.xml" Id="R3b9563d48ddd459e" /><Relationship Type="http://schemas.openxmlformats.org/officeDocument/2006/relationships/slide" Target="/ppt/slides/slide11.xml" Id="Rb23e350170764d5c" /><Relationship Type="http://schemas.openxmlformats.org/officeDocument/2006/relationships/slide" Target="/ppt/slides/slide12.xml" Id="Rfa8ee5957b444958" /><Relationship Type="http://schemas.openxmlformats.org/officeDocument/2006/relationships/slide" Target="/ppt/slides/slide13.xml" Id="Rb878dd89f79c41df" /><Relationship Type="http://schemas.openxmlformats.org/officeDocument/2006/relationships/slide" Target="/ppt/slides/slide14.xml" Id="Rca98ebeec29f458b" /><Relationship Type="http://schemas.openxmlformats.org/officeDocument/2006/relationships/slide" Target="/ppt/slides/slide15.xml" Id="R0f1e2212e7044c23" /><Relationship Type="http://schemas.openxmlformats.org/officeDocument/2006/relationships/slide" Target="/ppt/slides/slide16.xml" Id="R9d014bca2c644c5f" /><Relationship Type="http://schemas.openxmlformats.org/officeDocument/2006/relationships/slide" Target="/ppt/slides/slide17.xml" Id="R9fb0bc994eb04fe6" /><Relationship Type="http://schemas.openxmlformats.org/officeDocument/2006/relationships/slide" Target="/ppt/slides/slide18.xml" Id="R5a9c7c061dc8452a" /><Relationship Type="http://schemas.openxmlformats.org/officeDocument/2006/relationships/slide" Target="/ppt/slides/slide19.xml" Id="R8076c90760904ac0" /><Relationship Type="http://schemas.openxmlformats.org/officeDocument/2006/relationships/slide" Target="/ppt/slides/slide20.xml" Id="R7bc44a2e7b5342b8" /><Relationship Type="http://schemas.openxmlformats.org/officeDocument/2006/relationships/slide" Target="/ppt/slides/slide21.xml" Id="Rc2c4f65f7e924cda" /><Relationship Type="http://schemas.openxmlformats.org/officeDocument/2006/relationships/slide" Target="/ppt/slides/slide22.xml" Id="Rd8464f3037d9437a" /><Relationship Type="http://schemas.openxmlformats.org/officeDocument/2006/relationships/slide" Target="/ppt/slides/slide23.xml" Id="R587e7a6e995741dc" /><Relationship Type="http://schemas.openxmlformats.org/officeDocument/2006/relationships/slide" Target="/ppt/slides/slide24.xml" Id="R04d672cc0b8d47fa" /><Relationship Type="http://schemas.openxmlformats.org/officeDocument/2006/relationships/slide" Target="/ppt/slides/slide25.xml" Id="Ra52ce294f8574a33" /><Relationship Type="http://schemas.openxmlformats.org/officeDocument/2006/relationships/slide" Target="/ppt/slides/slide26.xml" Id="R18d28a0ee0bd4698" /><Relationship Type="http://schemas.openxmlformats.org/officeDocument/2006/relationships/slide" Target="/ppt/slides/slide27.xml" Id="R54c724a19bbb4b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e18a69e8bf4c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41e7ae945e4864" /><Relationship Type="http://schemas.openxmlformats.org/officeDocument/2006/relationships/notesMaster" Target="/ppt/notesMasters/notesMaster1.xml" Id="Rb5c727eb215748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f64ebc7b41455c" /><Relationship Type="http://schemas.openxmlformats.org/officeDocument/2006/relationships/notesMaster" Target="/ppt/notesMasters/notesMaster1.xml" Id="R62c2dc01b2e145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7b5a3557ab4ce9" /><Relationship Type="http://schemas.openxmlformats.org/officeDocument/2006/relationships/notesMaster" Target="/ppt/notesMasters/notesMaster1.xml" Id="Rb8591e155b4448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a139b5806e4ab5" /><Relationship Type="http://schemas.openxmlformats.org/officeDocument/2006/relationships/notesMaster" Target="/ppt/notesMasters/notesMaster1.xml" Id="R606c15321c0547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6956bee0b04600" /><Relationship Type="http://schemas.openxmlformats.org/officeDocument/2006/relationships/notesMaster" Target="/ppt/notesMasters/notesMaster1.xml" Id="Ree139d0c26b448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83e20d38ed45b7" /><Relationship Type="http://schemas.openxmlformats.org/officeDocument/2006/relationships/notesMaster" Target="/ppt/notesMasters/notesMaster1.xml" Id="R6d55e2bab38d4d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c5b1a7e172436d" /><Relationship Type="http://schemas.openxmlformats.org/officeDocument/2006/relationships/notesMaster" Target="/ppt/notesMasters/notesMaster1.xml" Id="Rea29a261277f4b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a5cca00c3543ae" /><Relationship Type="http://schemas.openxmlformats.org/officeDocument/2006/relationships/notesMaster" Target="/ppt/notesMasters/notesMaster1.xml" Id="Rcff97477b32c4d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1c61602603453c" /><Relationship Type="http://schemas.openxmlformats.org/officeDocument/2006/relationships/notesMaster" Target="/ppt/notesMasters/notesMaster1.xml" Id="Rae7ad6917c4041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14b769ac7143a8" /><Relationship Type="http://schemas.openxmlformats.org/officeDocument/2006/relationships/notesMaster" Target="/ppt/notesMasters/notesMaster1.xml" Id="R6169fe653d13425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eb399eb9eb4496" /><Relationship Type="http://schemas.openxmlformats.org/officeDocument/2006/relationships/notesMaster" Target="/ppt/notesMasters/notesMaster1.xml" Id="Rd0f1e8462b8f48b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0568ecd8aa94b0e" /><Relationship Type="http://schemas.openxmlformats.org/officeDocument/2006/relationships/notesMaster" Target="/ppt/notesMasters/notesMaster1.xml" Id="R2871449b94b44b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fe75990970c481f" /><Relationship Type="http://schemas.openxmlformats.org/officeDocument/2006/relationships/notesMaster" Target="/ppt/notesMasters/notesMaster1.xml" Id="R9f106c690d514b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01c601387fa4649" /><Relationship Type="http://schemas.openxmlformats.org/officeDocument/2006/relationships/notesMaster" Target="/ppt/notesMasters/notesMaster1.xml" Id="R9b5edb665031432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ceba2db6da04047" /><Relationship Type="http://schemas.openxmlformats.org/officeDocument/2006/relationships/notesMaster" Target="/ppt/notesMasters/notesMaster1.xml" Id="R285c2432511a4eb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944f3c19902462a" /><Relationship Type="http://schemas.openxmlformats.org/officeDocument/2006/relationships/notesMaster" Target="/ppt/notesMasters/notesMaster1.xml" Id="Rd70493272cc2437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6fbd79d7864463e" /><Relationship Type="http://schemas.openxmlformats.org/officeDocument/2006/relationships/notesMaster" Target="/ppt/notesMasters/notesMaster1.xml" Id="Rd806092d6d1e40e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3a2b4960f7d487b" /><Relationship Type="http://schemas.openxmlformats.org/officeDocument/2006/relationships/notesMaster" Target="/ppt/notesMasters/notesMaster1.xml" Id="Re270c130fc524a3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f349f7632de4357" /><Relationship Type="http://schemas.openxmlformats.org/officeDocument/2006/relationships/notesMaster" Target="/ppt/notesMasters/notesMaster1.xml" Id="R49b6a987f40345d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727787061cd4f70" /><Relationship Type="http://schemas.openxmlformats.org/officeDocument/2006/relationships/notesMaster" Target="/ppt/notesMasters/notesMaster1.xml" Id="R11a5f8e0c02041a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9a3d85c5ad9476e" /><Relationship Type="http://schemas.openxmlformats.org/officeDocument/2006/relationships/notesMaster" Target="/ppt/notesMasters/notesMaster1.xml" Id="Rce03acef07df45e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180a2951051405a" /><Relationship Type="http://schemas.openxmlformats.org/officeDocument/2006/relationships/notesMaster" Target="/ppt/notesMasters/notesMaster1.xml" Id="R7b064f31e9e14e1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233cc9f5895494d" /><Relationship Type="http://schemas.openxmlformats.org/officeDocument/2006/relationships/notesMaster" Target="/ppt/notesMasters/notesMaster1.xml" Id="R93b97ed0a004434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156f11286994796" /><Relationship Type="http://schemas.openxmlformats.org/officeDocument/2006/relationships/notesMaster" Target="/ppt/notesMasters/notesMaster1.xml" Id="R40b15950fed8454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5053da711fa40b5" /><Relationship Type="http://schemas.openxmlformats.org/officeDocument/2006/relationships/notesMaster" Target="/ppt/notesMasters/notesMaster1.xml" Id="Rb7c6f062f39b47e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1a4bca691414c02" /><Relationship Type="http://schemas.openxmlformats.org/officeDocument/2006/relationships/notesMaster" Target="/ppt/notesMasters/notesMaster1.xml" Id="Rfa17b4dd639544f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46c67f159d34ff6" /><Relationship Type="http://schemas.openxmlformats.org/officeDocument/2006/relationships/notesMaster" Target="/ppt/notesMasters/notesMaster1.xml" Id="R297cc8fcca2d4d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Figure 8-1, PDF page 306. Original caption: Figure 8-1. A race condition between two clients concurrently incrementing a counter</a:t>
            </a:r>
          </a:p>
          <a:p xmlns:a="http://schemas.openxmlformats.org/drawingml/2006/main">
            <a:r>
              <a:t>Explanation: A race condition between two clients concurrently incrementing a counter It turns the chapter concept into a concrete dataflow, timeline, or state transition. Check the actors, data direction, operation order, and hidden system assumptions.</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Figure 8-2, PDF page 309. Original caption: Figure 8-2. Violating isolation: one transaction reads another transaction’s uncommitted</a:t>
            </a:r>
          </a:p>
          <a:p xmlns:a="http://schemas.openxmlformats.org/drawingml/2006/main">
            <a:r>
              <a:t>Explanation: Violating isolation: one transaction reads another transaction’s uncommitted It turns the chapter concept into a concrete dataflow, timeline, or state transition. Check the actors, data direction, operation order, and hidden system assumptions.</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Figure 8-3, PDF page 309. Original caption: Figure 8-3. Atomicity ensures that if an error occurs, any prior writes from that transac‐</a:t>
            </a:r>
          </a:p>
          <a:p xmlns:a="http://schemas.openxmlformats.org/drawingml/2006/main">
            <a:r>
              <a:t>Explanation: Atomicity ensures that if an error occurs, any prior writes from that transac‐ It turns the chapter concept into a concrete dataflow, timeline, or state transition. Check the actors, data direction, operation order, and hidden system assumptions.</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Figure 8-4, PDF page 314. Original caption: Figure 8-4. No dirty reads: user 2 sees the new value for x only after user 1’s transaction</a:t>
            </a:r>
          </a:p>
          <a:p xmlns:a="http://schemas.openxmlformats.org/drawingml/2006/main">
            <a:r>
              <a:t>Explanation: The timeline shows one transaction observing an intermediate or inconsistent state. Isolation rules must prevent states that no valid serial execution could expose.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Figure 8-5, PDF page 316. Original caption: Figure 8-5. With dirty writes, conflicting writes from different transactions can be mixed</a:t>
            </a:r>
          </a:p>
          <a:p xmlns:a="http://schemas.openxmlformats.org/drawingml/2006/main">
            <a:r>
              <a:t>Explanation: Several writers create concurrent versions that may arrive in different orders. Resolution must preserve intent; last-write-wins can silently discard valid work.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Figure 8-6, PDF page 318. Original caption: Figure 8-6. Read skew: Aaliyah observes the database in an inconsistent state</a:t>
            </a:r>
          </a:p>
          <a:p xmlns:a="http://schemas.openxmlformats.org/drawingml/2006/main">
            <a:r>
              <a:t>Explanation: The timeline shows one transaction observing an intermediate or inconsistent state. Isolation rules must prevent states that no valid serial execution could expose.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Figure 8-7, PDF page 320. Original caption: Figure 8-7. Implementing snapshot isolation using multiversion concurrency control</a:t>
            </a:r>
          </a:p>
          <a:p xmlns:a="http://schemas.openxmlformats.org/drawingml/2006/main">
            <a:r>
              <a:t>Explanation: Concurrent transactions read snapshots and create dependencies that may form an anomaly. MVCC improves concurrency, while conflict detection or serialization protects invariants.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Figure 8-8, PDF page 328. Original caption: Figure 8-8. A write skew causing an application bug</a:t>
            </a:r>
          </a:p>
          <a:p xmlns:a="http://schemas.openxmlformats.org/drawingml/2006/main">
            <a:r>
              <a:t>Explanation: Concurrent transactions read snapshots and create dependencies that may form an anomaly. MVCC improves concurrency, while conflict detection or serialization protects invariants.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Figure 8-9, PDF page 334. Original caption: Figure 8-9. Provided that all data required by a transaction is in memory, the stored</a:t>
            </a:r>
          </a:p>
          <a:p xmlns:a="http://schemas.openxmlformats.org/drawingml/2006/main">
            <a:r>
              <a:t>Explanation: Provided that all data required by a transaction is in memory, the stored It turns the chapter concept into a concrete dataflow, timeline, or state transition. Check the actors, data direction, operation order, and hidden system assumptions.</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Figure 8-10, PDF page 344. Original caption: Figure 8-10. Detecting when a transaction reads outdated values from an MVCC</a:t>
            </a:r>
          </a:p>
          <a:p xmlns:a="http://schemas.openxmlformats.org/drawingml/2006/main">
            <a:r>
              <a:t>Explanation: Concurrent transactions read snapshots and create dependencies that may form an anomaly. MVCC improves concurrency, while conflict detection or serialization protects invariants.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Figure 8-11, PDF page 345. Original caption: Figure 8-11. In serializable snapshot isolation, detecting when one transaction modifies</a:t>
            </a:r>
          </a:p>
          <a:p xmlns:a="http://schemas.openxmlformats.org/drawingml/2006/main">
            <a:r>
              <a:t>Explanation: Concurrent transactions read snapshots and create dependencies that may form an anomaly. MVCC improves concurrency, while conflict detection or serialization protects invariants.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Figure 8-12, PDF page 348. Original caption: Figure 8-12. When a transaction involves multiple database nodes, it may commit on</a:t>
            </a:r>
          </a:p>
          <a:p xmlns:a="http://schemas.openxmlformats.org/drawingml/2006/main">
            <a:r>
              <a:t>Explanation: When a transaction involves multiple database nodes, it may commit on It turns the chapter concept into a concrete dataflow, timeline, or state transition. Check the actors, data direction, operation order, and hidden system assumptions.</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Figure 8-13, PDF page 349. Original caption: Figure 8-13. A successful execution of 2PC</a:t>
            </a:r>
          </a:p>
          <a:p xmlns:a="http://schemas.openxmlformats.org/drawingml/2006/main">
            <a:r>
              <a:t>Explanation: Participants prepare first, then follow one final commit or abort decision. A coordinator failure after prepare can leave participants blocked and holding resources.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Figure 8-14, PDF page 352. Original caption: Figure 8-14. The coordinator crashes after participants vote yes. Database 1 does not</a:t>
            </a:r>
          </a:p>
          <a:p xmlns:a="http://schemas.openxmlformats.org/drawingml/2006/main">
            <a:r>
              <a:t>Explanation: Participants prepare first, then follow one final commit or abort decision. A coordinator failure after prepare can leave participants blocked and holding resources.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8, book pages 277-335.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6158e2843044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7c94ba17134390" /><Relationship Type="http://schemas.openxmlformats.org/officeDocument/2006/relationships/slideLayout" Target="/ppt/slideLayouts/slideLayout1.xml" Id="R07cedf04e7b548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cedf04e7b548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c563458fc01450c" /><Relationship Type="http://schemas.openxmlformats.org/officeDocument/2006/relationships/notesSlide" Target="/ppt/notesSlides/notesSlide1.xml" Id="R726851795ed647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c025574154d48c6" /><Relationship Type="http://schemas.openxmlformats.org/officeDocument/2006/relationships/notesSlide" Target="/ppt/notesSlides/notesSlide2.xml" Id="Rff396256da3844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7f115c1aa3b476a" /><Relationship Type="http://schemas.openxmlformats.org/officeDocument/2006/relationships/notesSlide" Target="/ppt/notesSlides/notesSlide3.xml" Id="R27294b14b2d547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fe861cd452d45ab" /><Relationship Type="http://schemas.openxmlformats.org/officeDocument/2006/relationships/notesSlide" Target="/ppt/notesSlides/notesSlide4.xml" Id="R35cac21df6ad42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73fa02424c4b46" /><Relationship Type="http://schemas.openxmlformats.org/officeDocument/2006/relationships/image" Target="/ppt/media/image.png" Id="R58d80ca291864858" /><Relationship Type="http://schemas.openxmlformats.org/officeDocument/2006/relationships/notesSlide" Target="/ppt/notesSlides/notesSlide5.xml" Id="R463b6c1ade1547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1c7f82d0d64ffc" /><Relationship Type="http://schemas.openxmlformats.org/officeDocument/2006/relationships/image" Target="/ppt/media/image2.png" Id="Rbddc63b413b3493a" /><Relationship Type="http://schemas.openxmlformats.org/officeDocument/2006/relationships/notesSlide" Target="/ppt/notesSlides/notesSlide6.xml" Id="R745087e642514c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9781ce2c98f414b" /><Relationship Type="http://schemas.openxmlformats.org/officeDocument/2006/relationships/image" Target="/ppt/media/image3.png" Id="R1885f5a6c1c7431c" /><Relationship Type="http://schemas.openxmlformats.org/officeDocument/2006/relationships/notesSlide" Target="/ppt/notesSlides/notesSlide7.xml" Id="R8aff0db403f34a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aad95053ea84556" /><Relationship Type="http://schemas.openxmlformats.org/officeDocument/2006/relationships/notesSlide" Target="/ppt/notesSlides/notesSlide8.xml" Id="R4999a22fa0b145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0608f29240c4f46" /><Relationship Type="http://schemas.openxmlformats.org/officeDocument/2006/relationships/notesSlide" Target="/ppt/notesSlides/notesSlide9.xml" Id="Rf5b95aa6dc9542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35a46f6b9004ecd" /><Relationship Type="http://schemas.openxmlformats.org/officeDocument/2006/relationships/image" Target="/ppt/media/image4.png" Id="R5b5ad37409d84b9d" /><Relationship Type="http://schemas.openxmlformats.org/officeDocument/2006/relationships/notesSlide" Target="/ppt/notesSlides/notesSlide10.xml" Id="R9b632a7fbe78423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6b6ca1047124062" /><Relationship Type="http://schemas.openxmlformats.org/officeDocument/2006/relationships/image" Target="/ppt/media/image5.png" Id="R75ae8c7710de48b0" /><Relationship Type="http://schemas.openxmlformats.org/officeDocument/2006/relationships/notesSlide" Target="/ppt/notesSlides/notesSlide11.xml" Id="R2f53b5a6487d4f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af51c627ec545ce" /><Relationship Type="http://schemas.openxmlformats.org/officeDocument/2006/relationships/image" Target="/ppt/media/image6.png" Id="R29421dff9fc84a66" /><Relationship Type="http://schemas.openxmlformats.org/officeDocument/2006/relationships/notesSlide" Target="/ppt/notesSlides/notesSlide12.xml" Id="R9ac2b043ec7f455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6784477d6684f6d" /><Relationship Type="http://schemas.openxmlformats.org/officeDocument/2006/relationships/image" Target="/ppt/media/image7.png" Id="R9b7c5c184afc4506" /><Relationship Type="http://schemas.openxmlformats.org/officeDocument/2006/relationships/notesSlide" Target="/ppt/notesSlides/notesSlide13.xml" Id="Rda7001d1107843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478d10b837a4e9c" /><Relationship Type="http://schemas.openxmlformats.org/officeDocument/2006/relationships/image" Target="/ppt/media/image8.png" Id="R9cff7659436847db" /><Relationship Type="http://schemas.openxmlformats.org/officeDocument/2006/relationships/notesSlide" Target="/ppt/notesSlides/notesSlide14.xml" Id="R30aaada8880a4c7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9ad9571ff7544c1" /><Relationship Type="http://schemas.openxmlformats.org/officeDocument/2006/relationships/notesSlide" Target="/ppt/notesSlides/notesSlide15.xml" Id="R296a8785b2bc480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a0fccf54de548f2" /><Relationship Type="http://schemas.openxmlformats.org/officeDocument/2006/relationships/notesSlide" Target="/ppt/notesSlides/notesSlide16.xml" Id="R30708c30d8e5485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4c0d28454c74831" /><Relationship Type="http://schemas.openxmlformats.org/officeDocument/2006/relationships/image" Target="/ppt/media/image9.png" Id="R4d371efe4c4947eb" /><Relationship Type="http://schemas.openxmlformats.org/officeDocument/2006/relationships/notesSlide" Target="/ppt/notesSlides/notesSlide17.xml" Id="R8e95781102ad493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098fbc6166c4b23" /><Relationship Type="http://schemas.openxmlformats.org/officeDocument/2006/relationships/image" Target="/ppt/media/image10.png" Id="R1a6ef2f8acc84400" /><Relationship Type="http://schemas.openxmlformats.org/officeDocument/2006/relationships/notesSlide" Target="/ppt/notesSlides/notesSlide18.xml" Id="Rd065665b646a4ef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f5f7d1359284193" /><Relationship Type="http://schemas.openxmlformats.org/officeDocument/2006/relationships/image" Target="/ppt/media/image11.png" Id="Rbb67f122b31d416b" /><Relationship Type="http://schemas.openxmlformats.org/officeDocument/2006/relationships/notesSlide" Target="/ppt/notesSlides/notesSlide19.xml" Id="Rfa32432de0894e9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ee7302d66e943e6" /><Relationship Type="http://schemas.openxmlformats.org/officeDocument/2006/relationships/notesSlide" Target="/ppt/notesSlides/notesSlide20.xml" Id="R2c50f38585e7473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fd685aa8e814c06" /><Relationship Type="http://schemas.openxmlformats.org/officeDocument/2006/relationships/notesSlide" Target="/ppt/notesSlides/notesSlide21.xml" Id="R64f3ebdeb0e9428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1b57b2ad6864a2b" /><Relationship Type="http://schemas.openxmlformats.org/officeDocument/2006/relationships/image" Target="/ppt/media/image12.png" Id="R515125d0545e449f" /><Relationship Type="http://schemas.openxmlformats.org/officeDocument/2006/relationships/notesSlide" Target="/ppt/notesSlides/notesSlide22.xml" Id="R059a0fc511c3425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5145e3e180c4f53" /><Relationship Type="http://schemas.openxmlformats.org/officeDocument/2006/relationships/image" Target="/ppt/media/image13.png" Id="R49cda3bc42294d58" /><Relationship Type="http://schemas.openxmlformats.org/officeDocument/2006/relationships/notesSlide" Target="/ppt/notesSlides/notesSlide23.xml" Id="R6f89931e05d44d1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89a4fac544141a6" /><Relationship Type="http://schemas.openxmlformats.org/officeDocument/2006/relationships/image" Target="/ppt/media/image14.png" Id="R702319b383af4f8c" /><Relationship Type="http://schemas.openxmlformats.org/officeDocument/2006/relationships/notesSlide" Target="/ppt/notesSlides/notesSlide24.xml" Id="R21c4db4331024b4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4aab0dde9444e12" /><Relationship Type="http://schemas.openxmlformats.org/officeDocument/2006/relationships/notesSlide" Target="/ppt/notesSlides/notesSlide25.xml" Id="R1565d95e5e504fd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202bc6f5f1b431e" /><Relationship Type="http://schemas.openxmlformats.org/officeDocument/2006/relationships/notesSlide" Target="/ppt/notesSlides/notesSlide26.xml" Id="R436eb372905d4b2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3f827d4bb61474f" /><Relationship Type="http://schemas.openxmlformats.org/officeDocument/2006/relationships/notesSlide" Target="/ppt/notesSlides/notesSlide27.xml" Id="R2fee16b2542245f4"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2E55EFA-239D-40FA-99AD-235F95EEF7FA}"/>
              </a:ext>
            </a:extLst>
          </p:cNvPr>
          <p:cNvSpPr>
            <a:spLocks xmlns:a="http://schemas.openxmlformats.org/drawingml/2006/main" noGrp="1"/>
          </p:cNvSpPr>
          <p:nvPr/>
        </p:nvSpPr>
        <p:spPr>
          <a:xfrm xmlns:a="http://schemas.openxmlformats.org/drawingml/2006/main">
            <a:off x="714375" y="666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spc="2">
                <a:solidFill>
                  <a:srgbClr val="FF7F11"/>
                </a:solidFill>
                <a:latin typeface="Arial"/>
                <a:ea typeface="Arial"/>
                <a:cs typeface="Arial"/>
              </a:defRPr>
            </a:pPr>
            <a:r>
              <a:rPr sz="1425"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635DC0A3-DD36-416C-9170-2D33FD3191CA}"/>
              </a:ext>
            </a:extLst>
          </p:cNvPr>
          <p:cNvSpPr>
            <a:spLocks xmlns:a="http://schemas.openxmlformats.org/drawingml/2006/main" noGrp="1"/>
          </p:cNvSpPr>
          <p:nvPr/>
        </p:nvSpPr>
        <p:spPr>
          <a:xfrm xmlns:a="http://schemas.openxmlformats.org/drawingml/2006/main">
            <a:off x="714375" y="1571625"/>
            <a:ext cx="1028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Transactions</a:t>
            </a:r>
          </a:p>
        </p:txBody>
      </p:sp>
      <p:sp>
        <p:nvSpPr>
          <p:cNvPr id="3" name="">
            <a:extLst xmlns:a="http://schemas.openxmlformats.org/drawingml/2006/main">
              <a:ext uri="{FF2B5EF4-FFF2-40B4-BE49-F238E27FC236}">
                <a16:creationId xmlns:a16="http://schemas.microsoft.com/office/drawing/2014/main" id="{D9865966-FDF7-49DA-8210-EB95795DEEFB}"/>
              </a:ext>
            </a:extLst>
          </p:cNvPr>
          <p:cNvSpPr>
            <a:spLocks xmlns:a="http://schemas.openxmlformats.org/drawingml/2006/main" noGrp="1"/>
          </p:cNvSpPr>
          <p:nvPr/>
        </p:nvSpPr>
        <p:spPr>
          <a:xfrm xmlns:a="http://schemas.openxmlformats.org/drawingml/2006/main">
            <a:off x="742950" y="2809875"/>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D9E2EC"/>
                </a:solidFill>
                <a:latin typeface="Arial"/>
                <a:ea typeface="Arial"/>
                <a:cs typeface="Arial"/>
              </a:defRPr>
            </a:pPr>
            <a:r>
              <a:rPr sz="1725">
                <a:solidFill>
                  <a:srgbClr val="D9E2EC"/>
                </a:solidFill>
                <a:latin typeface="Arial"/>
                <a:ea typeface="Arial"/>
                <a:cs typeface="Arial"/>
              </a:rPr>
              <a:t>Designing Data-Intensive Applications, Second Edition</a:t>
            </a:r>
          </a:p>
        </p:txBody>
      </p:sp>
      <p:sp>
        <p:nvSpPr>
          <p:cNvPr id="4" name="">
            <a:extLst xmlns:a="http://schemas.openxmlformats.org/drawingml/2006/main">
              <a:ext uri="{FF2B5EF4-FFF2-40B4-BE49-F238E27FC236}">
                <a16:creationId xmlns:a16="http://schemas.microsoft.com/office/drawing/2014/main" id="{58CA0276-0CF9-442E-B1BE-2EA7D23BE969}"/>
              </a:ext>
            </a:extLst>
          </p:cNvPr>
          <p:cNvSpPr>
            <a:spLocks xmlns:a="http://schemas.openxmlformats.org/drawingml/2006/main" noGrp="1"/>
          </p:cNvSpPr>
          <p:nvPr/>
        </p:nvSpPr>
        <p:spPr>
          <a:xfrm xmlns:a="http://schemas.openxmlformats.org/drawingml/2006/main">
            <a:off x="742950" y="52863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a:solidFill>
                  <a:srgbClr val="BCCCDC"/>
                </a:solidFill>
                <a:latin typeface="Arial"/>
                <a:ea typeface="Arial"/>
                <a:cs typeface="Arial"/>
              </a:defRPr>
            </a:pPr>
            <a:r>
              <a:rPr sz="1425">
                <a:solidFill>
                  <a:srgbClr val="BCCCDC"/>
                </a:solidFill>
                <a:latin typeface="Arial"/>
                <a:ea typeface="Arial"/>
                <a:cs typeface="Arial"/>
              </a:rPr>
              <a:t>Detailed English Study Edition</a:t>
            </a:r>
          </a:p>
        </p:txBody>
      </p:sp>
      <p:sp>
        <p:nvSpPr>
          <p:cNvPr id="5" name="">
            <a:extLst xmlns:a="http://schemas.openxmlformats.org/drawingml/2006/main">
              <a:ext uri="{FF2B5EF4-FFF2-40B4-BE49-F238E27FC236}">
                <a16:creationId xmlns:a16="http://schemas.microsoft.com/office/drawing/2014/main" id="{3EA86EF8-0355-4A77-94DF-E70928B8D6D8}"/>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9FB3C8"/>
                </a:solidFill>
                <a:latin typeface="Arial"/>
                <a:ea typeface="Arial"/>
                <a:cs typeface="Arial"/>
              </a:defRPr>
            </a:pPr>
            <a:r>
              <a:rPr sz="975">
                <a:solidFill>
                  <a:srgbClr val="9FB3C8"/>
                </a:solidFill>
                <a:latin typeface="Arial"/>
                <a:ea typeface="Arial"/>
                <a:cs typeface="Arial"/>
              </a:rPr>
              <a:t>01 / 27</a:t>
            </a:r>
          </a:p>
        </p:txBody>
      </p:sp>
    </p:spTree>
    <p:extLst>
      <p:ext uri="{BB962C8B-B14F-4D97-AF65-F5344CB8AC3E}">
        <p14:creationId xmlns:p14="http://schemas.microsoft.com/office/powerpoint/2010/main" val="1207548060"/>
      </p:ext>
    </p:extLst>
  </p:cSld>
</p:sld>
</file>

<file path=ppt/slides/slide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711CB9E-8305-4A8D-95F0-E1E6261A2329}"/>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B6981F99-7767-4261-83B9-9332B3D1E4DF}"/>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Chapter map</a:t>
            </a:r>
          </a:p>
        </p:txBody>
      </p:sp>
      <p:sp>
        <p:nvSpPr>
          <p:cNvPr id="3" name="">
            <a:extLst xmlns:a="http://schemas.openxmlformats.org/drawingml/2006/main">
              <a:ext uri="{FF2B5EF4-FFF2-40B4-BE49-F238E27FC236}">
                <a16:creationId xmlns:a16="http://schemas.microsoft.com/office/drawing/2014/main" id="{41FF118C-EE14-4056-8FF2-D3C38657F9BC}"/>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02 / 27</a:t>
            </a:r>
          </a:p>
        </p:txBody>
      </p:sp>
      <p:sp>
        <p:nvSpPr>
          <p:cNvPr id="4" name="">
            <a:extLst xmlns:a="http://schemas.openxmlformats.org/drawingml/2006/main">
              <a:ext uri="{FF2B5EF4-FFF2-40B4-BE49-F238E27FC236}">
                <a16:creationId xmlns:a16="http://schemas.microsoft.com/office/drawing/2014/main" id="{EE89E592-92DF-4F96-AB76-8FF922C18AD0}"/>
              </a:ext>
            </a:extLst>
          </p:cNvPr>
          <p:cNvSpPr>
            <a:spLocks xmlns:a="http://schemas.openxmlformats.org/drawingml/2006/main" noGrp="1"/>
          </p:cNvSpPr>
          <p:nvPr/>
        </p:nvSpPr>
        <p:spPr>
          <a:xfrm xmlns:a="http://schemas.openxmlformats.org/drawingml/2006/main">
            <a:off x="857250" y="14763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FF7F11"/>
                </a:solidFill>
                <a:latin typeface="Arial"/>
                <a:ea typeface="Arial"/>
                <a:cs typeface="Arial"/>
              </a:defRPr>
            </a:pPr>
            <a:r>
              <a:rPr sz="2100" b="1">
                <a:solidFill>
                  <a:srgbClr val="FF7F11"/>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5C5BADC-DE54-47D5-9C44-2EF83B2028B8}"/>
              </a:ext>
            </a:extLst>
          </p:cNvPr>
          <p:cNvSpPr>
            <a:spLocks xmlns:a="http://schemas.openxmlformats.org/drawingml/2006/main" noGrp="1"/>
          </p:cNvSpPr>
          <p:nvPr/>
        </p:nvSpPr>
        <p:spPr>
          <a:xfrm xmlns:a="http://schemas.openxmlformats.org/drawingml/2006/main">
            <a:off x="1905000" y="14287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Transaction boundaries</a:t>
            </a:r>
          </a:p>
        </p:txBody>
      </p:sp>
      <p:sp>
        <p:nvSpPr>
          <p:cNvPr id="6" name="">
            <a:extLst xmlns:a="http://schemas.openxmlformats.org/drawingml/2006/main">
              <a:ext uri="{FF2B5EF4-FFF2-40B4-BE49-F238E27FC236}">
                <a16:creationId xmlns:a16="http://schemas.microsoft.com/office/drawing/2014/main" id="{8582F654-8B37-4CBF-BD2E-692A006BEDE4}"/>
              </a:ext>
            </a:extLst>
          </p:cNvPr>
          <p:cNvSpPr>
            <a:spLocks xmlns:a="http://schemas.openxmlformats.org/drawingml/2006/main" noGrp="1"/>
          </p:cNvSpPr>
          <p:nvPr/>
        </p:nvSpPr>
        <p:spPr>
          <a:xfrm xmlns:a="http://schemas.openxmlformats.org/drawingml/2006/main">
            <a:off x="6191250" y="14287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A transaction groups reads and writes into one logical operation.</a:t>
            </a:r>
          </a:p>
        </p:txBody>
      </p:sp>
      <p:sp>
        <p:nvSpPr>
          <p:cNvPr id="7" name="">
            <a:extLst xmlns:a="http://schemas.openxmlformats.org/drawingml/2006/main">
              <a:ext uri="{FF2B5EF4-FFF2-40B4-BE49-F238E27FC236}">
                <a16:creationId xmlns:a16="http://schemas.microsoft.com/office/drawing/2014/main" id="{DC7B719D-1E36-4617-852B-0B9FCDC04B45}"/>
              </a:ext>
            </a:extLst>
          </p:cNvPr>
          <p:cNvSpPr>
            <a:spLocks xmlns:a="http://schemas.openxmlformats.org/drawingml/2006/main" noGrp="1"/>
          </p:cNvSpPr>
          <p:nvPr/>
        </p:nvSpPr>
        <p:spPr>
          <a:xfrm xmlns:a="http://schemas.openxmlformats.org/drawingml/2006/main">
            <a:off x="857250" y="23526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FF7F11"/>
                </a:solidFill>
                <a:latin typeface="Arial"/>
                <a:ea typeface="Arial"/>
                <a:cs typeface="Arial"/>
              </a:defRPr>
            </a:pPr>
            <a:r>
              <a:rPr sz="2100" b="1">
                <a:solidFill>
                  <a:srgbClr val="FF7F11"/>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FEF2DB8E-AD03-42D0-B68C-BA0C69794600}"/>
              </a:ext>
            </a:extLst>
          </p:cNvPr>
          <p:cNvSpPr>
            <a:spLocks xmlns:a="http://schemas.openxmlformats.org/drawingml/2006/main" noGrp="1"/>
          </p:cNvSpPr>
          <p:nvPr/>
        </p:nvSpPr>
        <p:spPr>
          <a:xfrm xmlns:a="http://schemas.openxmlformats.org/drawingml/2006/main">
            <a:off x="1905000" y="23050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Weak isolation</a:t>
            </a:r>
          </a:p>
        </p:txBody>
      </p:sp>
      <p:sp>
        <p:nvSpPr>
          <p:cNvPr id="9" name="">
            <a:extLst xmlns:a="http://schemas.openxmlformats.org/drawingml/2006/main">
              <a:ext uri="{FF2B5EF4-FFF2-40B4-BE49-F238E27FC236}">
                <a16:creationId xmlns:a16="http://schemas.microsoft.com/office/drawing/2014/main" id="{FCCB261E-1E3B-4CB7-BE35-D33D861D4E67}"/>
              </a:ext>
            </a:extLst>
          </p:cNvPr>
          <p:cNvSpPr>
            <a:spLocks xmlns:a="http://schemas.openxmlformats.org/drawingml/2006/main" noGrp="1"/>
          </p:cNvSpPr>
          <p:nvPr/>
        </p:nvSpPr>
        <p:spPr>
          <a:xfrm xmlns:a="http://schemas.openxmlformats.org/drawingml/2006/main">
            <a:off x="6191250" y="23050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Read committed prevents dirty reads and dirty writes.</a:t>
            </a:r>
          </a:p>
        </p:txBody>
      </p:sp>
      <p:sp>
        <p:nvSpPr>
          <p:cNvPr id="10" name="">
            <a:extLst xmlns:a="http://schemas.openxmlformats.org/drawingml/2006/main">
              <a:ext uri="{FF2B5EF4-FFF2-40B4-BE49-F238E27FC236}">
                <a16:creationId xmlns:a16="http://schemas.microsoft.com/office/drawing/2014/main" id="{C36AE877-97DE-4B3F-9FD3-392F042781E0}"/>
              </a:ext>
            </a:extLst>
          </p:cNvPr>
          <p:cNvSpPr>
            <a:spLocks xmlns:a="http://schemas.openxmlformats.org/drawingml/2006/main" noGrp="1"/>
          </p:cNvSpPr>
          <p:nvPr/>
        </p:nvSpPr>
        <p:spPr>
          <a:xfrm xmlns:a="http://schemas.openxmlformats.org/drawingml/2006/main">
            <a:off x="857250" y="32289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FF7F11"/>
                </a:solidFill>
                <a:latin typeface="Arial"/>
                <a:ea typeface="Arial"/>
                <a:cs typeface="Arial"/>
              </a:defRPr>
            </a:pPr>
            <a:r>
              <a:rPr sz="2100" b="1">
                <a:solidFill>
                  <a:srgbClr val="FF7F11"/>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204935C0-8E41-4FF7-A184-50E39AC9B24B}"/>
              </a:ext>
            </a:extLst>
          </p:cNvPr>
          <p:cNvSpPr>
            <a:spLocks xmlns:a="http://schemas.openxmlformats.org/drawingml/2006/main" noGrp="1"/>
          </p:cNvSpPr>
          <p:nvPr/>
        </p:nvSpPr>
        <p:spPr>
          <a:xfrm xmlns:a="http://schemas.openxmlformats.org/drawingml/2006/main">
            <a:off x="1905000" y="31813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Serializability</a:t>
            </a:r>
          </a:p>
        </p:txBody>
      </p:sp>
      <p:sp>
        <p:nvSpPr>
          <p:cNvPr id="12" name="">
            <a:extLst xmlns:a="http://schemas.openxmlformats.org/drawingml/2006/main">
              <a:ext uri="{FF2B5EF4-FFF2-40B4-BE49-F238E27FC236}">
                <a16:creationId xmlns:a16="http://schemas.microsoft.com/office/drawing/2014/main" id="{F1C565E4-1433-4805-81A5-D1127124DE22}"/>
              </a:ext>
            </a:extLst>
          </p:cNvPr>
          <p:cNvSpPr>
            <a:spLocks xmlns:a="http://schemas.openxmlformats.org/drawingml/2006/main" noGrp="1"/>
          </p:cNvSpPr>
          <p:nvPr/>
        </p:nvSpPr>
        <p:spPr>
          <a:xfrm xmlns:a="http://schemas.openxmlformats.org/drawingml/2006/main">
            <a:off x="6191250" y="31813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Serializability matches the outcome of some serial execution.</a:t>
            </a:r>
          </a:p>
        </p:txBody>
      </p:sp>
      <p:sp>
        <p:nvSpPr>
          <p:cNvPr id="13" name="">
            <a:extLst xmlns:a="http://schemas.openxmlformats.org/drawingml/2006/main">
              <a:ext uri="{FF2B5EF4-FFF2-40B4-BE49-F238E27FC236}">
                <a16:creationId xmlns:a16="http://schemas.microsoft.com/office/drawing/2014/main" id="{E4BFDD92-ACC5-4607-820A-A8EE42D2FF67}"/>
              </a:ext>
            </a:extLst>
          </p:cNvPr>
          <p:cNvSpPr>
            <a:spLocks xmlns:a="http://schemas.openxmlformats.org/drawingml/2006/main" noGrp="1"/>
          </p:cNvSpPr>
          <p:nvPr/>
        </p:nvSpPr>
        <p:spPr>
          <a:xfrm xmlns:a="http://schemas.openxmlformats.org/drawingml/2006/main">
            <a:off x="857250" y="41052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FF7F11"/>
                </a:solidFill>
                <a:latin typeface="Arial"/>
                <a:ea typeface="Arial"/>
                <a:cs typeface="Arial"/>
              </a:defRPr>
            </a:pPr>
            <a:r>
              <a:rPr sz="2100" b="1">
                <a:solidFill>
                  <a:srgbClr val="FF7F11"/>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F0668215-A62A-44F6-8CFB-D08C0A40654F}"/>
              </a:ext>
            </a:extLst>
          </p:cNvPr>
          <p:cNvSpPr>
            <a:spLocks xmlns:a="http://schemas.openxmlformats.org/drawingml/2006/main" noGrp="1"/>
          </p:cNvSpPr>
          <p:nvPr/>
        </p:nvSpPr>
        <p:spPr>
          <a:xfrm xmlns:a="http://schemas.openxmlformats.org/drawingml/2006/main">
            <a:off x="1905000" y="40576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Two-phase commit</a:t>
            </a:r>
          </a:p>
        </p:txBody>
      </p:sp>
      <p:sp>
        <p:nvSpPr>
          <p:cNvPr id="15" name="">
            <a:extLst xmlns:a="http://schemas.openxmlformats.org/drawingml/2006/main">
              <a:ext uri="{FF2B5EF4-FFF2-40B4-BE49-F238E27FC236}">
                <a16:creationId xmlns:a16="http://schemas.microsoft.com/office/drawing/2014/main" id="{A4F22607-0F77-4920-9F92-391E1D68985D}"/>
              </a:ext>
            </a:extLst>
          </p:cNvPr>
          <p:cNvSpPr>
            <a:spLocks xmlns:a="http://schemas.openxmlformats.org/drawingml/2006/main" noGrp="1"/>
          </p:cNvSpPr>
          <p:nvPr/>
        </p:nvSpPr>
        <p:spPr>
          <a:xfrm xmlns:a="http://schemas.openxmlformats.org/drawingml/2006/main">
            <a:off x="6191250" y="40576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The coordinator gathers prepare votes before deciding commit or abort.</a:t>
            </a:r>
          </a:p>
        </p:txBody>
      </p:sp>
      <p:sp>
        <p:nvSpPr>
          <p:cNvPr id="16" name="">
            <a:extLst xmlns:a="http://schemas.openxmlformats.org/drawingml/2006/main">
              <a:ext uri="{FF2B5EF4-FFF2-40B4-BE49-F238E27FC236}">
                <a16:creationId xmlns:a16="http://schemas.microsoft.com/office/drawing/2014/main" id="{BBCEE3F3-93EF-460C-827D-C9DAC5A7CF20}"/>
              </a:ext>
            </a:extLst>
          </p:cNvPr>
          <p:cNvSpPr>
            <a:spLocks xmlns:a="http://schemas.openxmlformats.org/drawingml/2006/main" noGrp="1"/>
          </p:cNvSpPr>
          <p:nvPr/>
        </p:nvSpPr>
        <p:spPr>
          <a:xfrm xmlns:a="http://schemas.openxmlformats.org/drawingml/2006/main">
            <a:off x="857250" y="49815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FF7F11"/>
                </a:solidFill>
                <a:latin typeface="Arial"/>
                <a:ea typeface="Arial"/>
                <a:cs typeface="Arial"/>
              </a:defRPr>
            </a:pPr>
            <a:r>
              <a:rPr sz="2100" b="1">
                <a:solidFill>
                  <a:srgbClr val="FF7F11"/>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0477C906-D0AA-4B89-9206-70E6419205EC}"/>
              </a:ext>
            </a:extLst>
          </p:cNvPr>
          <p:cNvSpPr>
            <a:spLocks xmlns:a="http://schemas.openxmlformats.org/drawingml/2006/main" noGrp="1"/>
          </p:cNvSpPr>
          <p:nvPr/>
        </p:nvSpPr>
        <p:spPr>
          <a:xfrm xmlns:a="http://schemas.openxmlformats.org/drawingml/2006/main">
            <a:off x="1905000" y="49339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Choosing transaction semantics</a:t>
            </a:r>
          </a:p>
        </p:txBody>
      </p:sp>
      <p:sp>
        <p:nvSpPr>
          <p:cNvPr id="18" name="">
            <a:extLst xmlns:a="http://schemas.openxmlformats.org/drawingml/2006/main">
              <a:ext uri="{FF2B5EF4-FFF2-40B4-BE49-F238E27FC236}">
                <a16:creationId xmlns:a16="http://schemas.microsoft.com/office/drawing/2014/main" id="{0C46EF5F-277D-423A-BB56-438F2BC6F604}"/>
              </a:ext>
            </a:extLst>
          </p:cNvPr>
          <p:cNvSpPr>
            <a:spLocks xmlns:a="http://schemas.openxmlformats.org/drawingml/2006/main" noGrp="1"/>
          </p:cNvSpPr>
          <p:nvPr/>
        </p:nvSpPr>
        <p:spPr>
          <a:xfrm xmlns:a="http://schemas.openxmlformats.org/drawingml/2006/main">
            <a:off x="6191250" y="49339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Identify invariants and the concurrency anomalies that can violate them.</a:t>
            </a:r>
          </a:p>
        </p:txBody>
      </p:sp>
    </p:spTree>
    <p:extLst>
      <p:ext uri="{BB962C8B-B14F-4D97-AF65-F5344CB8AC3E}">
        <p14:creationId xmlns:p14="http://schemas.microsoft.com/office/powerpoint/2010/main" val="579903111"/>
      </p:ext>
    </p:extLst>
  </p:cSld>
</p:sld>
</file>

<file path=ppt/slides/slide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8C481A-BEAD-44E4-9559-0F134B738EF0}"/>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A59269DE-CDD7-46E7-A64F-35BE5D7E0C03}"/>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Transaction boundaries</a:t>
            </a:r>
          </a:p>
        </p:txBody>
      </p:sp>
      <p:sp>
        <p:nvSpPr>
          <p:cNvPr id="3" name="">
            <a:extLst xmlns:a="http://schemas.openxmlformats.org/drawingml/2006/main">
              <a:ext uri="{FF2B5EF4-FFF2-40B4-BE49-F238E27FC236}">
                <a16:creationId xmlns:a16="http://schemas.microsoft.com/office/drawing/2014/main" id="{FA02854B-9EFC-4C15-8560-392DD41981B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03 / 27</a:t>
            </a:r>
          </a:p>
        </p:txBody>
      </p:sp>
      <p:sp>
        <p:nvSpPr>
          <p:cNvPr id="4" name="">
            <a:extLst xmlns:a="http://schemas.openxmlformats.org/drawingml/2006/main">
              <a:ext uri="{FF2B5EF4-FFF2-40B4-BE49-F238E27FC236}">
                <a16:creationId xmlns:a16="http://schemas.microsoft.com/office/drawing/2014/main" id="{56344083-E8D4-40AC-A86C-2D1DA3E91FD9}"/>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FF7F11"/>
                </a:solidFill>
                <a:latin typeface="Arial"/>
                <a:ea typeface="Arial"/>
                <a:cs typeface="Arial"/>
              </a:defRPr>
            </a:pPr>
            <a:r>
              <a:rPr sz="6750" b="1">
                <a:solidFill>
                  <a:srgbClr val="FF7F11"/>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73C7BF5-B776-4F0C-B9F5-672C8ED0FF57}"/>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A transaction groups reads and writes into one logical operation.</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ACID covers atomicity, consistency, isolation, and durability.</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Single-object atomicity does not replace multi-object transactions.</a:t>
            </a:r>
          </a:p>
        </p:txBody>
      </p:sp>
      <p:sp>
        <p:nvSpPr>
          <p:cNvPr id="6" name="">
            <a:extLst xmlns:a="http://schemas.openxmlformats.org/drawingml/2006/main">
              <a:ext uri="{FF2B5EF4-FFF2-40B4-BE49-F238E27FC236}">
                <a16:creationId xmlns:a16="http://schemas.microsoft.com/office/drawing/2014/main" id="{730BDB89-B0F9-4104-87F6-A57B643039C7}"/>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195F6789-4A9D-457C-8B86-F1C0C4DADE02}"/>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302219601"/>
      </p:ext>
    </p:extLst>
  </p:cSld>
</p:sld>
</file>

<file path=ppt/slides/slide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C0BBD80-B54E-4658-A260-E3C5147B348E}"/>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6D207241-F24C-42F5-9D96-FF5004662EF3}"/>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Transaction boundaries: design trade-offs</a:t>
            </a:r>
          </a:p>
        </p:txBody>
      </p:sp>
      <p:sp>
        <p:nvSpPr>
          <p:cNvPr id="3" name="">
            <a:extLst xmlns:a="http://schemas.openxmlformats.org/drawingml/2006/main">
              <a:ext uri="{FF2B5EF4-FFF2-40B4-BE49-F238E27FC236}">
                <a16:creationId xmlns:a16="http://schemas.microsoft.com/office/drawing/2014/main" id="{54EA86AF-1753-425C-B673-484AF9058A7A}"/>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04 / 27</a:t>
            </a:r>
          </a:p>
        </p:txBody>
      </p:sp>
      <p:sp>
        <p:nvSpPr>
          <p:cNvPr id="4" name="">
            <a:extLst xmlns:a="http://schemas.openxmlformats.org/drawingml/2006/main">
              <a:ext uri="{FF2B5EF4-FFF2-40B4-BE49-F238E27FC236}">
                <a16:creationId xmlns:a16="http://schemas.microsoft.com/office/drawing/2014/main" id="{528BC422-F5C3-4624-A4E7-8FF3D8383F2A}"/>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FF7F11"/>
                </a:solidFill>
                <a:latin typeface="Arial"/>
                <a:ea typeface="Arial"/>
                <a:cs typeface="Arial"/>
              </a:defRPr>
            </a:pPr>
            <a:r>
              <a:rPr sz="6750" b="1">
                <a:solidFill>
                  <a:srgbClr val="FF7F11"/>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7E8ECF6A-E85F-469D-B31E-C1105B8668D5}"/>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A transaction groups reads and writes into one logical operation.</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249678154"/>
      </p:ext>
    </p:extLst>
  </p:cSld>
</p:sld>
</file>

<file path=ppt/slides/slide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9520700-D5B1-449A-B119-304E44C67061}"/>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918327FF-430D-4CFB-B263-9C50ECB093F5}"/>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8-1: mechanism explained</a:t>
            </a:r>
          </a:p>
        </p:txBody>
      </p:sp>
      <p:sp>
        <p:nvSpPr>
          <p:cNvPr id="3" name="">
            <a:extLst xmlns:a="http://schemas.openxmlformats.org/drawingml/2006/main">
              <a:ext uri="{FF2B5EF4-FFF2-40B4-BE49-F238E27FC236}">
                <a16:creationId xmlns:a16="http://schemas.microsoft.com/office/drawing/2014/main" id="{548F0161-C7FB-4582-8355-F9200D2DE9DB}"/>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05 / 27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8d80ca291864858"/>
          <a:stretch xmlns:a="http://schemas.openxmlformats.org/drawingml/2006/main"/>
        </p:blipFill>
        <p:spPr>
          <a:xfrm xmlns:a="http://schemas.openxmlformats.org/drawingml/2006/main">
            <a:off x="514350" y="1986324"/>
            <a:ext cx="7762875" cy="336160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AE92F87-F0BB-45A9-AA9A-B1D521D76E68}"/>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E898E553-B674-44EC-BAAA-65FFBED2A149}"/>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A race condition between two clients concurrently incrementing a counter</a:t>
            </a:r>
          </a:p>
        </p:txBody>
      </p:sp>
      <p:sp>
        <p:nvSpPr>
          <p:cNvPr id="7" name="">
            <a:extLst xmlns:a="http://schemas.openxmlformats.org/drawingml/2006/main">
              <a:ext uri="{FF2B5EF4-FFF2-40B4-BE49-F238E27FC236}">
                <a16:creationId xmlns:a16="http://schemas.microsoft.com/office/drawing/2014/main" id="{AE590462-8113-4C9A-BE06-07948B8D9346}"/>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EF3C4FCC-FB99-4B05-B875-D20B70A13614}"/>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It turns the chapter concept into a concrete dataflow, timeline, or state transition.</a:t>
            </a:r>
          </a:p>
        </p:txBody>
      </p:sp>
      <p:sp>
        <p:nvSpPr>
          <p:cNvPr id="9" name="">
            <a:extLst xmlns:a="http://schemas.openxmlformats.org/drawingml/2006/main">
              <a:ext uri="{FF2B5EF4-FFF2-40B4-BE49-F238E27FC236}">
                <a16:creationId xmlns:a16="http://schemas.microsoft.com/office/drawing/2014/main" id="{545E2E7A-E824-4260-93E7-8D0B915B081F}"/>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69F758E4-73B2-4B41-9957-A5E978B02C26}"/>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Check the actors, data direction, operation order, and hidden system assumptions.</a:t>
            </a:r>
          </a:p>
        </p:txBody>
      </p:sp>
    </p:spTree>
    <p:extLst>
      <p:ext uri="{BB962C8B-B14F-4D97-AF65-F5344CB8AC3E}">
        <p14:creationId xmlns:p14="http://schemas.microsoft.com/office/powerpoint/2010/main" val="788543825"/>
      </p:ext>
    </p:extLst>
  </p:cSld>
</p:sld>
</file>

<file path=ppt/slides/slide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06DFD85-046F-4126-852E-E499470F9E02}"/>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06144E52-7335-4466-BE5D-3AA396403A0D}"/>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8-2: mechanism explained</a:t>
            </a:r>
          </a:p>
        </p:txBody>
      </p:sp>
      <p:sp>
        <p:nvSpPr>
          <p:cNvPr id="3" name="">
            <a:extLst xmlns:a="http://schemas.openxmlformats.org/drawingml/2006/main">
              <a:ext uri="{FF2B5EF4-FFF2-40B4-BE49-F238E27FC236}">
                <a16:creationId xmlns:a16="http://schemas.microsoft.com/office/drawing/2014/main" id="{5B4659BD-0CC8-4AA3-B3B2-B1BDCFF1EC1E}"/>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06 / 27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ddc63b413b3493a"/>
          <a:stretch xmlns:a="http://schemas.openxmlformats.org/drawingml/2006/main"/>
        </p:blipFill>
        <p:spPr>
          <a:xfrm xmlns:a="http://schemas.openxmlformats.org/drawingml/2006/main">
            <a:off x="514350" y="1359056"/>
            <a:ext cx="7762875" cy="461613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880694C-37DE-4410-A0EB-CAEC04B1EC45}"/>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8799C05A-BE5D-4311-9C7B-FC8F9775C288}"/>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Violating isolation: one transaction reads another transaction’s uncommitted</a:t>
            </a:r>
          </a:p>
        </p:txBody>
      </p:sp>
      <p:sp>
        <p:nvSpPr>
          <p:cNvPr id="7" name="">
            <a:extLst xmlns:a="http://schemas.openxmlformats.org/drawingml/2006/main">
              <a:ext uri="{FF2B5EF4-FFF2-40B4-BE49-F238E27FC236}">
                <a16:creationId xmlns:a16="http://schemas.microsoft.com/office/drawing/2014/main" id="{9B7CB45A-5204-4114-B965-67293AA823D8}"/>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7056431A-5ADA-4A3C-936B-EB6794746995}"/>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It turns the chapter concept into a concrete dataflow, timeline, or state transition.</a:t>
            </a:r>
          </a:p>
        </p:txBody>
      </p:sp>
      <p:sp>
        <p:nvSpPr>
          <p:cNvPr id="9" name="">
            <a:extLst xmlns:a="http://schemas.openxmlformats.org/drawingml/2006/main">
              <a:ext uri="{FF2B5EF4-FFF2-40B4-BE49-F238E27FC236}">
                <a16:creationId xmlns:a16="http://schemas.microsoft.com/office/drawing/2014/main" id="{CE4B6765-6BCB-430E-8329-8E5A63D9E75D}"/>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48A093FE-B457-4457-9E43-B63AAF28573B}"/>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Check the actors, data direction, operation order, and hidden system assumptions.</a:t>
            </a:r>
          </a:p>
        </p:txBody>
      </p:sp>
    </p:spTree>
    <p:extLst>
      <p:ext uri="{BB962C8B-B14F-4D97-AF65-F5344CB8AC3E}">
        <p14:creationId xmlns:p14="http://schemas.microsoft.com/office/powerpoint/2010/main" val="573990798"/>
      </p:ext>
    </p:extLst>
  </p:cSld>
</p:sld>
</file>

<file path=ppt/slides/slide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C783C6-53B6-46C8-A70F-8B9A1622E27B}"/>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FA611CBB-F4F8-43EB-9A0F-D8879DC5DCB6}"/>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8-3: mechanism explained</a:t>
            </a:r>
          </a:p>
        </p:txBody>
      </p:sp>
      <p:sp>
        <p:nvSpPr>
          <p:cNvPr id="3" name="">
            <a:extLst xmlns:a="http://schemas.openxmlformats.org/drawingml/2006/main">
              <a:ext uri="{FF2B5EF4-FFF2-40B4-BE49-F238E27FC236}">
                <a16:creationId xmlns:a16="http://schemas.microsoft.com/office/drawing/2014/main" id="{8C746D11-4148-453B-9E5C-E5F497D49431}"/>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07 / 27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885f5a6c1c7431c"/>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A72690B-03A6-47C2-9EFC-95D754BC6535}"/>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101CCAC3-3B79-4E37-A68E-578C960F50EC}"/>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Atomicity ensures that if an error occurs, any prior writes from that transac‐</a:t>
            </a:r>
          </a:p>
        </p:txBody>
      </p:sp>
      <p:sp>
        <p:nvSpPr>
          <p:cNvPr id="7" name="">
            <a:extLst xmlns:a="http://schemas.openxmlformats.org/drawingml/2006/main">
              <a:ext uri="{FF2B5EF4-FFF2-40B4-BE49-F238E27FC236}">
                <a16:creationId xmlns:a16="http://schemas.microsoft.com/office/drawing/2014/main" id="{EADFE26C-8A08-447A-ADEB-CAEDB4A3FFC9}"/>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98F181A9-5A5B-4514-9810-F1CB3A0256BE}"/>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It turns the chapter concept into a concrete dataflow, timeline, or state transition.</a:t>
            </a:r>
          </a:p>
        </p:txBody>
      </p:sp>
      <p:sp>
        <p:nvSpPr>
          <p:cNvPr id="9" name="">
            <a:extLst xmlns:a="http://schemas.openxmlformats.org/drawingml/2006/main">
              <a:ext uri="{FF2B5EF4-FFF2-40B4-BE49-F238E27FC236}">
                <a16:creationId xmlns:a16="http://schemas.microsoft.com/office/drawing/2014/main" id="{61AE776C-5FE0-4A33-A0AE-0319CFB3B4AE}"/>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F014E148-79BF-424A-A437-646CAC9B0CDE}"/>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Check the actors, data direction, operation order, and hidden system assumptions.</a:t>
            </a:r>
          </a:p>
        </p:txBody>
      </p:sp>
    </p:spTree>
    <p:extLst>
      <p:ext uri="{BB962C8B-B14F-4D97-AF65-F5344CB8AC3E}">
        <p14:creationId xmlns:p14="http://schemas.microsoft.com/office/powerpoint/2010/main" val="152418824"/>
      </p:ext>
    </p:extLst>
  </p:cSld>
</p:sld>
</file>

<file path=ppt/slides/slide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652665-412A-4078-84AA-02621F1C679F}"/>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D55897D5-9454-4855-9064-5D4AF886F1D6}"/>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Weak isolation</a:t>
            </a:r>
          </a:p>
        </p:txBody>
      </p:sp>
      <p:sp>
        <p:nvSpPr>
          <p:cNvPr id="3" name="">
            <a:extLst xmlns:a="http://schemas.openxmlformats.org/drawingml/2006/main">
              <a:ext uri="{FF2B5EF4-FFF2-40B4-BE49-F238E27FC236}">
                <a16:creationId xmlns:a16="http://schemas.microsoft.com/office/drawing/2014/main" id="{C7E9B5DB-CBF6-45CD-BFC6-646CAFC095CA}"/>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08 / 27</a:t>
            </a:r>
          </a:p>
        </p:txBody>
      </p:sp>
      <p:sp>
        <p:nvSpPr>
          <p:cNvPr id="4" name="">
            <a:extLst xmlns:a="http://schemas.openxmlformats.org/drawingml/2006/main">
              <a:ext uri="{FF2B5EF4-FFF2-40B4-BE49-F238E27FC236}">
                <a16:creationId xmlns:a16="http://schemas.microsoft.com/office/drawing/2014/main" id="{D13B2962-94B4-445D-843E-C660B75BD5FE}"/>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FF7F11"/>
                </a:solidFill>
                <a:latin typeface="Arial"/>
                <a:ea typeface="Arial"/>
                <a:cs typeface="Arial"/>
              </a:defRPr>
            </a:pPr>
            <a:r>
              <a:rPr sz="6750" b="1">
                <a:solidFill>
                  <a:srgbClr val="FF7F11"/>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E887A27-F1C0-47D1-A179-466C550341B0}"/>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Read committed prevents dirty reads and dirty writes.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Snapshot isolation provides a stable view but still permits write skew.</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Atomic updates, locks, or conflict detection prevent lost updates.</a:t>
            </a:r>
          </a:p>
        </p:txBody>
      </p:sp>
      <p:sp>
        <p:nvSpPr>
          <p:cNvPr id="6" name="">
            <a:extLst xmlns:a="http://schemas.openxmlformats.org/drawingml/2006/main">
              <a:ext uri="{FF2B5EF4-FFF2-40B4-BE49-F238E27FC236}">
                <a16:creationId xmlns:a16="http://schemas.microsoft.com/office/drawing/2014/main" id="{E9407E74-FF35-4CF5-9CB2-D0FFCE50EBF7}"/>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C0AE2046-5CCF-4E17-A773-3065982E109D}"/>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489858923"/>
      </p:ext>
    </p:extLst>
  </p:cSld>
</p:sld>
</file>

<file path=ppt/slides/slide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97B9231-A71C-4C10-97C1-35330DCC87B5}"/>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06BE9F38-C679-45FE-A950-C5F430660133}"/>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Weak isolation: design trade-offs</a:t>
            </a:r>
          </a:p>
        </p:txBody>
      </p:sp>
      <p:sp>
        <p:nvSpPr>
          <p:cNvPr id="3" name="">
            <a:extLst xmlns:a="http://schemas.openxmlformats.org/drawingml/2006/main">
              <a:ext uri="{FF2B5EF4-FFF2-40B4-BE49-F238E27FC236}">
                <a16:creationId xmlns:a16="http://schemas.microsoft.com/office/drawing/2014/main" id="{18D11A9C-2755-4E1D-9EFC-B722EF21C4C3}"/>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09 / 27</a:t>
            </a:r>
          </a:p>
        </p:txBody>
      </p:sp>
      <p:sp>
        <p:nvSpPr>
          <p:cNvPr id="4" name="">
            <a:extLst xmlns:a="http://schemas.openxmlformats.org/drawingml/2006/main">
              <a:ext uri="{FF2B5EF4-FFF2-40B4-BE49-F238E27FC236}">
                <a16:creationId xmlns:a16="http://schemas.microsoft.com/office/drawing/2014/main" id="{BF97D33B-0C0D-4FA6-9E38-0969CED5FAA3}"/>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FF7F11"/>
                </a:solidFill>
                <a:latin typeface="Arial"/>
                <a:ea typeface="Arial"/>
                <a:cs typeface="Arial"/>
              </a:defRPr>
            </a:pPr>
            <a:r>
              <a:rPr sz="6750" b="1">
                <a:solidFill>
                  <a:srgbClr val="FF7F11"/>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9A50AE4-F2F0-4A95-8BC8-796FE68F6D54}"/>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Read committed prevents dirty reads and dirty writes.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342616199"/>
      </p:ext>
    </p:extLst>
  </p:cSld>
</p:sld>
</file>

<file path=ppt/slides/slide1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4D48CA-7F0D-455D-82C4-CA7116663AC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8CB00D05-EC91-4088-995F-68E532B54142}"/>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8-4: mechanism explained</a:t>
            </a:r>
          </a:p>
        </p:txBody>
      </p:sp>
      <p:sp>
        <p:nvSpPr>
          <p:cNvPr id="3" name="">
            <a:extLst xmlns:a="http://schemas.openxmlformats.org/drawingml/2006/main">
              <a:ext uri="{FF2B5EF4-FFF2-40B4-BE49-F238E27FC236}">
                <a16:creationId xmlns:a16="http://schemas.microsoft.com/office/drawing/2014/main" id="{E565C3DA-7E38-4815-B852-34A162CE8736}"/>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10 / 27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b5ad37409d84b9d"/>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A70B137-2022-45B5-A324-BB2AB6C95E5E}"/>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49879BF7-5BFD-4150-9C13-53E1203B7B2F}"/>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timeline shows one transaction observing an intermediate or inconsistent state.</a:t>
            </a:r>
          </a:p>
        </p:txBody>
      </p:sp>
      <p:sp>
        <p:nvSpPr>
          <p:cNvPr id="7" name="">
            <a:extLst xmlns:a="http://schemas.openxmlformats.org/drawingml/2006/main">
              <a:ext uri="{FF2B5EF4-FFF2-40B4-BE49-F238E27FC236}">
                <a16:creationId xmlns:a16="http://schemas.microsoft.com/office/drawing/2014/main" id="{330D93FB-876B-4C11-B452-72A0FF0C7DA5}"/>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C8C9F4D5-3D71-405C-8371-4F5EBB54BDCC}"/>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Isolation rules must prevent states that no valid serial execution could expose.</a:t>
            </a:r>
          </a:p>
        </p:txBody>
      </p:sp>
      <p:sp>
        <p:nvSpPr>
          <p:cNvPr id="9" name="">
            <a:extLst xmlns:a="http://schemas.openxmlformats.org/drawingml/2006/main">
              <a:ext uri="{FF2B5EF4-FFF2-40B4-BE49-F238E27FC236}">
                <a16:creationId xmlns:a16="http://schemas.microsoft.com/office/drawing/2014/main" id="{7C11C697-164E-4BA1-A722-B49D3795D86B}"/>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CCC5EEDD-D2FF-4503-9931-DC480963CABB}"/>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600468259"/>
      </p:ext>
    </p:extLst>
  </p:cSld>
</p:sld>
</file>

<file path=ppt/slides/slide1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203F621-6455-485E-AE54-BDE86AE87D94}"/>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86F6B6AD-DC8B-4531-B7B8-C962FCE9B48E}"/>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8-5: mechanism explained</a:t>
            </a:r>
          </a:p>
        </p:txBody>
      </p:sp>
      <p:sp>
        <p:nvSpPr>
          <p:cNvPr id="3" name="">
            <a:extLst xmlns:a="http://schemas.openxmlformats.org/drawingml/2006/main">
              <a:ext uri="{FF2B5EF4-FFF2-40B4-BE49-F238E27FC236}">
                <a16:creationId xmlns:a16="http://schemas.microsoft.com/office/drawing/2014/main" id="{5E32C452-648E-4D41-A4D5-86A785BDCEC3}"/>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11 / 27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5ae8c7710de48b0"/>
          <a:stretch xmlns:a="http://schemas.openxmlformats.org/drawingml/2006/main"/>
        </p:blipFill>
        <p:spPr>
          <a:xfrm xmlns:a="http://schemas.openxmlformats.org/drawingml/2006/main">
            <a:off x="514350" y="1386780"/>
            <a:ext cx="7762875" cy="456068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D143FC4-1CB0-42AC-9F5D-407F3BFF9E94}"/>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18B7F6E0-6E74-4332-8641-587E6D3D15DF}"/>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Several writers create concurrent versions that may arrive in different orders.</a:t>
            </a:r>
          </a:p>
        </p:txBody>
      </p:sp>
      <p:sp>
        <p:nvSpPr>
          <p:cNvPr id="7" name="">
            <a:extLst xmlns:a="http://schemas.openxmlformats.org/drawingml/2006/main">
              <a:ext uri="{FF2B5EF4-FFF2-40B4-BE49-F238E27FC236}">
                <a16:creationId xmlns:a16="http://schemas.microsoft.com/office/drawing/2014/main" id="{088A354A-36F4-4422-A92D-50A32152804E}"/>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FC86F940-39FA-40B0-A53B-3CC3286C851D}"/>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Resolution must preserve intent; last-write-wins can silently discard valid work.</a:t>
            </a:r>
          </a:p>
        </p:txBody>
      </p:sp>
      <p:sp>
        <p:nvSpPr>
          <p:cNvPr id="9" name="">
            <a:extLst xmlns:a="http://schemas.openxmlformats.org/drawingml/2006/main">
              <a:ext uri="{FF2B5EF4-FFF2-40B4-BE49-F238E27FC236}">
                <a16:creationId xmlns:a16="http://schemas.microsoft.com/office/drawing/2014/main" id="{82BCB96D-8BCD-4462-B49E-690F4F438808}"/>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EA384213-C41B-4CAC-B771-AE7D054C3C89}"/>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548298149"/>
      </p:ext>
    </p:extLst>
  </p:cSld>
</p:sld>
</file>

<file path=ppt/slides/slide1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C0B707B-DAC2-4DFA-BD81-D82280C5A091}"/>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04D0303B-F0BB-437A-80DA-EFF4527EF08C}"/>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8-6: mechanism explained</a:t>
            </a:r>
          </a:p>
        </p:txBody>
      </p:sp>
      <p:sp>
        <p:nvSpPr>
          <p:cNvPr id="3" name="">
            <a:extLst xmlns:a="http://schemas.openxmlformats.org/drawingml/2006/main">
              <a:ext uri="{FF2B5EF4-FFF2-40B4-BE49-F238E27FC236}">
                <a16:creationId xmlns:a16="http://schemas.microsoft.com/office/drawing/2014/main" id="{F5F0A0DE-6FDD-4F4E-9740-1C22EDF09A37}"/>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12 / 27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9421dff9fc84a66"/>
          <a:stretch xmlns:a="http://schemas.openxmlformats.org/drawingml/2006/main"/>
        </p:blipFill>
        <p:spPr>
          <a:xfrm xmlns:a="http://schemas.openxmlformats.org/drawingml/2006/main">
            <a:off x="514350" y="1414505"/>
            <a:ext cx="7762875" cy="45052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BA46768-B1D2-4EC2-8BFE-DD0E3CA2E31D}"/>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8F7D80BC-477C-43BF-A598-804CC6A6B336}"/>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timeline shows one transaction observing an intermediate or inconsistent state.</a:t>
            </a:r>
          </a:p>
        </p:txBody>
      </p:sp>
      <p:sp>
        <p:nvSpPr>
          <p:cNvPr id="7" name="">
            <a:extLst xmlns:a="http://schemas.openxmlformats.org/drawingml/2006/main">
              <a:ext uri="{FF2B5EF4-FFF2-40B4-BE49-F238E27FC236}">
                <a16:creationId xmlns:a16="http://schemas.microsoft.com/office/drawing/2014/main" id="{233BD460-C5DB-4E0C-907C-ADFF91060DC9}"/>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54BC3763-BB2B-47E6-8245-172CF79367F8}"/>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Isolation rules must prevent states that no valid serial execution could expose.</a:t>
            </a:r>
          </a:p>
        </p:txBody>
      </p:sp>
      <p:sp>
        <p:nvSpPr>
          <p:cNvPr id="9" name="">
            <a:extLst xmlns:a="http://schemas.openxmlformats.org/drawingml/2006/main">
              <a:ext uri="{FF2B5EF4-FFF2-40B4-BE49-F238E27FC236}">
                <a16:creationId xmlns:a16="http://schemas.microsoft.com/office/drawing/2014/main" id="{C314AAF3-8C52-4E21-B053-11049B0B725C}"/>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6AFD5D01-2BEE-4514-8AC8-C2682553D1BE}"/>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947539181"/>
      </p:ext>
    </p:extLst>
  </p:cSld>
</p:sld>
</file>

<file path=ppt/slides/slide1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83BC156-DFEF-45C0-AF61-2D18C11744EB}"/>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BFE3C54F-8FFB-40E2-A8CC-65274A8D1BF5}"/>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8-7: mechanism explained</a:t>
            </a:r>
          </a:p>
        </p:txBody>
      </p:sp>
      <p:sp>
        <p:nvSpPr>
          <p:cNvPr id="3" name="">
            <a:extLst xmlns:a="http://schemas.openxmlformats.org/drawingml/2006/main">
              <a:ext uri="{FF2B5EF4-FFF2-40B4-BE49-F238E27FC236}">
                <a16:creationId xmlns:a16="http://schemas.microsoft.com/office/drawing/2014/main" id="{56097457-2A39-4AFC-B510-A3D557180507}"/>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13 / 27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b7c5c184afc4506"/>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213BB6D-C67A-4527-835D-4524C3266A7B}"/>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F40CE81E-036F-4C5D-945D-A811BB9BD080}"/>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Concurrent transactions read snapshots and create dependencies that may form an anomaly.</a:t>
            </a:r>
          </a:p>
        </p:txBody>
      </p:sp>
      <p:sp>
        <p:nvSpPr>
          <p:cNvPr id="7" name="">
            <a:extLst xmlns:a="http://schemas.openxmlformats.org/drawingml/2006/main">
              <a:ext uri="{FF2B5EF4-FFF2-40B4-BE49-F238E27FC236}">
                <a16:creationId xmlns:a16="http://schemas.microsoft.com/office/drawing/2014/main" id="{40FDCB04-3363-4990-9DA0-45B460C07AA6}"/>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CC6EF56F-524B-48DE-B981-BFE7844147C8}"/>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MVCC improves concurrency, while conflict detection or serialization protects invariants.</a:t>
            </a:r>
          </a:p>
        </p:txBody>
      </p:sp>
      <p:sp>
        <p:nvSpPr>
          <p:cNvPr id="9" name="">
            <a:extLst xmlns:a="http://schemas.openxmlformats.org/drawingml/2006/main">
              <a:ext uri="{FF2B5EF4-FFF2-40B4-BE49-F238E27FC236}">
                <a16:creationId xmlns:a16="http://schemas.microsoft.com/office/drawing/2014/main" id="{F31D543A-4321-4CE0-A040-C5C7DE664652}"/>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5D0AD074-D46D-432C-B262-BAE716B68437}"/>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034763051"/>
      </p:ext>
    </p:extLst>
  </p:cSld>
</p:sld>
</file>

<file path=ppt/slides/slide1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A54B4A2-C139-4AFA-A749-72066E66D12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86C3DFB8-E143-4A2E-9A31-4A74D04799C5}"/>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8-8: mechanism explained</a:t>
            </a:r>
          </a:p>
        </p:txBody>
      </p:sp>
      <p:sp>
        <p:nvSpPr>
          <p:cNvPr id="3" name="">
            <a:extLst xmlns:a="http://schemas.openxmlformats.org/drawingml/2006/main">
              <a:ext uri="{FF2B5EF4-FFF2-40B4-BE49-F238E27FC236}">
                <a16:creationId xmlns:a16="http://schemas.microsoft.com/office/drawing/2014/main" id="{B42B63D8-1F73-46BE-9EDC-5FD2F595CE0C}"/>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14 / 27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cff7659436847db"/>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41EAD18-EB7B-4BB6-9955-DDC8624A5911}"/>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E40AA3FD-4E7E-4425-A11C-7B90AAEE91D9}"/>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Concurrent transactions read snapshots and create dependencies that may form an anomaly.</a:t>
            </a:r>
          </a:p>
        </p:txBody>
      </p:sp>
      <p:sp>
        <p:nvSpPr>
          <p:cNvPr id="7" name="">
            <a:extLst xmlns:a="http://schemas.openxmlformats.org/drawingml/2006/main">
              <a:ext uri="{FF2B5EF4-FFF2-40B4-BE49-F238E27FC236}">
                <a16:creationId xmlns:a16="http://schemas.microsoft.com/office/drawing/2014/main" id="{234B9BB2-1F87-45BD-B51D-7DE56EAE845B}"/>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E2DB1494-7B14-476E-B1BB-0EE6593DD4D7}"/>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MVCC improves concurrency, while conflict detection or serialization protects invariants.</a:t>
            </a:r>
          </a:p>
        </p:txBody>
      </p:sp>
      <p:sp>
        <p:nvSpPr>
          <p:cNvPr id="9" name="">
            <a:extLst xmlns:a="http://schemas.openxmlformats.org/drawingml/2006/main">
              <a:ext uri="{FF2B5EF4-FFF2-40B4-BE49-F238E27FC236}">
                <a16:creationId xmlns:a16="http://schemas.microsoft.com/office/drawing/2014/main" id="{18F79443-4899-40B7-8701-ADBC7B3A819E}"/>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2A2D3D1C-0428-4B0D-87D4-522F82BD0FAB}"/>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898025072"/>
      </p:ext>
    </p:extLst>
  </p:cSld>
</p:sld>
</file>

<file path=ppt/slides/slide1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532399-479A-4BE6-9A15-CB1C822822C1}"/>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8428D862-D86E-4EFC-8A10-AE6158CC1EBF}"/>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Serializability</a:t>
            </a:r>
          </a:p>
        </p:txBody>
      </p:sp>
      <p:sp>
        <p:nvSpPr>
          <p:cNvPr id="3" name="">
            <a:extLst xmlns:a="http://schemas.openxmlformats.org/drawingml/2006/main">
              <a:ext uri="{FF2B5EF4-FFF2-40B4-BE49-F238E27FC236}">
                <a16:creationId xmlns:a16="http://schemas.microsoft.com/office/drawing/2014/main" id="{54503026-3FFA-4C1F-9F02-BAB30DB55EF8}"/>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15 / 27</a:t>
            </a:r>
          </a:p>
        </p:txBody>
      </p:sp>
      <p:sp>
        <p:nvSpPr>
          <p:cNvPr id="4" name="">
            <a:extLst xmlns:a="http://schemas.openxmlformats.org/drawingml/2006/main">
              <a:ext uri="{FF2B5EF4-FFF2-40B4-BE49-F238E27FC236}">
                <a16:creationId xmlns:a16="http://schemas.microsoft.com/office/drawing/2014/main" id="{5CBDD868-902C-419E-907F-DFB5106EA9C5}"/>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FF7F11"/>
                </a:solidFill>
                <a:latin typeface="Arial"/>
                <a:ea typeface="Arial"/>
                <a:cs typeface="Arial"/>
              </a:defRPr>
            </a:pPr>
            <a:r>
              <a:rPr sz="6750" b="1">
                <a:solidFill>
                  <a:srgbClr val="FF7F11"/>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8F36DC06-C6D6-44A5-A9AB-67E1F6AE4E04}"/>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Serializability matches the outcome of some serial execution.</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Actual serial execution is simple but constrained by transaction length and throughput.</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Two-phase locking and SSI block anomalies with different costs.</a:t>
            </a:r>
          </a:p>
        </p:txBody>
      </p:sp>
      <p:sp>
        <p:nvSpPr>
          <p:cNvPr id="6" name="">
            <a:extLst xmlns:a="http://schemas.openxmlformats.org/drawingml/2006/main">
              <a:ext uri="{FF2B5EF4-FFF2-40B4-BE49-F238E27FC236}">
                <a16:creationId xmlns:a16="http://schemas.microsoft.com/office/drawing/2014/main" id="{58AD0D65-5B76-4D86-B785-D6DDDA0D2CF1}"/>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FC0FCB8C-F623-4F14-8864-8035207DF1E2}"/>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266825229"/>
      </p:ext>
    </p:extLst>
  </p:cSld>
</p:sld>
</file>

<file path=ppt/slides/slide1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798A7A1-D82C-4CC4-B0BD-F0A9604939D4}"/>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ECBAC9DD-079D-41EB-82CD-9E0ED8CA805A}"/>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Serializability: design trade-offs</a:t>
            </a:r>
          </a:p>
        </p:txBody>
      </p:sp>
      <p:sp>
        <p:nvSpPr>
          <p:cNvPr id="3" name="">
            <a:extLst xmlns:a="http://schemas.openxmlformats.org/drawingml/2006/main">
              <a:ext uri="{FF2B5EF4-FFF2-40B4-BE49-F238E27FC236}">
                <a16:creationId xmlns:a16="http://schemas.microsoft.com/office/drawing/2014/main" id="{04366776-DED6-463B-9992-633C11ECD7A8}"/>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16 / 27</a:t>
            </a:r>
          </a:p>
        </p:txBody>
      </p:sp>
      <p:sp>
        <p:nvSpPr>
          <p:cNvPr id="4" name="">
            <a:extLst xmlns:a="http://schemas.openxmlformats.org/drawingml/2006/main">
              <a:ext uri="{FF2B5EF4-FFF2-40B4-BE49-F238E27FC236}">
                <a16:creationId xmlns:a16="http://schemas.microsoft.com/office/drawing/2014/main" id="{336CC282-673B-46DB-A27C-A1FD316EB35A}"/>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FF7F11"/>
                </a:solidFill>
                <a:latin typeface="Arial"/>
                <a:ea typeface="Arial"/>
                <a:cs typeface="Arial"/>
              </a:defRPr>
            </a:pPr>
            <a:r>
              <a:rPr sz="6750" b="1">
                <a:solidFill>
                  <a:srgbClr val="FF7F11"/>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56BA9C29-D774-47CC-81AA-E7F882A8CA17}"/>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Serializability matches the outcome of some serial execution.</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306606417"/>
      </p:ext>
    </p:extLst>
  </p:cSld>
</p:sld>
</file>

<file path=ppt/slides/slide1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5982E72-B91B-4558-AAF7-8222F84783E7}"/>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6F45DC6A-3A95-4FF5-ACB2-F8D4B870C70D}"/>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8-9: mechanism explained</a:t>
            </a:r>
          </a:p>
        </p:txBody>
      </p:sp>
      <p:sp>
        <p:nvSpPr>
          <p:cNvPr id="3" name="">
            <a:extLst xmlns:a="http://schemas.openxmlformats.org/drawingml/2006/main">
              <a:ext uri="{FF2B5EF4-FFF2-40B4-BE49-F238E27FC236}">
                <a16:creationId xmlns:a16="http://schemas.microsoft.com/office/drawing/2014/main" id="{9B181616-E7B4-475C-B268-682CA7584674}"/>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17 / 27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d371efe4c4947eb"/>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8B706FB-B343-45FE-957F-67EC9FFA0C98}"/>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2BCFC3F2-3EBF-4B38-B828-7E30F02BD073}"/>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Provided that all data required by a transaction is in memory, the stored</a:t>
            </a:r>
          </a:p>
        </p:txBody>
      </p:sp>
      <p:sp>
        <p:nvSpPr>
          <p:cNvPr id="7" name="">
            <a:extLst xmlns:a="http://schemas.openxmlformats.org/drawingml/2006/main">
              <a:ext uri="{FF2B5EF4-FFF2-40B4-BE49-F238E27FC236}">
                <a16:creationId xmlns:a16="http://schemas.microsoft.com/office/drawing/2014/main" id="{86C347CA-C7DF-4222-B397-FDDB74F665BC}"/>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0DEFFDF1-524F-4EF5-9463-338A5CAFA201}"/>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It turns the chapter concept into a concrete dataflow, timeline, or state transition.</a:t>
            </a:r>
          </a:p>
        </p:txBody>
      </p:sp>
      <p:sp>
        <p:nvSpPr>
          <p:cNvPr id="9" name="">
            <a:extLst xmlns:a="http://schemas.openxmlformats.org/drawingml/2006/main">
              <a:ext uri="{FF2B5EF4-FFF2-40B4-BE49-F238E27FC236}">
                <a16:creationId xmlns:a16="http://schemas.microsoft.com/office/drawing/2014/main" id="{F8F61F6C-B2DD-4CB6-99EE-AA0D8CDA3338}"/>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245F3D4A-32D5-4F64-9DA4-4DDDC35EC41A}"/>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Check the actors, data direction, operation order, and hidden system assumptions.</a:t>
            </a:r>
          </a:p>
        </p:txBody>
      </p:sp>
    </p:spTree>
    <p:extLst>
      <p:ext uri="{BB962C8B-B14F-4D97-AF65-F5344CB8AC3E}">
        <p14:creationId xmlns:p14="http://schemas.microsoft.com/office/powerpoint/2010/main" val="257488045"/>
      </p:ext>
    </p:extLst>
  </p:cSld>
</p:sld>
</file>

<file path=ppt/slides/slide1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E69A7EF-4724-4EE1-ACB5-643612E00318}"/>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98D7555F-FF00-4857-98B9-55EEFC5F8E52}"/>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8-10: mechanism explained</a:t>
            </a:r>
          </a:p>
        </p:txBody>
      </p:sp>
      <p:sp>
        <p:nvSpPr>
          <p:cNvPr id="3" name="">
            <a:extLst xmlns:a="http://schemas.openxmlformats.org/drawingml/2006/main">
              <a:ext uri="{FF2B5EF4-FFF2-40B4-BE49-F238E27FC236}">
                <a16:creationId xmlns:a16="http://schemas.microsoft.com/office/drawing/2014/main" id="{650C1676-1797-4600-A506-7A7D0E562DF6}"/>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18 / 27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a6ef2f8acc84400"/>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95049B0-7BB0-46CA-9885-D3806339DF14}"/>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214F88C2-F285-41FE-B6DA-8730F37E732D}"/>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Concurrent transactions read snapshots and create dependencies that may form an anomaly.</a:t>
            </a:r>
          </a:p>
        </p:txBody>
      </p:sp>
      <p:sp>
        <p:nvSpPr>
          <p:cNvPr id="7" name="">
            <a:extLst xmlns:a="http://schemas.openxmlformats.org/drawingml/2006/main">
              <a:ext uri="{FF2B5EF4-FFF2-40B4-BE49-F238E27FC236}">
                <a16:creationId xmlns:a16="http://schemas.microsoft.com/office/drawing/2014/main" id="{79CF1A5D-EA7A-4B27-8992-F52A82CB5CA0}"/>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E2525ED1-58CA-4C91-B01F-491D05C31EEA}"/>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MVCC improves concurrency, while conflict detection or serialization protects invariants.</a:t>
            </a:r>
          </a:p>
        </p:txBody>
      </p:sp>
      <p:sp>
        <p:nvSpPr>
          <p:cNvPr id="9" name="">
            <a:extLst xmlns:a="http://schemas.openxmlformats.org/drawingml/2006/main">
              <a:ext uri="{FF2B5EF4-FFF2-40B4-BE49-F238E27FC236}">
                <a16:creationId xmlns:a16="http://schemas.microsoft.com/office/drawing/2014/main" id="{A9767C2B-E36E-464D-98BE-2A2BB0C4096A}"/>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F5AA9A2C-E9AA-4842-AAFD-52857DA33DF4}"/>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595006083"/>
      </p:ext>
    </p:extLst>
  </p:cSld>
</p:sld>
</file>

<file path=ppt/slides/slide1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28F228-730D-48FE-948E-F80FC18030B7}"/>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32D9CB70-8E2A-421A-A6C1-D0374A80F1D7}"/>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8-11: mechanism explained</a:t>
            </a:r>
          </a:p>
        </p:txBody>
      </p:sp>
      <p:sp>
        <p:nvSpPr>
          <p:cNvPr id="3" name="">
            <a:extLst xmlns:a="http://schemas.openxmlformats.org/drawingml/2006/main">
              <a:ext uri="{FF2B5EF4-FFF2-40B4-BE49-F238E27FC236}">
                <a16:creationId xmlns:a16="http://schemas.microsoft.com/office/drawing/2014/main" id="{E6B11B5D-598B-4514-B487-6296A3BDD199}"/>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19 / 27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b67f122b31d416b"/>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FA88C0E-E0F0-4FD7-B98B-D3941C379AC6}"/>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980FA04E-ABB4-43F6-ADCE-A7DE84B2BE58}"/>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Concurrent transactions read snapshots and create dependencies that may form an anomaly.</a:t>
            </a:r>
          </a:p>
        </p:txBody>
      </p:sp>
      <p:sp>
        <p:nvSpPr>
          <p:cNvPr id="7" name="">
            <a:extLst xmlns:a="http://schemas.openxmlformats.org/drawingml/2006/main">
              <a:ext uri="{FF2B5EF4-FFF2-40B4-BE49-F238E27FC236}">
                <a16:creationId xmlns:a16="http://schemas.microsoft.com/office/drawing/2014/main" id="{1E7EF4E9-CF89-435B-A64E-A550A06E95F4}"/>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9EE837BB-E684-4522-9B09-6539F60490A8}"/>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MVCC improves concurrency, while conflict detection or serialization protects invariants.</a:t>
            </a:r>
          </a:p>
        </p:txBody>
      </p:sp>
      <p:sp>
        <p:nvSpPr>
          <p:cNvPr id="9" name="">
            <a:extLst xmlns:a="http://schemas.openxmlformats.org/drawingml/2006/main">
              <a:ext uri="{FF2B5EF4-FFF2-40B4-BE49-F238E27FC236}">
                <a16:creationId xmlns:a16="http://schemas.microsoft.com/office/drawing/2014/main" id="{2DCF92C1-AB41-4ED4-9EC2-E1DBC2C45395}"/>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48C7CAAE-80D1-4D33-A1BB-4DD36C646028}"/>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694057969"/>
      </p:ext>
    </p:extLst>
  </p:cSld>
</p:sld>
</file>

<file path=ppt/slides/slide2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723B07-F25F-4843-9476-32BC883AA723}"/>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B7E30F5A-2AEE-43DC-9F59-4AD6F19A454F}"/>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Two-phase commit</a:t>
            </a:r>
          </a:p>
        </p:txBody>
      </p:sp>
      <p:sp>
        <p:nvSpPr>
          <p:cNvPr id="3" name="">
            <a:extLst xmlns:a="http://schemas.openxmlformats.org/drawingml/2006/main">
              <a:ext uri="{FF2B5EF4-FFF2-40B4-BE49-F238E27FC236}">
                <a16:creationId xmlns:a16="http://schemas.microsoft.com/office/drawing/2014/main" id="{E948DFBA-2F57-47F7-91F0-990E56BBC5BC}"/>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20 / 27</a:t>
            </a:r>
          </a:p>
        </p:txBody>
      </p:sp>
      <p:sp>
        <p:nvSpPr>
          <p:cNvPr id="4" name="">
            <a:extLst xmlns:a="http://schemas.openxmlformats.org/drawingml/2006/main">
              <a:ext uri="{FF2B5EF4-FFF2-40B4-BE49-F238E27FC236}">
                <a16:creationId xmlns:a16="http://schemas.microsoft.com/office/drawing/2014/main" id="{B8FADFFA-1C5D-4E62-B79A-D8B26706E7DC}"/>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FF7F11"/>
                </a:solidFill>
                <a:latin typeface="Arial"/>
                <a:ea typeface="Arial"/>
                <a:cs typeface="Arial"/>
              </a:defRPr>
            </a:pPr>
            <a:r>
              <a:rPr sz="6750" b="1">
                <a:solidFill>
                  <a:srgbClr val="FF7F11"/>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A7C03014-52FF-4845-8B5F-412DF51FEB73}"/>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The coordinator gathers prepare votes before deciding commit or abort.</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Failures can leave participants blocked and dependent on the coordinator log.</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Cross-system transactions expand the failure domain.</a:t>
            </a:r>
          </a:p>
        </p:txBody>
      </p:sp>
      <p:sp>
        <p:nvSpPr>
          <p:cNvPr id="6" name="">
            <a:extLst xmlns:a="http://schemas.openxmlformats.org/drawingml/2006/main">
              <a:ext uri="{FF2B5EF4-FFF2-40B4-BE49-F238E27FC236}">
                <a16:creationId xmlns:a16="http://schemas.microsoft.com/office/drawing/2014/main" id="{C181185B-8218-45EC-89B8-48A58C2DCCDA}"/>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4DF596D9-A93E-4517-8A18-91C8F359219A}"/>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530426323"/>
      </p:ext>
    </p:extLst>
  </p:cSld>
</p:sld>
</file>

<file path=ppt/slides/slide2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50DF1D-6348-4E88-9DEC-A862AD3F84F2}"/>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988DE8BD-5887-47A7-98B3-4F842C78549F}"/>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Two-phase commit: design trade-offs</a:t>
            </a:r>
          </a:p>
        </p:txBody>
      </p:sp>
      <p:sp>
        <p:nvSpPr>
          <p:cNvPr id="3" name="">
            <a:extLst xmlns:a="http://schemas.openxmlformats.org/drawingml/2006/main">
              <a:ext uri="{FF2B5EF4-FFF2-40B4-BE49-F238E27FC236}">
                <a16:creationId xmlns:a16="http://schemas.microsoft.com/office/drawing/2014/main" id="{AB2F3546-7B37-427F-AAF1-9364039A949C}"/>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21 / 27</a:t>
            </a:r>
          </a:p>
        </p:txBody>
      </p:sp>
      <p:sp>
        <p:nvSpPr>
          <p:cNvPr id="4" name="">
            <a:extLst xmlns:a="http://schemas.openxmlformats.org/drawingml/2006/main">
              <a:ext uri="{FF2B5EF4-FFF2-40B4-BE49-F238E27FC236}">
                <a16:creationId xmlns:a16="http://schemas.microsoft.com/office/drawing/2014/main" id="{2EC9BB24-9A3D-49BE-9BEF-14A13A06DFEA}"/>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FF7F11"/>
                </a:solidFill>
                <a:latin typeface="Arial"/>
                <a:ea typeface="Arial"/>
                <a:cs typeface="Arial"/>
              </a:defRPr>
            </a:pPr>
            <a:r>
              <a:rPr sz="6750" b="1">
                <a:solidFill>
                  <a:srgbClr val="FF7F11"/>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A5064A2B-65E2-481F-B55F-EEB29EFD59DC}"/>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The coordinator gathers prepare votes before deciding commit or abort.</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228391423"/>
      </p:ext>
    </p:extLst>
  </p:cSld>
</p:sld>
</file>

<file path=ppt/slides/slide2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FF2785-BD98-49FB-9F4A-5F861A3363AC}"/>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6E70D812-0E14-46D5-ADBE-A8E5B6D5A2C9}"/>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8-12: mechanism explained</a:t>
            </a:r>
          </a:p>
        </p:txBody>
      </p:sp>
      <p:sp>
        <p:nvSpPr>
          <p:cNvPr id="3" name="">
            <a:extLst xmlns:a="http://schemas.openxmlformats.org/drawingml/2006/main">
              <a:ext uri="{FF2B5EF4-FFF2-40B4-BE49-F238E27FC236}">
                <a16:creationId xmlns:a16="http://schemas.microsoft.com/office/drawing/2014/main" id="{FE9E94F3-F9CF-4B22-8AB3-B04C6BDEBCC1}"/>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22 / 27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15125d0545e449f"/>
          <a:stretch xmlns:a="http://schemas.openxmlformats.org/drawingml/2006/main"/>
        </p:blipFill>
        <p:spPr>
          <a:xfrm xmlns:a="http://schemas.openxmlformats.org/drawingml/2006/main">
            <a:off x="1151262" y="1285875"/>
            <a:ext cx="6489051"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D979B64-98E4-4D3F-91C8-ABB3BCE55761}"/>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96E49680-E12D-49DB-A457-1B5CCC424903}"/>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When a transaction involves multiple database nodes, it may commit on</a:t>
            </a:r>
          </a:p>
        </p:txBody>
      </p:sp>
      <p:sp>
        <p:nvSpPr>
          <p:cNvPr id="7" name="">
            <a:extLst xmlns:a="http://schemas.openxmlformats.org/drawingml/2006/main">
              <a:ext uri="{FF2B5EF4-FFF2-40B4-BE49-F238E27FC236}">
                <a16:creationId xmlns:a16="http://schemas.microsoft.com/office/drawing/2014/main" id="{A188F94C-3C9F-425B-BCFE-3D8F446B8BD1}"/>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1E5B4841-3D94-42F2-8520-DFF39022E362}"/>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It turns the chapter concept into a concrete dataflow, timeline, or state transition.</a:t>
            </a:r>
          </a:p>
        </p:txBody>
      </p:sp>
      <p:sp>
        <p:nvSpPr>
          <p:cNvPr id="9" name="">
            <a:extLst xmlns:a="http://schemas.openxmlformats.org/drawingml/2006/main">
              <a:ext uri="{FF2B5EF4-FFF2-40B4-BE49-F238E27FC236}">
                <a16:creationId xmlns:a16="http://schemas.microsoft.com/office/drawing/2014/main" id="{6320E39F-7DFB-45DC-ADB8-2C5FFAFE51B2}"/>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BE4EF5B4-31AF-4561-A72C-C0D1528A5F47}"/>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Check the actors, data direction, operation order, and hidden system assumptions.</a:t>
            </a:r>
          </a:p>
        </p:txBody>
      </p:sp>
    </p:spTree>
    <p:extLst>
      <p:ext uri="{BB962C8B-B14F-4D97-AF65-F5344CB8AC3E}">
        <p14:creationId xmlns:p14="http://schemas.microsoft.com/office/powerpoint/2010/main" val="550853868"/>
      </p:ext>
    </p:extLst>
  </p:cSld>
</p:sld>
</file>

<file path=ppt/slides/slide2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7AC15C8-7A1C-4FE5-AD72-7965D81EBA34}"/>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454DAEB8-3CA4-4D44-B19C-1B07A92FF3AA}"/>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8-13: mechanism explained</a:t>
            </a:r>
          </a:p>
        </p:txBody>
      </p:sp>
      <p:sp>
        <p:nvSpPr>
          <p:cNvPr id="3" name="">
            <a:extLst xmlns:a="http://schemas.openxmlformats.org/drawingml/2006/main">
              <a:ext uri="{FF2B5EF4-FFF2-40B4-BE49-F238E27FC236}">
                <a16:creationId xmlns:a16="http://schemas.microsoft.com/office/drawing/2014/main" id="{1E4A183A-A759-41F0-9A88-B13CDD5B2CB0}"/>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23 / 27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9cda3bc42294d58"/>
          <a:stretch xmlns:a="http://schemas.openxmlformats.org/drawingml/2006/main"/>
        </p:blipFill>
        <p:spPr>
          <a:xfrm xmlns:a="http://schemas.openxmlformats.org/drawingml/2006/main">
            <a:off x="514350" y="1435298"/>
            <a:ext cx="7762875" cy="446365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0E4EB41-A0BD-4475-B1B6-45278371A5B0}"/>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7BDEDB20-38B1-4AAD-8870-279AE2418B00}"/>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Participants prepare first, then follow one final commit or abort decision.</a:t>
            </a:r>
          </a:p>
        </p:txBody>
      </p:sp>
      <p:sp>
        <p:nvSpPr>
          <p:cNvPr id="7" name="">
            <a:extLst xmlns:a="http://schemas.openxmlformats.org/drawingml/2006/main">
              <a:ext uri="{FF2B5EF4-FFF2-40B4-BE49-F238E27FC236}">
                <a16:creationId xmlns:a16="http://schemas.microsoft.com/office/drawing/2014/main" id="{B043656C-C30F-40B0-AF9A-E1C6281A2BDD}"/>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DE403336-D189-495C-85D8-0A49ADA06402}"/>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A coordinator failure after prepare can leave participants blocked and holding resources.</a:t>
            </a:r>
          </a:p>
        </p:txBody>
      </p:sp>
      <p:sp>
        <p:nvSpPr>
          <p:cNvPr id="9" name="">
            <a:extLst xmlns:a="http://schemas.openxmlformats.org/drawingml/2006/main">
              <a:ext uri="{FF2B5EF4-FFF2-40B4-BE49-F238E27FC236}">
                <a16:creationId xmlns:a16="http://schemas.microsoft.com/office/drawing/2014/main" id="{E468598C-9169-43D2-8604-8E9E97FF29B0}"/>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3B16BC1D-8339-4827-A696-A69CF2DCC06F}"/>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51949013"/>
      </p:ext>
    </p:extLst>
  </p:cSld>
</p:sld>
</file>

<file path=ppt/slides/slide2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F6ABC70-4920-4755-9217-2E40EDC425C5}"/>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D6311A9B-8AA5-4C62-8F7F-8A8956030BC0}"/>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8-14: mechanism explained</a:t>
            </a:r>
          </a:p>
        </p:txBody>
      </p:sp>
      <p:sp>
        <p:nvSpPr>
          <p:cNvPr id="3" name="">
            <a:extLst xmlns:a="http://schemas.openxmlformats.org/drawingml/2006/main">
              <a:ext uri="{FF2B5EF4-FFF2-40B4-BE49-F238E27FC236}">
                <a16:creationId xmlns:a16="http://schemas.microsoft.com/office/drawing/2014/main" id="{B79C07BA-9892-481A-BC50-1DC169E4CB73}"/>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24 / 27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02319b383af4f8c"/>
          <a:stretch xmlns:a="http://schemas.openxmlformats.org/drawingml/2006/main"/>
        </p:blipFill>
        <p:spPr>
          <a:xfrm xmlns:a="http://schemas.openxmlformats.org/drawingml/2006/main">
            <a:off x="536164" y="1285875"/>
            <a:ext cx="7719247"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6EDFBDB-D15B-49BC-AF82-50D224C55DE7}"/>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C4F6BE99-D344-41D5-B740-13ED3CFB38F1}"/>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Participants prepare first, then follow one final commit or abort decision.</a:t>
            </a:r>
          </a:p>
        </p:txBody>
      </p:sp>
      <p:sp>
        <p:nvSpPr>
          <p:cNvPr id="7" name="">
            <a:extLst xmlns:a="http://schemas.openxmlformats.org/drawingml/2006/main">
              <a:ext uri="{FF2B5EF4-FFF2-40B4-BE49-F238E27FC236}">
                <a16:creationId xmlns:a16="http://schemas.microsoft.com/office/drawing/2014/main" id="{F219AFFE-3CAB-4693-8DE5-90475FC8AB06}"/>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0610B663-4439-4063-93C6-2A972435F1DA}"/>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A coordinator failure after prepare can leave participants blocked and holding resources.</a:t>
            </a:r>
          </a:p>
        </p:txBody>
      </p:sp>
      <p:sp>
        <p:nvSpPr>
          <p:cNvPr id="9" name="">
            <a:extLst xmlns:a="http://schemas.openxmlformats.org/drawingml/2006/main">
              <a:ext uri="{FF2B5EF4-FFF2-40B4-BE49-F238E27FC236}">
                <a16:creationId xmlns:a16="http://schemas.microsoft.com/office/drawing/2014/main" id="{079297E2-EAB3-47AA-8F46-E04D12788F5A}"/>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F39BD590-E744-403F-B498-2D7D61C9EDF8}"/>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715929874"/>
      </p:ext>
    </p:extLst>
  </p:cSld>
</p:sld>
</file>

<file path=ppt/slides/slide2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04B7FA-9A1E-4E52-A512-DC3FDB5E7E5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794B07D9-B18F-47B5-AB7D-4D1ECC98A833}"/>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Choosing transaction semantics</a:t>
            </a:r>
          </a:p>
        </p:txBody>
      </p:sp>
      <p:sp>
        <p:nvSpPr>
          <p:cNvPr id="3" name="">
            <a:extLst xmlns:a="http://schemas.openxmlformats.org/drawingml/2006/main">
              <a:ext uri="{FF2B5EF4-FFF2-40B4-BE49-F238E27FC236}">
                <a16:creationId xmlns:a16="http://schemas.microsoft.com/office/drawing/2014/main" id="{99EC9E50-E8F0-4403-96D7-C05FB92A15E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25 / 27</a:t>
            </a:r>
          </a:p>
        </p:txBody>
      </p:sp>
      <p:sp>
        <p:nvSpPr>
          <p:cNvPr id="4" name="">
            <a:extLst xmlns:a="http://schemas.openxmlformats.org/drawingml/2006/main">
              <a:ext uri="{FF2B5EF4-FFF2-40B4-BE49-F238E27FC236}">
                <a16:creationId xmlns:a16="http://schemas.microsoft.com/office/drawing/2014/main" id="{D555B2B6-81D7-4BA6-8C48-CFF455FC31CE}"/>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FF7F11"/>
                </a:solidFill>
                <a:latin typeface="Arial"/>
                <a:ea typeface="Arial"/>
                <a:cs typeface="Arial"/>
              </a:defRPr>
            </a:pPr>
            <a:r>
              <a:rPr sz="6750" b="1">
                <a:solidFill>
                  <a:srgbClr val="FF7F11"/>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4DAD6A6E-B97E-4CEA-B8BE-27BF863A0770}"/>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Identify invariants and the concurrency anomalies that can violate them.</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Select isolation from business risk, then test the assumptions.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Exactly-once processing usually combines transactional state with idempotent effects.</a:t>
            </a:r>
          </a:p>
        </p:txBody>
      </p:sp>
      <p:sp>
        <p:nvSpPr>
          <p:cNvPr id="6" name="">
            <a:extLst xmlns:a="http://schemas.openxmlformats.org/drawingml/2006/main">
              <a:ext uri="{FF2B5EF4-FFF2-40B4-BE49-F238E27FC236}">
                <a16:creationId xmlns:a16="http://schemas.microsoft.com/office/drawing/2014/main" id="{2D4FBA39-5B51-4DB0-A241-09DFB2DD01AC}"/>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F7F11"/>
                </a:solidFill>
                <a:latin typeface="Arial"/>
                <a:ea typeface="Arial"/>
                <a:cs typeface="Arial"/>
              </a:defRPr>
            </a:pPr>
            <a:r>
              <a:rPr sz="1200" b="1">
                <a:solidFill>
                  <a:srgbClr val="FF7F11"/>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7AB718E6-7885-45D7-9A39-0438B2B5C019}"/>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836705584"/>
      </p:ext>
    </p:extLst>
  </p:cSld>
</p:sld>
</file>

<file path=ppt/slides/slide2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3DAE88-4399-49A9-A94B-78D65A5F3BC1}"/>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62E73A72-E247-4678-B814-D5620AE6C5F3}"/>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Choosing transaction semantics: design trade-offs</a:t>
            </a:r>
          </a:p>
        </p:txBody>
      </p:sp>
      <p:sp>
        <p:nvSpPr>
          <p:cNvPr id="3" name="">
            <a:extLst xmlns:a="http://schemas.openxmlformats.org/drawingml/2006/main">
              <a:ext uri="{FF2B5EF4-FFF2-40B4-BE49-F238E27FC236}">
                <a16:creationId xmlns:a16="http://schemas.microsoft.com/office/drawing/2014/main" id="{C29F54DA-EC56-4C51-852C-4E9EB4A7219A}"/>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26 / 27</a:t>
            </a:r>
          </a:p>
        </p:txBody>
      </p:sp>
      <p:sp>
        <p:nvSpPr>
          <p:cNvPr id="4" name="">
            <a:extLst xmlns:a="http://schemas.openxmlformats.org/drawingml/2006/main">
              <a:ext uri="{FF2B5EF4-FFF2-40B4-BE49-F238E27FC236}">
                <a16:creationId xmlns:a16="http://schemas.microsoft.com/office/drawing/2014/main" id="{69B63AF2-DD94-42A7-A05D-F31472FB2EC0}"/>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FF7F11"/>
                </a:solidFill>
                <a:latin typeface="Arial"/>
                <a:ea typeface="Arial"/>
                <a:cs typeface="Arial"/>
              </a:defRPr>
            </a:pPr>
            <a:r>
              <a:rPr sz="6750" b="1">
                <a:solidFill>
                  <a:srgbClr val="FF7F11"/>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4452A20E-74F4-4908-BAED-9E03AF2F03B0}"/>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Identify invariants and the concurrency anomalies that can violate them.</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35203622"/>
      </p:ext>
    </p:extLst>
  </p:cSld>
</p:sld>
</file>

<file path=ppt/slides/slide2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EFC055A-3209-46EB-8339-538B26BEDF16}"/>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F7F11"/>
                </a:solidFill>
                <a:latin typeface="Arial"/>
                <a:ea typeface="Arial"/>
                <a:cs typeface="Arial"/>
              </a:defRPr>
            </a:pPr>
            <a:r>
              <a:rPr sz="1200" b="1" spc="2">
                <a:solidFill>
                  <a:srgbClr val="FF7F11"/>
                </a:solidFill>
                <a:latin typeface="Arial"/>
                <a:ea typeface="Arial"/>
                <a:cs typeface="Arial"/>
              </a:rPr>
              <a:t>CHAPTER 08</a:t>
            </a:r>
          </a:p>
        </p:txBody>
      </p:sp>
      <p:sp>
        <p:nvSpPr>
          <p:cNvPr id="2" name="">
            <a:extLst xmlns:a="http://schemas.openxmlformats.org/drawingml/2006/main">
              <a:ext uri="{FF2B5EF4-FFF2-40B4-BE49-F238E27FC236}">
                <a16:creationId xmlns:a16="http://schemas.microsoft.com/office/drawing/2014/main" id="{D0F74C9A-D74E-430C-BD7C-785133DB6337}"/>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Review and application</a:t>
            </a:r>
          </a:p>
        </p:txBody>
      </p:sp>
      <p:sp>
        <p:nvSpPr>
          <p:cNvPr id="3" name="">
            <a:extLst xmlns:a="http://schemas.openxmlformats.org/drawingml/2006/main">
              <a:ext uri="{FF2B5EF4-FFF2-40B4-BE49-F238E27FC236}">
                <a16:creationId xmlns:a16="http://schemas.microsoft.com/office/drawing/2014/main" id="{34BB81AF-72A0-40DA-AFD5-6CE5CCC2723A}"/>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27 / 27</a:t>
            </a:r>
          </a:p>
        </p:txBody>
      </p:sp>
      <p:sp>
        <p:nvSpPr>
          <p:cNvPr id="4" name="">
            <a:extLst xmlns:a="http://schemas.openxmlformats.org/drawingml/2006/main">
              <a:ext uri="{FF2B5EF4-FFF2-40B4-BE49-F238E27FC236}">
                <a16:creationId xmlns:a16="http://schemas.microsoft.com/office/drawing/2014/main" id="{07B55520-972A-4FC6-BBC0-6C275C0A4E94}"/>
              </a:ext>
            </a:extLst>
          </p:cNvPr>
          <p:cNvSpPr>
            <a:spLocks xmlns:a="http://schemas.openxmlformats.org/drawingml/2006/main" noGrp="1"/>
          </p:cNvSpPr>
          <p:nvPr/>
        </p:nvSpPr>
        <p:spPr>
          <a:xfrm xmlns:a="http://schemas.openxmlformats.org/drawingml/2006/main">
            <a:off x="1285875" y="1666875"/>
            <a:ext cx="952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State the chapter’s central problem in one sentence.</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Choose one mechanism and list the assumptions it relies on.</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Describe a failure scenario and explain the recovery path.</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Apply one trade-off from the chapter to a system you are designing.</a:t>
            </a:r>
          </a:p>
        </p:txBody>
      </p:sp>
    </p:spTree>
    <p:extLst>
      <p:ext uri="{BB962C8B-B14F-4D97-AF65-F5344CB8AC3E}">
        <p14:creationId xmlns:p14="http://schemas.microsoft.com/office/powerpoint/2010/main" val="9993694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2026-09-27T19:47:31.9980000Z</dcterms:created>
  <dcterms:modified xsi:type="dcterms:W3CDTF">2026-09-27T19:47:31.9980000Z</dcterms:modified>
</coreProperties>
</file>