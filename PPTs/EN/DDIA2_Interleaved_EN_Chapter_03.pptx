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0a9e296b3946f3" /><Relationship Type="http://schemas.openxmlformats.org/officeDocument/2006/relationships/extended-properties" Target="/docProps/app.xml" Id="R1fcbac75e2424401" /><Relationship Type="http://schemas.openxmlformats.org/officeDocument/2006/relationships/officeDocument" Target="/ppt/presentation.xml" Id="R4eb1ba66faaf475f" /></Relationships>
</file>

<file path=ppt/presentation.xml><?xml version="1.0" encoding="utf-8"?>
<p:presentation xmlns:p="http://schemas.openxmlformats.org/presentationml/2006/main">
  <p:sldMasterIdLst>
    <p:sldMasterId xmlns:r="http://schemas.openxmlformats.org/officeDocument/2006/relationships" id="2147483648" r:id="R98de5e6235c44e14"/>
  </p:sldMasterIdLst>
  <p:notesMasterIdLst>
    <p:notesMasterId xmlns:r="http://schemas.openxmlformats.org/officeDocument/2006/relationships" r:id="R77cdd06b1ec54589"/>
  </p:notesMasterIdLst>
  <p:sldIdLst>
    <p:sldId xmlns:r="http://schemas.openxmlformats.org/officeDocument/2006/relationships" id="256" r:id="R4e2e103499ae4083"/>
    <p:sldId xmlns:r="http://schemas.openxmlformats.org/officeDocument/2006/relationships" id="257" r:id="R9f8caa2fe2344ce6"/>
    <p:sldId xmlns:r="http://schemas.openxmlformats.org/officeDocument/2006/relationships" id="258" r:id="R19b4a632f55143de"/>
    <p:sldId xmlns:r="http://schemas.openxmlformats.org/officeDocument/2006/relationships" id="259" r:id="R8f10c3db5e4045c9"/>
    <p:sldId xmlns:r="http://schemas.openxmlformats.org/officeDocument/2006/relationships" id="260" r:id="R93ec83afe486443f"/>
    <p:sldId xmlns:r="http://schemas.openxmlformats.org/officeDocument/2006/relationships" id="261" r:id="R79b4c2c6ec6f4394"/>
    <p:sldId xmlns:r="http://schemas.openxmlformats.org/officeDocument/2006/relationships" id="262" r:id="Ra141691f9dda4ab4"/>
    <p:sldId xmlns:r="http://schemas.openxmlformats.org/officeDocument/2006/relationships" id="263" r:id="Rcc0390a5e91046a6"/>
    <p:sldId xmlns:r="http://schemas.openxmlformats.org/officeDocument/2006/relationships" id="264" r:id="R8ebd9c53cb2a4076"/>
    <p:sldId xmlns:r="http://schemas.openxmlformats.org/officeDocument/2006/relationships" id="265" r:id="Reccbfcd7de9347fd"/>
    <p:sldId xmlns:r="http://schemas.openxmlformats.org/officeDocument/2006/relationships" id="266" r:id="Re582c6daced24f27"/>
    <p:sldId xmlns:r="http://schemas.openxmlformats.org/officeDocument/2006/relationships" id="267" r:id="Rcc3e521cf4ef4066"/>
    <p:sldId xmlns:r="http://schemas.openxmlformats.org/officeDocument/2006/relationships" id="268" r:id="R9af1e34cc12b420d"/>
    <p:sldId xmlns:r="http://schemas.openxmlformats.org/officeDocument/2006/relationships" id="269" r:id="R1098577e283d483d"/>
    <p:sldId xmlns:r="http://schemas.openxmlformats.org/officeDocument/2006/relationships" id="270" r:id="R3480b824d0ee4061"/>
    <p:sldId xmlns:r="http://schemas.openxmlformats.org/officeDocument/2006/relationships" id="271" r:id="R8fcfbe75c738444f"/>
    <p:sldId xmlns:r="http://schemas.openxmlformats.org/officeDocument/2006/relationships" id="272" r:id="R42f4c61edb3949d0"/>
    <p:sldId xmlns:r="http://schemas.openxmlformats.org/officeDocument/2006/relationships" id="273" r:id="Rf745fee64b9344a3"/>
    <p:sldId xmlns:r="http://schemas.openxmlformats.org/officeDocument/2006/relationships" id="274" r:id="R34c78be280da4e05"/>
    <p:sldId xmlns:r="http://schemas.openxmlformats.org/officeDocument/2006/relationships" id="275" r:id="Rbf693b24b3714190"/>
    <p:sldId xmlns:r="http://schemas.openxmlformats.org/officeDocument/2006/relationships" id="276" r:id="R9180238e89564668"/>
    <p:sldId xmlns:r="http://schemas.openxmlformats.org/officeDocument/2006/relationships" id="277" r:id="R98e7fd77c3504b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3c985369564a2c" /><Relationship Type="http://schemas.openxmlformats.org/officeDocument/2006/relationships/slideMaster" Target="/ppt/slideMasters/slideMaster1.xml" Id="R98de5e6235c44e14" /><Relationship Type="http://schemas.openxmlformats.org/officeDocument/2006/relationships/notesMaster" Target="/ppt/notesMasters/notesMaster1.xml" Id="R77cdd06b1ec54589" /><Relationship Type="http://schemas.openxmlformats.org/officeDocument/2006/relationships/presProps" Target="/ppt/presProps.xml" Id="R6da8aa0dfc6146bd" /><Relationship Type="http://schemas.openxmlformats.org/officeDocument/2006/relationships/tableStyles" Target="/ppt/tableStyles.xml" Id="Rd984895c6e5048ef" /><Relationship Type="http://schemas.openxmlformats.org/officeDocument/2006/relationships/slide" Target="/ppt/slides/slide1.xml" Id="R4e2e103499ae4083" /><Relationship Type="http://schemas.openxmlformats.org/officeDocument/2006/relationships/slide" Target="/ppt/slides/slide2.xml" Id="R9f8caa2fe2344ce6" /><Relationship Type="http://schemas.openxmlformats.org/officeDocument/2006/relationships/slide" Target="/ppt/slides/slide3.xml" Id="R19b4a632f55143de" /><Relationship Type="http://schemas.openxmlformats.org/officeDocument/2006/relationships/slide" Target="/ppt/slides/slide4.xml" Id="R8f10c3db5e4045c9" /><Relationship Type="http://schemas.openxmlformats.org/officeDocument/2006/relationships/slide" Target="/ppt/slides/slide5.xml" Id="R93ec83afe486443f" /><Relationship Type="http://schemas.openxmlformats.org/officeDocument/2006/relationships/slide" Target="/ppt/slides/slide6.xml" Id="R79b4c2c6ec6f4394" /><Relationship Type="http://schemas.openxmlformats.org/officeDocument/2006/relationships/slide" Target="/ppt/slides/slide7.xml" Id="Ra141691f9dda4ab4" /><Relationship Type="http://schemas.openxmlformats.org/officeDocument/2006/relationships/slide" Target="/ppt/slides/slide8.xml" Id="Rcc0390a5e91046a6" /><Relationship Type="http://schemas.openxmlformats.org/officeDocument/2006/relationships/slide" Target="/ppt/slides/slide9.xml" Id="R8ebd9c53cb2a4076" /><Relationship Type="http://schemas.openxmlformats.org/officeDocument/2006/relationships/slide" Target="/ppt/slides/slide10.xml" Id="Reccbfcd7de9347fd" /><Relationship Type="http://schemas.openxmlformats.org/officeDocument/2006/relationships/slide" Target="/ppt/slides/slide11.xml" Id="Re582c6daced24f27" /><Relationship Type="http://schemas.openxmlformats.org/officeDocument/2006/relationships/slide" Target="/ppt/slides/slide12.xml" Id="Rcc3e521cf4ef4066" /><Relationship Type="http://schemas.openxmlformats.org/officeDocument/2006/relationships/slide" Target="/ppt/slides/slide13.xml" Id="R9af1e34cc12b420d" /><Relationship Type="http://schemas.openxmlformats.org/officeDocument/2006/relationships/slide" Target="/ppt/slides/slide14.xml" Id="R1098577e283d483d" /><Relationship Type="http://schemas.openxmlformats.org/officeDocument/2006/relationships/slide" Target="/ppt/slides/slide15.xml" Id="R3480b824d0ee4061" /><Relationship Type="http://schemas.openxmlformats.org/officeDocument/2006/relationships/slide" Target="/ppt/slides/slide16.xml" Id="R8fcfbe75c738444f" /><Relationship Type="http://schemas.openxmlformats.org/officeDocument/2006/relationships/slide" Target="/ppt/slides/slide17.xml" Id="R42f4c61edb3949d0" /><Relationship Type="http://schemas.openxmlformats.org/officeDocument/2006/relationships/slide" Target="/ppt/slides/slide18.xml" Id="Rf745fee64b9344a3" /><Relationship Type="http://schemas.openxmlformats.org/officeDocument/2006/relationships/slide" Target="/ppt/slides/slide19.xml" Id="R34c78be280da4e05" /><Relationship Type="http://schemas.openxmlformats.org/officeDocument/2006/relationships/slide" Target="/ppt/slides/slide20.xml" Id="Rbf693b24b3714190" /><Relationship Type="http://schemas.openxmlformats.org/officeDocument/2006/relationships/slide" Target="/ppt/slides/slide21.xml" Id="R9180238e89564668" /><Relationship Type="http://schemas.openxmlformats.org/officeDocument/2006/relationships/slide" Target="/ppt/slides/slide22.xml" Id="R98e7fd77c3504b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f796ffd71045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cd2eec81af42b8" /><Relationship Type="http://schemas.openxmlformats.org/officeDocument/2006/relationships/notesMaster" Target="/ppt/notesMasters/notesMaster1.xml" Id="R082230ff69424e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b13eb632e949be" /><Relationship Type="http://schemas.openxmlformats.org/officeDocument/2006/relationships/notesMaster" Target="/ppt/notesMasters/notesMaster1.xml" Id="R098104606b3642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be757135074bea" /><Relationship Type="http://schemas.openxmlformats.org/officeDocument/2006/relationships/notesMaster" Target="/ppt/notesMasters/notesMaster1.xml" Id="R49be973232a740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b612e7fbe141d0" /><Relationship Type="http://schemas.openxmlformats.org/officeDocument/2006/relationships/notesMaster" Target="/ppt/notesMasters/notesMaster1.xml" Id="R298f9c88e71247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dafe3c43eb413a" /><Relationship Type="http://schemas.openxmlformats.org/officeDocument/2006/relationships/notesMaster" Target="/ppt/notesMasters/notesMaster1.xml" Id="R7e5c56ceffed48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d2be9bc4e541db" /><Relationship Type="http://schemas.openxmlformats.org/officeDocument/2006/relationships/notesMaster" Target="/ppt/notesMasters/notesMaster1.xml" Id="Rce7f783875ca46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364155a55b43b5" /><Relationship Type="http://schemas.openxmlformats.org/officeDocument/2006/relationships/notesMaster" Target="/ppt/notesMasters/notesMaster1.xml" Id="Re5b3a4aef7d942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bbd86e69d9450e" /><Relationship Type="http://schemas.openxmlformats.org/officeDocument/2006/relationships/notesMaster" Target="/ppt/notesMasters/notesMaster1.xml" Id="Rd46220dcfdf545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f7eb3b286c441a" /><Relationship Type="http://schemas.openxmlformats.org/officeDocument/2006/relationships/notesMaster" Target="/ppt/notesMasters/notesMaster1.xml" Id="Raee2562d3e6048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bc8dd759894436" /><Relationship Type="http://schemas.openxmlformats.org/officeDocument/2006/relationships/notesMaster" Target="/ppt/notesMasters/notesMaster1.xml" Id="R9d3c75d8a2ea4c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31416aa949497b" /><Relationship Type="http://schemas.openxmlformats.org/officeDocument/2006/relationships/notesMaster" Target="/ppt/notesMasters/notesMaster1.xml" Id="Rb7e96c52c0404e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4ec3c5511e4f02" /><Relationship Type="http://schemas.openxmlformats.org/officeDocument/2006/relationships/notesMaster" Target="/ppt/notesMasters/notesMaster1.xml" Id="R921802cfbc4f415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db83e29fe194b5b" /><Relationship Type="http://schemas.openxmlformats.org/officeDocument/2006/relationships/notesMaster" Target="/ppt/notesMasters/notesMaster1.xml" Id="Raf6b9104fb4d46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097d48b02f347c5" /><Relationship Type="http://schemas.openxmlformats.org/officeDocument/2006/relationships/notesMaster" Target="/ppt/notesMasters/notesMaster1.xml" Id="Ree587559ae4549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115e59b4c9f43d3" /><Relationship Type="http://schemas.openxmlformats.org/officeDocument/2006/relationships/notesMaster" Target="/ppt/notesMasters/notesMaster1.xml" Id="R0be64f5fa44d4d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88c7c0ed61944a2" /><Relationship Type="http://schemas.openxmlformats.org/officeDocument/2006/relationships/notesMaster" Target="/ppt/notesMasters/notesMaster1.xml" Id="R2c0a5500f9e349a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7e643be4cb947b2" /><Relationship Type="http://schemas.openxmlformats.org/officeDocument/2006/relationships/notesMaster" Target="/ppt/notesMasters/notesMaster1.xml" Id="R1f962938eb10458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06372e0b51b4c19" /><Relationship Type="http://schemas.openxmlformats.org/officeDocument/2006/relationships/notesMaster" Target="/ppt/notesMasters/notesMaster1.xml" Id="R60f5f883a5d9437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6bc93e295124d1e" /><Relationship Type="http://schemas.openxmlformats.org/officeDocument/2006/relationships/notesMaster" Target="/ppt/notesMasters/notesMaster1.xml" Id="R945e2a1136b243c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6afcbc0a1534d46" /><Relationship Type="http://schemas.openxmlformats.org/officeDocument/2006/relationships/notesMaster" Target="/ppt/notesMasters/notesMaster1.xml" Id="R538a4e4453a845f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d15a90f34b4182" /><Relationship Type="http://schemas.openxmlformats.org/officeDocument/2006/relationships/notesMaster" Target="/ppt/notesMasters/notesMaster1.xml" Id="R0d79efef9054414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f127a908f384578" /><Relationship Type="http://schemas.openxmlformats.org/officeDocument/2006/relationships/notesMaster" Target="/ppt/notesMasters/notesMaster1.xml" Id="R0fb2aa5db6f04b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Figure 3-1, PDF page 94. Original caption: Figure 3-1. Using a relational schema to represent a LinkedIn profile</a:t>
            </a:r>
          </a:p>
          <a:p xmlns:a="http://schemas.openxmlformats.org/drawingml/2006/main">
            <a:r>
              <a:t>Explanation: The diagram shows how entities and relationships are represented by keys, nesting, or joins. The model changes read locality, duplication, and update complexity.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Figure 3-2, PDF page 95. Original caption: Figure 3-2. One-to-many relationships forming a tree structure</a:t>
            </a:r>
          </a:p>
          <a:p xmlns:a="http://schemas.openxmlformats.org/drawingml/2006/main">
            <a:r>
              <a:t>Explanation: The diagram shows how entities and relationships are represented by keys, nesting, or joins. The model changes read locality, duplication, and update complexity.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Figure 3-3, PDF page 100. Original caption: Figure 3-3. Many-to-many relationships in the relational model</a:t>
            </a:r>
          </a:p>
          <a:p xmlns:a="http://schemas.openxmlformats.org/drawingml/2006/main">
            <a:r>
              <a:t>Explanation: The diagram shows how entities and relationships are represented by keys, nesting, or joins. The model changes read locality, duplication, and update complexity.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Figure 3-4, PDF page 101. Original caption: Figure 3-4. Many-to-many relationships in the document model—the data within each</a:t>
            </a:r>
          </a:p>
          <a:p xmlns:a="http://schemas.openxmlformats.org/drawingml/2006/main">
            <a:r>
              <a:t>Explanation: The diagram shows how entities and relationships are represented by keys, nesting, or joins. The model changes read locality, duplication, and update complexity.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Figure 3-5, PDF page 102. Original caption: Figure 3-5. A star schema for use in a data warehouse</a:t>
            </a:r>
          </a:p>
          <a:p xmlns:a="http://schemas.openxmlformats.org/drawingml/2006/main">
            <a:r>
              <a:t>Explanation: Data moves from operational sources through transformation into an analytical store. The warehouse is derived data, so repeatable loads and lineage are essential.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Figure 3-6, PDF page 110. Original caption: Figure 3-6. Graph-structured data (boxes represent vertices, arrows represent edges)</a:t>
            </a:r>
          </a:p>
          <a:p xmlns:a="http://schemas.openxmlformats.org/drawingml/2006/main">
            <a:r>
              <a:t>Explanation: Nodes, edges, or recursive rules express multi-hop relationships. The representation makes traversal and transitive queries explicit.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Figure 3-7, PDF page 122. Original caption: Figure 3-7. Determining that Idaho is in North America, using the Datalog rules from</a:t>
            </a:r>
          </a:p>
          <a:p xmlns:a="http://schemas.openxmlformats.org/drawingml/2006/main">
            <a:r>
              <a:t>Explanation: Nodes, edges, or recursive rules express multi-hop relationships. The representation makes traversal and transitive queries explicit.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Figure 3-8, PDF page 126. Original caption: Figure 3-8. Using a log of immutable events as the source of truth and deriving material‐</a:t>
            </a:r>
          </a:p>
          <a:p xmlns:a="http://schemas.openxmlformats.org/drawingml/2006/main">
            <a:r>
              <a:t>Explanation: The source representation is transformed into a derived view suited to a different workload. Rebuildability improves, while synchronization and schema evolution need care.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Figure 3-9, PDF page 130. Original caption: Figure 3-9. Transforming a relational database of movie ratings into a matrix</a:t>
            </a:r>
          </a:p>
          <a:p xmlns:a="http://schemas.openxmlformats.org/drawingml/2006/main">
            <a:r>
              <a:t>Explanation: The diagram shows how entities and relationships are represented by keys, nesting, or joins. The model changes read locality, duplication, and update complexity.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3, book pages 65-107.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25f3230d3049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2f47aaef654c0b" /><Relationship Type="http://schemas.openxmlformats.org/officeDocument/2006/relationships/slideLayout" Target="/ppt/slideLayouts/slideLayout1.xml" Id="Rc8bfa651470342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bfa651470342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b23330bef164330" /><Relationship Type="http://schemas.openxmlformats.org/officeDocument/2006/relationships/notesSlide" Target="/ppt/notesSlides/notesSlide1.xml" Id="R032288c8d37540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c124bae0fc4e27" /><Relationship Type="http://schemas.openxmlformats.org/officeDocument/2006/relationships/notesSlide" Target="/ppt/notesSlides/notesSlide2.xml" Id="R264b6f00d7e842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5674ef91dd48ae" /><Relationship Type="http://schemas.openxmlformats.org/officeDocument/2006/relationships/notesSlide" Target="/ppt/notesSlides/notesSlide3.xml" Id="Rbf4be3a313f242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798fd4ae7d4daf" /><Relationship Type="http://schemas.openxmlformats.org/officeDocument/2006/relationships/notesSlide" Target="/ppt/notesSlides/notesSlide4.xml" Id="R6a2ebba6252447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81f6965eba43bd" /><Relationship Type="http://schemas.openxmlformats.org/officeDocument/2006/relationships/image" Target="/ppt/media/image.png" Id="R662b762da54f4fd7" /><Relationship Type="http://schemas.openxmlformats.org/officeDocument/2006/relationships/notesSlide" Target="/ppt/notesSlides/notesSlide5.xml" Id="Rc8533893b63b46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f3c649dbc1d46df" /><Relationship Type="http://schemas.openxmlformats.org/officeDocument/2006/relationships/image" Target="/ppt/media/image2.png" Id="Refec9d6753c14aca" /><Relationship Type="http://schemas.openxmlformats.org/officeDocument/2006/relationships/notesSlide" Target="/ppt/notesSlides/notesSlide6.xml" Id="R2944c008995245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d5dbd8349f54839" /><Relationship Type="http://schemas.openxmlformats.org/officeDocument/2006/relationships/image" Target="/ppt/media/image3.png" Id="R8a49ade6f6d84953" /><Relationship Type="http://schemas.openxmlformats.org/officeDocument/2006/relationships/notesSlide" Target="/ppt/notesSlides/notesSlide7.xml" Id="R8ccab26fdce04d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7b130a0f584b60" /><Relationship Type="http://schemas.openxmlformats.org/officeDocument/2006/relationships/image" Target="/ppt/media/image4.png" Id="R6e42f15a7dea45bc" /><Relationship Type="http://schemas.openxmlformats.org/officeDocument/2006/relationships/notesSlide" Target="/ppt/notesSlides/notesSlide8.xml" Id="Rd7f3ff989fb245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159530552b40f5" /><Relationship Type="http://schemas.openxmlformats.org/officeDocument/2006/relationships/image" Target="/ppt/media/image5.png" Id="R04ebe31b5b72472e" /><Relationship Type="http://schemas.openxmlformats.org/officeDocument/2006/relationships/notesSlide" Target="/ppt/notesSlides/notesSlide9.xml" Id="R16d39fa2d44b4d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756a1e9baaf4315" /><Relationship Type="http://schemas.openxmlformats.org/officeDocument/2006/relationships/notesSlide" Target="/ppt/notesSlides/notesSlide10.xml" Id="R3bf171136dd24d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041cb51c87947ea" /><Relationship Type="http://schemas.openxmlformats.org/officeDocument/2006/relationships/notesSlide" Target="/ppt/notesSlides/notesSlide11.xml" Id="R8b3241419fa841b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688ed4da67b4cfc" /><Relationship Type="http://schemas.openxmlformats.org/officeDocument/2006/relationships/image" Target="/ppt/media/image6.png" Id="R782aa59c689e4165" /><Relationship Type="http://schemas.openxmlformats.org/officeDocument/2006/relationships/notesSlide" Target="/ppt/notesSlides/notesSlide12.xml" Id="Rdb7114fa9ae645e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240155d74024c86" /><Relationship Type="http://schemas.openxmlformats.org/officeDocument/2006/relationships/image" Target="/ppt/media/image7.png" Id="Ra88cac7d49e2449f" /><Relationship Type="http://schemas.openxmlformats.org/officeDocument/2006/relationships/notesSlide" Target="/ppt/notesSlides/notesSlide13.xml" Id="Rb49e40dd508645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5a9a34ead444f93" /><Relationship Type="http://schemas.openxmlformats.org/officeDocument/2006/relationships/notesSlide" Target="/ppt/notesSlides/notesSlide14.xml" Id="R377289a6e78848d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e961105832d4f5b" /><Relationship Type="http://schemas.openxmlformats.org/officeDocument/2006/relationships/notesSlide" Target="/ppt/notesSlides/notesSlide15.xml" Id="Rba1519c6809246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08672f95d38491d" /><Relationship Type="http://schemas.openxmlformats.org/officeDocument/2006/relationships/image" Target="/ppt/media/image8.png" Id="R68aeb5ae65984ef8" /><Relationship Type="http://schemas.openxmlformats.org/officeDocument/2006/relationships/notesSlide" Target="/ppt/notesSlides/notesSlide16.xml" Id="R13faa4d84e224ec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6748a5ae305446c" /><Relationship Type="http://schemas.openxmlformats.org/officeDocument/2006/relationships/notesSlide" Target="/ppt/notesSlides/notesSlide17.xml" Id="R38715c767701455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e2e061134784ae2" /><Relationship Type="http://schemas.openxmlformats.org/officeDocument/2006/relationships/notesSlide" Target="/ppt/notesSlides/notesSlide18.xml" Id="R6bc65fc8887545f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bcb4cf0b5444cc0" /><Relationship Type="http://schemas.openxmlformats.org/officeDocument/2006/relationships/image" Target="/ppt/media/image9.png" Id="R3411657eb06a41b8" /><Relationship Type="http://schemas.openxmlformats.org/officeDocument/2006/relationships/notesSlide" Target="/ppt/notesSlides/notesSlide19.xml" Id="Rd8b49d87a56b498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a8efd0f699e490b" /><Relationship Type="http://schemas.openxmlformats.org/officeDocument/2006/relationships/notesSlide" Target="/ppt/notesSlides/notesSlide20.xml" Id="R52ce0a75b2ce4b4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1c5041acb5a40d4" /><Relationship Type="http://schemas.openxmlformats.org/officeDocument/2006/relationships/notesSlide" Target="/ppt/notesSlides/notesSlide21.xml" Id="R7d86783dee724d0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ae3be78c6ce4705" /><Relationship Type="http://schemas.openxmlformats.org/officeDocument/2006/relationships/notesSlide" Target="/ppt/notesSlides/notesSlide22.xml" Id="R78371cd3dc9740d4"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DDC887-5336-4F84-A5C1-42135FF9B8AA}"/>
              </a:ext>
            </a:extLst>
          </p:cNvPr>
          <p:cNvSpPr>
            <a:spLocks xmlns:a="http://schemas.openxmlformats.org/drawingml/2006/main" noGrp="1"/>
          </p:cNvSpPr>
          <p:nvPr/>
        </p:nvSpPr>
        <p:spPr>
          <a:xfrm xmlns:a="http://schemas.openxmlformats.org/drawingml/2006/main">
            <a:off x="714375" y="666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spc="2">
                <a:solidFill>
                  <a:srgbClr val="457B9D"/>
                </a:solidFill>
                <a:latin typeface="Arial"/>
                <a:ea typeface="Arial"/>
                <a:cs typeface="Arial"/>
              </a:defRPr>
            </a:pPr>
            <a:r>
              <a:rPr sz="1425"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AB176C0D-3D68-4E05-8E2C-8ED2E12881E7}"/>
              </a:ext>
            </a:extLst>
          </p:cNvPr>
          <p:cNvSpPr>
            <a:spLocks xmlns:a="http://schemas.openxmlformats.org/drawingml/2006/main" noGrp="1"/>
          </p:cNvSpPr>
          <p:nvPr/>
        </p:nvSpPr>
        <p:spPr>
          <a:xfrm xmlns:a="http://schemas.openxmlformats.org/drawingml/2006/main">
            <a:off x="714375" y="1571625"/>
            <a:ext cx="1028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Data Models and Query Languages</a:t>
            </a:r>
          </a:p>
        </p:txBody>
      </p:sp>
      <p:sp>
        <p:nvSpPr>
          <p:cNvPr id="3" name="">
            <a:extLst xmlns:a="http://schemas.openxmlformats.org/drawingml/2006/main">
              <a:ext uri="{FF2B5EF4-FFF2-40B4-BE49-F238E27FC236}">
                <a16:creationId xmlns:a16="http://schemas.microsoft.com/office/drawing/2014/main" id="{E020602F-D4B7-4901-B222-45CA5AA09BD7}"/>
              </a:ext>
            </a:extLst>
          </p:cNvPr>
          <p:cNvSpPr>
            <a:spLocks xmlns:a="http://schemas.openxmlformats.org/drawingml/2006/main" noGrp="1"/>
          </p:cNvSpPr>
          <p:nvPr/>
        </p:nvSpPr>
        <p:spPr>
          <a:xfrm xmlns:a="http://schemas.openxmlformats.org/drawingml/2006/main">
            <a:off x="742950" y="28098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D9E2EC"/>
                </a:solidFill>
                <a:latin typeface="Arial"/>
                <a:ea typeface="Arial"/>
                <a:cs typeface="Arial"/>
              </a:defRPr>
            </a:pPr>
            <a:r>
              <a:rPr sz="1725">
                <a:solidFill>
                  <a:srgbClr val="D9E2EC"/>
                </a:solidFill>
                <a:latin typeface="Arial"/>
                <a:ea typeface="Arial"/>
                <a:cs typeface="Arial"/>
              </a:rPr>
              <a:t>Designing Data-Intensive Applications, Second Edition</a:t>
            </a:r>
          </a:p>
        </p:txBody>
      </p:sp>
      <p:sp>
        <p:nvSpPr>
          <p:cNvPr id="4" name="">
            <a:extLst xmlns:a="http://schemas.openxmlformats.org/drawingml/2006/main">
              <a:ext uri="{FF2B5EF4-FFF2-40B4-BE49-F238E27FC236}">
                <a16:creationId xmlns:a16="http://schemas.microsoft.com/office/drawing/2014/main" id="{83571E2B-3B94-4D3F-AEBC-43F8C28E1FEC}"/>
              </a:ext>
            </a:extLst>
          </p:cNvPr>
          <p:cNvSpPr>
            <a:spLocks xmlns:a="http://schemas.openxmlformats.org/drawingml/2006/main" noGrp="1"/>
          </p:cNvSpPr>
          <p:nvPr/>
        </p:nvSpPr>
        <p:spPr>
          <a:xfrm xmlns:a="http://schemas.openxmlformats.org/drawingml/2006/main">
            <a:off x="742950" y="5286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a:solidFill>
                  <a:srgbClr val="BCCCDC"/>
                </a:solidFill>
                <a:latin typeface="Arial"/>
                <a:ea typeface="Arial"/>
                <a:cs typeface="Arial"/>
              </a:defRPr>
            </a:pPr>
            <a:r>
              <a:rPr sz="1425">
                <a:solidFill>
                  <a:srgbClr val="BCCCDC"/>
                </a:solidFill>
                <a:latin typeface="Arial"/>
                <a:ea typeface="Arial"/>
                <a:cs typeface="Arial"/>
              </a:rPr>
              <a:t>Detailed English Study Edition</a:t>
            </a:r>
          </a:p>
        </p:txBody>
      </p:sp>
      <p:sp>
        <p:nvSpPr>
          <p:cNvPr id="5" name="">
            <a:extLst xmlns:a="http://schemas.openxmlformats.org/drawingml/2006/main">
              <a:ext uri="{FF2B5EF4-FFF2-40B4-BE49-F238E27FC236}">
                <a16:creationId xmlns:a16="http://schemas.microsoft.com/office/drawing/2014/main" id="{27DA70AB-9072-4189-9139-B1DDD298141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9FB3C8"/>
                </a:solidFill>
                <a:latin typeface="Arial"/>
                <a:ea typeface="Arial"/>
                <a:cs typeface="Arial"/>
              </a:defRPr>
            </a:pPr>
            <a:r>
              <a:rPr sz="975">
                <a:solidFill>
                  <a:srgbClr val="9FB3C8"/>
                </a:solidFill>
                <a:latin typeface="Arial"/>
                <a:ea typeface="Arial"/>
                <a:cs typeface="Arial"/>
              </a:rPr>
              <a:t>01 / 22</a:t>
            </a:r>
          </a:p>
        </p:txBody>
      </p:sp>
    </p:spTree>
    <p:extLst>
      <p:ext uri="{BB962C8B-B14F-4D97-AF65-F5344CB8AC3E}">
        <p14:creationId xmlns:p14="http://schemas.microsoft.com/office/powerpoint/2010/main" val="413547309"/>
      </p:ext>
    </p:extLst>
  </p:cSld>
</p:sld>
</file>

<file path=ppt/slides/slide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8F2CB9C-E769-45F4-98A5-599F863EDD8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A5ECB30E-97CD-4B6F-8C21-16A00AE1F87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Chapter map</a:t>
            </a:r>
          </a:p>
        </p:txBody>
      </p:sp>
      <p:sp>
        <p:nvSpPr>
          <p:cNvPr id="3" name="">
            <a:extLst xmlns:a="http://schemas.openxmlformats.org/drawingml/2006/main">
              <a:ext uri="{FF2B5EF4-FFF2-40B4-BE49-F238E27FC236}">
                <a16:creationId xmlns:a16="http://schemas.microsoft.com/office/drawing/2014/main" id="{2191C8A1-D353-4AA1-9008-CDEACA07912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02 / 22</a:t>
            </a:r>
          </a:p>
        </p:txBody>
      </p:sp>
      <p:sp>
        <p:nvSpPr>
          <p:cNvPr id="4" name="">
            <a:extLst xmlns:a="http://schemas.openxmlformats.org/drawingml/2006/main">
              <a:ext uri="{FF2B5EF4-FFF2-40B4-BE49-F238E27FC236}">
                <a16:creationId xmlns:a16="http://schemas.microsoft.com/office/drawing/2014/main" id="{1A8C9FA0-9026-4D4F-9E69-6E808E66C08A}"/>
              </a:ext>
            </a:extLst>
          </p:cNvPr>
          <p:cNvSpPr>
            <a:spLocks xmlns:a="http://schemas.openxmlformats.org/drawingml/2006/main" noGrp="1"/>
          </p:cNvSpPr>
          <p:nvPr/>
        </p:nvSpPr>
        <p:spPr>
          <a:xfrm xmlns:a="http://schemas.openxmlformats.org/drawingml/2006/main">
            <a:off x="857250" y="14763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457B9D"/>
                </a:solidFill>
                <a:latin typeface="Arial"/>
                <a:ea typeface="Arial"/>
                <a:cs typeface="Arial"/>
              </a:defRPr>
            </a:pPr>
            <a:r>
              <a:rPr sz="2100" b="1">
                <a:solidFill>
                  <a:srgbClr val="457B9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B7FD77D-2260-42B2-A9F3-4533D7F55514}"/>
              </a:ext>
            </a:extLst>
          </p:cNvPr>
          <p:cNvSpPr>
            <a:spLocks xmlns:a="http://schemas.openxmlformats.org/drawingml/2006/main" noGrp="1"/>
          </p:cNvSpPr>
          <p:nvPr/>
        </p:nvSpPr>
        <p:spPr>
          <a:xfrm xmlns:a="http://schemas.openxmlformats.org/drawingml/2006/main">
            <a:off x="1905000" y="1428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Data models shape applications</a:t>
            </a:r>
          </a:p>
        </p:txBody>
      </p:sp>
      <p:sp>
        <p:nvSpPr>
          <p:cNvPr id="6" name="">
            <a:extLst xmlns:a="http://schemas.openxmlformats.org/drawingml/2006/main">
              <a:ext uri="{FF2B5EF4-FFF2-40B4-BE49-F238E27FC236}">
                <a16:creationId xmlns:a16="http://schemas.microsoft.com/office/drawing/2014/main" id="{64ABBA5D-55B7-4F25-961E-A71C73AF1674}"/>
              </a:ext>
            </a:extLst>
          </p:cNvPr>
          <p:cNvSpPr>
            <a:spLocks xmlns:a="http://schemas.openxmlformats.org/drawingml/2006/main" noGrp="1"/>
          </p:cNvSpPr>
          <p:nvPr/>
        </p:nvSpPr>
        <p:spPr>
          <a:xfrm xmlns:a="http://schemas.openxmlformats.org/drawingml/2006/main">
            <a:off x="6191250" y="14287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Relational models organize facts as tables and relationships.</a:t>
            </a:r>
          </a:p>
        </p:txBody>
      </p:sp>
      <p:sp>
        <p:nvSpPr>
          <p:cNvPr id="7" name="">
            <a:extLst xmlns:a="http://schemas.openxmlformats.org/drawingml/2006/main">
              <a:ext uri="{FF2B5EF4-FFF2-40B4-BE49-F238E27FC236}">
                <a16:creationId xmlns:a16="http://schemas.microsoft.com/office/drawing/2014/main" id="{566EF93B-8659-48B8-8F2C-5F0C8CBD4449}"/>
              </a:ext>
            </a:extLst>
          </p:cNvPr>
          <p:cNvSpPr>
            <a:spLocks xmlns:a="http://schemas.openxmlformats.org/drawingml/2006/main" noGrp="1"/>
          </p:cNvSpPr>
          <p:nvPr/>
        </p:nvSpPr>
        <p:spPr>
          <a:xfrm xmlns:a="http://schemas.openxmlformats.org/drawingml/2006/main">
            <a:off x="857250" y="2352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457B9D"/>
                </a:solidFill>
                <a:latin typeface="Arial"/>
                <a:ea typeface="Arial"/>
                <a:cs typeface="Arial"/>
              </a:defRPr>
            </a:pPr>
            <a:r>
              <a:rPr sz="2100" b="1">
                <a:solidFill>
                  <a:srgbClr val="457B9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EE263AFB-C15B-48EC-86E1-390CF0639F0C}"/>
              </a:ext>
            </a:extLst>
          </p:cNvPr>
          <p:cNvSpPr>
            <a:spLocks xmlns:a="http://schemas.openxmlformats.org/drawingml/2006/main" noGrp="1"/>
          </p:cNvSpPr>
          <p:nvPr/>
        </p:nvSpPr>
        <p:spPr>
          <a:xfrm xmlns:a="http://schemas.openxmlformats.org/drawingml/2006/main">
            <a:off x="1905000" y="23050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Normalization and denormalization</a:t>
            </a:r>
          </a:p>
        </p:txBody>
      </p:sp>
      <p:sp>
        <p:nvSpPr>
          <p:cNvPr id="9" name="">
            <a:extLst xmlns:a="http://schemas.openxmlformats.org/drawingml/2006/main">
              <a:ext uri="{FF2B5EF4-FFF2-40B4-BE49-F238E27FC236}">
                <a16:creationId xmlns:a16="http://schemas.microsoft.com/office/drawing/2014/main" id="{E725CD67-18CF-407D-A9C9-0B4B64FE3896}"/>
              </a:ext>
            </a:extLst>
          </p:cNvPr>
          <p:cNvSpPr>
            <a:spLocks xmlns:a="http://schemas.openxmlformats.org/drawingml/2006/main" noGrp="1"/>
          </p:cNvSpPr>
          <p:nvPr/>
        </p:nvSpPr>
        <p:spPr>
          <a:xfrm xmlns:a="http://schemas.openxmlformats.org/drawingml/2006/main">
            <a:off x="6191250" y="23050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Normalization reduces duplication and update anomalies.</a:t>
            </a:r>
          </a:p>
        </p:txBody>
      </p:sp>
      <p:sp>
        <p:nvSpPr>
          <p:cNvPr id="10" name="">
            <a:extLst xmlns:a="http://schemas.openxmlformats.org/drawingml/2006/main">
              <a:ext uri="{FF2B5EF4-FFF2-40B4-BE49-F238E27FC236}">
                <a16:creationId xmlns:a16="http://schemas.microsoft.com/office/drawing/2014/main" id="{73374C61-F67E-4899-9BA2-91B364998705}"/>
              </a:ext>
            </a:extLst>
          </p:cNvPr>
          <p:cNvSpPr>
            <a:spLocks xmlns:a="http://schemas.openxmlformats.org/drawingml/2006/main" noGrp="1"/>
          </p:cNvSpPr>
          <p:nvPr/>
        </p:nvSpPr>
        <p:spPr>
          <a:xfrm xmlns:a="http://schemas.openxmlformats.org/drawingml/2006/main">
            <a:off x="857250" y="32289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457B9D"/>
                </a:solidFill>
                <a:latin typeface="Arial"/>
                <a:ea typeface="Arial"/>
                <a:cs typeface="Arial"/>
              </a:defRPr>
            </a:pPr>
            <a:r>
              <a:rPr sz="2100" b="1">
                <a:solidFill>
                  <a:srgbClr val="457B9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69BC2B2-BBF9-4681-8B48-0112BBA7FC19}"/>
              </a:ext>
            </a:extLst>
          </p:cNvPr>
          <p:cNvSpPr>
            <a:spLocks xmlns:a="http://schemas.openxmlformats.org/drawingml/2006/main" noGrp="1"/>
          </p:cNvSpPr>
          <p:nvPr/>
        </p:nvSpPr>
        <p:spPr>
          <a:xfrm xmlns:a="http://schemas.openxmlformats.org/drawingml/2006/main">
            <a:off x="1905000" y="31813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Relational and graph queries</a:t>
            </a:r>
          </a:p>
        </p:txBody>
      </p:sp>
      <p:sp>
        <p:nvSpPr>
          <p:cNvPr id="12" name="">
            <a:extLst xmlns:a="http://schemas.openxmlformats.org/drawingml/2006/main">
              <a:ext uri="{FF2B5EF4-FFF2-40B4-BE49-F238E27FC236}">
                <a16:creationId xmlns:a16="http://schemas.microsoft.com/office/drawing/2014/main" id="{9BBA002F-FA6C-4913-8A3C-40498F896903}"/>
              </a:ext>
            </a:extLst>
          </p:cNvPr>
          <p:cNvSpPr>
            <a:spLocks xmlns:a="http://schemas.openxmlformats.org/drawingml/2006/main" noGrp="1"/>
          </p:cNvSpPr>
          <p:nvPr/>
        </p:nvSpPr>
        <p:spPr>
          <a:xfrm xmlns:a="http://schemas.openxmlformats.org/drawingml/2006/main">
            <a:off x="6191250" y="31813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SQL expresses declarative set operations.</a:t>
            </a:r>
          </a:p>
        </p:txBody>
      </p:sp>
      <p:sp>
        <p:nvSpPr>
          <p:cNvPr id="13" name="">
            <a:extLst xmlns:a="http://schemas.openxmlformats.org/drawingml/2006/main">
              <a:ext uri="{FF2B5EF4-FFF2-40B4-BE49-F238E27FC236}">
                <a16:creationId xmlns:a16="http://schemas.microsoft.com/office/drawing/2014/main" id="{23220978-DF86-40A5-B360-FC9EABDC0EC1}"/>
              </a:ext>
            </a:extLst>
          </p:cNvPr>
          <p:cNvSpPr>
            <a:spLocks xmlns:a="http://schemas.openxmlformats.org/drawingml/2006/main" noGrp="1"/>
          </p:cNvSpPr>
          <p:nvPr/>
        </p:nvSpPr>
        <p:spPr>
          <a:xfrm xmlns:a="http://schemas.openxmlformats.org/drawingml/2006/main">
            <a:off x="857250" y="41052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457B9D"/>
                </a:solidFill>
                <a:latin typeface="Arial"/>
                <a:ea typeface="Arial"/>
                <a:cs typeface="Arial"/>
              </a:defRPr>
            </a:pPr>
            <a:r>
              <a:rPr sz="2100" b="1">
                <a:solidFill>
                  <a:srgbClr val="457B9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24736C4A-E662-40D4-B1DF-CE103E6EF55E}"/>
              </a:ext>
            </a:extLst>
          </p:cNvPr>
          <p:cNvSpPr>
            <a:spLocks xmlns:a="http://schemas.openxmlformats.org/drawingml/2006/main" noGrp="1"/>
          </p:cNvSpPr>
          <p:nvPr/>
        </p:nvSpPr>
        <p:spPr>
          <a:xfrm xmlns:a="http://schemas.openxmlformats.org/drawingml/2006/main">
            <a:off x="1905000" y="40576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Event sourcing and CQRS</a:t>
            </a:r>
          </a:p>
        </p:txBody>
      </p:sp>
      <p:sp>
        <p:nvSpPr>
          <p:cNvPr id="15" name="">
            <a:extLst xmlns:a="http://schemas.openxmlformats.org/drawingml/2006/main">
              <a:ext uri="{FF2B5EF4-FFF2-40B4-BE49-F238E27FC236}">
                <a16:creationId xmlns:a16="http://schemas.microsoft.com/office/drawing/2014/main" id="{004B0710-21BE-4CAE-9A57-4B858C0CF1A4}"/>
              </a:ext>
            </a:extLst>
          </p:cNvPr>
          <p:cNvSpPr>
            <a:spLocks xmlns:a="http://schemas.openxmlformats.org/drawingml/2006/main" noGrp="1"/>
          </p:cNvSpPr>
          <p:nvPr/>
        </p:nvSpPr>
        <p:spPr>
          <a:xfrm xmlns:a="http://schemas.openxmlformats.org/drawingml/2006/main">
            <a:off x="6191250" y="40576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Event sourcing preserves an immutable history of state changes.</a:t>
            </a:r>
          </a:p>
        </p:txBody>
      </p:sp>
      <p:sp>
        <p:nvSpPr>
          <p:cNvPr id="16" name="">
            <a:extLst xmlns:a="http://schemas.openxmlformats.org/drawingml/2006/main">
              <a:ext uri="{FF2B5EF4-FFF2-40B4-BE49-F238E27FC236}">
                <a16:creationId xmlns:a16="http://schemas.microsoft.com/office/drawing/2014/main" id="{8BD5AB4B-14E0-463D-BA0E-2DB1996706F7}"/>
              </a:ext>
            </a:extLst>
          </p:cNvPr>
          <p:cNvSpPr>
            <a:spLocks xmlns:a="http://schemas.openxmlformats.org/drawingml/2006/main" noGrp="1"/>
          </p:cNvSpPr>
          <p:nvPr/>
        </p:nvSpPr>
        <p:spPr>
          <a:xfrm xmlns:a="http://schemas.openxmlformats.org/drawingml/2006/main">
            <a:off x="857250" y="49815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457B9D"/>
                </a:solidFill>
                <a:latin typeface="Arial"/>
                <a:ea typeface="Arial"/>
                <a:cs typeface="Arial"/>
              </a:defRPr>
            </a:pPr>
            <a:r>
              <a:rPr sz="2100" b="1">
                <a:solidFill>
                  <a:srgbClr val="457B9D"/>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43ED5D55-45AE-4FC0-91EB-CC50E9D95DEF}"/>
              </a:ext>
            </a:extLst>
          </p:cNvPr>
          <p:cNvSpPr>
            <a:spLocks xmlns:a="http://schemas.openxmlformats.org/drawingml/2006/main" noGrp="1"/>
          </p:cNvSpPr>
          <p:nvPr/>
        </p:nvSpPr>
        <p:spPr>
          <a:xfrm xmlns:a="http://schemas.openxmlformats.org/drawingml/2006/main">
            <a:off x="1905000" y="49339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Model selection</a:t>
            </a:r>
          </a:p>
        </p:txBody>
      </p:sp>
      <p:sp>
        <p:nvSpPr>
          <p:cNvPr id="18" name="">
            <a:extLst xmlns:a="http://schemas.openxmlformats.org/drawingml/2006/main">
              <a:ext uri="{FF2B5EF4-FFF2-40B4-BE49-F238E27FC236}">
                <a16:creationId xmlns:a16="http://schemas.microsoft.com/office/drawing/2014/main" id="{8A142C7D-FFDB-4864-B87A-921E78F09D43}"/>
              </a:ext>
            </a:extLst>
          </p:cNvPr>
          <p:cNvSpPr>
            <a:spLocks xmlns:a="http://schemas.openxmlformats.org/drawingml/2006/main" noGrp="1"/>
          </p:cNvSpPr>
          <p:nvPr/>
        </p:nvSpPr>
        <p:spPr>
          <a:xfrm xmlns:a="http://schemas.openxmlformats.org/drawingml/2006/main">
            <a:off x="6191250" y="49339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Use relational data for stable structure and strong constraints.</a:t>
            </a:r>
          </a:p>
        </p:txBody>
      </p:sp>
    </p:spTree>
    <p:extLst>
      <p:ext uri="{BB962C8B-B14F-4D97-AF65-F5344CB8AC3E}">
        <p14:creationId xmlns:p14="http://schemas.microsoft.com/office/powerpoint/2010/main" val="1260629526"/>
      </p:ext>
    </p:extLst>
  </p:cSld>
</p:sld>
</file>

<file path=ppt/slides/slide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E37FA9-B162-4D49-A149-214A5B83401F}"/>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5322D94E-E410-4FAE-9731-0AC992FFD3AB}"/>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Data models shape applications</a:t>
            </a:r>
          </a:p>
        </p:txBody>
      </p:sp>
      <p:sp>
        <p:nvSpPr>
          <p:cNvPr id="3" name="">
            <a:extLst xmlns:a="http://schemas.openxmlformats.org/drawingml/2006/main">
              <a:ext uri="{FF2B5EF4-FFF2-40B4-BE49-F238E27FC236}">
                <a16:creationId xmlns:a16="http://schemas.microsoft.com/office/drawing/2014/main" id="{827B618E-ECA8-4BA2-B792-FF3F2D5C75D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03 / 22</a:t>
            </a:r>
          </a:p>
        </p:txBody>
      </p:sp>
      <p:sp>
        <p:nvSpPr>
          <p:cNvPr id="4" name="">
            <a:extLst xmlns:a="http://schemas.openxmlformats.org/drawingml/2006/main">
              <a:ext uri="{FF2B5EF4-FFF2-40B4-BE49-F238E27FC236}">
                <a16:creationId xmlns:a16="http://schemas.microsoft.com/office/drawing/2014/main" id="{DEFE4240-5B42-44A4-B6F8-5C33399819F3}"/>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457B9D"/>
                </a:solidFill>
                <a:latin typeface="Arial"/>
                <a:ea typeface="Arial"/>
                <a:cs typeface="Arial"/>
              </a:defRPr>
            </a:pPr>
            <a:r>
              <a:rPr sz="6750" b="1">
                <a:solidFill>
                  <a:srgbClr val="457B9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D45E27D-05B9-4247-9892-CEF2E0768DA8}"/>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Relational models organize facts as tables and relationships.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Document models preserve aggregate locality for whole-object access.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Graph models make connections and multi-hop traversal primary.</a:t>
            </a:r>
          </a:p>
        </p:txBody>
      </p:sp>
      <p:sp>
        <p:nvSpPr>
          <p:cNvPr id="6" name="">
            <a:extLst xmlns:a="http://schemas.openxmlformats.org/drawingml/2006/main">
              <a:ext uri="{FF2B5EF4-FFF2-40B4-BE49-F238E27FC236}">
                <a16:creationId xmlns:a16="http://schemas.microsoft.com/office/drawing/2014/main" id="{1F79CAAA-9045-4D21-9C5A-AB540F5D9BF9}"/>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8D484870-D70E-4D3A-B845-102C8494AE72}"/>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046172635"/>
      </p:ext>
    </p:extLst>
  </p:cSld>
</p:sld>
</file>

<file path=ppt/slides/slide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676690-000F-4B27-829E-757E6F1D063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68D70339-9F88-4AEE-BFA4-F60EA1B5CE1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Data models shape applications: design trade-offs</a:t>
            </a:r>
          </a:p>
        </p:txBody>
      </p:sp>
      <p:sp>
        <p:nvSpPr>
          <p:cNvPr id="3" name="">
            <a:extLst xmlns:a="http://schemas.openxmlformats.org/drawingml/2006/main">
              <a:ext uri="{FF2B5EF4-FFF2-40B4-BE49-F238E27FC236}">
                <a16:creationId xmlns:a16="http://schemas.microsoft.com/office/drawing/2014/main" id="{1FC0FCF8-0E40-4697-B981-97CF723AF40E}"/>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04 / 22</a:t>
            </a:r>
          </a:p>
        </p:txBody>
      </p:sp>
      <p:sp>
        <p:nvSpPr>
          <p:cNvPr id="4" name="">
            <a:extLst xmlns:a="http://schemas.openxmlformats.org/drawingml/2006/main">
              <a:ext uri="{FF2B5EF4-FFF2-40B4-BE49-F238E27FC236}">
                <a16:creationId xmlns:a16="http://schemas.microsoft.com/office/drawing/2014/main" id="{74320781-DD44-4AD2-B747-1C7E27CF3F66}"/>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457B9D"/>
                </a:solidFill>
                <a:latin typeface="Arial"/>
                <a:ea typeface="Arial"/>
                <a:cs typeface="Arial"/>
              </a:defRPr>
            </a:pPr>
            <a:r>
              <a:rPr sz="6750" b="1">
                <a:solidFill>
                  <a:srgbClr val="457B9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A24CED9-723E-423F-9411-C22A886106C0}"/>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Relational models organize facts as tables and relationships.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536259540"/>
      </p:ext>
    </p:extLst>
  </p:cSld>
</p:sld>
</file>

<file path=ppt/slides/slide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FCDB25-6A53-40B0-82C5-82BD9569BD9A}"/>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D454661E-2CA8-4144-A48A-06261C109D0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3-1: mechanism explained</a:t>
            </a:r>
          </a:p>
        </p:txBody>
      </p:sp>
      <p:sp>
        <p:nvSpPr>
          <p:cNvPr id="3" name="">
            <a:extLst xmlns:a="http://schemas.openxmlformats.org/drawingml/2006/main">
              <a:ext uri="{FF2B5EF4-FFF2-40B4-BE49-F238E27FC236}">
                <a16:creationId xmlns:a16="http://schemas.microsoft.com/office/drawing/2014/main" id="{1F2DDBC7-EC72-4546-A32D-83785863E50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05 / 22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62b762da54f4fd7"/>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AD72F5D-BDD0-46EC-9247-1055131D0467}"/>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765E383B-95F3-4205-8940-A9976A904098}"/>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diagram shows how entities and relationships are represented by keys, nesting, or joins.</a:t>
            </a:r>
          </a:p>
        </p:txBody>
      </p:sp>
      <p:sp>
        <p:nvSpPr>
          <p:cNvPr id="7" name="">
            <a:extLst xmlns:a="http://schemas.openxmlformats.org/drawingml/2006/main">
              <a:ext uri="{FF2B5EF4-FFF2-40B4-BE49-F238E27FC236}">
                <a16:creationId xmlns:a16="http://schemas.microsoft.com/office/drawing/2014/main" id="{AB68683E-5FC0-4CAE-95C5-6F48A06BAE72}"/>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1757FF54-A788-4BF3-AA60-C56B4909F3D5}"/>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model changes read locality, duplication, and update complexity.</a:t>
            </a:r>
          </a:p>
        </p:txBody>
      </p:sp>
      <p:sp>
        <p:nvSpPr>
          <p:cNvPr id="9" name="">
            <a:extLst xmlns:a="http://schemas.openxmlformats.org/drawingml/2006/main">
              <a:ext uri="{FF2B5EF4-FFF2-40B4-BE49-F238E27FC236}">
                <a16:creationId xmlns:a16="http://schemas.microsoft.com/office/drawing/2014/main" id="{4B14E3EF-6D2C-48B2-82B8-B24970AA3172}"/>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E77F768E-231F-42D1-A09E-93CDC2E03E5A}"/>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273719251"/>
      </p:ext>
    </p:extLst>
  </p:cSld>
</p:sld>
</file>

<file path=ppt/slides/slide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4861D99-9E2A-41BE-BB9B-0824813E197F}"/>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975775CD-E184-4705-8582-0C658F7C464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3-2: mechanism explained</a:t>
            </a:r>
          </a:p>
        </p:txBody>
      </p:sp>
      <p:sp>
        <p:nvSpPr>
          <p:cNvPr id="3" name="">
            <a:extLst xmlns:a="http://schemas.openxmlformats.org/drawingml/2006/main">
              <a:ext uri="{FF2B5EF4-FFF2-40B4-BE49-F238E27FC236}">
                <a16:creationId xmlns:a16="http://schemas.microsoft.com/office/drawing/2014/main" id="{3A7CE0D5-95AC-44FA-AC4E-2C7AFD11EC5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06 / 22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fec9d6753c14aca"/>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7DCF585-794F-4EC8-8B49-23643D2FF39A}"/>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CA54DC8E-B48B-45D5-A4BF-D1B4FB1FCEAA}"/>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diagram shows how entities and relationships are represented by keys, nesting, or joins.</a:t>
            </a:r>
          </a:p>
        </p:txBody>
      </p:sp>
      <p:sp>
        <p:nvSpPr>
          <p:cNvPr id="7" name="">
            <a:extLst xmlns:a="http://schemas.openxmlformats.org/drawingml/2006/main">
              <a:ext uri="{FF2B5EF4-FFF2-40B4-BE49-F238E27FC236}">
                <a16:creationId xmlns:a16="http://schemas.microsoft.com/office/drawing/2014/main" id="{6DC8223B-1634-4DB0-BB45-18ABF64B9C40}"/>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DE452325-CEC5-43F2-9FE2-BDA72E692400}"/>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model changes read locality, duplication, and update complexity.</a:t>
            </a:r>
          </a:p>
        </p:txBody>
      </p:sp>
      <p:sp>
        <p:nvSpPr>
          <p:cNvPr id="9" name="">
            <a:extLst xmlns:a="http://schemas.openxmlformats.org/drawingml/2006/main">
              <a:ext uri="{FF2B5EF4-FFF2-40B4-BE49-F238E27FC236}">
                <a16:creationId xmlns:a16="http://schemas.microsoft.com/office/drawing/2014/main" id="{BF9B42A5-B1D3-4A36-AF1B-76BB2B17E5ED}"/>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C2299B96-6B48-4D11-9A3A-201C91DCDC92}"/>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606892000"/>
      </p:ext>
    </p:extLst>
  </p:cSld>
</p:sld>
</file>

<file path=ppt/slides/slide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0C341D-CFE5-4C41-BF7F-34200D67F2C0}"/>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8DA0A126-EF96-411A-9FFE-265CBAC24083}"/>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3-3: mechanism explained</a:t>
            </a:r>
          </a:p>
        </p:txBody>
      </p:sp>
      <p:sp>
        <p:nvSpPr>
          <p:cNvPr id="3" name="">
            <a:extLst xmlns:a="http://schemas.openxmlformats.org/drawingml/2006/main">
              <a:ext uri="{FF2B5EF4-FFF2-40B4-BE49-F238E27FC236}">
                <a16:creationId xmlns:a16="http://schemas.microsoft.com/office/drawing/2014/main" id="{98935464-0E23-4D3E-AD56-D5A8BD3483B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07 / 22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a49ade6f6d84953"/>
          <a:stretch xmlns:a="http://schemas.openxmlformats.org/drawingml/2006/main"/>
        </p:blipFill>
        <p:spPr>
          <a:xfrm xmlns:a="http://schemas.openxmlformats.org/drawingml/2006/main">
            <a:off x="514350" y="1570456"/>
            <a:ext cx="7762875" cy="419333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E5FD15D-288A-499F-9E21-39AD585B040B}"/>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F1EA3430-B14D-4EA0-937C-89371D2E46B0}"/>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diagram shows how entities and relationships are represented by keys, nesting, or joins.</a:t>
            </a:r>
          </a:p>
        </p:txBody>
      </p:sp>
      <p:sp>
        <p:nvSpPr>
          <p:cNvPr id="7" name="">
            <a:extLst xmlns:a="http://schemas.openxmlformats.org/drawingml/2006/main">
              <a:ext uri="{FF2B5EF4-FFF2-40B4-BE49-F238E27FC236}">
                <a16:creationId xmlns:a16="http://schemas.microsoft.com/office/drawing/2014/main" id="{E90E4F9A-67D9-48E8-B4FE-A6875D1F68D5}"/>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1397E374-65B8-443C-A677-D438D5F067BC}"/>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model changes read locality, duplication, and update complexity.</a:t>
            </a:r>
          </a:p>
        </p:txBody>
      </p:sp>
      <p:sp>
        <p:nvSpPr>
          <p:cNvPr id="9" name="">
            <a:extLst xmlns:a="http://schemas.openxmlformats.org/drawingml/2006/main">
              <a:ext uri="{FF2B5EF4-FFF2-40B4-BE49-F238E27FC236}">
                <a16:creationId xmlns:a16="http://schemas.microsoft.com/office/drawing/2014/main" id="{5A65AFD5-B929-43A8-82DD-7B30B36DC15E}"/>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FC2FB400-BA07-4105-9BD8-70305E6BD2E2}"/>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244409163"/>
      </p:ext>
    </p:extLst>
  </p:cSld>
</p:sld>
</file>

<file path=ppt/slides/slide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F444F3D-46FA-4CEE-9CF8-6CF4B692E7BC}"/>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CC54352B-032A-444E-AB1C-AA2722B25473}"/>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3-4: mechanism explained</a:t>
            </a:r>
          </a:p>
        </p:txBody>
      </p:sp>
      <p:sp>
        <p:nvSpPr>
          <p:cNvPr id="3" name="">
            <a:extLst xmlns:a="http://schemas.openxmlformats.org/drawingml/2006/main">
              <a:ext uri="{FF2B5EF4-FFF2-40B4-BE49-F238E27FC236}">
                <a16:creationId xmlns:a16="http://schemas.microsoft.com/office/drawing/2014/main" id="{9F543FBB-7877-4F03-9EA5-C6EEC5CA29F0}"/>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08 / 22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e42f15a7dea45bc"/>
          <a:stretch xmlns:a="http://schemas.openxmlformats.org/drawingml/2006/main"/>
        </p:blipFill>
        <p:spPr>
          <a:xfrm xmlns:a="http://schemas.openxmlformats.org/drawingml/2006/main">
            <a:off x="1041071" y="1285875"/>
            <a:ext cx="6709434"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64B770B-1CBF-400D-8DAA-E80371362C7E}"/>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2C4ED488-F4AF-4F55-99CE-3994189C76B4}"/>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diagram shows how entities and relationships are represented by keys, nesting, or joins.</a:t>
            </a:r>
          </a:p>
        </p:txBody>
      </p:sp>
      <p:sp>
        <p:nvSpPr>
          <p:cNvPr id="7" name="">
            <a:extLst xmlns:a="http://schemas.openxmlformats.org/drawingml/2006/main">
              <a:ext uri="{FF2B5EF4-FFF2-40B4-BE49-F238E27FC236}">
                <a16:creationId xmlns:a16="http://schemas.microsoft.com/office/drawing/2014/main" id="{C54619D0-BDC6-4671-A58B-90CCEE26B450}"/>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6D4962BB-B807-45FC-83D4-A789D0CF9EBB}"/>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model changes read locality, duplication, and update complexity.</a:t>
            </a:r>
          </a:p>
        </p:txBody>
      </p:sp>
      <p:sp>
        <p:nvSpPr>
          <p:cNvPr id="9" name="">
            <a:extLst xmlns:a="http://schemas.openxmlformats.org/drawingml/2006/main">
              <a:ext uri="{FF2B5EF4-FFF2-40B4-BE49-F238E27FC236}">
                <a16:creationId xmlns:a16="http://schemas.microsoft.com/office/drawing/2014/main" id="{C4712358-CDFA-4F7B-B13F-C3A355945FFA}"/>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ED72B28D-0ABA-43DD-8A4B-D647FCBED010}"/>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921557816"/>
      </p:ext>
    </p:extLst>
  </p:cSld>
</p:sld>
</file>

<file path=ppt/slides/slide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A9E631-69B4-4B21-9383-85DE0C2F36E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FB0A953F-7950-4826-897F-DBA19E9C6C54}"/>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3-5: mechanism explained</a:t>
            </a:r>
          </a:p>
        </p:txBody>
      </p:sp>
      <p:sp>
        <p:nvSpPr>
          <p:cNvPr id="3" name="">
            <a:extLst xmlns:a="http://schemas.openxmlformats.org/drawingml/2006/main">
              <a:ext uri="{FF2B5EF4-FFF2-40B4-BE49-F238E27FC236}">
                <a16:creationId xmlns:a16="http://schemas.microsoft.com/office/drawing/2014/main" id="{1661F21D-55BF-4250-BAA2-3DC2DE4F8FC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09 / 22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4ebe31b5b72472e"/>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A3610F1-BBAF-4C57-BA23-EFD0733C8644}"/>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A924D6F0-6667-4E37-B61D-07291C33411C}"/>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Data moves from operational sources through transformation into an analytical store.</a:t>
            </a:r>
          </a:p>
        </p:txBody>
      </p:sp>
      <p:sp>
        <p:nvSpPr>
          <p:cNvPr id="7" name="">
            <a:extLst xmlns:a="http://schemas.openxmlformats.org/drawingml/2006/main">
              <a:ext uri="{FF2B5EF4-FFF2-40B4-BE49-F238E27FC236}">
                <a16:creationId xmlns:a16="http://schemas.microsoft.com/office/drawing/2014/main" id="{2A1EE85D-AD20-4D7E-89CE-EAA24F5AF258}"/>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86406E84-8C6D-4D58-917C-6898A9863C7A}"/>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warehouse is derived data, so repeatable loads and lineage are essential.</a:t>
            </a:r>
          </a:p>
        </p:txBody>
      </p:sp>
      <p:sp>
        <p:nvSpPr>
          <p:cNvPr id="9" name="">
            <a:extLst xmlns:a="http://schemas.openxmlformats.org/drawingml/2006/main">
              <a:ext uri="{FF2B5EF4-FFF2-40B4-BE49-F238E27FC236}">
                <a16:creationId xmlns:a16="http://schemas.microsoft.com/office/drawing/2014/main" id="{AB153057-2336-4FC9-9AE9-7D4DFCA270D5}"/>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F562C2A2-07B7-4670-B32E-CB76B47530EA}"/>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2047402884"/>
      </p:ext>
    </p:extLst>
  </p:cSld>
</p:sld>
</file>

<file path=ppt/slides/slide1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AEB29D-59D2-4815-9D56-1E286286BBE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ADBECF0F-2638-4D50-8E2D-9F4B1FA698B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Normalization and denormalization</a:t>
            </a:r>
          </a:p>
        </p:txBody>
      </p:sp>
      <p:sp>
        <p:nvSpPr>
          <p:cNvPr id="3" name="">
            <a:extLst xmlns:a="http://schemas.openxmlformats.org/drawingml/2006/main">
              <a:ext uri="{FF2B5EF4-FFF2-40B4-BE49-F238E27FC236}">
                <a16:creationId xmlns:a16="http://schemas.microsoft.com/office/drawing/2014/main" id="{C38F7F2A-BB85-46AE-B22B-11452C604075}"/>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10 / 22</a:t>
            </a:r>
          </a:p>
        </p:txBody>
      </p:sp>
      <p:sp>
        <p:nvSpPr>
          <p:cNvPr id="4" name="">
            <a:extLst xmlns:a="http://schemas.openxmlformats.org/drawingml/2006/main">
              <a:ext uri="{FF2B5EF4-FFF2-40B4-BE49-F238E27FC236}">
                <a16:creationId xmlns:a16="http://schemas.microsoft.com/office/drawing/2014/main" id="{6C0030EF-909D-4F84-8237-F1EDF2DB1B77}"/>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457B9D"/>
                </a:solidFill>
                <a:latin typeface="Arial"/>
                <a:ea typeface="Arial"/>
                <a:cs typeface="Arial"/>
              </a:defRPr>
            </a:pPr>
            <a:r>
              <a:rPr sz="6750" b="1">
                <a:solidFill>
                  <a:srgbClr val="457B9D"/>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A01620F-EA17-4332-9474-FE3B08598A79}"/>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Normalization reduces duplication and update anomalies.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Denormalization improves read locality but adds synchronization work.</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Choose using access patterns, update rates, and constraint strength.</a:t>
            </a:r>
          </a:p>
        </p:txBody>
      </p:sp>
      <p:sp>
        <p:nvSpPr>
          <p:cNvPr id="6" name="">
            <a:extLst xmlns:a="http://schemas.openxmlformats.org/drawingml/2006/main">
              <a:ext uri="{FF2B5EF4-FFF2-40B4-BE49-F238E27FC236}">
                <a16:creationId xmlns:a16="http://schemas.microsoft.com/office/drawing/2014/main" id="{7C79E685-7F66-4ECB-914A-D0BB96D69AE7}"/>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5C521A54-F2A5-4A8D-A02F-D88A2089D81F}"/>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5316881"/>
      </p:ext>
    </p:extLst>
  </p:cSld>
</p:sld>
</file>

<file path=ppt/slides/slide1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361647-577D-4C3F-8ABD-4CE275B9EB96}"/>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CD5EB682-5964-4DF9-A743-ED81E8C3C84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Normalization and denormalization: design trade-offs</a:t>
            </a:r>
          </a:p>
        </p:txBody>
      </p:sp>
      <p:sp>
        <p:nvSpPr>
          <p:cNvPr id="3" name="">
            <a:extLst xmlns:a="http://schemas.openxmlformats.org/drawingml/2006/main">
              <a:ext uri="{FF2B5EF4-FFF2-40B4-BE49-F238E27FC236}">
                <a16:creationId xmlns:a16="http://schemas.microsoft.com/office/drawing/2014/main" id="{DD4EDF0D-5703-4726-9223-1252605BD04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11 / 22</a:t>
            </a:r>
          </a:p>
        </p:txBody>
      </p:sp>
      <p:sp>
        <p:nvSpPr>
          <p:cNvPr id="4" name="">
            <a:extLst xmlns:a="http://schemas.openxmlformats.org/drawingml/2006/main">
              <a:ext uri="{FF2B5EF4-FFF2-40B4-BE49-F238E27FC236}">
                <a16:creationId xmlns:a16="http://schemas.microsoft.com/office/drawing/2014/main" id="{0B36F5CF-176F-4815-9F13-4373D74F9BC0}"/>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457B9D"/>
                </a:solidFill>
                <a:latin typeface="Arial"/>
                <a:ea typeface="Arial"/>
                <a:cs typeface="Arial"/>
              </a:defRPr>
            </a:pPr>
            <a:r>
              <a:rPr sz="6750" b="1">
                <a:solidFill>
                  <a:srgbClr val="457B9D"/>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BBF64FE3-87AD-47D0-87F5-D139D3BBCB2D}"/>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Normalization reduces duplication and update anomalies.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274940372"/>
      </p:ext>
    </p:extLst>
  </p:cSld>
</p:sld>
</file>

<file path=ppt/slides/slide1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3412F6-806E-407E-A933-73B60A82828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17FB77EF-D7A9-45B0-9C80-42F3B32699C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3-6: mechanism explained</a:t>
            </a:r>
          </a:p>
        </p:txBody>
      </p:sp>
      <p:sp>
        <p:nvSpPr>
          <p:cNvPr id="3" name="">
            <a:extLst xmlns:a="http://schemas.openxmlformats.org/drawingml/2006/main">
              <a:ext uri="{FF2B5EF4-FFF2-40B4-BE49-F238E27FC236}">
                <a16:creationId xmlns:a16="http://schemas.microsoft.com/office/drawing/2014/main" id="{025C96EE-AC6A-430F-A2BC-FB99A0F992F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12 / 22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82aa59c689e4165"/>
          <a:stretch xmlns:a="http://schemas.openxmlformats.org/drawingml/2006/main"/>
        </p:blipFill>
        <p:spPr>
          <a:xfrm xmlns:a="http://schemas.openxmlformats.org/drawingml/2006/main">
            <a:off x="815922" y="1285875"/>
            <a:ext cx="7159732"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C32A393-B1BC-43D4-9478-6F7FAC9D28D2}"/>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D9880319-E7D2-428E-89F2-32957804DD43}"/>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Nodes, edges, or recursive rules express multi-hop relationships.</a:t>
            </a:r>
          </a:p>
        </p:txBody>
      </p:sp>
      <p:sp>
        <p:nvSpPr>
          <p:cNvPr id="7" name="">
            <a:extLst xmlns:a="http://schemas.openxmlformats.org/drawingml/2006/main">
              <a:ext uri="{FF2B5EF4-FFF2-40B4-BE49-F238E27FC236}">
                <a16:creationId xmlns:a16="http://schemas.microsoft.com/office/drawing/2014/main" id="{AA361955-531D-453F-94C1-ADE0EC282C1F}"/>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F0CF6DB3-179B-4046-8D56-A26653491A11}"/>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representation makes traversal and transitive queries explicit.</a:t>
            </a:r>
          </a:p>
        </p:txBody>
      </p:sp>
      <p:sp>
        <p:nvSpPr>
          <p:cNvPr id="9" name="">
            <a:extLst xmlns:a="http://schemas.openxmlformats.org/drawingml/2006/main">
              <a:ext uri="{FF2B5EF4-FFF2-40B4-BE49-F238E27FC236}">
                <a16:creationId xmlns:a16="http://schemas.microsoft.com/office/drawing/2014/main" id="{52961870-5940-4C29-ADE7-E6F9982C0CC9}"/>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B76CE36E-3207-4F02-8678-7A703E67F879}"/>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220606979"/>
      </p:ext>
    </p:extLst>
  </p:cSld>
</p:sld>
</file>

<file path=ppt/slides/slide1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B5FA075-058E-4F92-BF95-23DD4C7DAE83}"/>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45A4335B-98BA-426C-8EB7-5144B4F33C2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3-7: mechanism explained</a:t>
            </a:r>
          </a:p>
        </p:txBody>
      </p:sp>
      <p:sp>
        <p:nvSpPr>
          <p:cNvPr id="3" name="">
            <a:extLst xmlns:a="http://schemas.openxmlformats.org/drawingml/2006/main">
              <a:ext uri="{FF2B5EF4-FFF2-40B4-BE49-F238E27FC236}">
                <a16:creationId xmlns:a16="http://schemas.microsoft.com/office/drawing/2014/main" id="{D3262166-6C7B-404C-BD3F-F41CE9044BC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13 / 22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88cac7d49e2449f"/>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627F1BF-E8C0-4B1D-B017-910D7A510788}"/>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2079DE5A-A341-4CFC-A8E1-29B4A9BEC564}"/>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Nodes, edges, or recursive rules express multi-hop relationships.</a:t>
            </a:r>
          </a:p>
        </p:txBody>
      </p:sp>
      <p:sp>
        <p:nvSpPr>
          <p:cNvPr id="7" name="">
            <a:extLst xmlns:a="http://schemas.openxmlformats.org/drawingml/2006/main">
              <a:ext uri="{FF2B5EF4-FFF2-40B4-BE49-F238E27FC236}">
                <a16:creationId xmlns:a16="http://schemas.microsoft.com/office/drawing/2014/main" id="{BEB1891D-C712-4561-A7F2-BAB0682D2A0C}"/>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5E8E61BD-7B7E-4371-9495-0FE4C5BFA382}"/>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representation makes traversal and transitive queries explicit.</a:t>
            </a:r>
          </a:p>
        </p:txBody>
      </p:sp>
      <p:sp>
        <p:nvSpPr>
          <p:cNvPr id="9" name="">
            <a:extLst xmlns:a="http://schemas.openxmlformats.org/drawingml/2006/main">
              <a:ext uri="{FF2B5EF4-FFF2-40B4-BE49-F238E27FC236}">
                <a16:creationId xmlns:a16="http://schemas.microsoft.com/office/drawing/2014/main" id="{A7C4E058-C734-43E1-A78D-102F2D0E6846}"/>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EA4C87E0-A9F1-4FF2-B70B-064913B49EF4}"/>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365175542"/>
      </p:ext>
    </p:extLst>
  </p:cSld>
</p:sld>
</file>

<file path=ppt/slides/slide1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B3516A-151D-4AF6-8214-F788983D77C4}"/>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3F81D24F-34A2-40CB-9E66-BD9894F6B7D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Relational and graph queries</a:t>
            </a:r>
          </a:p>
        </p:txBody>
      </p:sp>
      <p:sp>
        <p:nvSpPr>
          <p:cNvPr id="3" name="">
            <a:extLst xmlns:a="http://schemas.openxmlformats.org/drawingml/2006/main">
              <a:ext uri="{FF2B5EF4-FFF2-40B4-BE49-F238E27FC236}">
                <a16:creationId xmlns:a16="http://schemas.microsoft.com/office/drawing/2014/main" id="{9B388172-C9E6-4FF2-BD8C-72700A15B6E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14 / 22</a:t>
            </a:r>
          </a:p>
        </p:txBody>
      </p:sp>
      <p:sp>
        <p:nvSpPr>
          <p:cNvPr id="4" name="">
            <a:extLst xmlns:a="http://schemas.openxmlformats.org/drawingml/2006/main">
              <a:ext uri="{FF2B5EF4-FFF2-40B4-BE49-F238E27FC236}">
                <a16:creationId xmlns:a16="http://schemas.microsoft.com/office/drawing/2014/main" id="{8E3857D3-FBCD-4CA0-9B6E-076F236B3DAC}"/>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457B9D"/>
                </a:solidFill>
                <a:latin typeface="Arial"/>
                <a:ea typeface="Arial"/>
                <a:cs typeface="Arial"/>
              </a:defRPr>
            </a:pPr>
            <a:r>
              <a:rPr sz="6750" b="1">
                <a:solidFill>
                  <a:srgbClr val="457B9D"/>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7804B3BF-1EBC-42F4-A55C-A690294C097D}"/>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SQL expresses declarative set operations.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Cypher and SPARQL describe graph patterns directly.</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Recursive SQL and Datalog handle transitive relationships and rules.</a:t>
            </a:r>
          </a:p>
        </p:txBody>
      </p:sp>
      <p:sp>
        <p:nvSpPr>
          <p:cNvPr id="6" name="">
            <a:extLst xmlns:a="http://schemas.openxmlformats.org/drawingml/2006/main">
              <a:ext uri="{FF2B5EF4-FFF2-40B4-BE49-F238E27FC236}">
                <a16:creationId xmlns:a16="http://schemas.microsoft.com/office/drawing/2014/main" id="{2F578649-1063-4F8E-AA18-B7351CC074DE}"/>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2E22253D-3DDF-43D6-A837-4167C054770A}"/>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57997244"/>
      </p:ext>
    </p:extLst>
  </p:cSld>
</p:sld>
</file>

<file path=ppt/slides/slide1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CB2BF3A-4E35-4AD8-9C90-C2BB72A17F0C}"/>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E0757C99-E69E-4543-8BD2-F27EEA7DD99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Relational and graph queries: design trade-offs</a:t>
            </a:r>
          </a:p>
        </p:txBody>
      </p:sp>
      <p:sp>
        <p:nvSpPr>
          <p:cNvPr id="3" name="">
            <a:extLst xmlns:a="http://schemas.openxmlformats.org/drawingml/2006/main">
              <a:ext uri="{FF2B5EF4-FFF2-40B4-BE49-F238E27FC236}">
                <a16:creationId xmlns:a16="http://schemas.microsoft.com/office/drawing/2014/main" id="{A35BE9EA-2CC1-4265-A907-1BB89921AAE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15 / 22</a:t>
            </a:r>
          </a:p>
        </p:txBody>
      </p:sp>
      <p:sp>
        <p:nvSpPr>
          <p:cNvPr id="4" name="">
            <a:extLst xmlns:a="http://schemas.openxmlformats.org/drawingml/2006/main">
              <a:ext uri="{FF2B5EF4-FFF2-40B4-BE49-F238E27FC236}">
                <a16:creationId xmlns:a16="http://schemas.microsoft.com/office/drawing/2014/main" id="{8D156B2B-440C-47A5-8D0E-910E361C95F9}"/>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457B9D"/>
                </a:solidFill>
                <a:latin typeface="Arial"/>
                <a:ea typeface="Arial"/>
                <a:cs typeface="Arial"/>
              </a:defRPr>
            </a:pPr>
            <a:r>
              <a:rPr sz="6750" b="1">
                <a:solidFill>
                  <a:srgbClr val="457B9D"/>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C72A8A7-DDED-42A1-B7F5-EADB49F3B131}"/>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SQL expresses declarative set operations.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026014550"/>
      </p:ext>
    </p:extLst>
  </p:cSld>
</p:sld>
</file>

<file path=ppt/slides/slide1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4E157AB-D1DB-43FE-BD22-1A0A708855F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EBB40A70-29FA-4251-9134-128EE15F67F1}"/>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3-8: mechanism explained</a:t>
            </a:r>
          </a:p>
        </p:txBody>
      </p:sp>
      <p:sp>
        <p:nvSpPr>
          <p:cNvPr id="3" name="">
            <a:extLst xmlns:a="http://schemas.openxmlformats.org/drawingml/2006/main">
              <a:ext uri="{FF2B5EF4-FFF2-40B4-BE49-F238E27FC236}">
                <a16:creationId xmlns:a16="http://schemas.microsoft.com/office/drawing/2014/main" id="{F8827C93-F98F-4E67-B993-A528738557B7}"/>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16 / 22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8aeb5ae65984ef8"/>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F0A0179-9647-4474-ABD7-E874E09AE250}"/>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23428219-D61E-4F6A-BAE2-A805677885C4}"/>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source representation is transformed into a derived view suited to a different workload.</a:t>
            </a:r>
          </a:p>
        </p:txBody>
      </p:sp>
      <p:sp>
        <p:nvSpPr>
          <p:cNvPr id="7" name="">
            <a:extLst xmlns:a="http://schemas.openxmlformats.org/drawingml/2006/main">
              <a:ext uri="{FF2B5EF4-FFF2-40B4-BE49-F238E27FC236}">
                <a16:creationId xmlns:a16="http://schemas.microsoft.com/office/drawing/2014/main" id="{30AE4BD8-E9F3-4894-8B9E-7D127ACDD2B7}"/>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B57DAD67-5DC3-45E2-9008-4120B2AA0EDD}"/>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Rebuildability improves, while synchronization and schema evolution need care.</a:t>
            </a:r>
          </a:p>
        </p:txBody>
      </p:sp>
      <p:sp>
        <p:nvSpPr>
          <p:cNvPr id="9" name="">
            <a:extLst xmlns:a="http://schemas.openxmlformats.org/drawingml/2006/main">
              <a:ext uri="{FF2B5EF4-FFF2-40B4-BE49-F238E27FC236}">
                <a16:creationId xmlns:a16="http://schemas.microsoft.com/office/drawing/2014/main" id="{542124E5-6E86-42C3-AC82-D5B3F506A845}"/>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EB457238-01CB-44A6-B01A-643B146B2EDD}"/>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851594143"/>
      </p:ext>
    </p:extLst>
  </p:cSld>
</p:sld>
</file>

<file path=ppt/slides/slide1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532352-D109-417A-9BBB-B28B930E94D0}"/>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789EE9C5-F1A1-44AC-83FD-F28D173022D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Event sourcing and CQRS</a:t>
            </a:r>
          </a:p>
        </p:txBody>
      </p:sp>
      <p:sp>
        <p:nvSpPr>
          <p:cNvPr id="3" name="">
            <a:extLst xmlns:a="http://schemas.openxmlformats.org/drawingml/2006/main">
              <a:ext uri="{FF2B5EF4-FFF2-40B4-BE49-F238E27FC236}">
                <a16:creationId xmlns:a16="http://schemas.microsoft.com/office/drawing/2014/main" id="{044F61C3-418A-4B44-95A8-BCE8F694E564}"/>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17 / 22</a:t>
            </a:r>
          </a:p>
        </p:txBody>
      </p:sp>
      <p:sp>
        <p:nvSpPr>
          <p:cNvPr id="4" name="">
            <a:extLst xmlns:a="http://schemas.openxmlformats.org/drawingml/2006/main">
              <a:ext uri="{FF2B5EF4-FFF2-40B4-BE49-F238E27FC236}">
                <a16:creationId xmlns:a16="http://schemas.microsoft.com/office/drawing/2014/main" id="{BFCE77A1-4027-40D7-99C1-A160A13514FC}"/>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457B9D"/>
                </a:solidFill>
                <a:latin typeface="Arial"/>
                <a:ea typeface="Arial"/>
                <a:cs typeface="Arial"/>
              </a:defRPr>
            </a:pPr>
            <a:r>
              <a:rPr sz="6750" b="1">
                <a:solidFill>
                  <a:srgbClr val="457B9D"/>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98652FE-8723-4675-BD8D-CA5C93A54E9F}"/>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Event sourcing preserves an immutable history of state changes.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CQRS separates write models from read-optimized projections.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Auditability and rebuilds come with eventual consistency and operational cost.</a:t>
            </a:r>
          </a:p>
        </p:txBody>
      </p:sp>
      <p:sp>
        <p:nvSpPr>
          <p:cNvPr id="6" name="">
            <a:extLst xmlns:a="http://schemas.openxmlformats.org/drawingml/2006/main">
              <a:ext uri="{FF2B5EF4-FFF2-40B4-BE49-F238E27FC236}">
                <a16:creationId xmlns:a16="http://schemas.microsoft.com/office/drawing/2014/main" id="{23521C95-B069-4D1D-9090-372E65E0673D}"/>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7DBDBCC5-62F5-467D-8329-436E8CBC6D54}"/>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60388277"/>
      </p:ext>
    </p:extLst>
  </p:cSld>
</p:sld>
</file>

<file path=ppt/slides/slide1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6E7603-BAFC-430B-B634-8131C703373F}"/>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7EB70128-82BF-472F-B584-0B02A3A7A36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Event sourcing and CQRS: design trade-offs</a:t>
            </a:r>
          </a:p>
        </p:txBody>
      </p:sp>
      <p:sp>
        <p:nvSpPr>
          <p:cNvPr id="3" name="">
            <a:extLst xmlns:a="http://schemas.openxmlformats.org/drawingml/2006/main">
              <a:ext uri="{FF2B5EF4-FFF2-40B4-BE49-F238E27FC236}">
                <a16:creationId xmlns:a16="http://schemas.microsoft.com/office/drawing/2014/main" id="{AA393437-E200-41BA-B265-216B48BE45C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18 / 22</a:t>
            </a:r>
          </a:p>
        </p:txBody>
      </p:sp>
      <p:sp>
        <p:nvSpPr>
          <p:cNvPr id="4" name="">
            <a:extLst xmlns:a="http://schemas.openxmlformats.org/drawingml/2006/main">
              <a:ext uri="{FF2B5EF4-FFF2-40B4-BE49-F238E27FC236}">
                <a16:creationId xmlns:a16="http://schemas.microsoft.com/office/drawing/2014/main" id="{8FE34383-B60B-4B6E-94F8-87DE31FB2A71}"/>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457B9D"/>
                </a:solidFill>
                <a:latin typeface="Arial"/>
                <a:ea typeface="Arial"/>
                <a:cs typeface="Arial"/>
              </a:defRPr>
            </a:pPr>
            <a:r>
              <a:rPr sz="6750" b="1">
                <a:solidFill>
                  <a:srgbClr val="457B9D"/>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308EAA56-3B8C-4380-87E8-60697FB57192}"/>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Event sourcing preserves an immutable history of state changes.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123390025"/>
      </p:ext>
    </p:extLst>
  </p:cSld>
</p:sld>
</file>

<file path=ppt/slides/slide1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447532E-790D-4A68-A0DC-29EA860297E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1C5F23CD-F74C-4C8F-985E-D9BF9DB289C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3-9: mechanism explained</a:t>
            </a:r>
          </a:p>
        </p:txBody>
      </p:sp>
      <p:sp>
        <p:nvSpPr>
          <p:cNvPr id="3" name="">
            <a:extLst xmlns:a="http://schemas.openxmlformats.org/drawingml/2006/main">
              <a:ext uri="{FF2B5EF4-FFF2-40B4-BE49-F238E27FC236}">
                <a16:creationId xmlns:a16="http://schemas.microsoft.com/office/drawing/2014/main" id="{D89056E3-FB57-4852-A278-7BD57A5C2A75}"/>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19 / 22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411657eb06a41b8"/>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0473FC0-16D1-4B83-A05B-609041204A82}"/>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9E300AE1-C6E2-4366-9C78-771114510660}"/>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diagram shows how entities and relationships are represented by keys, nesting, or joins.</a:t>
            </a:r>
          </a:p>
        </p:txBody>
      </p:sp>
      <p:sp>
        <p:nvSpPr>
          <p:cNvPr id="7" name="">
            <a:extLst xmlns:a="http://schemas.openxmlformats.org/drawingml/2006/main">
              <a:ext uri="{FF2B5EF4-FFF2-40B4-BE49-F238E27FC236}">
                <a16:creationId xmlns:a16="http://schemas.microsoft.com/office/drawing/2014/main" id="{2608F630-9A06-4CA9-9CED-A55F82496766}"/>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3CA3689E-981B-4169-A9E7-7CCDB6373C6E}"/>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model changes read locality, duplication, and update complexity.</a:t>
            </a:r>
          </a:p>
        </p:txBody>
      </p:sp>
      <p:sp>
        <p:nvSpPr>
          <p:cNvPr id="9" name="">
            <a:extLst xmlns:a="http://schemas.openxmlformats.org/drawingml/2006/main">
              <a:ext uri="{FF2B5EF4-FFF2-40B4-BE49-F238E27FC236}">
                <a16:creationId xmlns:a16="http://schemas.microsoft.com/office/drawing/2014/main" id="{A62F8ED6-E820-4E38-A0AF-0D6C27E607F4}"/>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2862F812-BF8E-4A6B-8B9C-C39638A97D04}"/>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596152529"/>
      </p:ext>
    </p:extLst>
  </p:cSld>
</p:sld>
</file>

<file path=ppt/slides/slide2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92496A-248E-4239-8D73-2DE6FE26696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E1839B60-6453-4405-BE62-E3BC80FB46C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Model selection</a:t>
            </a:r>
          </a:p>
        </p:txBody>
      </p:sp>
      <p:sp>
        <p:nvSpPr>
          <p:cNvPr id="3" name="">
            <a:extLst xmlns:a="http://schemas.openxmlformats.org/drawingml/2006/main">
              <a:ext uri="{FF2B5EF4-FFF2-40B4-BE49-F238E27FC236}">
                <a16:creationId xmlns:a16="http://schemas.microsoft.com/office/drawing/2014/main" id="{DEC911E9-9E23-4978-9A03-2EF45EE4F695}"/>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20 / 22</a:t>
            </a:r>
          </a:p>
        </p:txBody>
      </p:sp>
      <p:sp>
        <p:nvSpPr>
          <p:cNvPr id="4" name="">
            <a:extLst xmlns:a="http://schemas.openxmlformats.org/drawingml/2006/main">
              <a:ext uri="{FF2B5EF4-FFF2-40B4-BE49-F238E27FC236}">
                <a16:creationId xmlns:a16="http://schemas.microsoft.com/office/drawing/2014/main" id="{A1BE60D7-6E28-4151-86CA-9D1087B0472E}"/>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457B9D"/>
                </a:solidFill>
                <a:latin typeface="Arial"/>
                <a:ea typeface="Arial"/>
                <a:cs typeface="Arial"/>
              </a:defRPr>
            </a:pPr>
            <a:r>
              <a:rPr sz="6750" b="1">
                <a:solidFill>
                  <a:srgbClr val="457B9D"/>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85111657-470E-4C63-A55D-F13799062D0C}"/>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Use relational data for stable structure and strong constraints.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Use documents when aggregate boundaries and whole-object access dominate.</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Use graphs when relationships and traversals are the core workload.</a:t>
            </a:r>
          </a:p>
        </p:txBody>
      </p:sp>
      <p:sp>
        <p:nvSpPr>
          <p:cNvPr id="6" name="">
            <a:extLst xmlns:a="http://schemas.openxmlformats.org/drawingml/2006/main">
              <a:ext uri="{FF2B5EF4-FFF2-40B4-BE49-F238E27FC236}">
                <a16:creationId xmlns:a16="http://schemas.microsoft.com/office/drawing/2014/main" id="{CA405BB8-1B1D-4834-AD16-206D08276E6E}"/>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457B9D"/>
                </a:solidFill>
                <a:latin typeface="Arial"/>
                <a:ea typeface="Arial"/>
                <a:cs typeface="Arial"/>
              </a:defRPr>
            </a:pPr>
            <a:r>
              <a:rPr sz="1200" b="1">
                <a:solidFill>
                  <a:srgbClr val="457B9D"/>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A335E798-3CC6-4046-9EE8-4B0D55BC8899}"/>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530853491"/>
      </p:ext>
    </p:extLst>
  </p:cSld>
</p:sld>
</file>

<file path=ppt/slides/slide2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C347E3-1B2A-43F7-AA95-5BF996BE435A}"/>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9FC69852-E1E3-4527-A9D2-6E2F7569E1F0}"/>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Model selection: design trade-offs</a:t>
            </a:r>
          </a:p>
        </p:txBody>
      </p:sp>
      <p:sp>
        <p:nvSpPr>
          <p:cNvPr id="3" name="">
            <a:extLst xmlns:a="http://schemas.openxmlformats.org/drawingml/2006/main">
              <a:ext uri="{FF2B5EF4-FFF2-40B4-BE49-F238E27FC236}">
                <a16:creationId xmlns:a16="http://schemas.microsoft.com/office/drawing/2014/main" id="{B8ECD092-5823-4AC4-8AA7-F46185F71AE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21 / 22</a:t>
            </a:r>
          </a:p>
        </p:txBody>
      </p:sp>
      <p:sp>
        <p:nvSpPr>
          <p:cNvPr id="4" name="">
            <a:extLst xmlns:a="http://schemas.openxmlformats.org/drawingml/2006/main">
              <a:ext uri="{FF2B5EF4-FFF2-40B4-BE49-F238E27FC236}">
                <a16:creationId xmlns:a16="http://schemas.microsoft.com/office/drawing/2014/main" id="{AD7E62B1-B012-4721-8AB6-5123EC581E27}"/>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457B9D"/>
                </a:solidFill>
                <a:latin typeface="Arial"/>
                <a:ea typeface="Arial"/>
                <a:cs typeface="Arial"/>
              </a:defRPr>
            </a:pPr>
            <a:r>
              <a:rPr sz="6750" b="1">
                <a:solidFill>
                  <a:srgbClr val="457B9D"/>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A3EE0F34-6742-48B8-B831-1E1A39FBD6DD}"/>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Use relational data for stable structure and strong constraints.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980213276"/>
      </p:ext>
    </p:extLst>
  </p:cSld>
</p:sld>
</file>

<file path=ppt/slides/slide2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00EF68-9C0F-4AF1-9C2F-D71E6F9FA97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457B9D"/>
                </a:solidFill>
                <a:latin typeface="Arial"/>
                <a:ea typeface="Arial"/>
                <a:cs typeface="Arial"/>
              </a:defRPr>
            </a:pPr>
            <a:r>
              <a:rPr sz="1200" b="1" spc="2">
                <a:solidFill>
                  <a:srgbClr val="457B9D"/>
                </a:solidFill>
                <a:latin typeface="Arial"/>
                <a:ea typeface="Arial"/>
                <a:cs typeface="Arial"/>
              </a:rPr>
              <a:t>CHAPTER 03</a:t>
            </a:r>
          </a:p>
        </p:txBody>
      </p:sp>
      <p:sp>
        <p:nvSpPr>
          <p:cNvPr id="2" name="">
            <a:extLst xmlns:a="http://schemas.openxmlformats.org/drawingml/2006/main">
              <a:ext uri="{FF2B5EF4-FFF2-40B4-BE49-F238E27FC236}">
                <a16:creationId xmlns:a16="http://schemas.microsoft.com/office/drawing/2014/main" id="{2C453421-31BE-44A5-BDD5-96ED526091A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Review and application</a:t>
            </a:r>
          </a:p>
        </p:txBody>
      </p:sp>
      <p:sp>
        <p:nvSpPr>
          <p:cNvPr id="3" name="">
            <a:extLst xmlns:a="http://schemas.openxmlformats.org/drawingml/2006/main">
              <a:ext uri="{FF2B5EF4-FFF2-40B4-BE49-F238E27FC236}">
                <a16:creationId xmlns:a16="http://schemas.microsoft.com/office/drawing/2014/main" id="{BED8BE16-BCB7-4B40-B5EB-F71D6AFD2AB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22 / 22</a:t>
            </a:r>
          </a:p>
        </p:txBody>
      </p:sp>
      <p:sp>
        <p:nvSpPr>
          <p:cNvPr id="4" name="">
            <a:extLst xmlns:a="http://schemas.openxmlformats.org/drawingml/2006/main">
              <a:ext uri="{FF2B5EF4-FFF2-40B4-BE49-F238E27FC236}">
                <a16:creationId xmlns:a16="http://schemas.microsoft.com/office/drawing/2014/main" id="{D8750205-A29B-4F01-ADE7-356DFA223CE8}"/>
              </a:ext>
            </a:extLst>
          </p:cNvPr>
          <p:cNvSpPr>
            <a:spLocks xmlns:a="http://schemas.openxmlformats.org/drawingml/2006/main" noGrp="1"/>
          </p:cNvSpPr>
          <p:nvPr/>
        </p:nvSpPr>
        <p:spPr>
          <a:xfrm xmlns:a="http://schemas.openxmlformats.org/drawingml/2006/main">
            <a:off x="1285875" y="1666875"/>
            <a:ext cx="952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State the chapter’s central problem in one sentence.</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Choose one mechanism and list the assumptions it relies on.</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Describe a failure scenario and explain the recovery path.</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Apply one trade-off from the chapter to a system you are designing.</a:t>
            </a:r>
          </a:p>
        </p:txBody>
      </p:sp>
    </p:spTree>
    <p:extLst>
      <p:ext uri="{BB962C8B-B14F-4D97-AF65-F5344CB8AC3E}">
        <p14:creationId xmlns:p14="http://schemas.microsoft.com/office/powerpoint/2010/main" val="3698277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2026-09-27T19:47:03.2900000Z</dcterms:created>
  <dcterms:modified xsi:type="dcterms:W3CDTF">2026-09-27T19:47:03.2900000Z</dcterms:modified>
</coreProperties>
</file>