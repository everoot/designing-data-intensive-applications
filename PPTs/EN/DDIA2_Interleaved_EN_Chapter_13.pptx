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a03b31cff64967" /><Relationship Type="http://schemas.openxmlformats.org/officeDocument/2006/relationships/extended-properties" Target="/docProps/app.xml" Id="Rd3029184fe9549c7" /><Relationship Type="http://schemas.openxmlformats.org/officeDocument/2006/relationships/officeDocument" Target="/ppt/presentation.xml" Id="R0a60b876af324a2d" /></Relationships>
</file>

<file path=ppt/presentation.xml><?xml version="1.0" encoding="utf-8"?>
<p:presentation xmlns:p="http://schemas.openxmlformats.org/presentationml/2006/main">
  <p:sldMasterIdLst>
    <p:sldMasterId xmlns:r="http://schemas.openxmlformats.org/officeDocument/2006/relationships" id="2147483648" r:id="Rbfb49634ecfa4bec"/>
  </p:sldMasterIdLst>
  <p:notesMasterIdLst>
    <p:notesMasterId xmlns:r="http://schemas.openxmlformats.org/officeDocument/2006/relationships" r:id="R908413db69b146aa"/>
  </p:notesMasterIdLst>
  <p:sldIdLst>
    <p:sldId xmlns:r="http://schemas.openxmlformats.org/officeDocument/2006/relationships" id="256" r:id="Ra889a743973044bd"/>
    <p:sldId xmlns:r="http://schemas.openxmlformats.org/officeDocument/2006/relationships" id="257" r:id="R4453f87c029c44a3"/>
    <p:sldId xmlns:r="http://schemas.openxmlformats.org/officeDocument/2006/relationships" id="258" r:id="Rc1309c7a924e490c"/>
    <p:sldId xmlns:r="http://schemas.openxmlformats.org/officeDocument/2006/relationships" id="259" r:id="R0c10f70ac2384653"/>
    <p:sldId xmlns:r="http://schemas.openxmlformats.org/officeDocument/2006/relationships" id="260" r:id="R7d5350f7c2614881"/>
    <p:sldId xmlns:r="http://schemas.openxmlformats.org/officeDocument/2006/relationships" id="261" r:id="Rc7eb9478fdba49c4"/>
    <p:sldId xmlns:r="http://schemas.openxmlformats.org/officeDocument/2006/relationships" id="262" r:id="R34d761b0620f4571"/>
    <p:sldId xmlns:r="http://schemas.openxmlformats.org/officeDocument/2006/relationships" id="263" r:id="R2014ff96bb0146ed"/>
    <p:sldId xmlns:r="http://schemas.openxmlformats.org/officeDocument/2006/relationships" id="264" r:id="Rd2ed9d70c7064b0b"/>
    <p:sldId xmlns:r="http://schemas.openxmlformats.org/officeDocument/2006/relationships" id="265" r:id="R84963a35576a494d"/>
    <p:sldId xmlns:r="http://schemas.openxmlformats.org/officeDocument/2006/relationships" id="266" r:id="R9b934095d6534aea"/>
    <p:sldId xmlns:r="http://schemas.openxmlformats.org/officeDocument/2006/relationships" id="267" r:id="Rf6c1487fd7574826"/>
    <p:sldId xmlns:r="http://schemas.openxmlformats.org/officeDocument/2006/relationships" id="268" r:id="R021bb2b8c9c94f09"/>
    <p:sldId xmlns:r="http://schemas.openxmlformats.org/officeDocument/2006/relationships" id="269" r:id="R70f0cec4dada47de"/>
    <p:sldId xmlns:r="http://schemas.openxmlformats.org/officeDocument/2006/relationships" id="270" r:id="Rc87fb3cf3de244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be96902ca045c5" /><Relationship Type="http://schemas.openxmlformats.org/officeDocument/2006/relationships/slideMaster" Target="/ppt/slideMasters/slideMaster1.xml" Id="Rbfb49634ecfa4bec" /><Relationship Type="http://schemas.openxmlformats.org/officeDocument/2006/relationships/notesMaster" Target="/ppt/notesMasters/notesMaster1.xml" Id="R908413db69b146aa" /><Relationship Type="http://schemas.openxmlformats.org/officeDocument/2006/relationships/presProps" Target="/ppt/presProps.xml" Id="R16cb862506d04be7" /><Relationship Type="http://schemas.openxmlformats.org/officeDocument/2006/relationships/tableStyles" Target="/ppt/tableStyles.xml" Id="R95a39fd1413c403d" /><Relationship Type="http://schemas.openxmlformats.org/officeDocument/2006/relationships/slide" Target="/ppt/slides/slide1.xml" Id="Ra889a743973044bd" /><Relationship Type="http://schemas.openxmlformats.org/officeDocument/2006/relationships/slide" Target="/ppt/slides/slide2.xml" Id="R4453f87c029c44a3" /><Relationship Type="http://schemas.openxmlformats.org/officeDocument/2006/relationships/slide" Target="/ppt/slides/slide3.xml" Id="Rc1309c7a924e490c" /><Relationship Type="http://schemas.openxmlformats.org/officeDocument/2006/relationships/slide" Target="/ppt/slides/slide4.xml" Id="R0c10f70ac2384653" /><Relationship Type="http://schemas.openxmlformats.org/officeDocument/2006/relationships/slide" Target="/ppt/slides/slide5.xml" Id="R7d5350f7c2614881" /><Relationship Type="http://schemas.openxmlformats.org/officeDocument/2006/relationships/slide" Target="/ppt/slides/slide6.xml" Id="Rc7eb9478fdba49c4" /><Relationship Type="http://schemas.openxmlformats.org/officeDocument/2006/relationships/slide" Target="/ppt/slides/slide7.xml" Id="R34d761b0620f4571" /><Relationship Type="http://schemas.openxmlformats.org/officeDocument/2006/relationships/slide" Target="/ppt/slides/slide8.xml" Id="R2014ff96bb0146ed" /><Relationship Type="http://schemas.openxmlformats.org/officeDocument/2006/relationships/slide" Target="/ppt/slides/slide9.xml" Id="Rd2ed9d70c7064b0b" /><Relationship Type="http://schemas.openxmlformats.org/officeDocument/2006/relationships/slide" Target="/ppt/slides/slide10.xml" Id="R84963a35576a494d" /><Relationship Type="http://schemas.openxmlformats.org/officeDocument/2006/relationships/slide" Target="/ppt/slides/slide11.xml" Id="R9b934095d6534aea" /><Relationship Type="http://schemas.openxmlformats.org/officeDocument/2006/relationships/slide" Target="/ppt/slides/slide12.xml" Id="Rf6c1487fd7574826" /><Relationship Type="http://schemas.openxmlformats.org/officeDocument/2006/relationships/slide" Target="/ppt/slides/slide13.xml" Id="R021bb2b8c9c94f09" /><Relationship Type="http://schemas.openxmlformats.org/officeDocument/2006/relationships/slide" Target="/ppt/slides/slide14.xml" Id="R70f0cec4dada47de" /><Relationship Type="http://schemas.openxmlformats.org/officeDocument/2006/relationships/slide" Target="/ppt/slides/slide15.xml" Id="Rc87fb3cf3de244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947d89c34c4a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27608722c64710" /><Relationship Type="http://schemas.openxmlformats.org/officeDocument/2006/relationships/notesMaster" Target="/ppt/notesMasters/notesMaster1.xml" Id="Rf7da9995fd254f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ea997cf614bbc" /><Relationship Type="http://schemas.openxmlformats.org/officeDocument/2006/relationships/notesMaster" Target="/ppt/notesMasters/notesMaster1.xml" Id="Rd241ede8772e4a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445972ca4544fb" /><Relationship Type="http://schemas.openxmlformats.org/officeDocument/2006/relationships/notesMaster" Target="/ppt/notesMasters/notesMaster1.xml" Id="R4a0123fdce5143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878da55cca442d" /><Relationship Type="http://schemas.openxmlformats.org/officeDocument/2006/relationships/notesMaster" Target="/ppt/notesMasters/notesMaster1.xml" Id="R126c3371d1c743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218efdeff741b9" /><Relationship Type="http://schemas.openxmlformats.org/officeDocument/2006/relationships/notesMaster" Target="/ppt/notesMasters/notesMaster1.xml" Id="Ra0411b4ee0fb43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4d64c7d3214f38" /><Relationship Type="http://schemas.openxmlformats.org/officeDocument/2006/relationships/notesMaster" Target="/ppt/notesMasters/notesMaster1.xml" Id="Rb9055b03cd3343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4d373b91724a49" /><Relationship Type="http://schemas.openxmlformats.org/officeDocument/2006/relationships/notesMaster" Target="/ppt/notesMasters/notesMaster1.xml" Id="R168cb1c5b2ec48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c964cdeac4418c" /><Relationship Type="http://schemas.openxmlformats.org/officeDocument/2006/relationships/notesMaster" Target="/ppt/notesMasters/notesMaster1.xml" Id="R12af1510210d4c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e7d5af208b4062" /><Relationship Type="http://schemas.openxmlformats.org/officeDocument/2006/relationships/notesMaster" Target="/ppt/notesMasters/notesMaster1.xml" Id="R9d49c86e59ec4e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818be8dff94a35" /><Relationship Type="http://schemas.openxmlformats.org/officeDocument/2006/relationships/notesMaster" Target="/ppt/notesMasters/notesMaster1.xml" Id="R114a89bb001d46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d009aaaf4a4b1f" /><Relationship Type="http://schemas.openxmlformats.org/officeDocument/2006/relationships/notesMaster" Target="/ppt/notesMasters/notesMaster1.xml" Id="R48346e147b2842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fd33eed2ab42c3" /><Relationship Type="http://schemas.openxmlformats.org/officeDocument/2006/relationships/notesMaster" Target="/ppt/notesMasters/notesMaster1.xml" Id="R92ec5073b1c243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c9c87d58f3468c" /><Relationship Type="http://schemas.openxmlformats.org/officeDocument/2006/relationships/notesMaster" Target="/ppt/notesMasters/notesMaster1.xml" Id="R19b8f32e0ed043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6ef53ac41842c9" /><Relationship Type="http://schemas.openxmlformats.org/officeDocument/2006/relationships/notesMaster" Target="/ppt/notesMasters/notesMaster1.xml" Id="Rb753908c0c2f43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fcbd19548f4c8a" /><Relationship Type="http://schemas.openxmlformats.org/officeDocument/2006/relationships/notesMaster" Target="/ppt/notesMasters/notesMaster1.xml" Id="R9ba4a4ff34ec4f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Figure 13-1, PDF page 580. Original caption: Figure 13-1. In a search index, writes (document updates) meet reads (queries).</a:t>
            </a:r>
          </a:p>
          <a:p xmlns:a="http://schemas.openxmlformats.org/drawingml/2006/main">
            <a:r>
              <a:t>Explanation: Reads and writes meet at a derived-state or constraint boundary. The system must coordinate updates or verify invariants end to end.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Figure 13-2, PDF page 593. Original caption: Figure 13-2. Checking whether a source account has enough money and atomically</a:t>
            </a:r>
          </a:p>
          <a:p xmlns:a="http://schemas.openxmlformats.org/drawingml/2006/main">
            <a:r>
              <a:t>Explanation: Reads and writes meet at a derived-state or constraint boundary. The system must coordinate updates or verify invariants end to end.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13, book pages 539-579.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64bf7656e741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260d65aa34b2e" /><Relationship Type="http://schemas.openxmlformats.org/officeDocument/2006/relationships/slideLayout" Target="/ppt/slideLayouts/slideLayout1.xml" Id="R0f7876a7e40843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7876a7e40843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118cd777fe4ee1" /><Relationship Type="http://schemas.openxmlformats.org/officeDocument/2006/relationships/notesSlide" Target="/ppt/notesSlides/notesSlide1.xml" Id="R00ef9c36e5134c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265cb3753242ac" /><Relationship Type="http://schemas.openxmlformats.org/officeDocument/2006/relationships/notesSlide" Target="/ppt/notesSlides/notesSlide2.xml" Id="R046fc018a6ae4c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a76789a73843ab" /><Relationship Type="http://schemas.openxmlformats.org/officeDocument/2006/relationships/notesSlide" Target="/ppt/notesSlides/notesSlide3.xml" Id="R81fb6619068c4f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fa8611f9614599" /><Relationship Type="http://schemas.openxmlformats.org/officeDocument/2006/relationships/notesSlide" Target="/ppt/notesSlides/notesSlide4.xml" Id="R8eb06619bc674d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a28fee4fdc4191" /><Relationship Type="http://schemas.openxmlformats.org/officeDocument/2006/relationships/image" Target="/ppt/media/image.png" Id="R6f2b2b15f3d64aed" /><Relationship Type="http://schemas.openxmlformats.org/officeDocument/2006/relationships/notesSlide" Target="/ppt/notesSlides/notesSlide5.xml" Id="Rdb0e9f71227548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8d5c5f9c374f08" /><Relationship Type="http://schemas.openxmlformats.org/officeDocument/2006/relationships/notesSlide" Target="/ppt/notesSlides/notesSlide6.xml" Id="R4d4679bc4b594c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1a7f8c3f494de7" /><Relationship Type="http://schemas.openxmlformats.org/officeDocument/2006/relationships/notesSlide" Target="/ppt/notesSlides/notesSlide7.xml" Id="Rf68cc60c254b4d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5d1bd8489746a9" /><Relationship Type="http://schemas.openxmlformats.org/officeDocument/2006/relationships/notesSlide" Target="/ppt/notesSlides/notesSlide8.xml" Id="R63cdd025b39a41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0e1315129046be" /><Relationship Type="http://schemas.openxmlformats.org/officeDocument/2006/relationships/notesSlide" Target="/ppt/notesSlides/notesSlide9.xml" Id="R0ec3c1e990ff46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c69db0062840df" /><Relationship Type="http://schemas.openxmlformats.org/officeDocument/2006/relationships/notesSlide" Target="/ppt/notesSlides/notesSlide10.xml" Id="R8d118c98527d400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92aabdf586842ab" /><Relationship Type="http://schemas.openxmlformats.org/officeDocument/2006/relationships/notesSlide" Target="/ppt/notesSlides/notesSlide11.xml" Id="Rd41c1501663a4f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431171baa340e4" /><Relationship Type="http://schemas.openxmlformats.org/officeDocument/2006/relationships/image" Target="/ppt/media/image2.png" Id="R127e84381d17417a" /><Relationship Type="http://schemas.openxmlformats.org/officeDocument/2006/relationships/notesSlide" Target="/ppt/notesSlides/notesSlide12.xml" Id="R88f2dc13b00e48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cc615b294d41e4" /><Relationship Type="http://schemas.openxmlformats.org/officeDocument/2006/relationships/notesSlide" Target="/ppt/notesSlides/notesSlide13.xml" Id="R8557242d849746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33a9004f4b4ac2" /><Relationship Type="http://schemas.openxmlformats.org/officeDocument/2006/relationships/notesSlide" Target="/ppt/notesSlides/notesSlide14.xml" Id="Rcfe080e2bb4b4e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51a679fd47481a" /><Relationship Type="http://schemas.openxmlformats.org/officeDocument/2006/relationships/notesSlide" Target="/ppt/notesSlides/notesSlide15.xml" Id="Rb14ee82908e24675"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3B649A-A0C8-4837-A309-A0E15D0CB1BB}"/>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BC6C25"/>
                </a:solidFill>
                <a:latin typeface="Arial"/>
                <a:ea typeface="Arial"/>
                <a:cs typeface="Arial"/>
              </a:defRPr>
            </a:pPr>
            <a:r>
              <a:rPr sz="1425"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7540BBE7-D4CA-40AB-B665-ACED8C1470FD}"/>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A Philosophy of Streaming Systems</a:t>
            </a:r>
          </a:p>
        </p:txBody>
      </p:sp>
      <p:sp>
        <p:nvSpPr>
          <p:cNvPr id="3" name="">
            <a:extLst xmlns:a="http://schemas.openxmlformats.org/drawingml/2006/main">
              <a:ext uri="{FF2B5EF4-FFF2-40B4-BE49-F238E27FC236}">
                <a16:creationId xmlns:a16="http://schemas.microsoft.com/office/drawing/2014/main" id="{516BB9AF-216F-4530-B2A1-ACB3BB45A403}"/>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878856D3-FCD1-4882-BA3B-84B21983CD15}"/>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836BD95D-5E02-4A37-890C-4063638F39F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15</a:t>
            </a:r>
          </a:p>
        </p:txBody>
      </p:sp>
    </p:spTree>
    <p:extLst>
      <p:ext uri="{BB962C8B-B14F-4D97-AF65-F5344CB8AC3E}">
        <p14:creationId xmlns:p14="http://schemas.microsoft.com/office/powerpoint/2010/main" val="756520474"/>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375E613-E177-405D-9045-E9B20EA3B0F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A34BDAC7-26F9-4162-8583-2569642A75C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B5E96984-05C2-452F-B229-C1358047769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15</a:t>
            </a:r>
          </a:p>
        </p:txBody>
      </p:sp>
      <p:sp>
        <p:nvSpPr>
          <p:cNvPr id="4" name="">
            <a:extLst xmlns:a="http://schemas.openxmlformats.org/drawingml/2006/main">
              <a:ext uri="{FF2B5EF4-FFF2-40B4-BE49-F238E27FC236}">
                <a16:creationId xmlns:a16="http://schemas.microsoft.com/office/drawing/2014/main" id="{D4E336E8-352F-4E5F-BA6D-6DFF4B38B44E}"/>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BC6C25"/>
                </a:solidFill>
                <a:latin typeface="Arial"/>
                <a:ea typeface="Arial"/>
                <a:cs typeface="Arial"/>
              </a:defRPr>
            </a:pPr>
            <a:r>
              <a:rPr sz="2100" b="1">
                <a:solidFill>
                  <a:srgbClr val="BC6C2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8752D6F-48FC-4D2A-BB1E-BFB1FDF8520C}"/>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Data integration</a:t>
            </a:r>
          </a:p>
        </p:txBody>
      </p:sp>
      <p:sp>
        <p:nvSpPr>
          <p:cNvPr id="6" name="">
            <a:extLst xmlns:a="http://schemas.openxmlformats.org/drawingml/2006/main">
              <a:ext uri="{FF2B5EF4-FFF2-40B4-BE49-F238E27FC236}">
                <a16:creationId xmlns:a16="http://schemas.microsoft.com/office/drawing/2014/main" id="{2C5A54D6-69DD-4530-B23A-4A88CB3BAF21}"/>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Organizations combine specialized systems rather than one universal database.</a:t>
            </a:r>
          </a:p>
        </p:txBody>
      </p:sp>
      <p:sp>
        <p:nvSpPr>
          <p:cNvPr id="7" name="">
            <a:extLst xmlns:a="http://schemas.openxmlformats.org/drawingml/2006/main">
              <a:ext uri="{FF2B5EF4-FFF2-40B4-BE49-F238E27FC236}">
                <a16:creationId xmlns:a16="http://schemas.microsoft.com/office/drawing/2014/main" id="{BA50936E-B572-4617-9CC1-1295E4FE4C77}"/>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BC6C25"/>
                </a:solidFill>
                <a:latin typeface="Arial"/>
                <a:ea typeface="Arial"/>
                <a:cs typeface="Arial"/>
              </a:defRPr>
            </a:pPr>
            <a:r>
              <a:rPr sz="2100" b="1">
                <a:solidFill>
                  <a:srgbClr val="BC6C2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B2375C5-BFDF-443B-A8A6-1E794F1DA663}"/>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Batch and stream processing</a:t>
            </a:r>
          </a:p>
        </p:txBody>
      </p:sp>
      <p:sp>
        <p:nvSpPr>
          <p:cNvPr id="9" name="">
            <a:extLst xmlns:a="http://schemas.openxmlformats.org/drawingml/2006/main">
              <a:ext uri="{FF2B5EF4-FFF2-40B4-BE49-F238E27FC236}">
                <a16:creationId xmlns:a16="http://schemas.microsoft.com/office/drawing/2014/main" id="{946191ED-694B-4A2B-A362-7736F2C10A4E}"/>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Batch processes bounded data while streams process continuing changes.</a:t>
            </a:r>
          </a:p>
        </p:txBody>
      </p:sp>
      <p:sp>
        <p:nvSpPr>
          <p:cNvPr id="10" name="">
            <a:extLst xmlns:a="http://schemas.openxmlformats.org/drawingml/2006/main">
              <a:ext uri="{FF2B5EF4-FFF2-40B4-BE49-F238E27FC236}">
                <a16:creationId xmlns:a16="http://schemas.microsoft.com/office/drawing/2014/main" id="{ECC98876-0039-42E2-92B7-4EA37782BC28}"/>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BC6C25"/>
                </a:solidFill>
                <a:latin typeface="Arial"/>
                <a:ea typeface="Arial"/>
                <a:cs typeface="Arial"/>
              </a:defRPr>
            </a:pPr>
            <a:r>
              <a:rPr sz="2100" b="1">
                <a:solidFill>
                  <a:srgbClr val="BC6C2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F2780D52-E2BF-4CCB-AC68-0FD9E6B90CCB}"/>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Unbundling databases</a:t>
            </a:r>
          </a:p>
        </p:txBody>
      </p:sp>
      <p:sp>
        <p:nvSpPr>
          <p:cNvPr id="12" name="">
            <a:extLst xmlns:a="http://schemas.openxmlformats.org/drawingml/2006/main">
              <a:ext uri="{FF2B5EF4-FFF2-40B4-BE49-F238E27FC236}">
                <a16:creationId xmlns:a16="http://schemas.microsoft.com/office/drawing/2014/main" id="{DDF025D1-3ECF-469E-B765-214ED62BCE10}"/>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Indexes, caches, search, and warehouses are maintained views.</a:t>
            </a:r>
          </a:p>
        </p:txBody>
      </p:sp>
      <p:sp>
        <p:nvSpPr>
          <p:cNvPr id="13" name="">
            <a:extLst xmlns:a="http://schemas.openxmlformats.org/drawingml/2006/main">
              <a:ext uri="{FF2B5EF4-FFF2-40B4-BE49-F238E27FC236}">
                <a16:creationId xmlns:a16="http://schemas.microsoft.com/office/drawing/2014/main" id="{0D003B18-49D4-474C-83DD-E47AC479870F}"/>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BC6C25"/>
                </a:solidFill>
                <a:latin typeface="Arial"/>
                <a:ea typeface="Arial"/>
                <a:cs typeface="Arial"/>
              </a:defRPr>
            </a:pPr>
            <a:r>
              <a:rPr sz="2100" b="1">
                <a:solidFill>
                  <a:srgbClr val="BC6C25"/>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DB9D39B-8F34-43D0-9A8E-05B0D9148FC1}"/>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Correctness</a:t>
            </a:r>
          </a:p>
        </p:txBody>
      </p:sp>
      <p:sp>
        <p:nvSpPr>
          <p:cNvPr id="15" name="">
            <a:extLst xmlns:a="http://schemas.openxmlformats.org/drawingml/2006/main">
              <a:ext uri="{FF2B5EF4-FFF2-40B4-BE49-F238E27FC236}">
                <a16:creationId xmlns:a16="http://schemas.microsoft.com/office/drawing/2014/main" id="{53515BC8-DA90-4D8F-B30A-83BA770E4830}"/>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Low-level atomicity does not guarantee cross-system business correctness.</a:t>
            </a:r>
          </a:p>
        </p:txBody>
      </p:sp>
      <p:sp>
        <p:nvSpPr>
          <p:cNvPr id="16" name="">
            <a:extLst xmlns:a="http://schemas.openxmlformats.org/drawingml/2006/main">
              <a:ext uri="{FF2B5EF4-FFF2-40B4-BE49-F238E27FC236}">
                <a16:creationId xmlns:a16="http://schemas.microsoft.com/office/drawing/2014/main" id="{B26ED067-67AA-4843-BEBF-8D90B2473D44}"/>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BC6C25"/>
                </a:solidFill>
                <a:latin typeface="Arial"/>
                <a:ea typeface="Arial"/>
                <a:cs typeface="Arial"/>
              </a:defRPr>
            </a:pPr>
            <a:r>
              <a:rPr sz="2100" b="1">
                <a:solidFill>
                  <a:srgbClr val="BC6C25"/>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B5D16719-8A44-4E65-A34D-6C69A70D7A1B}"/>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Trust but verify</a:t>
            </a:r>
          </a:p>
        </p:txBody>
      </p:sp>
      <p:sp>
        <p:nvSpPr>
          <p:cNvPr id="18" name="">
            <a:extLst xmlns:a="http://schemas.openxmlformats.org/drawingml/2006/main">
              <a:ext uri="{FF2B5EF4-FFF2-40B4-BE49-F238E27FC236}">
                <a16:creationId xmlns:a16="http://schemas.microsoft.com/office/drawing/2014/main" id="{D91404BB-30B8-4B3E-8A9A-40ADD9FA7FF4}"/>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Timeliness asks when an update becomes visible; integrity asks whether it is correct.</a:t>
            </a:r>
          </a:p>
        </p:txBody>
      </p:sp>
    </p:spTree>
    <p:extLst>
      <p:ext uri="{BB962C8B-B14F-4D97-AF65-F5344CB8AC3E}">
        <p14:creationId xmlns:p14="http://schemas.microsoft.com/office/powerpoint/2010/main" val="1914455200"/>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0D4FAC-7BA3-4582-9BE4-44B03113AC9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113E2A3A-FD1E-400C-822D-7246BE6A946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 integration</a:t>
            </a:r>
          </a:p>
        </p:txBody>
      </p:sp>
      <p:sp>
        <p:nvSpPr>
          <p:cNvPr id="3" name="">
            <a:extLst xmlns:a="http://schemas.openxmlformats.org/drawingml/2006/main">
              <a:ext uri="{FF2B5EF4-FFF2-40B4-BE49-F238E27FC236}">
                <a16:creationId xmlns:a16="http://schemas.microsoft.com/office/drawing/2014/main" id="{1ACF6DEE-918C-4D27-B8BC-252D7945DD0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15</a:t>
            </a:r>
          </a:p>
        </p:txBody>
      </p:sp>
      <p:sp>
        <p:nvSpPr>
          <p:cNvPr id="4" name="">
            <a:extLst xmlns:a="http://schemas.openxmlformats.org/drawingml/2006/main">
              <a:ext uri="{FF2B5EF4-FFF2-40B4-BE49-F238E27FC236}">
                <a16:creationId xmlns:a16="http://schemas.microsoft.com/office/drawing/2014/main" id="{F9DB338B-EA16-4BD9-A931-216B1C16D008}"/>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BAC0DA0-0531-451C-99AC-C19CEA5A8B45}"/>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Organizations combine specialized systems rather than one universal database.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Batch and stream jobs derive data from systems of record.</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Dataflows need clear ownership, traceability, and rebuild paths.</a:t>
            </a:r>
          </a:p>
        </p:txBody>
      </p:sp>
      <p:sp>
        <p:nvSpPr>
          <p:cNvPr id="6" name="">
            <a:extLst xmlns:a="http://schemas.openxmlformats.org/drawingml/2006/main">
              <a:ext uri="{FF2B5EF4-FFF2-40B4-BE49-F238E27FC236}">
                <a16:creationId xmlns:a16="http://schemas.microsoft.com/office/drawing/2014/main" id="{161E82AC-891E-4D20-B527-AAC3A11504CD}"/>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A0F767E5-0C63-49E9-AC30-C250D446ABD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390259227"/>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CBD628-5E65-46EA-9302-BCA8A5CED15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2BE2243F-3241-434B-82CD-8792C3A99CD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 integration: design trade-offs</a:t>
            </a:r>
          </a:p>
        </p:txBody>
      </p:sp>
      <p:sp>
        <p:nvSpPr>
          <p:cNvPr id="3" name="">
            <a:extLst xmlns:a="http://schemas.openxmlformats.org/drawingml/2006/main">
              <a:ext uri="{FF2B5EF4-FFF2-40B4-BE49-F238E27FC236}">
                <a16:creationId xmlns:a16="http://schemas.microsoft.com/office/drawing/2014/main" id="{A9125E53-98E6-4CC6-BAF8-17ECE3E1873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15</a:t>
            </a:r>
          </a:p>
        </p:txBody>
      </p:sp>
      <p:sp>
        <p:nvSpPr>
          <p:cNvPr id="4" name="">
            <a:extLst xmlns:a="http://schemas.openxmlformats.org/drawingml/2006/main">
              <a:ext uri="{FF2B5EF4-FFF2-40B4-BE49-F238E27FC236}">
                <a16:creationId xmlns:a16="http://schemas.microsoft.com/office/drawing/2014/main" id="{A95F5681-51B0-4B09-A311-A6C498BD1768}"/>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3883E56-FE9C-4AB9-971E-02925F90C13A}"/>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Organizations combine specialized systems rather than one universal database.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374388076"/>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898895-86E9-435A-AB22-8AAE09D46D4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900663F9-880D-49A3-9C51-84B4F405D34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13-1: mechanism explained</a:t>
            </a:r>
          </a:p>
        </p:txBody>
      </p:sp>
      <p:sp>
        <p:nvSpPr>
          <p:cNvPr id="3" name="">
            <a:extLst xmlns:a="http://schemas.openxmlformats.org/drawingml/2006/main">
              <a:ext uri="{FF2B5EF4-FFF2-40B4-BE49-F238E27FC236}">
                <a16:creationId xmlns:a16="http://schemas.microsoft.com/office/drawing/2014/main" id="{13583A02-ED69-47E7-8347-3390249018F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15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f2b2b15f3d64aed"/>
          <a:stretch xmlns:a="http://schemas.openxmlformats.org/drawingml/2006/main"/>
        </p:blipFill>
        <p:spPr>
          <a:xfrm xmlns:a="http://schemas.openxmlformats.org/drawingml/2006/main">
            <a:off x="514350" y="1483816"/>
            <a:ext cx="7762875" cy="436661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BEE00E-7192-471D-B2B4-3BC9CF4533C6}"/>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4D256AB-C95C-475A-B1E2-D12F58B9675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Reads and writes meet at a derived-state or constraint boundary.</a:t>
            </a:r>
          </a:p>
        </p:txBody>
      </p:sp>
      <p:sp>
        <p:nvSpPr>
          <p:cNvPr id="7" name="">
            <a:extLst xmlns:a="http://schemas.openxmlformats.org/drawingml/2006/main">
              <a:ext uri="{FF2B5EF4-FFF2-40B4-BE49-F238E27FC236}">
                <a16:creationId xmlns:a16="http://schemas.microsoft.com/office/drawing/2014/main" id="{DFE65CE4-309C-4834-ABAF-6D7BB37B949B}"/>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1690D04-3497-44E4-BDA2-B8B7327BA706}"/>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system must coordinate updates or verify invariants end to end.</a:t>
            </a:r>
          </a:p>
        </p:txBody>
      </p:sp>
      <p:sp>
        <p:nvSpPr>
          <p:cNvPr id="9" name="">
            <a:extLst xmlns:a="http://schemas.openxmlformats.org/drawingml/2006/main">
              <a:ext uri="{FF2B5EF4-FFF2-40B4-BE49-F238E27FC236}">
                <a16:creationId xmlns:a16="http://schemas.microsoft.com/office/drawing/2014/main" id="{9EC5F932-0463-4F2A-A022-E05D77C3BDED}"/>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879B221-0921-40E7-9E03-BC1FB42A7BB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64334178"/>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C17DF1-5B33-480D-BA2D-B9E25B0F7B4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AB167F9D-1960-4B0A-9AE1-0F61B026ED0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Batch and stream processing</a:t>
            </a:r>
          </a:p>
        </p:txBody>
      </p:sp>
      <p:sp>
        <p:nvSpPr>
          <p:cNvPr id="3" name="">
            <a:extLst xmlns:a="http://schemas.openxmlformats.org/drawingml/2006/main">
              <a:ext uri="{FF2B5EF4-FFF2-40B4-BE49-F238E27FC236}">
                <a16:creationId xmlns:a16="http://schemas.microsoft.com/office/drawing/2014/main" id="{0F3DF1FF-5896-4182-811B-1455E004B34A}"/>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15</a:t>
            </a:r>
          </a:p>
        </p:txBody>
      </p:sp>
      <p:sp>
        <p:nvSpPr>
          <p:cNvPr id="4" name="">
            <a:extLst xmlns:a="http://schemas.openxmlformats.org/drawingml/2006/main">
              <a:ext uri="{FF2B5EF4-FFF2-40B4-BE49-F238E27FC236}">
                <a16:creationId xmlns:a16="http://schemas.microsoft.com/office/drawing/2014/main" id="{B4B18F57-8727-401C-A00D-BF7401D6812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9B8B1CA-5C5D-455A-9942-981DD6E36F90}"/>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Batch processes bounded data while streams process continuing changes.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The two can share transformation logic and data models.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Unification does not require one engine for every workload.</a:t>
            </a:r>
          </a:p>
        </p:txBody>
      </p:sp>
      <p:sp>
        <p:nvSpPr>
          <p:cNvPr id="6" name="">
            <a:extLst xmlns:a="http://schemas.openxmlformats.org/drawingml/2006/main">
              <a:ext uri="{FF2B5EF4-FFF2-40B4-BE49-F238E27FC236}">
                <a16:creationId xmlns:a16="http://schemas.microsoft.com/office/drawing/2014/main" id="{408C710D-0D26-4EA5-8336-AAE18DD6878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35F1909D-7B52-45B6-B9D4-CF0D77489AF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813340070"/>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F54FF8-0881-4550-81D5-84E9448BADD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6E04AA33-EA60-4A3A-A141-D2CF404F7CB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Batch and stream processing: design trade-offs</a:t>
            </a:r>
          </a:p>
        </p:txBody>
      </p:sp>
      <p:sp>
        <p:nvSpPr>
          <p:cNvPr id="3" name="">
            <a:extLst xmlns:a="http://schemas.openxmlformats.org/drawingml/2006/main">
              <a:ext uri="{FF2B5EF4-FFF2-40B4-BE49-F238E27FC236}">
                <a16:creationId xmlns:a16="http://schemas.microsoft.com/office/drawing/2014/main" id="{F9497807-8CC7-4496-97F9-5E83801D62A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15</a:t>
            </a:r>
          </a:p>
        </p:txBody>
      </p:sp>
      <p:sp>
        <p:nvSpPr>
          <p:cNvPr id="4" name="">
            <a:extLst xmlns:a="http://schemas.openxmlformats.org/drawingml/2006/main">
              <a:ext uri="{FF2B5EF4-FFF2-40B4-BE49-F238E27FC236}">
                <a16:creationId xmlns:a16="http://schemas.microsoft.com/office/drawing/2014/main" id="{90508FDC-1326-4338-936F-C065A476DAB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6366489-F153-42D8-A609-103103CA9974}"/>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Batch processes bounded data while streams process continuing changes.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414147105"/>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540271-E384-4539-9E0B-AD42B0FFA47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388A5C74-A287-4AC9-8635-12EF5980563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Unbundling databases</a:t>
            </a:r>
          </a:p>
        </p:txBody>
      </p:sp>
      <p:sp>
        <p:nvSpPr>
          <p:cNvPr id="3" name="">
            <a:extLst xmlns:a="http://schemas.openxmlformats.org/drawingml/2006/main">
              <a:ext uri="{FF2B5EF4-FFF2-40B4-BE49-F238E27FC236}">
                <a16:creationId xmlns:a16="http://schemas.microsoft.com/office/drawing/2014/main" id="{AF716FF7-9AFC-4270-B5F2-33E2BC395BB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15</a:t>
            </a:r>
          </a:p>
        </p:txBody>
      </p:sp>
      <p:sp>
        <p:nvSpPr>
          <p:cNvPr id="4" name="">
            <a:extLst xmlns:a="http://schemas.openxmlformats.org/drawingml/2006/main">
              <a:ext uri="{FF2B5EF4-FFF2-40B4-BE49-F238E27FC236}">
                <a16:creationId xmlns:a16="http://schemas.microsoft.com/office/drawing/2014/main" id="{5D390A69-FE4E-4306-BFE8-2D307D9F3E8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DCBF6C3-E6D1-4A5A-A463-34B35DD16794}"/>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Indexes, caches, search, and warehouses are maintained views.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Logs turn ordered writes into inputs for specialized stores.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Applications can compose storage around dataflow.</a:t>
            </a:r>
          </a:p>
        </p:txBody>
      </p:sp>
      <p:sp>
        <p:nvSpPr>
          <p:cNvPr id="6" name="">
            <a:extLst xmlns:a="http://schemas.openxmlformats.org/drawingml/2006/main">
              <a:ext uri="{FF2B5EF4-FFF2-40B4-BE49-F238E27FC236}">
                <a16:creationId xmlns:a16="http://schemas.microsoft.com/office/drawing/2014/main" id="{D92E7F51-DCF4-4384-91FE-299361B5C74D}"/>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3A456C1-7614-4412-9461-144527A4A927}"/>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803281949"/>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661089-D3BD-47A0-A5A6-E05883454AC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567BDAFE-11E4-4696-9522-83AE9BF9B498}"/>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Unbundling databases: design trade-offs</a:t>
            </a:r>
          </a:p>
        </p:txBody>
      </p:sp>
      <p:sp>
        <p:nvSpPr>
          <p:cNvPr id="3" name="">
            <a:extLst xmlns:a="http://schemas.openxmlformats.org/drawingml/2006/main">
              <a:ext uri="{FF2B5EF4-FFF2-40B4-BE49-F238E27FC236}">
                <a16:creationId xmlns:a16="http://schemas.microsoft.com/office/drawing/2014/main" id="{805E6190-956E-4684-9692-B12EA277F19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15</a:t>
            </a:r>
          </a:p>
        </p:txBody>
      </p:sp>
      <p:sp>
        <p:nvSpPr>
          <p:cNvPr id="4" name="">
            <a:extLst xmlns:a="http://schemas.openxmlformats.org/drawingml/2006/main">
              <a:ext uri="{FF2B5EF4-FFF2-40B4-BE49-F238E27FC236}">
                <a16:creationId xmlns:a16="http://schemas.microsoft.com/office/drawing/2014/main" id="{FFD09EA4-F67C-499B-8787-90DBAD7B168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41DB52C-4FAC-45D6-BC25-86E488444086}"/>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Indexes, caches, search, and warehouses are maintained views.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957303820"/>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EF1570-6804-437F-8232-0A7331A8BA5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EA347E84-A3B8-4EE8-B3D9-2A96204FEF9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Correctness</a:t>
            </a:r>
          </a:p>
        </p:txBody>
      </p:sp>
      <p:sp>
        <p:nvSpPr>
          <p:cNvPr id="3" name="">
            <a:extLst xmlns:a="http://schemas.openxmlformats.org/drawingml/2006/main">
              <a:ext uri="{FF2B5EF4-FFF2-40B4-BE49-F238E27FC236}">
                <a16:creationId xmlns:a16="http://schemas.microsoft.com/office/drawing/2014/main" id="{D7CBE85C-8B01-45CF-A794-E88D3EDFE6E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15</a:t>
            </a:r>
          </a:p>
        </p:txBody>
      </p:sp>
      <p:sp>
        <p:nvSpPr>
          <p:cNvPr id="4" name="">
            <a:extLst xmlns:a="http://schemas.openxmlformats.org/drawingml/2006/main">
              <a:ext uri="{FF2B5EF4-FFF2-40B4-BE49-F238E27FC236}">
                <a16:creationId xmlns:a16="http://schemas.microsoft.com/office/drawing/2014/main" id="{041A8D02-02E0-411A-ACFB-4CB90CAC23B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406FD77D-417E-4699-9214-489A11223BEC}"/>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Low-level atomicity does not guarantee cross-system business correctness.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End-to-end checks belong at the layer that understands intent.</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Constraints may use coordination, ownership, or compensation.</a:t>
            </a:r>
          </a:p>
        </p:txBody>
      </p:sp>
      <p:sp>
        <p:nvSpPr>
          <p:cNvPr id="6" name="">
            <a:extLst xmlns:a="http://schemas.openxmlformats.org/drawingml/2006/main">
              <a:ext uri="{FF2B5EF4-FFF2-40B4-BE49-F238E27FC236}">
                <a16:creationId xmlns:a16="http://schemas.microsoft.com/office/drawing/2014/main" id="{60029E35-008D-4FAE-B305-557AF678D4E4}"/>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A4D8CD5-1E53-4624-AE86-A8BCEBCFE558}"/>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046891467"/>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AD96C6-E683-4707-B91D-0B2C15DF983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BE20CA6D-4AF6-45DD-909D-25697A55419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Correctness: design trade-offs</a:t>
            </a:r>
          </a:p>
        </p:txBody>
      </p:sp>
      <p:sp>
        <p:nvSpPr>
          <p:cNvPr id="3" name="">
            <a:extLst xmlns:a="http://schemas.openxmlformats.org/drawingml/2006/main">
              <a:ext uri="{FF2B5EF4-FFF2-40B4-BE49-F238E27FC236}">
                <a16:creationId xmlns:a16="http://schemas.microsoft.com/office/drawing/2014/main" id="{59889EF0-B161-474E-911E-B5983B7945F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15</a:t>
            </a:r>
          </a:p>
        </p:txBody>
      </p:sp>
      <p:sp>
        <p:nvSpPr>
          <p:cNvPr id="4" name="">
            <a:extLst xmlns:a="http://schemas.openxmlformats.org/drawingml/2006/main">
              <a:ext uri="{FF2B5EF4-FFF2-40B4-BE49-F238E27FC236}">
                <a16:creationId xmlns:a16="http://schemas.microsoft.com/office/drawing/2014/main" id="{62BEA97F-82F8-4774-A029-E1A1E09C47D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91B47DA-BA97-4640-A9D0-D927820FD385}"/>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Low-level atomicity does not guarantee cross-system business correctness.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496181349"/>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75753F-3049-4906-A963-7F135C462B3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AC5F55EB-5E81-4172-8289-05C756622D6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13-2: mechanism explained</a:t>
            </a:r>
          </a:p>
        </p:txBody>
      </p:sp>
      <p:sp>
        <p:nvSpPr>
          <p:cNvPr id="3" name="">
            <a:extLst xmlns:a="http://schemas.openxmlformats.org/drawingml/2006/main">
              <a:ext uri="{FF2B5EF4-FFF2-40B4-BE49-F238E27FC236}">
                <a16:creationId xmlns:a16="http://schemas.microsoft.com/office/drawing/2014/main" id="{5AE79C9E-B051-4B3F-8EF0-9187711DFA6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15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27e84381d17417a"/>
          <a:stretch xmlns:a="http://schemas.openxmlformats.org/drawingml/2006/main"/>
        </p:blipFill>
        <p:spPr>
          <a:xfrm xmlns:a="http://schemas.openxmlformats.org/drawingml/2006/main">
            <a:off x="514350" y="1463023"/>
            <a:ext cx="7762875" cy="44082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B6A5B2-30CA-4F02-8EEB-400731689CB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74AD5731-875A-4253-8662-F98C78EA24E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Reads and writes meet at a derived-state or constraint boundary.</a:t>
            </a:r>
          </a:p>
        </p:txBody>
      </p:sp>
      <p:sp>
        <p:nvSpPr>
          <p:cNvPr id="7" name="">
            <a:extLst xmlns:a="http://schemas.openxmlformats.org/drawingml/2006/main">
              <a:ext uri="{FF2B5EF4-FFF2-40B4-BE49-F238E27FC236}">
                <a16:creationId xmlns:a16="http://schemas.microsoft.com/office/drawing/2014/main" id="{D96538B5-E30E-4332-BC70-E48C01942A91}"/>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9EAAADA-52AD-4E00-BDDB-97A9548C6CD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system must coordinate updates or verify invariants end to end.</a:t>
            </a:r>
          </a:p>
        </p:txBody>
      </p:sp>
      <p:sp>
        <p:nvSpPr>
          <p:cNvPr id="9" name="">
            <a:extLst xmlns:a="http://schemas.openxmlformats.org/drawingml/2006/main">
              <a:ext uri="{FF2B5EF4-FFF2-40B4-BE49-F238E27FC236}">
                <a16:creationId xmlns:a16="http://schemas.microsoft.com/office/drawing/2014/main" id="{B4BB721B-5CB8-46AA-A7C1-86EDCB45739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97A2426-2881-4FC3-963F-D5819CF6AC8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62294125"/>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3D5179-849E-4122-8A2B-1CA9E0AA50F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583A4008-DD6C-4B08-9C88-032D8D6B7BE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Trust but verify</a:t>
            </a:r>
          </a:p>
        </p:txBody>
      </p:sp>
      <p:sp>
        <p:nvSpPr>
          <p:cNvPr id="3" name="">
            <a:extLst xmlns:a="http://schemas.openxmlformats.org/drawingml/2006/main">
              <a:ext uri="{FF2B5EF4-FFF2-40B4-BE49-F238E27FC236}">
                <a16:creationId xmlns:a16="http://schemas.microsoft.com/office/drawing/2014/main" id="{FD29A401-3CB4-495F-B1E4-F0C65C68ECA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15</a:t>
            </a:r>
          </a:p>
        </p:txBody>
      </p:sp>
      <p:sp>
        <p:nvSpPr>
          <p:cNvPr id="4" name="">
            <a:extLst xmlns:a="http://schemas.openxmlformats.org/drawingml/2006/main">
              <a:ext uri="{FF2B5EF4-FFF2-40B4-BE49-F238E27FC236}">
                <a16:creationId xmlns:a16="http://schemas.microsoft.com/office/drawing/2014/main" id="{2C7064EF-0EA9-4958-8943-3AE0B8A1BB9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1545929-9732-407F-9F7F-5E6FA3A4F0AD}"/>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Timeliness asks when an update becomes visible; integrity asks whether it is correct.</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Audit logs, reconciliation, and invariant checks expose silent corruption.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Critical systems need both prevention and independent repair paths.</a:t>
            </a:r>
          </a:p>
        </p:txBody>
      </p:sp>
      <p:sp>
        <p:nvSpPr>
          <p:cNvPr id="6" name="">
            <a:extLst xmlns:a="http://schemas.openxmlformats.org/drawingml/2006/main">
              <a:ext uri="{FF2B5EF4-FFF2-40B4-BE49-F238E27FC236}">
                <a16:creationId xmlns:a16="http://schemas.microsoft.com/office/drawing/2014/main" id="{F0266970-1095-488F-B48D-083E5BB78DE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BC6C25"/>
                </a:solidFill>
                <a:latin typeface="Arial"/>
                <a:ea typeface="Arial"/>
                <a:cs typeface="Arial"/>
              </a:defRPr>
            </a:pPr>
            <a:r>
              <a:rPr sz="1200" b="1">
                <a:solidFill>
                  <a:srgbClr val="BC6C25"/>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FE11C070-E0E5-438F-9E08-834B836D5EB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346343480"/>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92FB71-9D61-434A-8C83-BCEDA2FB705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9C4DA13F-88B4-46FA-9436-A2C65CAA412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Trust but verify: design trade-offs</a:t>
            </a:r>
          </a:p>
        </p:txBody>
      </p:sp>
      <p:sp>
        <p:nvSpPr>
          <p:cNvPr id="3" name="">
            <a:extLst xmlns:a="http://schemas.openxmlformats.org/drawingml/2006/main">
              <a:ext uri="{FF2B5EF4-FFF2-40B4-BE49-F238E27FC236}">
                <a16:creationId xmlns:a16="http://schemas.microsoft.com/office/drawing/2014/main" id="{492BBD22-051A-4820-BB85-4CB21A84A5A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15</a:t>
            </a:r>
          </a:p>
        </p:txBody>
      </p:sp>
      <p:sp>
        <p:nvSpPr>
          <p:cNvPr id="4" name="">
            <a:extLst xmlns:a="http://schemas.openxmlformats.org/drawingml/2006/main">
              <a:ext uri="{FF2B5EF4-FFF2-40B4-BE49-F238E27FC236}">
                <a16:creationId xmlns:a16="http://schemas.microsoft.com/office/drawing/2014/main" id="{EF43434F-8EDA-46CC-BD1A-235963576EB4}"/>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BC6C25"/>
                </a:solidFill>
                <a:latin typeface="Arial"/>
                <a:ea typeface="Arial"/>
                <a:cs typeface="Arial"/>
              </a:defRPr>
            </a:pPr>
            <a:r>
              <a:rPr sz="6750" b="1">
                <a:solidFill>
                  <a:srgbClr val="BC6C2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EEEDECA-0730-490B-97C0-878528885717}"/>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Timeliness asks when an update becomes visible; integrity asks whether it is correct.</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295523088"/>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7B7E94A-237B-452F-AB3F-3836C2C3626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BC6C25"/>
                </a:solidFill>
                <a:latin typeface="Arial"/>
                <a:ea typeface="Arial"/>
                <a:cs typeface="Arial"/>
              </a:defRPr>
            </a:pPr>
            <a:r>
              <a:rPr sz="1200" b="1" spc="2">
                <a:solidFill>
                  <a:srgbClr val="BC6C25"/>
                </a:solidFill>
                <a:latin typeface="Arial"/>
                <a:ea typeface="Arial"/>
                <a:cs typeface="Arial"/>
              </a:rPr>
              <a:t>CHAPTER 13</a:t>
            </a:r>
          </a:p>
        </p:txBody>
      </p:sp>
      <p:sp>
        <p:nvSpPr>
          <p:cNvPr id="2" name="">
            <a:extLst xmlns:a="http://schemas.openxmlformats.org/drawingml/2006/main">
              <a:ext uri="{FF2B5EF4-FFF2-40B4-BE49-F238E27FC236}">
                <a16:creationId xmlns:a16="http://schemas.microsoft.com/office/drawing/2014/main" id="{14B41E97-8E3F-45C0-A637-A5C585D5B2B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99BB5A26-D467-417A-8FDB-0B9C18255A7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15</a:t>
            </a:r>
          </a:p>
        </p:txBody>
      </p:sp>
      <p:sp>
        <p:nvSpPr>
          <p:cNvPr id="4" name="">
            <a:extLst xmlns:a="http://schemas.openxmlformats.org/drawingml/2006/main">
              <a:ext uri="{FF2B5EF4-FFF2-40B4-BE49-F238E27FC236}">
                <a16:creationId xmlns:a16="http://schemas.microsoft.com/office/drawing/2014/main" id="{9B883EF7-64B4-437A-817E-3E9A226A0C7D}"/>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9368836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2026-09-27T19:47:56.6420000Z</dcterms:created>
  <dcterms:modified xsi:type="dcterms:W3CDTF">2026-09-27T19:47:56.6420000Z</dcterms:modified>
</coreProperties>
</file>