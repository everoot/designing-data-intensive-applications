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795601de0f432a" /><Relationship Type="http://schemas.openxmlformats.org/officeDocument/2006/relationships/extended-properties" Target="/docProps/app.xml" Id="Rd32bd4aeeebc45ab" /><Relationship Type="http://schemas.openxmlformats.org/officeDocument/2006/relationships/officeDocument" Target="/ppt/presentation.xml" Id="Rdd596d426ea1453b" /></Relationships>
</file>

<file path=ppt/presentation.xml><?xml version="1.0" encoding="utf-8"?>
<p:presentation xmlns:p="http://schemas.openxmlformats.org/presentationml/2006/main">
  <p:sldMasterIdLst>
    <p:sldMasterId xmlns:r="http://schemas.openxmlformats.org/officeDocument/2006/relationships" id="2147483648" r:id="R188c28b2ab6c476a"/>
  </p:sldMasterIdLst>
  <p:notesMasterIdLst>
    <p:notesMasterId xmlns:r="http://schemas.openxmlformats.org/officeDocument/2006/relationships" r:id="R9013963456ff4720"/>
  </p:notesMasterIdLst>
  <p:sldIdLst>
    <p:sldId xmlns:r="http://schemas.openxmlformats.org/officeDocument/2006/relationships" id="256" r:id="Rb376c46902284f81"/>
    <p:sldId xmlns:r="http://schemas.openxmlformats.org/officeDocument/2006/relationships" id="257" r:id="R4c96fee376224bac"/>
    <p:sldId xmlns:r="http://schemas.openxmlformats.org/officeDocument/2006/relationships" id="258" r:id="R9bd7d849df4c49c6"/>
    <p:sldId xmlns:r="http://schemas.openxmlformats.org/officeDocument/2006/relationships" id="259" r:id="Rc0e5d09fb82b44fd"/>
    <p:sldId xmlns:r="http://schemas.openxmlformats.org/officeDocument/2006/relationships" id="260" r:id="R187c47f0e5414fa2"/>
    <p:sldId xmlns:r="http://schemas.openxmlformats.org/officeDocument/2006/relationships" id="261" r:id="R8335c9b38f974707"/>
    <p:sldId xmlns:r="http://schemas.openxmlformats.org/officeDocument/2006/relationships" id="262" r:id="R5f0f15a2c6264b98"/>
    <p:sldId xmlns:r="http://schemas.openxmlformats.org/officeDocument/2006/relationships" id="263" r:id="Rdd32b0cc25014ba0"/>
    <p:sldId xmlns:r="http://schemas.openxmlformats.org/officeDocument/2006/relationships" id="264" r:id="R5fe59d79740741ed"/>
    <p:sldId xmlns:r="http://schemas.openxmlformats.org/officeDocument/2006/relationships" id="265" r:id="R8577420983254ba7"/>
    <p:sldId xmlns:r="http://schemas.openxmlformats.org/officeDocument/2006/relationships" id="266" r:id="R0a2451973a724c5e"/>
    <p:sldId xmlns:r="http://schemas.openxmlformats.org/officeDocument/2006/relationships" id="267" r:id="Re31d6d084230492f"/>
    <p:sldId xmlns:r="http://schemas.openxmlformats.org/officeDocument/2006/relationships" id="268" r:id="Rfb065865363d4ef7"/>
    <p:sldId xmlns:r="http://schemas.openxmlformats.org/officeDocument/2006/relationships" id="269" r:id="Rd60aa41dd44f448b"/>
    <p:sldId xmlns:r="http://schemas.openxmlformats.org/officeDocument/2006/relationships" id="270" r:id="R8d74f6ed2ed341aa"/>
    <p:sldId xmlns:r="http://schemas.openxmlformats.org/officeDocument/2006/relationships" id="271" r:id="R905a0b7f742c4027"/>
    <p:sldId xmlns:r="http://schemas.openxmlformats.org/officeDocument/2006/relationships" id="272" r:id="R89fc705d9f214ce4"/>
    <p:sldId xmlns:r="http://schemas.openxmlformats.org/officeDocument/2006/relationships" id="273" r:id="R1c82ac08971b4d1c"/>
    <p:sldId xmlns:r="http://schemas.openxmlformats.org/officeDocument/2006/relationships" id="274" r:id="R7428a8e2832945df"/>
    <p:sldId xmlns:r="http://schemas.openxmlformats.org/officeDocument/2006/relationships" id="275" r:id="R126b443af9cc4990"/>
    <p:sldId xmlns:r="http://schemas.openxmlformats.org/officeDocument/2006/relationships" id="276" r:id="R5a3a0710ae7f482d"/>
    <p:sldId xmlns:r="http://schemas.openxmlformats.org/officeDocument/2006/relationships" id="277" r:id="R8d8bb8bde41944d0"/>
    <p:sldId xmlns:r="http://schemas.openxmlformats.org/officeDocument/2006/relationships" id="278" r:id="R8921056876ec41c3"/>
    <p:sldId xmlns:r="http://schemas.openxmlformats.org/officeDocument/2006/relationships" id="279" r:id="R0cfe4f7ef24d4215"/>
    <p:sldId xmlns:r="http://schemas.openxmlformats.org/officeDocument/2006/relationships" id="280" r:id="Rfa62ae015d684747"/>
    <p:sldId xmlns:r="http://schemas.openxmlformats.org/officeDocument/2006/relationships" id="281" r:id="Rd41663dd9558484b"/>
    <p:sldId xmlns:r="http://schemas.openxmlformats.org/officeDocument/2006/relationships" id="282" r:id="R06ada134752244b3"/>
    <p:sldId xmlns:r="http://schemas.openxmlformats.org/officeDocument/2006/relationships" id="283" r:id="R47f9ae97b0f542ee"/>
    <p:sldId xmlns:r="http://schemas.openxmlformats.org/officeDocument/2006/relationships" id="284" r:id="Rb52b05818aaf4dd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c44d76491040b8" /><Relationship Type="http://schemas.openxmlformats.org/officeDocument/2006/relationships/slideMaster" Target="/ppt/slideMasters/slideMaster1.xml" Id="R188c28b2ab6c476a" /><Relationship Type="http://schemas.openxmlformats.org/officeDocument/2006/relationships/notesMaster" Target="/ppt/notesMasters/notesMaster1.xml" Id="R9013963456ff4720" /><Relationship Type="http://schemas.openxmlformats.org/officeDocument/2006/relationships/presProps" Target="/ppt/presProps.xml" Id="Rf28348f6588b4f51" /><Relationship Type="http://schemas.openxmlformats.org/officeDocument/2006/relationships/tableStyles" Target="/ppt/tableStyles.xml" Id="Rdf09bab39af34e9d" /><Relationship Type="http://schemas.openxmlformats.org/officeDocument/2006/relationships/slide" Target="/ppt/slides/slide1.xml" Id="Rb376c46902284f81" /><Relationship Type="http://schemas.openxmlformats.org/officeDocument/2006/relationships/slide" Target="/ppt/slides/slide2.xml" Id="R4c96fee376224bac" /><Relationship Type="http://schemas.openxmlformats.org/officeDocument/2006/relationships/slide" Target="/ppt/slides/slide3.xml" Id="R9bd7d849df4c49c6" /><Relationship Type="http://schemas.openxmlformats.org/officeDocument/2006/relationships/slide" Target="/ppt/slides/slide4.xml" Id="Rc0e5d09fb82b44fd" /><Relationship Type="http://schemas.openxmlformats.org/officeDocument/2006/relationships/slide" Target="/ppt/slides/slide5.xml" Id="R187c47f0e5414fa2" /><Relationship Type="http://schemas.openxmlformats.org/officeDocument/2006/relationships/slide" Target="/ppt/slides/slide6.xml" Id="R8335c9b38f974707" /><Relationship Type="http://schemas.openxmlformats.org/officeDocument/2006/relationships/slide" Target="/ppt/slides/slide7.xml" Id="R5f0f15a2c6264b98" /><Relationship Type="http://schemas.openxmlformats.org/officeDocument/2006/relationships/slide" Target="/ppt/slides/slide8.xml" Id="Rdd32b0cc25014ba0" /><Relationship Type="http://schemas.openxmlformats.org/officeDocument/2006/relationships/slide" Target="/ppt/slides/slide9.xml" Id="R5fe59d79740741ed" /><Relationship Type="http://schemas.openxmlformats.org/officeDocument/2006/relationships/slide" Target="/ppt/slides/slide10.xml" Id="R8577420983254ba7" /><Relationship Type="http://schemas.openxmlformats.org/officeDocument/2006/relationships/slide" Target="/ppt/slides/slide11.xml" Id="R0a2451973a724c5e" /><Relationship Type="http://schemas.openxmlformats.org/officeDocument/2006/relationships/slide" Target="/ppt/slides/slide12.xml" Id="Re31d6d084230492f" /><Relationship Type="http://schemas.openxmlformats.org/officeDocument/2006/relationships/slide" Target="/ppt/slides/slide13.xml" Id="Rfb065865363d4ef7" /><Relationship Type="http://schemas.openxmlformats.org/officeDocument/2006/relationships/slide" Target="/ppt/slides/slide14.xml" Id="Rd60aa41dd44f448b" /><Relationship Type="http://schemas.openxmlformats.org/officeDocument/2006/relationships/slide" Target="/ppt/slides/slide15.xml" Id="R8d74f6ed2ed341aa" /><Relationship Type="http://schemas.openxmlformats.org/officeDocument/2006/relationships/slide" Target="/ppt/slides/slide16.xml" Id="R905a0b7f742c4027" /><Relationship Type="http://schemas.openxmlformats.org/officeDocument/2006/relationships/slide" Target="/ppt/slides/slide17.xml" Id="R89fc705d9f214ce4" /><Relationship Type="http://schemas.openxmlformats.org/officeDocument/2006/relationships/slide" Target="/ppt/slides/slide18.xml" Id="R1c82ac08971b4d1c" /><Relationship Type="http://schemas.openxmlformats.org/officeDocument/2006/relationships/slide" Target="/ppt/slides/slide19.xml" Id="R7428a8e2832945df" /><Relationship Type="http://schemas.openxmlformats.org/officeDocument/2006/relationships/slide" Target="/ppt/slides/slide20.xml" Id="R126b443af9cc4990" /><Relationship Type="http://schemas.openxmlformats.org/officeDocument/2006/relationships/slide" Target="/ppt/slides/slide21.xml" Id="R5a3a0710ae7f482d" /><Relationship Type="http://schemas.openxmlformats.org/officeDocument/2006/relationships/slide" Target="/ppt/slides/slide22.xml" Id="R8d8bb8bde41944d0" /><Relationship Type="http://schemas.openxmlformats.org/officeDocument/2006/relationships/slide" Target="/ppt/slides/slide23.xml" Id="R8921056876ec41c3" /><Relationship Type="http://schemas.openxmlformats.org/officeDocument/2006/relationships/slide" Target="/ppt/slides/slide24.xml" Id="R0cfe4f7ef24d4215" /><Relationship Type="http://schemas.openxmlformats.org/officeDocument/2006/relationships/slide" Target="/ppt/slides/slide25.xml" Id="Rfa62ae015d684747" /><Relationship Type="http://schemas.openxmlformats.org/officeDocument/2006/relationships/slide" Target="/ppt/slides/slide26.xml" Id="Rd41663dd9558484b" /><Relationship Type="http://schemas.openxmlformats.org/officeDocument/2006/relationships/slide" Target="/ppt/slides/slide27.xml" Id="R06ada134752244b3" /><Relationship Type="http://schemas.openxmlformats.org/officeDocument/2006/relationships/slide" Target="/ppt/slides/slide28.xml" Id="R47f9ae97b0f542ee" /><Relationship Type="http://schemas.openxmlformats.org/officeDocument/2006/relationships/slide" Target="/ppt/slides/slide29.xml" Id="Rb52b05818aaf4dd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9a3450e8ed4f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f55b3e7e394e34" /><Relationship Type="http://schemas.openxmlformats.org/officeDocument/2006/relationships/notesMaster" Target="/ppt/notesMasters/notesMaster1.xml" Id="Recb56bb3c91e4a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5525241e7c3145d4" /><Relationship Type="http://schemas.openxmlformats.org/officeDocument/2006/relationships/notesMaster" Target="/ppt/notesMasters/notesMaster1.xml" Id="Rc20d1746d8d8456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1640b1c7574aba" /><Relationship Type="http://schemas.openxmlformats.org/officeDocument/2006/relationships/notesMaster" Target="/ppt/notesMasters/notesMaster1.xml" Id="R67644d33215b4c4a"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123ca6c6e841c1" /><Relationship Type="http://schemas.openxmlformats.org/officeDocument/2006/relationships/notesMaster" Target="/ppt/notesMasters/notesMaster1.xml" Id="R7c1a842a8c894e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d53bc31c2f0c4402" /><Relationship Type="http://schemas.openxmlformats.org/officeDocument/2006/relationships/notesMaster" Target="/ppt/notesMasters/notesMaster1.xml" Id="R6ab5907e16f14a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6f7717a93bf4825" /><Relationship Type="http://schemas.openxmlformats.org/officeDocument/2006/relationships/notesMaster" Target="/ppt/notesMasters/notesMaster1.xml" Id="Rf63e8952b91148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bc42677b0a4060" /><Relationship Type="http://schemas.openxmlformats.org/officeDocument/2006/relationships/notesMaster" Target="/ppt/notesMasters/notesMaster1.xml" Id="Ra29711026e934a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63abeedcb54160" /><Relationship Type="http://schemas.openxmlformats.org/officeDocument/2006/relationships/notesMaster" Target="/ppt/notesMasters/notesMaster1.xml" Id="Rdb9590dd10d54c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cf1ae27d90426a" /><Relationship Type="http://schemas.openxmlformats.org/officeDocument/2006/relationships/notesMaster" Target="/ppt/notesMasters/notesMaster1.xml" Id="R89911dc9643348d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70ffbf126104fce" /><Relationship Type="http://schemas.openxmlformats.org/officeDocument/2006/relationships/notesMaster" Target="/ppt/notesMasters/notesMaster1.xml" Id="Re9bd756c4c274a6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3ef316ed3b7419e" /><Relationship Type="http://schemas.openxmlformats.org/officeDocument/2006/relationships/notesMaster" Target="/ppt/notesMasters/notesMaster1.xml" Id="Rc294fe8e7e204d4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40bedae61d94513" /><Relationship Type="http://schemas.openxmlformats.org/officeDocument/2006/relationships/notesMaster" Target="/ppt/notesMasters/notesMaster1.xml" Id="Re518706740504e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9a3c1319e04a2e" /><Relationship Type="http://schemas.openxmlformats.org/officeDocument/2006/relationships/notesMaster" Target="/ppt/notesMasters/notesMaster1.xml" Id="R885f7c8b74c54d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74e6d971f9b4e76" /><Relationship Type="http://schemas.openxmlformats.org/officeDocument/2006/relationships/notesMaster" Target="/ppt/notesMasters/notesMaster1.xml" Id="R3d45bd999a9641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d79b80966f4ad1" /><Relationship Type="http://schemas.openxmlformats.org/officeDocument/2006/relationships/notesMaster" Target="/ppt/notesMasters/notesMaster1.xml" Id="Rb7271dfb80e64e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0434fc58a84ce7" /><Relationship Type="http://schemas.openxmlformats.org/officeDocument/2006/relationships/notesMaster" Target="/ppt/notesMasters/notesMaster1.xml" Id="R08a197480daa42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a996b8c737e4bda" /><Relationship Type="http://schemas.openxmlformats.org/officeDocument/2006/relationships/notesMaster" Target="/ppt/notesMasters/notesMaster1.xml" Id="R76b8758f688449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1d800036b34440" /><Relationship Type="http://schemas.openxmlformats.org/officeDocument/2006/relationships/notesMaster" Target="/ppt/notesMasters/notesMaster1.xml" Id="Rb6afb71c126a4e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60d7c1188d340ec" /><Relationship Type="http://schemas.openxmlformats.org/officeDocument/2006/relationships/notesMaster" Target="/ppt/notesMasters/notesMaster1.xml" Id="R3ced4ded7f5a4ac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b0c8d6c3eac4347" /><Relationship Type="http://schemas.openxmlformats.org/officeDocument/2006/relationships/notesMaster" Target="/ppt/notesMasters/notesMaster1.xml" Id="R2b8b69cc20004f5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33d4681db14430a" /><Relationship Type="http://schemas.openxmlformats.org/officeDocument/2006/relationships/notesMaster" Target="/ppt/notesMasters/notesMaster1.xml" Id="Rb6158f108e6a426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c41bf36d7814f24" /><Relationship Type="http://schemas.openxmlformats.org/officeDocument/2006/relationships/notesMaster" Target="/ppt/notesMasters/notesMaster1.xml" Id="R23c56ad9e38e47f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2e286f4ccb64866" /><Relationship Type="http://schemas.openxmlformats.org/officeDocument/2006/relationships/notesMaster" Target="/ppt/notesMasters/notesMaster1.xml" Id="Rda7cc70603934dab"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fb2fe0825b84618" /><Relationship Type="http://schemas.openxmlformats.org/officeDocument/2006/relationships/notesMaster" Target="/ppt/notesMasters/notesMaster1.xml" Id="R85d9e68077b846b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111c9eaf6ee34278" /><Relationship Type="http://schemas.openxmlformats.org/officeDocument/2006/relationships/notesMaster" Target="/ppt/notesMasters/notesMaster1.xml" Id="R1782feef9b8b4e1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cafe6a425754943" /><Relationship Type="http://schemas.openxmlformats.org/officeDocument/2006/relationships/notesMaster" Target="/ppt/notesMasters/notesMaster1.xml" Id="R12280b885a1448b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e055abee9e4408a" /><Relationship Type="http://schemas.openxmlformats.org/officeDocument/2006/relationships/notesMaster" Target="/ppt/notesMasters/notesMaster1.xml" Id="Rd82f5b30fb14442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afcfde4e1284803" /><Relationship Type="http://schemas.openxmlformats.org/officeDocument/2006/relationships/notesMaster" Target="/ppt/notesMasters/notesMaster1.xml" Id="R318d5d8dec6147f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270fec4ab144657" /><Relationship Type="http://schemas.openxmlformats.org/officeDocument/2006/relationships/notesMaster" Target="/ppt/notesMasters/notesMaster1.xml" Id="Re85490e2327344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6-1, PDF page 223. Original caption: Figure 6-1. Single-leader replication directs all writes to a designated leader, which sends</a:t>
            </a:r>
          </a:p>
          <a:p xmlns:a="http://schemas.openxmlformats.org/drawingml/2006/main">
            <a:r>
              <a:t>Explanation: Writes flow through one leader and followers replay the ordered log. Acknowledgment policy trades write latency and availability against durability.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6-2, PDF page 224. Original caption: Figure 6-2. Leader-based replication with one synchronous and one asynchronous</a:t>
            </a:r>
          </a:p>
          <a:p xmlns:a="http://schemas.openxmlformats.org/drawingml/2006/main">
            <a:r>
              <a:t>Explanation: Writes flow through one leader and followers replay the ordered log. Acknowledgment policy trades write latency and availability against durability.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6-3, PDF page 234. Original caption: Figure 6-3. Inconsistencies can arise when a user makes a write, followed by a read from</a:t>
            </a:r>
          </a:p>
          <a:p xmlns:a="http://schemas.openxmlformats.org/drawingml/2006/main">
            <a:r>
              <a:t>Explanation: Inconsistencies can arise when a user makes a write, followed by a read from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6-4, PDF page 237. Original caption: Figure 6-4. When a user first reads from a fresh replica, then from a stale replica, time</a:t>
            </a:r>
          </a:p>
          <a:p xmlns:a="http://schemas.openxmlformats.org/drawingml/2006/main">
            <a:r>
              <a:t>Explanation: Followers can expose older state while replication catches up. Read-your-writes, monotonic reads, or leader reads protect freshness-sensitive paths.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6-5, PDF page 238. Original caption: Figure 6-5. If some shards are replicated slower than others, an observer may see the</a:t>
            </a:r>
          </a:p>
          <a:p xmlns:a="http://schemas.openxmlformats.org/drawingml/2006/main">
            <a:r>
              <a:t>Explanation: Followers can expose older state while replication catches up. Read-your-writes, monotonic reads, or leader reads protect freshness-sensitive paths.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6-6, PDF page 240. Original caption: Figure 6-6. Multi-leader replication across multiple regions</a:t>
            </a:r>
          </a:p>
          <a:p xmlns:a="http://schemas.openxmlformats.org/drawingml/2006/main">
            <a:r>
              <a:t>Explanation: Several writers create concurrent versions that may arrive in different orders. Resolution must preserve intent; last-write-wins can silently discard valid work.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6-7, PDF page 242. Original caption: Figure 6-7. Three example topologies for multi-leader replication</a:t>
            </a:r>
          </a:p>
          <a:p xmlns:a="http://schemas.openxmlformats.org/drawingml/2006/main">
            <a:r>
              <a:t>Explanation: Several writers create concurrent versions that may arrive in different orders. Resolution must preserve intent; last-write-wins can silently discard valid work.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6-8, PDF page 243. Original caption: Figure 6-8. With multi-leader replication, writes may arrive in the wrong order at some</a:t>
            </a:r>
          </a:p>
          <a:p xmlns:a="http://schemas.openxmlformats.org/drawingml/2006/main">
            <a:r>
              <a:t>Explanation: Several writers create concurrent versions that may arrive in different orders. Resolution must preserve intent; last-write-wins can silently discard valid work.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6-9, PDF page 247. Original caption: Figure 6-9. A write conflict caused by two leaders concurrently updating the same record</a:t>
            </a:r>
          </a:p>
          <a:p xmlns:a="http://schemas.openxmlformats.org/drawingml/2006/main">
            <a:r>
              <a:t>Explanation: Several writers create concurrent versions that may arrive in different orders. Resolution must preserve intent; last-write-wins can silently discard valid work.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6-10, PDF page 250. Original caption: Figure 6-10. An example of Amazon’s shopping cart anomaly: if conflicts are merged by</a:t>
            </a:r>
          </a:p>
          <a:p xmlns:a="http://schemas.openxmlformats.org/drawingml/2006/main">
            <a:r>
              <a:t>Explanation: Several writers create concurrent versions that may arrive in different orders. Resolution must preserve intent; last-write-wins can silently discard valid work.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6-11, PDF page 251. Original caption: Figure 6-11. How two concurrent insertions into a string are merged by OT and a</a:t>
            </a:r>
          </a:p>
          <a:p xmlns:a="http://schemas.openxmlformats.org/drawingml/2006/main">
            <a:r>
              <a:t>Explanation: Several writers create concurrent versions that may arrive in different orders. Resolution must preserve intent; last-write-wins can silently discard valid work.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6-12, PDF page 254. Original caption: Figure 6-12. Writing to a majority of replicas, reading from a majority, and forwarding</a:t>
            </a:r>
          </a:p>
          <a:p xmlns:a="http://schemas.openxmlformats.org/drawingml/2006/main">
            <a:r>
              <a:t>Explanation: Replica responses and version metadata are used to reason about freshness and causality. Quorum overlap helps, but concurrent writes still require explicit version handling.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6-13, PDF page 256. Original caption: Figure 6-13. If w + r &gt; n, at least one of the r replicas you read from must have seen the</a:t>
            </a:r>
          </a:p>
          <a:p xmlns:a="http://schemas.openxmlformats.org/drawingml/2006/main">
            <a:r>
              <a:t>Explanation: If w + r &gt; n, at least one of the r replicas you read from must have seen the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6-14, PDF page 262. Original caption: Figure 6-14. Concurrent writes in a Dynamo-style datastore: there is no well-defined</a:t>
            </a:r>
          </a:p>
          <a:p xmlns:a="http://schemas.openxmlformats.org/drawingml/2006/main">
            <a:r>
              <a:t>Explanation: Concurrent writes in a Dynamo-style datastore: there is no well-defined It turns the chapter concept into a concrete dataflow, timeline, or state transition. Check the actors, data direction, operation order, and hidden system assumptions.</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6-15, PDF page 264. Original caption: Figure 6-15. Capturing causal dependencies between two clients concurrently editing a</a:t>
            </a:r>
          </a:p>
          <a:p xmlns:a="http://schemas.openxmlformats.org/drawingml/2006/main">
            <a:r>
              <a:t>Explanation: Replica responses and version metadata are used to reason about freshness and causality. Quorum overlap helps, but concurrent writes still require explicit version handling.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Figure 6-16, PDF page 265. Original caption: Figure 6-16. The arrows indicate which operation happened before which other oper‐</a:t>
            </a:r>
          </a:p>
          <a:p xmlns:a="http://schemas.openxmlformats.org/drawingml/2006/main">
            <a:r>
              <a:t>Explanation: Replica responses and version metadata are used to reason about freshness and causality. Quorum overlap helps, but concurrent writes still require explicit version handling. Follow the arrows or timeline and test whether the conclusion still holds under failure, retry, and concurrency.</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Martin Kleppmann and Chris Riccomini, Designing Data-Intensive Applications, 2nd ed., Chapter 6, book pages 197-243. </a:t>
            </a:r>
          </a:p>
          <a:p xmlns:a="http://schemas.openxmlformats.org/drawingml/2006/main">
            <a:r>
              <a:t>Source file: /Users/eve/projects/Designing-Data-Intensive-Applications/Designing Data Intensive Applications 2nd.pdf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deedee04da4a6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48dbc9f61e4bdf" /><Relationship Type="http://schemas.openxmlformats.org/officeDocument/2006/relationships/slideLayout" Target="/ppt/slideLayouts/slideLayout1.xml" Id="Rab0876ce4c6d4fb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0876ce4c6d4fb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7bb46f61b3747ac" /><Relationship Type="http://schemas.openxmlformats.org/officeDocument/2006/relationships/notesSlide" Target="/ppt/notesSlides/notesSlide1.xml" Id="R427552831c2a42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f1ec44fe907443c" /><Relationship Type="http://schemas.openxmlformats.org/officeDocument/2006/relationships/notesSlide" Target="/ppt/notesSlides/notesSlide2.xml" Id="R627a4e5b625c4c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12edecff614f71" /><Relationship Type="http://schemas.openxmlformats.org/officeDocument/2006/relationships/notesSlide" Target="/ppt/notesSlides/notesSlide3.xml" Id="R443711431c7147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5138b5db35040a3" /><Relationship Type="http://schemas.openxmlformats.org/officeDocument/2006/relationships/notesSlide" Target="/ppt/notesSlides/notesSlide4.xml" Id="R53bb0c43e63a470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24634b3889a44cd" /><Relationship Type="http://schemas.openxmlformats.org/officeDocument/2006/relationships/notesSlide" Target="/ppt/notesSlides/notesSlide5.xml" Id="R5fed17c3ea4846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af7e6f81bab4e0a" /><Relationship Type="http://schemas.openxmlformats.org/officeDocument/2006/relationships/notesSlide" Target="/ppt/notesSlides/notesSlide6.xml" Id="Rb48d27647fc14fc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610afae586c4ece" /><Relationship Type="http://schemas.openxmlformats.org/officeDocument/2006/relationships/image" Target="/ppt/media/image.png" Id="R4a99b062e2164ce7" /><Relationship Type="http://schemas.openxmlformats.org/officeDocument/2006/relationships/notesSlide" Target="/ppt/notesSlides/notesSlide7.xml" Id="R1ec75bc7674748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0880f87c3194847" /><Relationship Type="http://schemas.openxmlformats.org/officeDocument/2006/relationships/image" Target="/ppt/media/image2.png" Id="R7c615d45df384d48" /><Relationship Type="http://schemas.openxmlformats.org/officeDocument/2006/relationships/notesSlide" Target="/ppt/notesSlides/notesSlide8.xml" Id="R37044afd86e84c5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b8a92babae541d7" /><Relationship Type="http://schemas.openxmlformats.org/officeDocument/2006/relationships/notesSlide" Target="/ppt/notesSlides/notesSlide9.xml" Id="Rd3bb7c64931d4e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fcdf433c7014604" /><Relationship Type="http://schemas.openxmlformats.org/officeDocument/2006/relationships/notesSlide" Target="/ppt/notesSlides/notesSlide10.xml" Id="R6ee86cba6e364c8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b16d04912874371" /><Relationship Type="http://schemas.openxmlformats.org/officeDocument/2006/relationships/image" Target="/ppt/media/image3.png" Id="R7fe6e47c55db4a37" /><Relationship Type="http://schemas.openxmlformats.org/officeDocument/2006/relationships/notesSlide" Target="/ppt/notesSlides/notesSlide11.xml" Id="R3140aa676a8146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02fa86a829b4d93" /><Relationship Type="http://schemas.openxmlformats.org/officeDocument/2006/relationships/image" Target="/ppt/media/image4.png" Id="R6a419e9a0d3e47ee" /><Relationship Type="http://schemas.openxmlformats.org/officeDocument/2006/relationships/notesSlide" Target="/ppt/notesSlides/notesSlide12.xml" Id="R79190ca38b7240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7c37a4e274c4009" /><Relationship Type="http://schemas.openxmlformats.org/officeDocument/2006/relationships/image" Target="/ppt/media/image5.png" Id="R95198356eff84645" /><Relationship Type="http://schemas.openxmlformats.org/officeDocument/2006/relationships/notesSlide" Target="/ppt/notesSlides/notesSlide13.xml" Id="R07fad287f85a487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038799a1e8d4893" /><Relationship Type="http://schemas.openxmlformats.org/officeDocument/2006/relationships/notesSlide" Target="/ppt/notesSlides/notesSlide14.xml" Id="R4e0a98715168401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8e71104e8d44795" /><Relationship Type="http://schemas.openxmlformats.org/officeDocument/2006/relationships/notesSlide" Target="/ppt/notesSlides/notesSlide15.xml" Id="Rb1b28fc467b3469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09cdcfb25c94f71" /><Relationship Type="http://schemas.openxmlformats.org/officeDocument/2006/relationships/image" Target="/ppt/media/image6.png" Id="R9ca173454e10408e" /><Relationship Type="http://schemas.openxmlformats.org/officeDocument/2006/relationships/notesSlide" Target="/ppt/notesSlides/notesSlide16.xml" Id="R965bffc6de2e421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a054ab5978542c5" /><Relationship Type="http://schemas.openxmlformats.org/officeDocument/2006/relationships/image" Target="/ppt/media/image7.png" Id="Rf52f7602b43e4efd" /><Relationship Type="http://schemas.openxmlformats.org/officeDocument/2006/relationships/notesSlide" Target="/ppt/notesSlides/notesSlide17.xml" Id="R32f6a768150e43a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34e5f8fa7b4982" /><Relationship Type="http://schemas.openxmlformats.org/officeDocument/2006/relationships/image" Target="/ppt/media/image8.png" Id="R178945a0f1a24d65" /><Relationship Type="http://schemas.openxmlformats.org/officeDocument/2006/relationships/notesSlide" Target="/ppt/notesSlides/notesSlide18.xml" Id="R05f9e91d556d442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72aa0dba6c948d4" /><Relationship Type="http://schemas.openxmlformats.org/officeDocument/2006/relationships/image" Target="/ppt/media/image9.png" Id="R8ec26e08c1e847a7" /><Relationship Type="http://schemas.openxmlformats.org/officeDocument/2006/relationships/notesSlide" Target="/ppt/notesSlides/notesSlide19.xml" Id="R2be36c2986c449f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b7bb346d1a74210" /><Relationship Type="http://schemas.openxmlformats.org/officeDocument/2006/relationships/image" Target="/ppt/media/image10.png" Id="R01bd48b60a984400" /><Relationship Type="http://schemas.openxmlformats.org/officeDocument/2006/relationships/notesSlide" Target="/ppt/notesSlides/notesSlide20.xml" Id="R773d4081b693491f"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869dbbac2524878" /><Relationship Type="http://schemas.openxmlformats.org/officeDocument/2006/relationships/image" Target="/ppt/media/image11.png" Id="Rcf496014f16842de" /><Relationship Type="http://schemas.openxmlformats.org/officeDocument/2006/relationships/notesSlide" Target="/ppt/notesSlides/notesSlide21.xml" Id="Rd19c7ae4e19e435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87a217f54cb46ed" /><Relationship Type="http://schemas.openxmlformats.org/officeDocument/2006/relationships/notesSlide" Target="/ppt/notesSlides/notesSlide22.xml" Id="R19befb04771f456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d2529e5dfe34f7c" /><Relationship Type="http://schemas.openxmlformats.org/officeDocument/2006/relationships/notesSlide" Target="/ppt/notesSlides/notesSlide23.xml" Id="R6e903cac05f7487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2a5ee3b821d44b6a" /><Relationship Type="http://schemas.openxmlformats.org/officeDocument/2006/relationships/image" Target="/ppt/media/image12.png" Id="R6f922c740fc74f35" /><Relationship Type="http://schemas.openxmlformats.org/officeDocument/2006/relationships/notesSlide" Target="/ppt/notesSlides/notesSlide24.xml" Id="R1717e69eacff489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8e0706d8d1146bf" /><Relationship Type="http://schemas.openxmlformats.org/officeDocument/2006/relationships/image" Target="/ppt/media/image13.png" Id="R793fa27a91864226" /><Relationship Type="http://schemas.openxmlformats.org/officeDocument/2006/relationships/notesSlide" Target="/ppt/notesSlides/notesSlide25.xml" Id="R6ba0f3581da448b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b21c232304ab45c9" /><Relationship Type="http://schemas.openxmlformats.org/officeDocument/2006/relationships/image" Target="/ppt/media/image14.png" Id="Rf7d8ebfc33284602" /><Relationship Type="http://schemas.openxmlformats.org/officeDocument/2006/relationships/notesSlide" Target="/ppt/notesSlides/notesSlide26.xml" Id="R1afba1d8140b4b2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423f806b9cd4956" /><Relationship Type="http://schemas.openxmlformats.org/officeDocument/2006/relationships/image" Target="/ppt/media/image15.png" Id="R36d478386fd8485c" /><Relationship Type="http://schemas.openxmlformats.org/officeDocument/2006/relationships/notesSlide" Target="/ppt/notesSlides/notesSlide27.xml" Id="R0127546694574a5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d2a08e2215c4bc2" /><Relationship Type="http://schemas.openxmlformats.org/officeDocument/2006/relationships/image" Target="/ppt/media/image16.png" Id="Rd9415bc4899e46cd" /><Relationship Type="http://schemas.openxmlformats.org/officeDocument/2006/relationships/notesSlide" Target="/ppt/notesSlides/notesSlide28.xml" Id="R5728d1deda074d7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5218b5186ee4858" /><Relationship Type="http://schemas.openxmlformats.org/officeDocument/2006/relationships/notesSlide" Target="/ppt/notesSlides/notesSlide29.xml" Id="R7c9de7f11a0848da"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AB9F251-2EC0-4570-B6D9-A1C8D4454304}"/>
              </a:ext>
            </a:extLst>
          </p:cNvPr>
          <p:cNvSpPr>
            <a:spLocks xmlns:a="http://schemas.openxmlformats.org/drawingml/2006/main" noGrp="1"/>
          </p:cNvSpPr>
          <p:nvPr/>
        </p:nvSpPr>
        <p:spPr>
          <a:xfrm xmlns:a="http://schemas.openxmlformats.org/drawingml/2006/main">
            <a:off x="714375" y="66675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spc="2">
                <a:solidFill>
                  <a:srgbClr val="D1495B"/>
                </a:solidFill>
                <a:latin typeface="Arial"/>
                <a:ea typeface="Arial"/>
                <a:cs typeface="Arial"/>
              </a:defRPr>
            </a:pPr>
            <a:r>
              <a:rPr sz="1425"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B2CBC1F0-0C0B-4C25-9A43-CD22640125DF}"/>
              </a:ext>
            </a:extLst>
          </p:cNvPr>
          <p:cNvSpPr>
            <a:spLocks xmlns:a="http://schemas.openxmlformats.org/drawingml/2006/main" noGrp="1"/>
          </p:cNvSpPr>
          <p:nvPr/>
        </p:nvSpPr>
        <p:spPr>
          <a:xfrm xmlns:a="http://schemas.openxmlformats.org/drawingml/2006/main">
            <a:off x="714375" y="1571625"/>
            <a:ext cx="10287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Replication</a:t>
            </a:r>
          </a:p>
        </p:txBody>
      </p:sp>
      <p:sp>
        <p:nvSpPr>
          <p:cNvPr id="3" name="">
            <a:extLst xmlns:a="http://schemas.openxmlformats.org/drawingml/2006/main">
              <a:ext uri="{FF2B5EF4-FFF2-40B4-BE49-F238E27FC236}">
                <a16:creationId xmlns:a16="http://schemas.microsoft.com/office/drawing/2014/main" id="{1C898BFC-9B71-4A2A-A9D9-E4BD72DDC26B}"/>
              </a:ext>
            </a:extLst>
          </p:cNvPr>
          <p:cNvSpPr>
            <a:spLocks xmlns:a="http://schemas.openxmlformats.org/drawingml/2006/main" noGrp="1"/>
          </p:cNvSpPr>
          <p:nvPr/>
        </p:nvSpPr>
        <p:spPr>
          <a:xfrm xmlns:a="http://schemas.openxmlformats.org/drawingml/2006/main">
            <a:off x="742950" y="2809875"/>
            <a:ext cx="1000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a:solidFill>
                  <a:srgbClr val="D9E2EC"/>
                </a:solidFill>
                <a:latin typeface="Arial"/>
                <a:ea typeface="Arial"/>
                <a:cs typeface="Arial"/>
              </a:defRPr>
            </a:pPr>
            <a:r>
              <a:rPr sz="1725">
                <a:solidFill>
                  <a:srgbClr val="D9E2EC"/>
                </a:solidFill>
                <a:latin typeface="Arial"/>
                <a:ea typeface="Arial"/>
                <a:cs typeface="Arial"/>
              </a:rPr>
              <a:t>Designing Data-Intensive Applications, Second Edition</a:t>
            </a:r>
          </a:p>
        </p:txBody>
      </p:sp>
      <p:sp>
        <p:nvSpPr>
          <p:cNvPr id="4" name="">
            <a:extLst xmlns:a="http://schemas.openxmlformats.org/drawingml/2006/main">
              <a:ext uri="{FF2B5EF4-FFF2-40B4-BE49-F238E27FC236}">
                <a16:creationId xmlns:a16="http://schemas.microsoft.com/office/drawing/2014/main" id="{5FF35586-2BE5-4308-A868-E7071259DCA1}"/>
              </a:ext>
            </a:extLst>
          </p:cNvPr>
          <p:cNvSpPr>
            <a:spLocks xmlns:a="http://schemas.openxmlformats.org/drawingml/2006/main" noGrp="1"/>
          </p:cNvSpPr>
          <p:nvPr/>
        </p:nvSpPr>
        <p:spPr>
          <a:xfrm xmlns:a="http://schemas.openxmlformats.org/drawingml/2006/main">
            <a:off x="742950" y="52863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a:solidFill>
                  <a:srgbClr val="BCCCDC"/>
                </a:solidFill>
                <a:latin typeface="Arial"/>
                <a:ea typeface="Arial"/>
                <a:cs typeface="Arial"/>
              </a:defRPr>
            </a:pPr>
            <a:r>
              <a:rPr sz="1425">
                <a:solidFill>
                  <a:srgbClr val="BCCCDC"/>
                </a:solidFill>
                <a:latin typeface="Arial"/>
                <a:ea typeface="Arial"/>
                <a:cs typeface="Arial"/>
              </a:rPr>
              <a:t>Detailed English Study Edition</a:t>
            </a:r>
          </a:p>
        </p:txBody>
      </p:sp>
      <p:sp>
        <p:nvSpPr>
          <p:cNvPr id="5" name="">
            <a:extLst xmlns:a="http://schemas.openxmlformats.org/drawingml/2006/main">
              <a:ext uri="{FF2B5EF4-FFF2-40B4-BE49-F238E27FC236}">
                <a16:creationId xmlns:a16="http://schemas.microsoft.com/office/drawing/2014/main" id="{5997E72A-0150-4F1E-974A-D4370641B9F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9FB3C8"/>
                </a:solidFill>
                <a:latin typeface="Arial"/>
                <a:ea typeface="Arial"/>
                <a:cs typeface="Arial"/>
              </a:defRPr>
            </a:pPr>
            <a:r>
              <a:rPr sz="975">
                <a:solidFill>
                  <a:srgbClr val="9FB3C8"/>
                </a:solidFill>
                <a:latin typeface="Arial"/>
                <a:ea typeface="Arial"/>
                <a:cs typeface="Arial"/>
              </a:rPr>
              <a:t>01 / 29</a:t>
            </a:r>
          </a:p>
        </p:txBody>
      </p:sp>
    </p:spTree>
    <p:extLst>
      <p:ext uri="{BB962C8B-B14F-4D97-AF65-F5344CB8AC3E}">
        <p14:creationId xmlns:p14="http://schemas.microsoft.com/office/powerpoint/2010/main" val="1169281321"/>
      </p:ext>
    </p:extLst>
  </p:cSld>
</p:sld>
</file>

<file path=ppt/slides/slide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A28ED3C-2A1C-4E67-9EE7-C8B873B7C44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4EF6447D-4F01-473B-B8DE-D6840076772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Chapter map</a:t>
            </a:r>
          </a:p>
        </p:txBody>
      </p:sp>
      <p:sp>
        <p:nvSpPr>
          <p:cNvPr id="3" name="">
            <a:extLst xmlns:a="http://schemas.openxmlformats.org/drawingml/2006/main">
              <a:ext uri="{FF2B5EF4-FFF2-40B4-BE49-F238E27FC236}">
                <a16:creationId xmlns:a16="http://schemas.microsoft.com/office/drawing/2014/main" id="{25AEABBD-C9F8-410C-A693-E93F7C1F699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02 / 29</a:t>
            </a:r>
          </a:p>
        </p:txBody>
      </p:sp>
      <p:sp>
        <p:nvSpPr>
          <p:cNvPr id="4" name="">
            <a:extLst xmlns:a="http://schemas.openxmlformats.org/drawingml/2006/main">
              <a:ext uri="{FF2B5EF4-FFF2-40B4-BE49-F238E27FC236}">
                <a16:creationId xmlns:a16="http://schemas.microsoft.com/office/drawing/2014/main" id="{2874BDE6-EF18-4AB8-9484-8854281EE948}"/>
              </a:ext>
            </a:extLst>
          </p:cNvPr>
          <p:cNvSpPr>
            <a:spLocks xmlns:a="http://schemas.openxmlformats.org/drawingml/2006/main" noGrp="1"/>
          </p:cNvSpPr>
          <p:nvPr/>
        </p:nvSpPr>
        <p:spPr>
          <a:xfrm xmlns:a="http://schemas.openxmlformats.org/drawingml/2006/main">
            <a:off x="857250" y="14763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D1495B"/>
                </a:solidFill>
                <a:latin typeface="Arial"/>
                <a:ea typeface="Arial"/>
                <a:cs typeface="Arial"/>
              </a:defRPr>
            </a:pPr>
            <a:r>
              <a:rPr sz="2100" b="1">
                <a:solidFill>
                  <a:srgbClr val="D149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E68739C8-E778-4B2E-A77B-E6349ABDFD7F}"/>
              </a:ext>
            </a:extLst>
          </p:cNvPr>
          <p:cNvSpPr>
            <a:spLocks xmlns:a="http://schemas.openxmlformats.org/drawingml/2006/main" noGrp="1"/>
          </p:cNvSpPr>
          <p:nvPr/>
        </p:nvSpPr>
        <p:spPr>
          <a:xfrm xmlns:a="http://schemas.openxmlformats.org/drawingml/2006/main">
            <a:off x="1905000" y="14287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Why replicate data</a:t>
            </a:r>
          </a:p>
        </p:txBody>
      </p:sp>
      <p:sp>
        <p:nvSpPr>
          <p:cNvPr id="6" name="">
            <a:extLst xmlns:a="http://schemas.openxmlformats.org/drawingml/2006/main">
              <a:ext uri="{FF2B5EF4-FFF2-40B4-BE49-F238E27FC236}">
                <a16:creationId xmlns:a16="http://schemas.microsoft.com/office/drawing/2014/main" id="{EE0ADAE9-88B1-4EE0-8352-DF8F27E5C405}"/>
              </a:ext>
            </a:extLst>
          </p:cNvPr>
          <p:cNvSpPr>
            <a:spLocks xmlns:a="http://schemas.openxmlformats.org/drawingml/2006/main" noGrp="1"/>
          </p:cNvSpPr>
          <p:nvPr/>
        </p:nvSpPr>
        <p:spPr>
          <a:xfrm xmlns:a="http://schemas.openxmlformats.org/drawingml/2006/main">
            <a:off x="6191250" y="14287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Replication improves availability, read capacity, and geographic proximity.</a:t>
            </a:r>
          </a:p>
        </p:txBody>
      </p:sp>
      <p:sp>
        <p:nvSpPr>
          <p:cNvPr id="7" name="">
            <a:extLst xmlns:a="http://schemas.openxmlformats.org/drawingml/2006/main">
              <a:ext uri="{FF2B5EF4-FFF2-40B4-BE49-F238E27FC236}">
                <a16:creationId xmlns:a16="http://schemas.microsoft.com/office/drawing/2014/main" id="{170D694D-8063-401C-B1C6-D36931EAE567}"/>
              </a:ext>
            </a:extLst>
          </p:cNvPr>
          <p:cNvSpPr>
            <a:spLocks xmlns:a="http://schemas.openxmlformats.org/drawingml/2006/main" noGrp="1"/>
          </p:cNvSpPr>
          <p:nvPr/>
        </p:nvSpPr>
        <p:spPr>
          <a:xfrm xmlns:a="http://schemas.openxmlformats.org/drawingml/2006/main">
            <a:off x="857250" y="23526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D1495B"/>
                </a:solidFill>
                <a:latin typeface="Arial"/>
                <a:ea typeface="Arial"/>
                <a:cs typeface="Arial"/>
              </a:defRPr>
            </a:pPr>
            <a:r>
              <a:rPr sz="2100" b="1">
                <a:solidFill>
                  <a:srgbClr val="D1495B"/>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500662C1-8F6F-4FA2-B2F8-D8DE993DD011}"/>
              </a:ext>
            </a:extLst>
          </p:cNvPr>
          <p:cNvSpPr>
            <a:spLocks xmlns:a="http://schemas.openxmlformats.org/drawingml/2006/main" noGrp="1"/>
          </p:cNvSpPr>
          <p:nvPr/>
        </p:nvSpPr>
        <p:spPr>
          <a:xfrm xmlns:a="http://schemas.openxmlformats.org/drawingml/2006/main">
            <a:off x="1905000" y="23050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Single-leader replication</a:t>
            </a:r>
          </a:p>
        </p:txBody>
      </p:sp>
      <p:sp>
        <p:nvSpPr>
          <p:cNvPr id="9" name="">
            <a:extLst xmlns:a="http://schemas.openxmlformats.org/drawingml/2006/main">
              <a:ext uri="{FF2B5EF4-FFF2-40B4-BE49-F238E27FC236}">
                <a16:creationId xmlns:a16="http://schemas.microsoft.com/office/drawing/2014/main" id="{A6C0A029-D01E-40C2-904E-7E3DABCF94FC}"/>
              </a:ext>
            </a:extLst>
          </p:cNvPr>
          <p:cNvSpPr>
            <a:spLocks xmlns:a="http://schemas.openxmlformats.org/drawingml/2006/main" noGrp="1"/>
          </p:cNvSpPr>
          <p:nvPr/>
        </p:nvSpPr>
        <p:spPr>
          <a:xfrm xmlns:a="http://schemas.openxmlformats.org/drawingml/2006/main">
            <a:off x="6191250" y="23050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The leader orders writes and followers replay its log.</a:t>
            </a:r>
          </a:p>
        </p:txBody>
      </p:sp>
      <p:sp>
        <p:nvSpPr>
          <p:cNvPr id="10" name="">
            <a:extLst xmlns:a="http://schemas.openxmlformats.org/drawingml/2006/main">
              <a:ext uri="{FF2B5EF4-FFF2-40B4-BE49-F238E27FC236}">
                <a16:creationId xmlns:a16="http://schemas.microsoft.com/office/drawing/2014/main" id="{CF4F925E-611C-4EBF-8E5B-490B0486335F}"/>
              </a:ext>
            </a:extLst>
          </p:cNvPr>
          <p:cNvSpPr>
            <a:spLocks xmlns:a="http://schemas.openxmlformats.org/drawingml/2006/main" noGrp="1"/>
          </p:cNvSpPr>
          <p:nvPr/>
        </p:nvSpPr>
        <p:spPr>
          <a:xfrm xmlns:a="http://schemas.openxmlformats.org/drawingml/2006/main">
            <a:off x="857250" y="32289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D1495B"/>
                </a:solidFill>
                <a:latin typeface="Arial"/>
                <a:ea typeface="Arial"/>
                <a:cs typeface="Arial"/>
              </a:defRPr>
            </a:pPr>
            <a:r>
              <a:rPr sz="2100" b="1">
                <a:solidFill>
                  <a:srgbClr val="D1495B"/>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06D86276-120E-4F83-948B-C3A9BDCF2502}"/>
              </a:ext>
            </a:extLst>
          </p:cNvPr>
          <p:cNvSpPr>
            <a:spLocks xmlns:a="http://schemas.openxmlformats.org/drawingml/2006/main" noGrp="1"/>
          </p:cNvSpPr>
          <p:nvPr/>
        </p:nvSpPr>
        <p:spPr>
          <a:xfrm xmlns:a="http://schemas.openxmlformats.org/drawingml/2006/main">
            <a:off x="1905000" y="31813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Replication lag guarantees</a:t>
            </a:r>
          </a:p>
        </p:txBody>
      </p:sp>
      <p:sp>
        <p:nvSpPr>
          <p:cNvPr id="12" name="">
            <a:extLst xmlns:a="http://schemas.openxmlformats.org/drawingml/2006/main">
              <a:ext uri="{FF2B5EF4-FFF2-40B4-BE49-F238E27FC236}">
                <a16:creationId xmlns:a16="http://schemas.microsoft.com/office/drawing/2014/main" id="{07340A44-2D21-41B9-A39B-8362BB52BDE2}"/>
              </a:ext>
            </a:extLst>
          </p:cNvPr>
          <p:cNvSpPr>
            <a:spLocks xmlns:a="http://schemas.openxmlformats.org/drawingml/2006/main" noGrp="1"/>
          </p:cNvSpPr>
          <p:nvPr/>
        </p:nvSpPr>
        <p:spPr>
          <a:xfrm xmlns:a="http://schemas.openxmlformats.org/drawingml/2006/main">
            <a:off x="6191250" y="31813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Read-your-writes keeps a user’s own updates visible.</a:t>
            </a:r>
          </a:p>
        </p:txBody>
      </p:sp>
      <p:sp>
        <p:nvSpPr>
          <p:cNvPr id="13" name="">
            <a:extLst xmlns:a="http://schemas.openxmlformats.org/drawingml/2006/main">
              <a:ext uri="{FF2B5EF4-FFF2-40B4-BE49-F238E27FC236}">
                <a16:creationId xmlns:a16="http://schemas.microsoft.com/office/drawing/2014/main" id="{577A896B-95CA-4E5F-841B-6FC1C1B89445}"/>
              </a:ext>
            </a:extLst>
          </p:cNvPr>
          <p:cNvSpPr>
            <a:spLocks xmlns:a="http://schemas.openxmlformats.org/drawingml/2006/main" noGrp="1"/>
          </p:cNvSpPr>
          <p:nvPr/>
        </p:nvSpPr>
        <p:spPr>
          <a:xfrm xmlns:a="http://schemas.openxmlformats.org/drawingml/2006/main">
            <a:off x="857250" y="41052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D1495B"/>
                </a:solidFill>
                <a:latin typeface="Arial"/>
                <a:ea typeface="Arial"/>
                <a:cs typeface="Arial"/>
              </a:defRPr>
            </a:pPr>
            <a:r>
              <a:rPr sz="2100" b="1">
                <a:solidFill>
                  <a:srgbClr val="D1495B"/>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17105F29-C585-4945-9412-0AC0C85A6AFB}"/>
              </a:ext>
            </a:extLst>
          </p:cNvPr>
          <p:cNvSpPr>
            <a:spLocks xmlns:a="http://schemas.openxmlformats.org/drawingml/2006/main" noGrp="1"/>
          </p:cNvSpPr>
          <p:nvPr/>
        </p:nvSpPr>
        <p:spPr>
          <a:xfrm xmlns:a="http://schemas.openxmlformats.org/drawingml/2006/main">
            <a:off x="1905000" y="40576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Multi-leader replication</a:t>
            </a:r>
          </a:p>
        </p:txBody>
      </p:sp>
      <p:sp>
        <p:nvSpPr>
          <p:cNvPr id="15" name="">
            <a:extLst xmlns:a="http://schemas.openxmlformats.org/drawingml/2006/main">
              <a:ext uri="{FF2B5EF4-FFF2-40B4-BE49-F238E27FC236}">
                <a16:creationId xmlns:a16="http://schemas.microsoft.com/office/drawing/2014/main" id="{8C090814-D788-4719-8C6D-3DA71CAFBF18}"/>
              </a:ext>
            </a:extLst>
          </p:cNvPr>
          <p:cNvSpPr>
            <a:spLocks xmlns:a="http://schemas.openxmlformats.org/drawingml/2006/main" noGrp="1"/>
          </p:cNvSpPr>
          <p:nvPr/>
        </p:nvSpPr>
        <p:spPr>
          <a:xfrm xmlns:a="http://schemas.openxmlformats.org/drawingml/2006/main">
            <a:off x="6191250" y="40576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Local leaders reduce write latency across regions and support offline work.</a:t>
            </a:r>
          </a:p>
        </p:txBody>
      </p:sp>
      <p:sp>
        <p:nvSpPr>
          <p:cNvPr id="16" name="">
            <a:extLst xmlns:a="http://schemas.openxmlformats.org/drawingml/2006/main">
              <a:ext uri="{FF2B5EF4-FFF2-40B4-BE49-F238E27FC236}">
                <a16:creationId xmlns:a16="http://schemas.microsoft.com/office/drawing/2014/main" id="{0F799153-7FF3-4786-8BBF-8F2D6BBF2E2D}"/>
              </a:ext>
            </a:extLst>
          </p:cNvPr>
          <p:cNvSpPr>
            <a:spLocks xmlns:a="http://schemas.openxmlformats.org/drawingml/2006/main" noGrp="1"/>
          </p:cNvSpPr>
          <p:nvPr/>
        </p:nvSpPr>
        <p:spPr>
          <a:xfrm xmlns:a="http://schemas.openxmlformats.org/drawingml/2006/main">
            <a:off x="857250" y="4981575"/>
            <a:ext cx="76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100" b="1">
                <a:solidFill>
                  <a:srgbClr val="D1495B"/>
                </a:solidFill>
                <a:latin typeface="Arial"/>
                <a:ea typeface="Arial"/>
                <a:cs typeface="Arial"/>
              </a:defRPr>
            </a:pPr>
            <a:r>
              <a:rPr sz="2100" b="1">
                <a:solidFill>
                  <a:srgbClr val="D1495B"/>
                </a:solidFill>
                <a:latin typeface="Arial"/>
                <a:ea typeface="Arial"/>
                <a:cs typeface="Arial"/>
              </a:rPr>
              <a:t>05</a:t>
            </a:r>
          </a:p>
        </p:txBody>
      </p:sp>
      <p:sp>
        <p:nvSpPr>
          <p:cNvPr id="17" name="">
            <a:extLst xmlns:a="http://schemas.openxmlformats.org/drawingml/2006/main">
              <a:ext uri="{FF2B5EF4-FFF2-40B4-BE49-F238E27FC236}">
                <a16:creationId xmlns:a16="http://schemas.microsoft.com/office/drawing/2014/main" id="{AA95F834-4477-485B-B411-BC77D93B6745}"/>
              </a:ext>
            </a:extLst>
          </p:cNvPr>
          <p:cNvSpPr>
            <a:spLocks xmlns:a="http://schemas.openxmlformats.org/drawingml/2006/main" noGrp="1"/>
          </p:cNvSpPr>
          <p:nvPr/>
        </p:nvSpPr>
        <p:spPr>
          <a:xfrm xmlns:a="http://schemas.openxmlformats.org/drawingml/2006/main">
            <a:off x="1905000" y="4933950"/>
            <a:ext cx="4095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17324D"/>
                </a:solidFill>
                <a:latin typeface="Arial"/>
                <a:ea typeface="Arial"/>
                <a:cs typeface="Arial"/>
              </a:defRPr>
            </a:pPr>
            <a:r>
              <a:rPr sz="1800" b="1">
                <a:solidFill>
                  <a:srgbClr val="17324D"/>
                </a:solidFill>
                <a:latin typeface="Arial"/>
                <a:ea typeface="Arial"/>
                <a:cs typeface="Arial"/>
              </a:rPr>
              <a:t>Leaderless replication</a:t>
            </a:r>
          </a:p>
        </p:txBody>
      </p:sp>
      <p:sp>
        <p:nvSpPr>
          <p:cNvPr id="18" name="">
            <a:extLst xmlns:a="http://schemas.openxmlformats.org/drawingml/2006/main">
              <a:ext uri="{FF2B5EF4-FFF2-40B4-BE49-F238E27FC236}">
                <a16:creationId xmlns:a16="http://schemas.microsoft.com/office/drawing/2014/main" id="{9C3FA932-71A0-45D4-A099-889945E07B84}"/>
              </a:ext>
            </a:extLst>
          </p:cNvPr>
          <p:cNvSpPr>
            <a:spLocks xmlns:a="http://schemas.openxmlformats.org/drawingml/2006/main" noGrp="1"/>
          </p:cNvSpPr>
          <p:nvPr/>
        </p:nvSpPr>
        <p:spPr>
          <a:xfrm xmlns:a="http://schemas.openxmlformats.org/drawingml/2006/main">
            <a:off x="6191250" y="4933950"/>
            <a:ext cx="4953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52667A"/>
                </a:solidFill>
                <a:latin typeface="Arial"/>
                <a:ea typeface="Arial"/>
                <a:cs typeface="Arial"/>
              </a:defRPr>
            </a:pPr>
            <a:r>
              <a:rPr sz="1275">
                <a:solidFill>
                  <a:srgbClr val="52667A"/>
                </a:solidFill>
                <a:latin typeface="Arial"/>
                <a:ea typeface="Arial"/>
                <a:cs typeface="Arial"/>
              </a:rPr>
              <a:t>Clients read and write several replicas and compare versions.</a:t>
            </a:r>
          </a:p>
        </p:txBody>
      </p:sp>
    </p:spTree>
    <p:extLst>
      <p:ext uri="{BB962C8B-B14F-4D97-AF65-F5344CB8AC3E}">
        <p14:creationId xmlns:p14="http://schemas.microsoft.com/office/powerpoint/2010/main" val="2090407258"/>
      </p:ext>
    </p:extLst>
  </p:cSld>
</p:sld>
</file>

<file path=ppt/slides/slide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65B66D1-C241-4187-8272-D2A385A91E9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9D06B4D6-C063-4879-8514-5FC15FEEDE8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Why replicate data</a:t>
            </a:r>
          </a:p>
        </p:txBody>
      </p:sp>
      <p:sp>
        <p:nvSpPr>
          <p:cNvPr id="3" name="">
            <a:extLst xmlns:a="http://schemas.openxmlformats.org/drawingml/2006/main">
              <a:ext uri="{FF2B5EF4-FFF2-40B4-BE49-F238E27FC236}">
                <a16:creationId xmlns:a16="http://schemas.microsoft.com/office/drawing/2014/main" id="{CFC88A7D-5F1A-4CF9-ACF7-B32BF56C5E2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03 / 29</a:t>
            </a:r>
          </a:p>
        </p:txBody>
      </p:sp>
      <p:sp>
        <p:nvSpPr>
          <p:cNvPr id="4" name="">
            <a:extLst xmlns:a="http://schemas.openxmlformats.org/drawingml/2006/main">
              <a:ext uri="{FF2B5EF4-FFF2-40B4-BE49-F238E27FC236}">
                <a16:creationId xmlns:a16="http://schemas.microsoft.com/office/drawing/2014/main" id="{452D9595-1B71-4E2D-8541-8AA649ABADE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8F7C3CAB-5362-4E08-9100-FB5C175EF89D}"/>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Replication improves availability, read capacity, and geographic proximity.</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 design must define write order, failover, and consistency semantics.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Replication lag makes different replicas expose different states.</a:t>
            </a:r>
          </a:p>
        </p:txBody>
      </p:sp>
      <p:sp>
        <p:nvSpPr>
          <p:cNvPr id="6" name="">
            <a:extLst xmlns:a="http://schemas.openxmlformats.org/drawingml/2006/main">
              <a:ext uri="{FF2B5EF4-FFF2-40B4-BE49-F238E27FC236}">
                <a16:creationId xmlns:a16="http://schemas.microsoft.com/office/drawing/2014/main" id="{DE4DF8EA-F7DE-484C-844B-98C4BD291F6F}"/>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0E2B339D-8F54-4569-B845-6824104613EC}"/>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789623340"/>
      </p:ext>
    </p:extLst>
  </p:cSld>
</p:sld>
</file>

<file path=ppt/slides/slide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ACD97E8-FAE4-486A-A556-9BCDA2C621D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F5A203F4-F9F1-4B73-B021-22B7730BA73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Why replicate data: design trade-offs</a:t>
            </a:r>
          </a:p>
        </p:txBody>
      </p:sp>
      <p:sp>
        <p:nvSpPr>
          <p:cNvPr id="3" name="">
            <a:extLst xmlns:a="http://schemas.openxmlformats.org/drawingml/2006/main">
              <a:ext uri="{FF2B5EF4-FFF2-40B4-BE49-F238E27FC236}">
                <a16:creationId xmlns:a16="http://schemas.microsoft.com/office/drawing/2014/main" id="{A3D8418F-E8E1-4735-95DE-DE108CEB43E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04 / 29</a:t>
            </a:r>
          </a:p>
        </p:txBody>
      </p:sp>
      <p:sp>
        <p:nvSpPr>
          <p:cNvPr id="4" name="">
            <a:extLst xmlns:a="http://schemas.openxmlformats.org/drawingml/2006/main">
              <a:ext uri="{FF2B5EF4-FFF2-40B4-BE49-F238E27FC236}">
                <a16:creationId xmlns:a16="http://schemas.microsoft.com/office/drawing/2014/main" id="{3C253757-FB5C-4A65-B57F-3A7347DAB218}"/>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6814532D-3EC3-4FB4-9973-48036A0EC347}"/>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Replication improves availability, read capacity, and geographic proximity.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27719612"/>
      </p:ext>
    </p:extLst>
  </p:cSld>
</p:sld>
</file>

<file path=ppt/slides/slide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BBDF14-C14B-4D46-B68D-C773D580323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081FD602-698B-467A-BB78-E125D14DEC2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Single-leader replication</a:t>
            </a:r>
          </a:p>
        </p:txBody>
      </p:sp>
      <p:sp>
        <p:nvSpPr>
          <p:cNvPr id="3" name="">
            <a:extLst xmlns:a="http://schemas.openxmlformats.org/drawingml/2006/main">
              <a:ext uri="{FF2B5EF4-FFF2-40B4-BE49-F238E27FC236}">
                <a16:creationId xmlns:a16="http://schemas.microsoft.com/office/drawing/2014/main" id="{B184D04E-0F0F-4188-832C-4D54C3431AD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05 / 29</a:t>
            </a:r>
          </a:p>
        </p:txBody>
      </p:sp>
      <p:sp>
        <p:nvSpPr>
          <p:cNvPr id="4" name="">
            <a:extLst xmlns:a="http://schemas.openxmlformats.org/drawingml/2006/main">
              <a:ext uri="{FF2B5EF4-FFF2-40B4-BE49-F238E27FC236}">
                <a16:creationId xmlns:a16="http://schemas.microsoft.com/office/drawing/2014/main" id="{A0ED2827-3FBD-4066-82F5-1A6277D04D0D}"/>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64A323D-70D9-4873-A23E-278C8A2ABD83}"/>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The leader orders writes and followers replay its log.</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Synchronous followers improve durability but add latency and availability risk.</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Asynchronous followers respond quickly but may lose recent writes on failover.</a:t>
            </a:r>
          </a:p>
        </p:txBody>
      </p:sp>
      <p:sp>
        <p:nvSpPr>
          <p:cNvPr id="6" name="">
            <a:extLst xmlns:a="http://schemas.openxmlformats.org/drawingml/2006/main">
              <a:ext uri="{FF2B5EF4-FFF2-40B4-BE49-F238E27FC236}">
                <a16:creationId xmlns:a16="http://schemas.microsoft.com/office/drawing/2014/main" id="{35F88DE3-01B0-4B6B-9FF5-2BAA5738728A}"/>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E3962319-C35F-4BD3-82D0-F33BA0AB607B}"/>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2090738875"/>
      </p:ext>
    </p:extLst>
  </p:cSld>
</p:sld>
</file>

<file path=ppt/slides/slide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8DEBA93-168F-4D0C-BE82-1891E29AAFB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68D8ECBF-FF6F-43A3-88CE-60B8234766A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Single-leader replication: design trade-offs</a:t>
            </a:r>
          </a:p>
        </p:txBody>
      </p:sp>
      <p:sp>
        <p:nvSpPr>
          <p:cNvPr id="3" name="">
            <a:extLst xmlns:a="http://schemas.openxmlformats.org/drawingml/2006/main">
              <a:ext uri="{FF2B5EF4-FFF2-40B4-BE49-F238E27FC236}">
                <a16:creationId xmlns:a16="http://schemas.microsoft.com/office/drawing/2014/main" id="{2D854438-F620-4CEA-8AD7-3D52454ECC5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06 / 29</a:t>
            </a:r>
          </a:p>
        </p:txBody>
      </p:sp>
      <p:sp>
        <p:nvSpPr>
          <p:cNvPr id="4" name="">
            <a:extLst xmlns:a="http://schemas.openxmlformats.org/drawingml/2006/main">
              <a:ext uri="{FF2B5EF4-FFF2-40B4-BE49-F238E27FC236}">
                <a16:creationId xmlns:a16="http://schemas.microsoft.com/office/drawing/2014/main" id="{0283C338-2E99-46BD-BEC7-D91350F72C1B}"/>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2CF9766-45C0-4D79-A168-9370AAF0A77E}"/>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The leader orders writes and followers replay its log.</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816784441"/>
      </p:ext>
    </p:extLst>
  </p:cSld>
</p:sld>
</file>

<file path=ppt/slides/slide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A28661B-0D1A-4477-9825-B0E8790140AE}"/>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9F84E0BA-3D17-49BA-B53D-37D270E86DE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6-1: mechanism explained</a:t>
            </a:r>
          </a:p>
        </p:txBody>
      </p:sp>
      <p:sp>
        <p:nvSpPr>
          <p:cNvPr id="3" name="">
            <a:extLst xmlns:a="http://schemas.openxmlformats.org/drawingml/2006/main">
              <a:ext uri="{FF2B5EF4-FFF2-40B4-BE49-F238E27FC236}">
                <a16:creationId xmlns:a16="http://schemas.microsoft.com/office/drawing/2014/main" id="{64C9520F-4822-45D1-B1AF-880D4FFF2D2E}"/>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07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a99b062e2164ce7"/>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CF0F4B9-65BA-4C2E-8B83-7C0CE17E0E33}"/>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4F849CE8-C827-48F8-8B2E-37E075B22077}"/>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Writes flow through one leader and followers replay the ordered log.</a:t>
            </a:r>
          </a:p>
        </p:txBody>
      </p:sp>
      <p:sp>
        <p:nvSpPr>
          <p:cNvPr id="7" name="">
            <a:extLst xmlns:a="http://schemas.openxmlformats.org/drawingml/2006/main">
              <a:ext uri="{FF2B5EF4-FFF2-40B4-BE49-F238E27FC236}">
                <a16:creationId xmlns:a16="http://schemas.microsoft.com/office/drawing/2014/main" id="{14F5E663-45C3-4661-9204-AA6C05638835}"/>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AAF8A8E2-9424-4299-B440-64089C472E4B}"/>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Acknowledgment policy trades write latency and availability against durability.</a:t>
            </a:r>
          </a:p>
        </p:txBody>
      </p:sp>
      <p:sp>
        <p:nvSpPr>
          <p:cNvPr id="9" name="">
            <a:extLst xmlns:a="http://schemas.openxmlformats.org/drawingml/2006/main">
              <a:ext uri="{FF2B5EF4-FFF2-40B4-BE49-F238E27FC236}">
                <a16:creationId xmlns:a16="http://schemas.microsoft.com/office/drawing/2014/main" id="{83B04C96-B8B2-4205-9F85-E48DF3F045A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1F2AE6B-5450-44D7-88E5-1C4B35A7BE00}"/>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647075692"/>
      </p:ext>
    </p:extLst>
  </p:cSld>
</p:sld>
</file>

<file path=ppt/slides/slide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07ACD74-2FC9-4419-BB2B-E8201C207D0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5E7417AE-D498-4FDA-BF62-5E35EBC4B3A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6-2: mechanism explained</a:t>
            </a:r>
          </a:p>
        </p:txBody>
      </p:sp>
      <p:sp>
        <p:nvSpPr>
          <p:cNvPr id="3" name="">
            <a:extLst xmlns:a="http://schemas.openxmlformats.org/drawingml/2006/main">
              <a:ext uri="{FF2B5EF4-FFF2-40B4-BE49-F238E27FC236}">
                <a16:creationId xmlns:a16="http://schemas.microsoft.com/office/drawing/2014/main" id="{A90C0C7C-E322-4F22-94F0-C356C4A85E3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08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c615d45df384d48"/>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3BFF8E3-112A-4FFD-95D3-FD24599D637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9A3FC90-FD15-4FB5-A3AA-60A330EAF322}"/>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Writes flow through one leader and followers replay the ordered log.</a:t>
            </a:r>
          </a:p>
        </p:txBody>
      </p:sp>
      <p:sp>
        <p:nvSpPr>
          <p:cNvPr id="7" name="">
            <a:extLst xmlns:a="http://schemas.openxmlformats.org/drawingml/2006/main">
              <a:ext uri="{FF2B5EF4-FFF2-40B4-BE49-F238E27FC236}">
                <a16:creationId xmlns:a16="http://schemas.microsoft.com/office/drawing/2014/main" id="{57304C22-936B-4411-A388-35F958F99D2E}"/>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1E5E7BF-7C3F-4BF1-8FEB-7C621D924B26}"/>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Acknowledgment policy trades write latency and availability against durability.</a:t>
            </a:r>
          </a:p>
        </p:txBody>
      </p:sp>
      <p:sp>
        <p:nvSpPr>
          <p:cNvPr id="9" name="">
            <a:extLst xmlns:a="http://schemas.openxmlformats.org/drawingml/2006/main">
              <a:ext uri="{FF2B5EF4-FFF2-40B4-BE49-F238E27FC236}">
                <a16:creationId xmlns:a16="http://schemas.microsoft.com/office/drawing/2014/main" id="{98D799EA-7939-4899-ABE1-A5B945A2FA2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D4B6E36-DCC1-4E35-BF82-53154E2B5029}"/>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379671527"/>
      </p:ext>
    </p:extLst>
  </p:cSld>
</p:sld>
</file>

<file path=ppt/slides/slide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3E9D7B6-FA8E-482A-AD15-7560B7D1E18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36111109-B3DE-4F38-BC53-E39E626D349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Replication lag guarantees</a:t>
            </a:r>
          </a:p>
        </p:txBody>
      </p:sp>
      <p:sp>
        <p:nvSpPr>
          <p:cNvPr id="3" name="">
            <a:extLst xmlns:a="http://schemas.openxmlformats.org/drawingml/2006/main">
              <a:ext uri="{FF2B5EF4-FFF2-40B4-BE49-F238E27FC236}">
                <a16:creationId xmlns:a16="http://schemas.microsoft.com/office/drawing/2014/main" id="{4B8AE8A6-CD15-4821-86E6-0144FFF8341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09 / 29</a:t>
            </a:r>
          </a:p>
        </p:txBody>
      </p:sp>
      <p:sp>
        <p:nvSpPr>
          <p:cNvPr id="4" name="">
            <a:extLst xmlns:a="http://schemas.openxmlformats.org/drawingml/2006/main">
              <a:ext uri="{FF2B5EF4-FFF2-40B4-BE49-F238E27FC236}">
                <a16:creationId xmlns:a16="http://schemas.microsoft.com/office/drawing/2014/main" id="{C1159CB6-0620-4BBA-AEB3-904ECF57DCE6}"/>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2A08C762-DB07-471D-8362-CD56E4901404}"/>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Read-your-writes keeps a user’s own updates visible.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Monotonic reads prevent a session from moving backward in time.</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Consistent-prefix reads preserve causal ordering.</a:t>
            </a:r>
          </a:p>
        </p:txBody>
      </p:sp>
      <p:sp>
        <p:nvSpPr>
          <p:cNvPr id="6" name="">
            <a:extLst xmlns:a="http://schemas.openxmlformats.org/drawingml/2006/main">
              <a:ext uri="{FF2B5EF4-FFF2-40B4-BE49-F238E27FC236}">
                <a16:creationId xmlns:a16="http://schemas.microsoft.com/office/drawing/2014/main" id="{E2BB221B-2660-4B9B-AC51-7501DA3DA70A}"/>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DA31F02F-C30D-4B0F-9E1C-AA12925B1EE6}"/>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069708018"/>
      </p:ext>
    </p:extLst>
  </p:cSld>
</p:sld>
</file>

<file path=ppt/slides/slide1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C2EB13A-4D5D-4F2D-B8E0-7731704DF629}"/>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7D194813-AE27-4347-BEE9-CC8BE350C04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Replication lag guarantees: design trade-offs</a:t>
            </a:r>
          </a:p>
        </p:txBody>
      </p:sp>
      <p:sp>
        <p:nvSpPr>
          <p:cNvPr id="3" name="">
            <a:extLst xmlns:a="http://schemas.openxmlformats.org/drawingml/2006/main">
              <a:ext uri="{FF2B5EF4-FFF2-40B4-BE49-F238E27FC236}">
                <a16:creationId xmlns:a16="http://schemas.microsoft.com/office/drawing/2014/main" id="{8BE710B1-3BC7-4591-AFC2-BEF9ABC1B64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10 / 29</a:t>
            </a:r>
          </a:p>
        </p:txBody>
      </p:sp>
      <p:sp>
        <p:nvSpPr>
          <p:cNvPr id="4" name="">
            <a:extLst xmlns:a="http://schemas.openxmlformats.org/drawingml/2006/main">
              <a:ext uri="{FF2B5EF4-FFF2-40B4-BE49-F238E27FC236}">
                <a16:creationId xmlns:a16="http://schemas.microsoft.com/office/drawing/2014/main" id="{04EE413B-DCBB-4561-ACBE-7FA1BE8ADBD2}"/>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192F3933-B43E-4A8E-85F7-72A9F2567DEE}"/>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Read-your-writes keeps a user’s own updates visible.</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1499671775"/>
      </p:ext>
    </p:extLst>
  </p:cSld>
</p:sld>
</file>

<file path=ppt/slides/slide1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B04D96-61BF-4334-8CE9-72799481ABA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7E4B943C-A5E0-48C6-A9B2-14FFA39A419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6-3: mechanism explained</a:t>
            </a:r>
          </a:p>
        </p:txBody>
      </p:sp>
      <p:sp>
        <p:nvSpPr>
          <p:cNvPr id="3" name="">
            <a:extLst xmlns:a="http://schemas.openxmlformats.org/drawingml/2006/main">
              <a:ext uri="{FF2B5EF4-FFF2-40B4-BE49-F238E27FC236}">
                <a16:creationId xmlns:a16="http://schemas.microsoft.com/office/drawing/2014/main" id="{08A803B1-18EB-49FE-9F85-BB21F078C95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11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fe6e47c55db4a37"/>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EF22386-FC17-4D82-956D-CF92F60BAC84}"/>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F2B60225-7CC3-45A7-A356-46D4DC58710C}"/>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Inconsistencies can arise when a user makes a write, followed by a read from</a:t>
            </a:r>
          </a:p>
        </p:txBody>
      </p:sp>
      <p:sp>
        <p:nvSpPr>
          <p:cNvPr id="7" name="">
            <a:extLst xmlns:a="http://schemas.openxmlformats.org/drawingml/2006/main">
              <a:ext uri="{FF2B5EF4-FFF2-40B4-BE49-F238E27FC236}">
                <a16:creationId xmlns:a16="http://schemas.microsoft.com/office/drawing/2014/main" id="{2A2B599F-8421-43B7-AD15-328AE69C9B2C}"/>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69F769FF-4DB2-462E-88D9-3DA389E60B63}"/>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E2014298-6562-4A93-A187-6945355F498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AFEFC412-1794-486E-8873-F69D7D10016B}"/>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440007416"/>
      </p:ext>
    </p:extLst>
  </p:cSld>
</p:sld>
</file>

<file path=ppt/slides/slide1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35DEAE4-4D16-45B3-84EE-11EA4E8634F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AC376A5A-A78F-4F09-8254-78AA802BD25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6-4: mechanism explained</a:t>
            </a:r>
          </a:p>
        </p:txBody>
      </p:sp>
      <p:sp>
        <p:nvSpPr>
          <p:cNvPr id="3" name="">
            <a:extLst xmlns:a="http://schemas.openxmlformats.org/drawingml/2006/main">
              <a:ext uri="{FF2B5EF4-FFF2-40B4-BE49-F238E27FC236}">
                <a16:creationId xmlns:a16="http://schemas.microsoft.com/office/drawing/2014/main" id="{9549C577-BA33-4B89-8F66-190D6A8805E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12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a419e9a0d3e47ee"/>
          <a:stretch xmlns:a="http://schemas.openxmlformats.org/drawingml/2006/main"/>
        </p:blipFill>
        <p:spPr>
          <a:xfrm xmlns:a="http://schemas.openxmlformats.org/drawingml/2006/main">
            <a:off x="1119375" y="1285875"/>
            <a:ext cx="6552826"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34C0ACE-10DC-4F11-BDA1-DEB5A1F0D59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142144F8-A79F-4073-BF4D-51037020BC21}"/>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Followers can expose older state while replication catches up.</a:t>
            </a:r>
          </a:p>
        </p:txBody>
      </p:sp>
      <p:sp>
        <p:nvSpPr>
          <p:cNvPr id="7" name="">
            <a:extLst xmlns:a="http://schemas.openxmlformats.org/drawingml/2006/main">
              <a:ext uri="{FF2B5EF4-FFF2-40B4-BE49-F238E27FC236}">
                <a16:creationId xmlns:a16="http://schemas.microsoft.com/office/drawing/2014/main" id="{5F0359F0-5241-4A8B-967B-10BC01D50234}"/>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B7E5553-0EDE-4598-B003-992CFBEC0640}"/>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Read-your-writes, monotonic reads, or leader reads protect freshness-sensitive paths.</a:t>
            </a:r>
          </a:p>
        </p:txBody>
      </p:sp>
      <p:sp>
        <p:nvSpPr>
          <p:cNvPr id="9" name="">
            <a:extLst xmlns:a="http://schemas.openxmlformats.org/drawingml/2006/main">
              <a:ext uri="{FF2B5EF4-FFF2-40B4-BE49-F238E27FC236}">
                <a16:creationId xmlns:a16="http://schemas.microsoft.com/office/drawing/2014/main" id="{25BF092A-2436-4AF8-BE7A-5B67256A020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7A6A5324-B5E9-4AE1-8405-768BE3044CA3}"/>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503564986"/>
      </p:ext>
    </p:extLst>
  </p:cSld>
</p:sld>
</file>

<file path=ppt/slides/slide1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4FF46BF-F347-4D17-A5C6-5D33BA69B90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C1BAA1C5-B4FF-47F0-A029-4EE7D3FEDDA8}"/>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6-5: mechanism explained</a:t>
            </a:r>
          </a:p>
        </p:txBody>
      </p:sp>
      <p:sp>
        <p:nvSpPr>
          <p:cNvPr id="3" name="">
            <a:extLst xmlns:a="http://schemas.openxmlformats.org/drawingml/2006/main">
              <a:ext uri="{FF2B5EF4-FFF2-40B4-BE49-F238E27FC236}">
                <a16:creationId xmlns:a16="http://schemas.microsoft.com/office/drawing/2014/main" id="{1640947C-3147-462A-9722-66BAEC6468C5}"/>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13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5198356eff84645"/>
          <a:stretch xmlns:a="http://schemas.openxmlformats.org/drawingml/2006/main"/>
        </p:blipFill>
        <p:spPr>
          <a:xfrm xmlns:a="http://schemas.openxmlformats.org/drawingml/2006/main">
            <a:off x="1036845" y="1285875"/>
            <a:ext cx="6717884"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557F6D5-5439-4149-A8D5-30B484F5FFAD}"/>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DFE1166D-FCAB-42B7-A0EB-4F2399D74FAA}"/>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Followers can expose older state while replication catches up.</a:t>
            </a:r>
          </a:p>
        </p:txBody>
      </p:sp>
      <p:sp>
        <p:nvSpPr>
          <p:cNvPr id="7" name="">
            <a:extLst xmlns:a="http://schemas.openxmlformats.org/drawingml/2006/main">
              <a:ext uri="{FF2B5EF4-FFF2-40B4-BE49-F238E27FC236}">
                <a16:creationId xmlns:a16="http://schemas.microsoft.com/office/drawing/2014/main" id="{95536852-50EE-44C5-9CF8-4D9707DDB1D4}"/>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B9F339EB-3770-401A-B0DE-D6623A5875F0}"/>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Read-your-writes, monotonic reads, or leader reads protect freshness-sensitive paths.</a:t>
            </a:r>
          </a:p>
        </p:txBody>
      </p:sp>
      <p:sp>
        <p:nvSpPr>
          <p:cNvPr id="9" name="">
            <a:extLst xmlns:a="http://schemas.openxmlformats.org/drawingml/2006/main">
              <a:ext uri="{FF2B5EF4-FFF2-40B4-BE49-F238E27FC236}">
                <a16:creationId xmlns:a16="http://schemas.microsoft.com/office/drawing/2014/main" id="{DDD0E86A-7E03-4AAE-92CE-9919CB09396E}"/>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4BB1C356-73B5-47BE-96A4-EF0AD29B14E7}"/>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913903083"/>
      </p:ext>
    </p:extLst>
  </p:cSld>
</p:sld>
</file>

<file path=ppt/slides/slide1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4D4213E-E32F-4C8F-B9EB-4190B9FF430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8866DF71-24AB-4181-9CE1-21E0E76EAC68}"/>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Multi-leader replication</a:t>
            </a:r>
          </a:p>
        </p:txBody>
      </p:sp>
      <p:sp>
        <p:nvSpPr>
          <p:cNvPr id="3" name="">
            <a:extLst xmlns:a="http://schemas.openxmlformats.org/drawingml/2006/main">
              <a:ext uri="{FF2B5EF4-FFF2-40B4-BE49-F238E27FC236}">
                <a16:creationId xmlns:a16="http://schemas.microsoft.com/office/drawing/2014/main" id="{93E017B5-124F-48C7-A27A-79BBA01B13D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14 / 29</a:t>
            </a:r>
          </a:p>
        </p:txBody>
      </p:sp>
      <p:sp>
        <p:nvSpPr>
          <p:cNvPr id="4" name="">
            <a:extLst xmlns:a="http://schemas.openxmlformats.org/drawingml/2006/main">
              <a:ext uri="{FF2B5EF4-FFF2-40B4-BE49-F238E27FC236}">
                <a16:creationId xmlns:a16="http://schemas.microsoft.com/office/drawing/2014/main" id="{D0210632-91EB-4338-B75B-5CAEF4E59CB7}"/>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E78D83A0-BA9E-49B3-BFE4-DFB1D7662A5C}"/>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Local leaders reduce write latency across regions and support offline work.</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Concurrent writes create conflicts that require explicit resolution.</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Conflict handling should preserve intent rather than rely only on last-write-wins.</a:t>
            </a:r>
          </a:p>
        </p:txBody>
      </p:sp>
      <p:sp>
        <p:nvSpPr>
          <p:cNvPr id="6" name="">
            <a:extLst xmlns:a="http://schemas.openxmlformats.org/drawingml/2006/main">
              <a:ext uri="{FF2B5EF4-FFF2-40B4-BE49-F238E27FC236}">
                <a16:creationId xmlns:a16="http://schemas.microsoft.com/office/drawing/2014/main" id="{D917BCC3-A4CF-451D-BD35-A1D083E0AE61}"/>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8FBF52FF-9BF4-464F-8A9C-2D248FCD21E1}"/>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594418078"/>
      </p:ext>
    </p:extLst>
  </p:cSld>
</p:sld>
</file>

<file path=ppt/slides/slide1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8D31A81-9CC7-4925-9C98-9C3C9008423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652892CF-D8A6-4018-BA5E-1F278F2A8602}"/>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Multi-leader replication: design trade-offs</a:t>
            </a:r>
          </a:p>
        </p:txBody>
      </p:sp>
      <p:sp>
        <p:nvSpPr>
          <p:cNvPr id="3" name="">
            <a:extLst xmlns:a="http://schemas.openxmlformats.org/drawingml/2006/main">
              <a:ext uri="{FF2B5EF4-FFF2-40B4-BE49-F238E27FC236}">
                <a16:creationId xmlns:a16="http://schemas.microsoft.com/office/drawing/2014/main" id="{4A628F33-83D2-4CBE-B2C5-5B86658933D6}"/>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15 / 29</a:t>
            </a:r>
          </a:p>
        </p:txBody>
      </p:sp>
      <p:sp>
        <p:nvSpPr>
          <p:cNvPr id="4" name="">
            <a:extLst xmlns:a="http://schemas.openxmlformats.org/drawingml/2006/main">
              <a:ext uri="{FF2B5EF4-FFF2-40B4-BE49-F238E27FC236}">
                <a16:creationId xmlns:a16="http://schemas.microsoft.com/office/drawing/2014/main" id="{E5469300-7861-43BB-948D-1CDAEAD3BEC3}"/>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6EB682F7-A94C-4B59-9750-A6A896ADF55A}"/>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Local leaders reduce write latency across regions and support offline work.</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249177023"/>
      </p:ext>
    </p:extLst>
  </p:cSld>
</p:sld>
</file>

<file path=ppt/slides/slide1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290638A-3EB8-464A-B824-F11829A0BD1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BE0AC8E8-3EE5-402E-90B6-0BF83C80106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6-6: mechanism explained</a:t>
            </a:r>
          </a:p>
        </p:txBody>
      </p:sp>
      <p:sp>
        <p:nvSpPr>
          <p:cNvPr id="3" name="">
            <a:extLst xmlns:a="http://schemas.openxmlformats.org/drawingml/2006/main">
              <a:ext uri="{FF2B5EF4-FFF2-40B4-BE49-F238E27FC236}">
                <a16:creationId xmlns:a16="http://schemas.microsoft.com/office/drawing/2014/main" id="{26D64252-885E-42E8-AB45-3526BF95F8A3}"/>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16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ca173454e10408e"/>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6B8B675-A66D-44C8-9897-D14D1C0D960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B4BD1E03-D809-48AC-99F4-292FDABB953A}"/>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Several writers create concurrent versions that may arrive in different orders.</a:t>
            </a:r>
          </a:p>
        </p:txBody>
      </p:sp>
      <p:sp>
        <p:nvSpPr>
          <p:cNvPr id="7" name="">
            <a:extLst xmlns:a="http://schemas.openxmlformats.org/drawingml/2006/main">
              <a:ext uri="{FF2B5EF4-FFF2-40B4-BE49-F238E27FC236}">
                <a16:creationId xmlns:a16="http://schemas.microsoft.com/office/drawing/2014/main" id="{D09BED43-5081-46C0-AF3E-71F4EB2B44F5}"/>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3E9ACD27-816D-4CBA-A82F-75143BB31E9D}"/>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Resolution must preserve intent; last-write-wins can silently discard valid work.</a:t>
            </a:r>
          </a:p>
        </p:txBody>
      </p:sp>
      <p:sp>
        <p:nvSpPr>
          <p:cNvPr id="9" name="">
            <a:extLst xmlns:a="http://schemas.openxmlformats.org/drawingml/2006/main">
              <a:ext uri="{FF2B5EF4-FFF2-40B4-BE49-F238E27FC236}">
                <a16:creationId xmlns:a16="http://schemas.microsoft.com/office/drawing/2014/main" id="{9D9BB7C7-6036-4555-9507-185C2244A764}"/>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99143741-05DA-4DD8-9DB9-7857BB7893FF}"/>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998768940"/>
      </p:ext>
    </p:extLst>
  </p:cSld>
</p:sld>
</file>

<file path=ppt/slides/slide1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87871A9-3BE9-456D-A740-8EBDD27A18ED}"/>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47C69ED9-409B-4719-BC96-86CA84B7E17D}"/>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6-7: mechanism explained</a:t>
            </a:r>
          </a:p>
        </p:txBody>
      </p:sp>
      <p:sp>
        <p:nvSpPr>
          <p:cNvPr id="3" name="">
            <a:extLst xmlns:a="http://schemas.openxmlformats.org/drawingml/2006/main">
              <a:ext uri="{FF2B5EF4-FFF2-40B4-BE49-F238E27FC236}">
                <a16:creationId xmlns:a16="http://schemas.microsoft.com/office/drawing/2014/main" id="{3813230D-6CC0-428A-B9EE-BDA4B95D68D4}"/>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17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52f7602b43e4efd"/>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31B4E52-3131-4270-BAB0-91049461E60C}"/>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EAF2EA18-66AD-45D2-A800-11A27415E228}"/>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Several writers create concurrent versions that may arrive in different orders.</a:t>
            </a:r>
          </a:p>
        </p:txBody>
      </p:sp>
      <p:sp>
        <p:nvSpPr>
          <p:cNvPr id="7" name="">
            <a:extLst xmlns:a="http://schemas.openxmlformats.org/drawingml/2006/main">
              <a:ext uri="{FF2B5EF4-FFF2-40B4-BE49-F238E27FC236}">
                <a16:creationId xmlns:a16="http://schemas.microsoft.com/office/drawing/2014/main" id="{EBD4D91F-1343-4046-A086-EBD3B5216E16}"/>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2C001B29-B49E-4758-9479-5A4A5765F7AC}"/>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Resolution must preserve intent; last-write-wins can silently discard valid work.</a:t>
            </a:r>
          </a:p>
        </p:txBody>
      </p:sp>
      <p:sp>
        <p:nvSpPr>
          <p:cNvPr id="9" name="">
            <a:extLst xmlns:a="http://schemas.openxmlformats.org/drawingml/2006/main">
              <a:ext uri="{FF2B5EF4-FFF2-40B4-BE49-F238E27FC236}">
                <a16:creationId xmlns:a16="http://schemas.microsoft.com/office/drawing/2014/main" id="{A324CFE3-39E1-4EB1-A4FF-7ADBA282368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B49CF962-DDCD-4BE0-89D8-BAC6D3B6B3EE}"/>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931083147"/>
      </p:ext>
    </p:extLst>
  </p:cSld>
</p:sld>
</file>

<file path=ppt/slides/slide1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AF8D7F2-D3BF-4F4F-AC19-895871956AB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7C22E5E3-3F74-4462-8A90-642ADF588E14}"/>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6-8: mechanism explained</a:t>
            </a:r>
          </a:p>
        </p:txBody>
      </p:sp>
      <p:sp>
        <p:nvSpPr>
          <p:cNvPr id="3" name="">
            <a:extLst xmlns:a="http://schemas.openxmlformats.org/drawingml/2006/main">
              <a:ext uri="{FF2B5EF4-FFF2-40B4-BE49-F238E27FC236}">
                <a16:creationId xmlns:a16="http://schemas.microsoft.com/office/drawing/2014/main" id="{CD5D3DFC-7695-497D-B392-5901CFFB92DF}"/>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18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78945a0f1a24d65"/>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7D2B5A4-1FB8-45C1-BC44-FBB964D0861F}"/>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12CCDDF9-5440-4C37-8C0B-CA679DDD723E}"/>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Several writers create concurrent versions that may arrive in different orders.</a:t>
            </a:r>
          </a:p>
        </p:txBody>
      </p:sp>
      <p:sp>
        <p:nvSpPr>
          <p:cNvPr id="7" name="">
            <a:extLst xmlns:a="http://schemas.openxmlformats.org/drawingml/2006/main">
              <a:ext uri="{FF2B5EF4-FFF2-40B4-BE49-F238E27FC236}">
                <a16:creationId xmlns:a16="http://schemas.microsoft.com/office/drawing/2014/main" id="{A79771BD-265D-4AEF-AB19-E6A559F3C421}"/>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3A6E9E49-3BF5-4F18-B8CB-862FC6426B72}"/>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Resolution must preserve intent; last-write-wins can silently discard valid work.</a:t>
            </a:r>
          </a:p>
        </p:txBody>
      </p:sp>
      <p:sp>
        <p:nvSpPr>
          <p:cNvPr id="9" name="">
            <a:extLst xmlns:a="http://schemas.openxmlformats.org/drawingml/2006/main">
              <a:ext uri="{FF2B5EF4-FFF2-40B4-BE49-F238E27FC236}">
                <a16:creationId xmlns:a16="http://schemas.microsoft.com/office/drawing/2014/main" id="{3D6F6FE9-8C13-4930-965C-C43FC130FA59}"/>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293D8F30-76F0-4198-BE33-F3D3CB394704}"/>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150972439"/>
      </p:ext>
    </p:extLst>
  </p:cSld>
</p:sld>
</file>

<file path=ppt/slides/slide1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DDFD26D-4E26-4B2E-874D-4621670E6CF1}"/>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3AD0A6DB-8DDD-40B0-9286-C38FF87C6D7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6-9: mechanism explained</a:t>
            </a:r>
          </a:p>
        </p:txBody>
      </p:sp>
      <p:sp>
        <p:nvSpPr>
          <p:cNvPr id="3" name="">
            <a:extLst xmlns:a="http://schemas.openxmlformats.org/drawingml/2006/main">
              <a:ext uri="{FF2B5EF4-FFF2-40B4-BE49-F238E27FC236}">
                <a16:creationId xmlns:a16="http://schemas.microsoft.com/office/drawing/2014/main" id="{709247A5-04E4-4E4E-AA35-9BDFE45E45E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19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ec26e08c1e847a7"/>
          <a:stretch xmlns:a="http://schemas.openxmlformats.org/drawingml/2006/main"/>
        </p:blipFill>
        <p:spPr>
          <a:xfrm xmlns:a="http://schemas.openxmlformats.org/drawingml/2006/main">
            <a:off x="655255" y="1285875"/>
            <a:ext cx="7481066"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BAA8F83-E43B-4180-94A1-1A2F04D2CA6E}"/>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DC4FE964-7F5D-4BA4-B0DC-6627F3A2DBB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Several writers create concurrent versions that may arrive in different orders.</a:t>
            </a:r>
          </a:p>
        </p:txBody>
      </p:sp>
      <p:sp>
        <p:nvSpPr>
          <p:cNvPr id="7" name="">
            <a:extLst xmlns:a="http://schemas.openxmlformats.org/drawingml/2006/main">
              <a:ext uri="{FF2B5EF4-FFF2-40B4-BE49-F238E27FC236}">
                <a16:creationId xmlns:a16="http://schemas.microsoft.com/office/drawing/2014/main" id="{CE685F9F-4551-421A-BAB7-7E1A9BAFD6D0}"/>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5BC2F7A4-B0E0-4CA0-8346-160FEB5F2DB3}"/>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Resolution must preserve intent; last-write-wins can silently discard valid work.</a:t>
            </a:r>
          </a:p>
        </p:txBody>
      </p:sp>
      <p:sp>
        <p:nvSpPr>
          <p:cNvPr id="9" name="">
            <a:extLst xmlns:a="http://schemas.openxmlformats.org/drawingml/2006/main">
              <a:ext uri="{FF2B5EF4-FFF2-40B4-BE49-F238E27FC236}">
                <a16:creationId xmlns:a16="http://schemas.microsoft.com/office/drawing/2014/main" id="{46F433D7-69D4-4D5E-AB92-D7EA796B6371}"/>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FFF7FE3C-098D-4462-853A-F4B7A90D4D18}"/>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335455304"/>
      </p:ext>
    </p:extLst>
  </p:cSld>
</p:sld>
</file>

<file path=ppt/slides/slide20.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A033520-201F-4B2F-BF5E-3944CC638C73}"/>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430A15CF-FEED-4678-884B-71135DB06E9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6-10: mechanism explained</a:t>
            </a:r>
          </a:p>
        </p:txBody>
      </p:sp>
      <p:sp>
        <p:nvSpPr>
          <p:cNvPr id="3" name="">
            <a:extLst xmlns:a="http://schemas.openxmlformats.org/drawingml/2006/main">
              <a:ext uri="{FF2B5EF4-FFF2-40B4-BE49-F238E27FC236}">
                <a16:creationId xmlns:a16="http://schemas.microsoft.com/office/drawing/2014/main" id="{297FABEC-780F-4C66-A27E-189CE1920CF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20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1bd48b60a984400"/>
          <a:stretch xmlns:a="http://schemas.openxmlformats.org/drawingml/2006/main"/>
        </p:blipFill>
        <p:spPr>
          <a:xfrm xmlns:a="http://schemas.openxmlformats.org/drawingml/2006/main">
            <a:off x="820720" y="1285875"/>
            <a:ext cx="7150134"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C537192-A999-4C0F-9935-CBD88A45F890}"/>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850FB810-EFB0-4F2D-9F32-2F38E3F4373B}"/>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Several writers create concurrent versions that may arrive in different orders.</a:t>
            </a:r>
          </a:p>
        </p:txBody>
      </p:sp>
      <p:sp>
        <p:nvSpPr>
          <p:cNvPr id="7" name="">
            <a:extLst xmlns:a="http://schemas.openxmlformats.org/drawingml/2006/main">
              <a:ext uri="{FF2B5EF4-FFF2-40B4-BE49-F238E27FC236}">
                <a16:creationId xmlns:a16="http://schemas.microsoft.com/office/drawing/2014/main" id="{A241847D-7B3F-4BA2-8890-9763D25E424F}"/>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30CD4EF5-5A5A-411F-8CCF-4FBCC7D85683}"/>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Resolution must preserve intent; last-write-wins can silently discard valid work.</a:t>
            </a:r>
          </a:p>
        </p:txBody>
      </p:sp>
      <p:sp>
        <p:nvSpPr>
          <p:cNvPr id="9" name="">
            <a:extLst xmlns:a="http://schemas.openxmlformats.org/drawingml/2006/main">
              <a:ext uri="{FF2B5EF4-FFF2-40B4-BE49-F238E27FC236}">
                <a16:creationId xmlns:a16="http://schemas.microsoft.com/office/drawing/2014/main" id="{92570BBC-1B94-419E-B75C-6FD89A50C5D0}"/>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89FC4544-0FD9-4738-A53A-EEF10AB0BCD1}"/>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567803923"/>
      </p:ext>
    </p:extLst>
  </p:cSld>
</p:sld>
</file>

<file path=ppt/slides/slide21.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889A067-6E4D-4307-9EEB-DE53012F776C}"/>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D4641B04-04DE-48F0-B7FB-D1D5823A8270}"/>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6-11: mechanism explained</a:t>
            </a:r>
          </a:p>
        </p:txBody>
      </p:sp>
      <p:sp>
        <p:nvSpPr>
          <p:cNvPr id="3" name="">
            <a:extLst xmlns:a="http://schemas.openxmlformats.org/drawingml/2006/main">
              <a:ext uri="{FF2B5EF4-FFF2-40B4-BE49-F238E27FC236}">
                <a16:creationId xmlns:a16="http://schemas.microsoft.com/office/drawing/2014/main" id="{D9C09E8F-E729-4DBB-BBEC-EB8BA884E0F7}"/>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21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cf496014f16842de"/>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0A3CDF0-E00C-4300-9901-55FD03A1AEEB}"/>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A413DBB4-6B33-4D35-8BE5-59A27EE1B84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Several writers create concurrent versions that may arrive in different orders.</a:t>
            </a:r>
          </a:p>
        </p:txBody>
      </p:sp>
      <p:sp>
        <p:nvSpPr>
          <p:cNvPr id="7" name="">
            <a:extLst xmlns:a="http://schemas.openxmlformats.org/drawingml/2006/main">
              <a:ext uri="{FF2B5EF4-FFF2-40B4-BE49-F238E27FC236}">
                <a16:creationId xmlns:a16="http://schemas.microsoft.com/office/drawing/2014/main" id="{D959F67D-6C59-41D3-95C2-DFAD77811288}"/>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13366B2F-B885-4B1A-988A-995398BA4CFA}"/>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Resolution must preserve intent; last-write-wins can silently discard valid work.</a:t>
            </a:r>
          </a:p>
        </p:txBody>
      </p:sp>
      <p:sp>
        <p:nvSpPr>
          <p:cNvPr id="9" name="">
            <a:extLst xmlns:a="http://schemas.openxmlformats.org/drawingml/2006/main">
              <a:ext uri="{FF2B5EF4-FFF2-40B4-BE49-F238E27FC236}">
                <a16:creationId xmlns:a16="http://schemas.microsoft.com/office/drawing/2014/main" id="{70183D33-8599-4928-80EC-C23A0ADBAD6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52FB4959-298B-4D6B-B289-AE6678858A61}"/>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599127258"/>
      </p:ext>
    </p:extLst>
  </p:cSld>
</p:sld>
</file>

<file path=ppt/slides/slide22.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E6D1C26-9CDF-40B5-83DE-3D8397CB94EB}"/>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CA936DF9-37DE-4DD0-82FC-57630676672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Leaderless replication</a:t>
            </a:r>
          </a:p>
        </p:txBody>
      </p:sp>
      <p:sp>
        <p:nvSpPr>
          <p:cNvPr id="3" name="">
            <a:extLst xmlns:a="http://schemas.openxmlformats.org/drawingml/2006/main">
              <a:ext uri="{FF2B5EF4-FFF2-40B4-BE49-F238E27FC236}">
                <a16:creationId xmlns:a16="http://schemas.microsoft.com/office/drawing/2014/main" id="{1F337918-85F6-445D-8A08-7E7FA3229561}"/>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22 / 29</a:t>
            </a:r>
          </a:p>
        </p:txBody>
      </p:sp>
      <p:sp>
        <p:nvSpPr>
          <p:cNvPr id="4" name="">
            <a:extLst xmlns:a="http://schemas.openxmlformats.org/drawingml/2006/main">
              <a:ext uri="{FF2B5EF4-FFF2-40B4-BE49-F238E27FC236}">
                <a16:creationId xmlns:a16="http://schemas.microsoft.com/office/drawing/2014/main" id="{2C325373-BF2E-4AA2-9D68-85A28E5BB0B9}"/>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EAE8F443-56AD-4684-A9E9-3714B27784AB}"/>
              </a:ext>
            </a:extLst>
          </p:cNvPr>
          <p:cNvSpPr>
            <a:spLocks xmlns:a="http://schemas.openxmlformats.org/drawingml/2006/main" noGrp="1"/>
          </p:cNvSpPr>
          <p:nvPr/>
        </p:nvSpPr>
        <p:spPr>
          <a:xfrm xmlns:a="http://schemas.openxmlformats.org/drawingml/2006/main">
            <a:off x="2857500" y="1571625"/>
            <a:ext cx="80962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Clients read and write several replicas and compare versions.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Read repair and anti-entropy repair missed updates.</a:t>
            </a:r>
          </a:p>
          <a:p xmlns:a="http://schemas.openxmlformats.org/drawingml/2006/main">
            <a:pPr marL="228600" indent="-114300">
              <a:spcAft>
                <a:spcPts val="1000"/>
              </a:spcAft>
              <a:buChar char="•"/>
              <a:defRPr sz="1725">
                <a:solidFill>
                  <a:srgbClr val="17324D"/>
                </a:solidFill>
                <a:latin typeface="Arial"/>
                <a:ea typeface="Arial"/>
                <a:cs typeface="Arial"/>
              </a:defRPr>
            </a:pPr>
            <a:r>
              <a:rPr sz="1725">
                <a:solidFill>
                  <a:srgbClr val="17324D"/>
                </a:solidFill>
                <a:latin typeface="Arial"/>
                <a:ea typeface="Arial"/>
                <a:cs typeface="Arial"/>
              </a:rPr>
              <a:t>Quorum arithmetic alone does not guarantee strong consistency.</a:t>
            </a:r>
          </a:p>
        </p:txBody>
      </p:sp>
      <p:sp>
        <p:nvSpPr>
          <p:cNvPr id="6" name="">
            <a:extLst xmlns:a="http://schemas.openxmlformats.org/drawingml/2006/main">
              <a:ext uri="{FF2B5EF4-FFF2-40B4-BE49-F238E27FC236}">
                <a16:creationId xmlns:a16="http://schemas.microsoft.com/office/drawing/2014/main" id="{8051A0F2-0B93-4694-B651-EEBEBB8FABAD}"/>
              </a:ext>
            </a:extLst>
          </p:cNvPr>
          <p:cNvSpPr>
            <a:spLocks xmlns:a="http://schemas.openxmlformats.org/drawingml/2006/main" noGrp="1"/>
          </p:cNvSpPr>
          <p:nvPr/>
        </p:nvSpPr>
        <p:spPr>
          <a:xfrm xmlns:a="http://schemas.openxmlformats.org/drawingml/2006/main">
            <a:off x="2857500" y="5000625"/>
            <a:ext cx="1524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Core question</a:t>
            </a:r>
          </a:p>
        </p:txBody>
      </p:sp>
      <p:sp>
        <p:nvSpPr>
          <p:cNvPr id="7" name="">
            <a:extLst xmlns:a="http://schemas.openxmlformats.org/drawingml/2006/main">
              <a:ext uri="{FF2B5EF4-FFF2-40B4-BE49-F238E27FC236}">
                <a16:creationId xmlns:a16="http://schemas.microsoft.com/office/drawing/2014/main" id="{4CE3830D-E08F-4FE1-8D81-BA263DD7BCC1}"/>
              </a:ext>
            </a:extLst>
          </p:cNvPr>
          <p:cNvSpPr>
            <a:spLocks xmlns:a="http://schemas.openxmlformats.org/drawingml/2006/main" noGrp="1"/>
          </p:cNvSpPr>
          <p:nvPr/>
        </p:nvSpPr>
        <p:spPr>
          <a:xfrm xmlns:a="http://schemas.openxmlformats.org/drawingml/2006/main">
            <a:off x="2857500" y="5286375"/>
            <a:ext cx="8096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a:solidFill>
                  <a:srgbClr val="52667A"/>
                </a:solidFill>
                <a:latin typeface="Arial"/>
                <a:ea typeface="Arial"/>
                <a:cs typeface="Arial"/>
              </a:defRPr>
            </a:pPr>
            <a:r>
              <a:rPr sz="1500">
                <a:solidFill>
                  <a:srgbClr val="52667A"/>
                </a:solidFill>
                <a:latin typeface="Arial"/>
                <a:ea typeface="Arial"/>
                <a:cs typeface="Arial"/>
              </a:rPr>
              <a:t>What problem does it solve, and what does it cost under failure, growth, and change?</a:t>
            </a:r>
          </a:p>
        </p:txBody>
      </p:sp>
    </p:spTree>
    <p:extLst>
      <p:ext uri="{BB962C8B-B14F-4D97-AF65-F5344CB8AC3E}">
        <p14:creationId xmlns:p14="http://schemas.microsoft.com/office/powerpoint/2010/main" val="1432403030"/>
      </p:ext>
    </p:extLst>
  </p:cSld>
</p:sld>
</file>

<file path=ppt/slides/slide23.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91FF457-595D-4E19-9FB8-B6434F8FE16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68512D35-FFBD-4E06-8595-207A2752101B}"/>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Leaderless replication: design trade-offs</a:t>
            </a:r>
          </a:p>
        </p:txBody>
      </p:sp>
      <p:sp>
        <p:nvSpPr>
          <p:cNvPr id="3" name="">
            <a:extLst xmlns:a="http://schemas.openxmlformats.org/drawingml/2006/main">
              <a:ext uri="{FF2B5EF4-FFF2-40B4-BE49-F238E27FC236}">
                <a16:creationId xmlns:a16="http://schemas.microsoft.com/office/drawing/2014/main" id="{63DA9CC8-789C-4752-88F4-4367AC206D1C}"/>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23 / 29</a:t>
            </a:r>
          </a:p>
        </p:txBody>
      </p:sp>
      <p:sp>
        <p:nvSpPr>
          <p:cNvPr id="4" name="">
            <a:extLst xmlns:a="http://schemas.openxmlformats.org/drawingml/2006/main">
              <a:ext uri="{FF2B5EF4-FFF2-40B4-BE49-F238E27FC236}">
                <a16:creationId xmlns:a16="http://schemas.microsoft.com/office/drawing/2014/main" id="{7DDFB04A-D90C-47FC-B7E8-6EA8AD4C990E}"/>
              </a:ext>
            </a:extLst>
          </p:cNvPr>
          <p:cNvSpPr>
            <a:spLocks xmlns:a="http://schemas.openxmlformats.org/drawingml/2006/main" noGrp="1"/>
          </p:cNvSpPr>
          <p:nvPr/>
        </p:nvSpPr>
        <p:spPr>
          <a:xfrm xmlns:a="http://schemas.openxmlformats.org/drawingml/2006/main">
            <a:off x="685800" y="1571625"/>
            <a:ext cx="1714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6750" b="1">
                <a:solidFill>
                  <a:srgbClr val="D1495B"/>
                </a:solidFill>
                <a:latin typeface="Arial"/>
                <a:ea typeface="Arial"/>
                <a:cs typeface="Arial"/>
              </a:defRPr>
            </a:pPr>
            <a:r>
              <a:rPr sz="6750" b="1">
                <a:solidFill>
                  <a:srgbClr val="D1495B"/>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DA87930C-B0BE-4AF0-93A2-6463D18C20E8}"/>
              </a:ext>
            </a:extLst>
          </p:cNvPr>
          <p:cNvSpPr>
            <a:spLocks xmlns:a="http://schemas.openxmlformats.org/drawingml/2006/main" noGrp="1"/>
          </p:cNvSpPr>
          <p:nvPr/>
        </p:nvSpPr>
        <p:spPr>
          <a:xfrm xmlns:a="http://schemas.openxmlformats.org/drawingml/2006/main">
            <a:off x="2857500" y="1571625"/>
            <a:ext cx="80962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Fit: Clients read and write several replicas and compare versions.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Cost: evaluate latency, throughput, consistency, and operational complexity.</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Failure check: what state becomes visible when a node, network path, or dependency fails?</a:t>
            </a:r>
          </a:p>
          <a:p xmlns:a="http://schemas.openxmlformats.org/drawingml/2006/main">
            <a:pPr marL="228600" indent="-114300">
              <a:spcAft>
                <a:spcPts val="1000"/>
              </a:spcAft>
              <a:buChar char="•"/>
              <a:defRPr sz="1575">
                <a:solidFill>
                  <a:srgbClr val="17324D"/>
                </a:solidFill>
                <a:latin typeface="Arial"/>
                <a:ea typeface="Arial"/>
                <a:cs typeface="Arial"/>
              </a:defRPr>
            </a:pPr>
            <a:r>
              <a:rPr sz="1575">
                <a:solidFill>
                  <a:srgbClr val="17324D"/>
                </a:solidFill>
                <a:latin typeface="Arial"/>
                <a:ea typeface="Arial"/>
                <a:cs typeface="Arial"/>
              </a:rPr>
              <a:t>Evolution check: can formats, interfaces, and topology change through rolling upgrades?</a:t>
            </a:r>
          </a:p>
        </p:txBody>
      </p:sp>
    </p:spTree>
    <p:extLst>
      <p:ext uri="{BB962C8B-B14F-4D97-AF65-F5344CB8AC3E}">
        <p14:creationId xmlns:p14="http://schemas.microsoft.com/office/powerpoint/2010/main" val="61208810"/>
      </p:ext>
    </p:extLst>
  </p:cSld>
</p:sld>
</file>

<file path=ppt/slides/slide24.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902419D-955C-4C0D-98D0-18A67F38277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B105E0C7-A460-4C39-B467-9F598D152D06}"/>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6-12: mechanism explained</a:t>
            </a:r>
          </a:p>
        </p:txBody>
      </p:sp>
      <p:sp>
        <p:nvSpPr>
          <p:cNvPr id="3" name="">
            <a:extLst xmlns:a="http://schemas.openxmlformats.org/drawingml/2006/main">
              <a:ext uri="{FF2B5EF4-FFF2-40B4-BE49-F238E27FC236}">
                <a16:creationId xmlns:a16="http://schemas.microsoft.com/office/drawing/2014/main" id="{660FCF99-C6D9-4D81-8417-3748E99BBA20}"/>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24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6f922c740fc74f35"/>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DABECFD-EFB7-4A69-906F-23C67F092C6C}"/>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6B53AF38-9680-4EB4-BE8B-6A5F3CE86241}"/>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Replica responses and version metadata are used to reason about freshness and causality.</a:t>
            </a:r>
          </a:p>
        </p:txBody>
      </p:sp>
      <p:sp>
        <p:nvSpPr>
          <p:cNvPr id="7" name="">
            <a:extLst xmlns:a="http://schemas.openxmlformats.org/drawingml/2006/main">
              <a:ext uri="{FF2B5EF4-FFF2-40B4-BE49-F238E27FC236}">
                <a16:creationId xmlns:a16="http://schemas.microsoft.com/office/drawing/2014/main" id="{794317E6-D87E-4821-A862-8351050590A6}"/>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94FC0E38-7D46-427C-B49B-72759674488F}"/>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Quorum overlap helps, but concurrent writes still require explicit version handling.</a:t>
            </a:r>
          </a:p>
        </p:txBody>
      </p:sp>
      <p:sp>
        <p:nvSpPr>
          <p:cNvPr id="9" name="">
            <a:extLst xmlns:a="http://schemas.openxmlformats.org/drawingml/2006/main">
              <a:ext uri="{FF2B5EF4-FFF2-40B4-BE49-F238E27FC236}">
                <a16:creationId xmlns:a16="http://schemas.microsoft.com/office/drawing/2014/main" id="{1FB09702-CDEF-49FA-8019-2AAA2909B325}"/>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D23A835-0BC2-4E6F-9E6F-C602EED4AB80}"/>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017909716"/>
      </p:ext>
    </p:extLst>
  </p:cSld>
</p:sld>
</file>

<file path=ppt/slides/slide25.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F59C33E-4A5E-4CEC-B1F5-3C2AF96BB47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730900FF-4F9E-4720-B58B-1CC51A2FDA9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6-13: mechanism explained</a:t>
            </a:r>
          </a:p>
        </p:txBody>
      </p:sp>
      <p:sp>
        <p:nvSpPr>
          <p:cNvPr id="3" name="">
            <a:extLst xmlns:a="http://schemas.openxmlformats.org/drawingml/2006/main">
              <a:ext uri="{FF2B5EF4-FFF2-40B4-BE49-F238E27FC236}">
                <a16:creationId xmlns:a16="http://schemas.microsoft.com/office/drawing/2014/main" id="{EBE4C423-CF3A-4CE2-B835-0313A17B94D8}"/>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25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93fa27a91864226"/>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6FE5DB3-3AC8-435E-9F7C-65AD6D168C9C}"/>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BC20456F-0916-44B9-92AD-76FB11AFD6A9}"/>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If w + r &gt; n, at least one of the r replicas you read from must have seen the</a:t>
            </a:r>
          </a:p>
        </p:txBody>
      </p:sp>
      <p:sp>
        <p:nvSpPr>
          <p:cNvPr id="7" name="">
            <a:extLst xmlns:a="http://schemas.openxmlformats.org/drawingml/2006/main">
              <a:ext uri="{FF2B5EF4-FFF2-40B4-BE49-F238E27FC236}">
                <a16:creationId xmlns:a16="http://schemas.microsoft.com/office/drawing/2014/main" id="{F24C012F-1A06-47D0-BB65-D86C40A4AFF5}"/>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010B729A-63A0-4788-AD1D-0E5AC1F56CF1}"/>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7FC10921-F987-4E74-BD10-AD73B37952A0}"/>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E126238A-96FB-472B-9632-EB2190946E88}"/>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1296887011"/>
      </p:ext>
    </p:extLst>
  </p:cSld>
</p:sld>
</file>

<file path=ppt/slides/slide26.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7F41D6-8938-4E2F-932D-92D4AD68D412}"/>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669FB244-9429-4141-9CBE-1369D23FA2AF}"/>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6-14: mechanism explained</a:t>
            </a:r>
          </a:p>
        </p:txBody>
      </p:sp>
      <p:sp>
        <p:nvSpPr>
          <p:cNvPr id="3" name="">
            <a:extLst xmlns:a="http://schemas.openxmlformats.org/drawingml/2006/main">
              <a:ext uri="{FF2B5EF4-FFF2-40B4-BE49-F238E27FC236}">
                <a16:creationId xmlns:a16="http://schemas.microsoft.com/office/drawing/2014/main" id="{80F2AECC-94D0-492C-A34A-90FBB07AF57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26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f7d8ebfc33284602"/>
          <a:stretch xmlns:a="http://schemas.openxmlformats.org/drawingml/2006/main"/>
        </p:blipFill>
        <p:spPr>
          <a:xfrm xmlns:a="http://schemas.openxmlformats.org/drawingml/2006/main">
            <a:off x="514350" y="1355590"/>
            <a:ext cx="7762875" cy="4623069"/>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7A73AE51-BCCE-4577-87B9-60D8DF3870F8}"/>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3AD546A3-7F7C-4890-A7C5-F2A60DE2CF3F}"/>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Concurrent writes in a Dynamo-style datastore: there is no well-defined</a:t>
            </a:r>
          </a:p>
        </p:txBody>
      </p:sp>
      <p:sp>
        <p:nvSpPr>
          <p:cNvPr id="7" name="">
            <a:extLst xmlns:a="http://schemas.openxmlformats.org/drawingml/2006/main">
              <a:ext uri="{FF2B5EF4-FFF2-40B4-BE49-F238E27FC236}">
                <a16:creationId xmlns:a16="http://schemas.microsoft.com/office/drawing/2014/main" id="{57238B61-D42F-449A-A578-08A37269E84A}"/>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31F03730-5362-4B01-B610-995C4543CED5}"/>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It turns the chapter concept into a concrete dataflow, timeline, or state transition.</a:t>
            </a:r>
          </a:p>
        </p:txBody>
      </p:sp>
      <p:sp>
        <p:nvSpPr>
          <p:cNvPr id="9" name="">
            <a:extLst xmlns:a="http://schemas.openxmlformats.org/drawingml/2006/main">
              <a:ext uri="{FF2B5EF4-FFF2-40B4-BE49-F238E27FC236}">
                <a16:creationId xmlns:a16="http://schemas.microsoft.com/office/drawing/2014/main" id="{04A74A5E-80F0-4645-A6AC-413A8AF578E9}"/>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4CAC4EE9-180A-4BDF-8B89-AA70908177E5}"/>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Check the actors, data direction, operation order, and hidden system assumptions.</a:t>
            </a:r>
          </a:p>
        </p:txBody>
      </p:sp>
    </p:spTree>
    <p:extLst>
      <p:ext uri="{BB962C8B-B14F-4D97-AF65-F5344CB8AC3E}">
        <p14:creationId xmlns:p14="http://schemas.microsoft.com/office/powerpoint/2010/main" val="370829519"/>
      </p:ext>
    </p:extLst>
  </p:cSld>
</p:sld>
</file>

<file path=ppt/slides/slide27.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F313F3B-6CB8-4462-A6CF-879927F44AF0}"/>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F9090DF6-F7A4-4AFA-A0DD-982AB0A8501E}"/>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6-15: mechanism explained</a:t>
            </a:r>
          </a:p>
        </p:txBody>
      </p:sp>
      <p:sp>
        <p:nvSpPr>
          <p:cNvPr id="3" name="">
            <a:extLst xmlns:a="http://schemas.openxmlformats.org/drawingml/2006/main">
              <a:ext uri="{FF2B5EF4-FFF2-40B4-BE49-F238E27FC236}">
                <a16:creationId xmlns:a16="http://schemas.microsoft.com/office/drawing/2014/main" id="{4B926D3F-FEA0-4543-9D55-328A4EC29F9D}"/>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27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6d478386fd8485c"/>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E9B0560-DA96-4BD5-AC4B-D10DE8C536DB}"/>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139A7E0F-875E-4454-9E9E-20AA6DF74B14}"/>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Replica responses and version metadata are used to reason about freshness and causality.</a:t>
            </a:r>
          </a:p>
        </p:txBody>
      </p:sp>
      <p:sp>
        <p:nvSpPr>
          <p:cNvPr id="7" name="">
            <a:extLst xmlns:a="http://schemas.openxmlformats.org/drawingml/2006/main">
              <a:ext uri="{FF2B5EF4-FFF2-40B4-BE49-F238E27FC236}">
                <a16:creationId xmlns:a16="http://schemas.microsoft.com/office/drawing/2014/main" id="{2AAEE402-464B-464A-A17E-FF5CCABA8488}"/>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B4B45F12-1865-4760-B9D3-C4B85879F4BB}"/>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Quorum overlap helps, but concurrent writes still require explicit version handling.</a:t>
            </a:r>
          </a:p>
        </p:txBody>
      </p:sp>
      <p:sp>
        <p:nvSpPr>
          <p:cNvPr id="9" name="">
            <a:extLst xmlns:a="http://schemas.openxmlformats.org/drawingml/2006/main">
              <a:ext uri="{FF2B5EF4-FFF2-40B4-BE49-F238E27FC236}">
                <a16:creationId xmlns:a16="http://schemas.microsoft.com/office/drawing/2014/main" id="{17AAED34-D23C-41AF-AFDE-EDA6F85CF12A}"/>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DBFFE248-8B6D-4695-A862-DD5A15EEA97A}"/>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102978234"/>
      </p:ext>
    </p:extLst>
  </p:cSld>
</p:sld>
</file>

<file path=ppt/slides/slide28.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0A60EFC-662B-4F9A-9C13-E0F3210D1CCA}"/>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86331C4C-75FD-42A3-81DE-0FA69FB81669}"/>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Figure 6-16: mechanism explained</a:t>
            </a:r>
          </a:p>
        </p:txBody>
      </p:sp>
      <p:sp>
        <p:nvSpPr>
          <p:cNvPr id="3" name="">
            <a:extLst xmlns:a="http://schemas.openxmlformats.org/drawingml/2006/main">
              <a:ext uri="{FF2B5EF4-FFF2-40B4-BE49-F238E27FC236}">
                <a16:creationId xmlns:a16="http://schemas.microsoft.com/office/drawing/2014/main" id="{540F3802-19C0-41CF-9CD9-766AFFDBBB29}"/>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28 / 29</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9415bc4899e46cd"/>
          <a:stretch xmlns:a="http://schemas.openxmlformats.org/drawingml/2006/main"/>
        </p:blipFill>
        <p:spPr>
          <a:xfrm xmlns:a="http://schemas.openxmlformats.org/drawingml/2006/main">
            <a:off x="1235835" y="1285875"/>
            <a:ext cx="6319905" cy="4762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433BF61-10C9-407E-AA64-BD2FD4988CB4}"/>
              </a:ext>
            </a:extLst>
          </p:cNvPr>
          <p:cNvSpPr>
            <a:spLocks xmlns:a="http://schemas.openxmlformats.org/drawingml/2006/main" noGrp="1"/>
          </p:cNvSpPr>
          <p:nvPr/>
        </p:nvSpPr>
        <p:spPr>
          <a:xfrm xmlns:a="http://schemas.openxmlformats.org/drawingml/2006/main">
            <a:off x="8572500" y="14287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it shows</a:t>
            </a:r>
          </a:p>
        </p:txBody>
      </p:sp>
      <p:sp>
        <p:nvSpPr>
          <p:cNvPr id="6" name="">
            <a:extLst xmlns:a="http://schemas.openxmlformats.org/drawingml/2006/main">
              <a:ext uri="{FF2B5EF4-FFF2-40B4-BE49-F238E27FC236}">
                <a16:creationId xmlns:a16="http://schemas.microsoft.com/office/drawing/2014/main" id="{55A8F9C8-B5E0-49C5-BD72-9964C9B5FBEE}"/>
              </a:ext>
            </a:extLst>
          </p:cNvPr>
          <p:cNvSpPr>
            <a:spLocks xmlns:a="http://schemas.openxmlformats.org/drawingml/2006/main" noGrp="1"/>
          </p:cNvSpPr>
          <p:nvPr/>
        </p:nvSpPr>
        <p:spPr>
          <a:xfrm xmlns:a="http://schemas.openxmlformats.org/drawingml/2006/main">
            <a:off x="8572500" y="17526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Replica responses and version metadata are used to reason about freshness and causality.</a:t>
            </a:r>
          </a:p>
        </p:txBody>
      </p:sp>
      <p:sp>
        <p:nvSpPr>
          <p:cNvPr id="7" name="">
            <a:extLst xmlns:a="http://schemas.openxmlformats.org/drawingml/2006/main">
              <a:ext uri="{FF2B5EF4-FFF2-40B4-BE49-F238E27FC236}">
                <a16:creationId xmlns:a16="http://schemas.microsoft.com/office/drawing/2014/main" id="{EFF5DB4C-B5C5-4789-94FE-5337EE74D5B2}"/>
              </a:ext>
            </a:extLst>
          </p:cNvPr>
          <p:cNvSpPr>
            <a:spLocks xmlns:a="http://schemas.openxmlformats.org/drawingml/2006/main" noGrp="1"/>
          </p:cNvSpPr>
          <p:nvPr/>
        </p:nvSpPr>
        <p:spPr>
          <a:xfrm xmlns:a="http://schemas.openxmlformats.org/drawingml/2006/main">
            <a:off x="8572500" y="29337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Why it matters</a:t>
            </a:r>
          </a:p>
        </p:txBody>
      </p:sp>
      <p:sp>
        <p:nvSpPr>
          <p:cNvPr id="8" name="">
            <a:extLst xmlns:a="http://schemas.openxmlformats.org/drawingml/2006/main">
              <a:ext uri="{FF2B5EF4-FFF2-40B4-BE49-F238E27FC236}">
                <a16:creationId xmlns:a16="http://schemas.microsoft.com/office/drawing/2014/main" id="{E8348F8C-EAA0-4D22-B95A-2521F1526342}"/>
              </a:ext>
            </a:extLst>
          </p:cNvPr>
          <p:cNvSpPr>
            <a:spLocks xmlns:a="http://schemas.openxmlformats.org/drawingml/2006/main" noGrp="1"/>
          </p:cNvSpPr>
          <p:nvPr/>
        </p:nvSpPr>
        <p:spPr>
          <a:xfrm xmlns:a="http://schemas.openxmlformats.org/drawingml/2006/main">
            <a:off x="8572500" y="325755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Quorum overlap helps, but concurrent writes still require explicit version handling.</a:t>
            </a:r>
          </a:p>
        </p:txBody>
      </p:sp>
      <p:sp>
        <p:nvSpPr>
          <p:cNvPr id="9" name="">
            <a:extLst xmlns:a="http://schemas.openxmlformats.org/drawingml/2006/main">
              <a:ext uri="{FF2B5EF4-FFF2-40B4-BE49-F238E27FC236}">
                <a16:creationId xmlns:a16="http://schemas.microsoft.com/office/drawing/2014/main" id="{A2020E11-4DF1-401E-AF22-7443EE4FF896}"/>
              </a:ext>
            </a:extLst>
          </p:cNvPr>
          <p:cNvSpPr>
            <a:spLocks xmlns:a="http://schemas.openxmlformats.org/drawingml/2006/main" noGrp="1"/>
          </p:cNvSpPr>
          <p:nvPr/>
        </p:nvSpPr>
        <p:spPr>
          <a:xfrm xmlns:a="http://schemas.openxmlformats.org/drawingml/2006/main">
            <a:off x="8572500" y="44386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1">
                <a:solidFill>
                  <a:srgbClr val="D1495B"/>
                </a:solidFill>
                <a:latin typeface="Arial"/>
                <a:ea typeface="Arial"/>
                <a:cs typeface="Arial"/>
              </a:defRPr>
            </a:pPr>
            <a:r>
              <a:rPr sz="1200" b="1">
                <a:solidFill>
                  <a:srgbClr val="D1495B"/>
                </a:solidFill>
                <a:latin typeface="Arial"/>
                <a:ea typeface="Arial"/>
                <a:cs typeface="Arial"/>
              </a:rPr>
              <a:t>What to watch</a:t>
            </a:r>
          </a:p>
        </p:txBody>
      </p:sp>
      <p:sp>
        <p:nvSpPr>
          <p:cNvPr id="10" name="">
            <a:extLst xmlns:a="http://schemas.openxmlformats.org/drawingml/2006/main">
              <a:ext uri="{FF2B5EF4-FFF2-40B4-BE49-F238E27FC236}">
                <a16:creationId xmlns:a16="http://schemas.microsoft.com/office/drawing/2014/main" id="{90029ED6-D3CC-48F1-81AB-BF9C93735126}"/>
              </a:ext>
            </a:extLst>
          </p:cNvPr>
          <p:cNvSpPr>
            <a:spLocks xmlns:a="http://schemas.openxmlformats.org/drawingml/2006/main" noGrp="1"/>
          </p:cNvSpPr>
          <p:nvPr/>
        </p:nvSpPr>
        <p:spPr>
          <a:xfrm xmlns:a="http://schemas.openxmlformats.org/drawingml/2006/main">
            <a:off x="8572500" y="4762500"/>
            <a:ext cx="285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a:solidFill>
                  <a:srgbClr val="40566B"/>
                </a:solidFill>
                <a:latin typeface="Arial"/>
                <a:ea typeface="Arial"/>
                <a:cs typeface="Arial"/>
              </a:defRPr>
            </a:pPr>
            <a:r>
              <a:rPr sz="1275">
                <a:solidFill>
                  <a:srgbClr val="40566B"/>
                </a:solidFill>
                <a:latin typeface="Arial"/>
                <a:ea typeface="Arial"/>
                <a:cs typeface="Arial"/>
              </a:rPr>
              <a:t>Follow the arrows or timeline and test whether the conclusion still holds under failure, retry, and concurrency.</a:t>
            </a:r>
          </a:p>
        </p:txBody>
      </p:sp>
    </p:spTree>
    <p:extLst>
      <p:ext uri="{BB962C8B-B14F-4D97-AF65-F5344CB8AC3E}">
        <p14:creationId xmlns:p14="http://schemas.microsoft.com/office/powerpoint/2010/main" val="529855519"/>
      </p:ext>
    </p:extLst>
  </p:cSld>
</p:sld>
</file>

<file path=ppt/slides/slide29.xml><?xml version="1.0" encoding="utf-8"?>
<p:sld xmlns:p="http://schemas.openxmlformats.org/presentationml/2006/main">
  <p:cSld>
    <p:bg>
      <p:bgPr>
        <a:solidFill xmlns:a="http://schemas.openxmlformats.org/drawingml/2006/main">
          <a:srgbClr val="F8F5EE"/>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35F7634-C54E-49BD-ABB4-98BE93DDE937}"/>
              </a:ext>
            </a:extLst>
          </p:cNvPr>
          <p:cNvSpPr>
            <a:spLocks xmlns:a="http://schemas.openxmlformats.org/drawingml/2006/main" noGrp="1"/>
          </p:cNvSpPr>
          <p:nvPr/>
        </p:nvSpPr>
        <p:spPr>
          <a:xfrm xmlns:a="http://schemas.openxmlformats.org/drawingml/2006/main">
            <a:off x="666750" y="30480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00" b="1" spc="2">
                <a:solidFill>
                  <a:srgbClr val="D1495B"/>
                </a:solidFill>
                <a:latin typeface="Arial"/>
                <a:ea typeface="Arial"/>
                <a:cs typeface="Arial"/>
              </a:defRPr>
            </a:pPr>
            <a:r>
              <a:rPr sz="1200" b="1" spc="2">
                <a:solidFill>
                  <a:srgbClr val="D1495B"/>
                </a:solidFill>
                <a:latin typeface="Arial"/>
                <a:ea typeface="Arial"/>
                <a:cs typeface="Arial"/>
              </a:rPr>
              <a:t>CHAPTER 06</a:t>
            </a:r>
          </a:p>
        </p:txBody>
      </p:sp>
      <p:sp>
        <p:nvSpPr>
          <p:cNvPr id="2" name="">
            <a:extLst xmlns:a="http://schemas.openxmlformats.org/drawingml/2006/main">
              <a:ext uri="{FF2B5EF4-FFF2-40B4-BE49-F238E27FC236}">
                <a16:creationId xmlns:a16="http://schemas.microsoft.com/office/drawing/2014/main" id="{09EFF3BD-35FF-4E54-8852-97161D4BCB9A}"/>
              </a:ext>
            </a:extLst>
          </p:cNvPr>
          <p:cNvSpPr>
            <a:spLocks xmlns:a="http://schemas.openxmlformats.org/drawingml/2006/main" noGrp="1"/>
          </p:cNvSpPr>
          <p:nvPr/>
        </p:nvSpPr>
        <p:spPr>
          <a:xfrm xmlns:a="http://schemas.openxmlformats.org/drawingml/2006/main">
            <a:off x="666750" y="6667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1">
                <a:solidFill>
                  <a:srgbClr val="102A43"/>
                </a:solidFill>
                <a:latin typeface="Arial"/>
                <a:ea typeface="Arial"/>
                <a:cs typeface="Arial"/>
              </a:defRPr>
            </a:pPr>
            <a:r>
              <a:rPr sz="2550" b="1">
                <a:solidFill>
                  <a:srgbClr val="102A43"/>
                </a:solidFill>
                <a:latin typeface="Arial"/>
                <a:ea typeface="Arial"/>
                <a:cs typeface="Arial"/>
              </a:rPr>
              <a:t>Review and application</a:t>
            </a:r>
          </a:p>
        </p:txBody>
      </p:sp>
      <p:sp>
        <p:nvSpPr>
          <p:cNvPr id="3" name="">
            <a:extLst xmlns:a="http://schemas.openxmlformats.org/drawingml/2006/main">
              <a:ext uri="{FF2B5EF4-FFF2-40B4-BE49-F238E27FC236}">
                <a16:creationId xmlns:a16="http://schemas.microsoft.com/office/drawing/2014/main" id="{E291B2B4-191E-4F4F-83AB-2F13A1E68C42}"/>
              </a:ext>
            </a:extLst>
          </p:cNvPr>
          <p:cNvSpPr>
            <a:spLocks xmlns:a="http://schemas.openxmlformats.org/drawingml/2006/main" noGrp="1"/>
          </p:cNvSpPr>
          <p:nvPr/>
        </p:nvSpPr>
        <p:spPr>
          <a:xfrm xmlns:a="http://schemas.openxmlformats.org/drawingml/2006/main">
            <a:off x="10096500" y="6381750"/>
            <a:ext cx="1428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9487"/>
          </a:bodyPr>
          <a:lstStyle xmlns:a="http://schemas.openxmlformats.org/drawingml/2006/main"/>
          <a:p xmlns:a="http://schemas.openxmlformats.org/drawingml/2006/main">
            <a:pPr algn="r">
              <a:defRPr sz="975">
                <a:solidFill>
                  <a:srgbClr val="6B7C8F"/>
                </a:solidFill>
                <a:latin typeface="Arial"/>
                <a:ea typeface="Arial"/>
                <a:cs typeface="Arial"/>
              </a:defRPr>
            </a:pPr>
            <a:r>
              <a:rPr sz="975">
                <a:solidFill>
                  <a:srgbClr val="6B7C8F"/>
                </a:solidFill>
                <a:latin typeface="Arial"/>
                <a:ea typeface="Arial"/>
                <a:cs typeface="Arial"/>
              </a:rPr>
              <a:t>29 / 29</a:t>
            </a:r>
          </a:p>
        </p:txBody>
      </p:sp>
      <p:sp>
        <p:nvSpPr>
          <p:cNvPr id="4" name="">
            <a:extLst xmlns:a="http://schemas.openxmlformats.org/drawingml/2006/main">
              <a:ext uri="{FF2B5EF4-FFF2-40B4-BE49-F238E27FC236}">
                <a16:creationId xmlns:a16="http://schemas.microsoft.com/office/drawing/2014/main" id="{6290F68B-19CA-49DB-94E4-6AEC50C56577}"/>
              </a:ext>
            </a:extLst>
          </p:cNvPr>
          <p:cNvSpPr>
            <a:spLocks xmlns:a="http://schemas.openxmlformats.org/drawingml/2006/main" noGrp="1"/>
          </p:cNvSpPr>
          <p:nvPr/>
        </p:nvSpPr>
        <p:spPr>
          <a:xfrm xmlns:a="http://schemas.openxmlformats.org/drawingml/2006/main">
            <a:off x="1285875" y="1666875"/>
            <a:ext cx="9525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State the chapter’s central problem in one sentence.</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Choose one mechanism and list the assumptions it relies on.</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Describe a failure scenario and explain the recovery path.</a:t>
            </a:r>
          </a:p>
          <a:p xmlns:a="http://schemas.openxmlformats.org/drawingml/2006/main">
            <a:pPr marL="228600" indent="-114300">
              <a:spcAft>
                <a:spcPts val="1000"/>
              </a:spcAft>
              <a:buChar char="•"/>
              <a:defRPr sz="1800">
                <a:solidFill>
                  <a:srgbClr val="17324D"/>
                </a:solidFill>
                <a:latin typeface="Arial"/>
                <a:ea typeface="Arial"/>
                <a:cs typeface="Arial"/>
              </a:defRPr>
            </a:pPr>
            <a:r>
              <a:rPr sz="1800">
                <a:solidFill>
                  <a:srgbClr val="17324D"/>
                </a:solidFill>
                <a:latin typeface="Arial"/>
                <a:ea typeface="Arial"/>
                <a:cs typeface="Arial"/>
              </a:rPr>
              <a:t>Apply one trade-off from the chapter to a system you are designing.</a:t>
            </a:r>
          </a:p>
        </p:txBody>
      </p:sp>
    </p:spTree>
    <p:extLst>
      <p:ext uri="{BB962C8B-B14F-4D97-AF65-F5344CB8AC3E}">
        <p14:creationId xmlns:p14="http://schemas.microsoft.com/office/powerpoint/2010/main" val="18877214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2026-09-27T19:47:19.9630000Z</dcterms:created>
  <dcterms:modified xsi:type="dcterms:W3CDTF">2026-09-27T19:47:19.9630000Z</dcterms:modified>
</coreProperties>
</file>