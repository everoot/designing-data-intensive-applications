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791cae8782449fe" /><Relationship Type="http://schemas.openxmlformats.org/officeDocument/2006/relationships/extended-properties" Target="/docProps/app.xml" Id="R993be1519b18401b" /><Relationship Type="http://schemas.openxmlformats.org/officeDocument/2006/relationships/officeDocument" Target="/ppt/presentation.xml" Id="Reec984f5b26444cf" /></Relationships>
</file>

<file path=ppt/presentation.xml><?xml version="1.0" encoding="utf-8"?>
<p:presentation xmlns:p="http://schemas.openxmlformats.org/presentationml/2006/main">
  <p:sldMasterIdLst>
    <p:sldMasterId xmlns:r="http://schemas.openxmlformats.org/officeDocument/2006/relationships" id="2147483648" r:id="R4712680826494dad"/>
  </p:sldMasterIdLst>
  <p:notesMasterIdLst>
    <p:notesMasterId xmlns:r="http://schemas.openxmlformats.org/officeDocument/2006/relationships" r:id="R8f77426c202343bf"/>
  </p:notesMasterIdLst>
  <p:sldIdLst>
    <p:sldId xmlns:r="http://schemas.openxmlformats.org/officeDocument/2006/relationships" id="256" r:id="R220050621bcb4e4f"/>
    <p:sldId xmlns:r="http://schemas.openxmlformats.org/officeDocument/2006/relationships" id="257" r:id="R1f21a30d1a5148f0"/>
    <p:sldId xmlns:r="http://schemas.openxmlformats.org/officeDocument/2006/relationships" id="258" r:id="Rb33b5cbe138c4599"/>
    <p:sldId xmlns:r="http://schemas.openxmlformats.org/officeDocument/2006/relationships" id="259" r:id="R5e49aa94ecc44a7f"/>
    <p:sldId xmlns:r="http://schemas.openxmlformats.org/officeDocument/2006/relationships" id="260" r:id="R50bb1ddaff7341de"/>
    <p:sldId xmlns:r="http://schemas.openxmlformats.org/officeDocument/2006/relationships" id="261" r:id="R1e82c26d00e44967"/>
    <p:sldId xmlns:r="http://schemas.openxmlformats.org/officeDocument/2006/relationships" id="262" r:id="Rf64026463d8741ce"/>
    <p:sldId xmlns:r="http://schemas.openxmlformats.org/officeDocument/2006/relationships" id="263" r:id="R6bd4bbf553b945ae"/>
    <p:sldId xmlns:r="http://schemas.openxmlformats.org/officeDocument/2006/relationships" id="264" r:id="R6e16495d854d48a0"/>
    <p:sldId xmlns:r="http://schemas.openxmlformats.org/officeDocument/2006/relationships" id="265" r:id="R4b30698374324658"/>
    <p:sldId xmlns:r="http://schemas.openxmlformats.org/officeDocument/2006/relationships" id="266" r:id="R590bd691234945ae"/>
    <p:sldId xmlns:r="http://schemas.openxmlformats.org/officeDocument/2006/relationships" id="267" r:id="R042238a8ab24424b"/>
    <p:sldId xmlns:r="http://schemas.openxmlformats.org/officeDocument/2006/relationships" id="268" r:id="Rbfcb79da2aac4deb"/>
    <p:sldId xmlns:r="http://schemas.openxmlformats.org/officeDocument/2006/relationships" id="269" r:id="R4b260bf1691b43af"/>
    <p:sldId xmlns:r="http://schemas.openxmlformats.org/officeDocument/2006/relationships" id="270" r:id="R15f890fc24ed4f0e"/>
    <p:sldId xmlns:r="http://schemas.openxmlformats.org/officeDocument/2006/relationships" id="271" r:id="Rdebda359e9d64064"/>
    <p:sldId xmlns:r="http://schemas.openxmlformats.org/officeDocument/2006/relationships" id="272" r:id="Rf0bf1b38302b4acf"/>
    <p:sldId xmlns:r="http://schemas.openxmlformats.org/officeDocument/2006/relationships" id="273" r:id="Rb5878fcac5ec437e"/>
    <p:sldId xmlns:r="http://schemas.openxmlformats.org/officeDocument/2006/relationships" id="274" r:id="Re37fb0203780493c"/>
    <p:sldId xmlns:r="http://schemas.openxmlformats.org/officeDocument/2006/relationships" id="275" r:id="Rc3e3585f7ade457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d01056f34ef46bf" /><Relationship Type="http://schemas.openxmlformats.org/officeDocument/2006/relationships/slideMaster" Target="/ppt/slideMasters/slideMaster1.xml" Id="R4712680826494dad" /><Relationship Type="http://schemas.openxmlformats.org/officeDocument/2006/relationships/notesMaster" Target="/ppt/notesMasters/notesMaster1.xml" Id="R8f77426c202343bf" /><Relationship Type="http://schemas.openxmlformats.org/officeDocument/2006/relationships/presProps" Target="/ppt/presProps.xml" Id="Rc5bd23b2b1df4d29" /><Relationship Type="http://schemas.openxmlformats.org/officeDocument/2006/relationships/tableStyles" Target="/ppt/tableStyles.xml" Id="Re3eb80eb56994bda" /><Relationship Type="http://schemas.openxmlformats.org/officeDocument/2006/relationships/slide" Target="/ppt/slides/slide1.xml" Id="R220050621bcb4e4f" /><Relationship Type="http://schemas.openxmlformats.org/officeDocument/2006/relationships/slide" Target="/ppt/slides/slide2.xml" Id="R1f21a30d1a5148f0" /><Relationship Type="http://schemas.openxmlformats.org/officeDocument/2006/relationships/slide" Target="/ppt/slides/slide3.xml" Id="Rb33b5cbe138c4599" /><Relationship Type="http://schemas.openxmlformats.org/officeDocument/2006/relationships/slide" Target="/ppt/slides/slide4.xml" Id="R5e49aa94ecc44a7f" /><Relationship Type="http://schemas.openxmlformats.org/officeDocument/2006/relationships/slide" Target="/ppt/slides/slide5.xml" Id="R50bb1ddaff7341de" /><Relationship Type="http://schemas.openxmlformats.org/officeDocument/2006/relationships/slide" Target="/ppt/slides/slide6.xml" Id="R1e82c26d00e44967" /><Relationship Type="http://schemas.openxmlformats.org/officeDocument/2006/relationships/slide" Target="/ppt/slides/slide7.xml" Id="Rf64026463d8741ce" /><Relationship Type="http://schemas.openxmlformats.org/officeDocument/2006/relationships/slide" Target="/ppt/slides/slide8.xml" Id="R6bd4bbf553b945ae" /><Relationship Type="http://schemas.openxmlformats.org/officeDocument/2006/relationships/slide" Target="/ppt/slides/slide9.xml" Id="R6e16495d854d48a0" /><Relationship Type="http://schemas.openxmlformats.org/officeDocument/2006/relationships/slide" Target="/ppt/slides/slide10.xml" Id="R4b30698374324658" /><Relationship Type="http://schemas.openxmlformats.org/officeDocument/2006/relationships/slide" Target="/ppt/slides/slide11.xml" Id="R590bd691234945ae" /><Relationship Type="http://schemas.openxmlformats.org/officeDocument/2006/relationships/slide" Target="/ppt/slides/slide12.xml" Id="R042238a8ab24424b" /><Relationship Type="http://schemas.openxmlformats.org/officeDocument/2006/relationships/slide" Target="/ppt/slides/slide13.xml" Id="Rbfcb79da2aac4deb" /><Relationship Type="http://schemas.openxmlformats.org/officeDocument/2006/relationships/slide" Target="/ppt/slides/slide14.xml" Id="R4b260bf1691b43af" /><Relationship Type="http://schemas.openxmlformats.org/officeDocument/2006/relationships/slide" Target="/ppt/slides/slide15.xml" Id="R15f890fc24ed4f0e" /><Relationship Type="http://schemas.openxmlformats.org/officeDocument/2006/relationships/slide" Target="/ppt/slides/slide16.xml" Id="Rdebda359e9d64064" /><Relationship Type="http://schemas.openxmlformats.org/officeDocument/2006/relationships/slide" Target="/ppt/slides/slide17.xml" Id="Rf0bf1b38302b4acf" /><Relationship Type="http://schemas.openxmlformats.org/officeDocument/2006/relationships/slide" Target="/ppt/slides/slide18.xml" Id="Rb5878fcac5ec437e" /><Relationship Type="http://schemas.openxmlformats.org/officeDocument/2006/relationships/slide" Target="/ppt/slides/slide19.xml" Id="Re37fb0203780493c" /><Relationship Type="http://schemas.openxmlformats.org/officeDocument/2006/relationships/slide" Target="/ppt/slides/slide20.xml" Id="Rc3e3585f7ade457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8e835a3261b43f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e02d8920e774b47" /><Relationship Type="http://schemas.openxmlformats.org/officeDocument/2006/relationships/notesMaster" Target="/ppt/notesMasters/notesMaster1.xml" Id="R46c90a631b714ff0" /></Relationships>
</file>

<file path=ppt/notesSlides/_rels/notesSlide2.xml.rels>&#65279;<?xml version="1.0" encoding="utf-8"?><Relationships xmlns="http://schemas.openxmlformats.org/package/2006/relationships"><Relationship Type="http://schemas.openxmlformats.org/officeDocument/2006/relationships/slide" Target="/ppt/slides/slide2.xml" Id="R1412395755874514" /><Relationship Type="http://schemas.openxmlformats.org/officeDocument/2006/relationships/notesMaster" Target="/ppt/notesMasters/notesMaster1.xml" Id="R5c962d79d4a54e25" /></Relationships>
</file>

<file path=ppt/notesSlides/_rels/notesSlide3.xml.rels>&#65279;<?xml version="1.0" encoding="utf-8"?><Relationships xmlns="http://schemas.openxmlformats.org/package/2006/relationships"><Relationship Type="http://schemas.openxmlformats.org/officeDocument/2006/relationships/slide" Target="/ppt/slides/slide3.xml" Id="Rc7d25e8ff13940dd" /><Relationship Type="http://schemas.openxmlformats.org/officeDocument/2006/relationships/notesMaster" Target="/ppt/notesMasters/notesMaster1.xml" Id="Ra3783b0ca477423a" /></Relationships>
</file>

<file path=ppt/notesSlides/_rels/notesSlide4.xml.rels>&#65279;<?xml version="1.0" encoding="utf-8"?><Relationships xmlns="http://schemas.openxmlformats.org/package/2006/relationships"><Relationship Type="http://schemas.openxmlformats.org/officeDocument/2006/relationships/slide" Target="/ppt/slides/slide4.xml" Id="Ra16b19d30a174691" /><Relationship Type="http://schemas.openxmlformats.org/officeDocument/2006/relationships/notesMaster" Target="/ppt/notesMasters/notesMaster1.xml" Id="R05e71310e20f42da" /></Relationships>
</file>

<file path=ppt/notesSlides/_rels/notesSlide5.xml.rels>&#65279;<?xml version="1.0" encoding="utf-8"?><Relationships xmlns="http://schemas.openxmlformats.org/package/2006/relationships"><Relationship Type="http://schemas.openxmlformats.org/officeDocument/2006/relationships/slide" Target="/ppt/slides/slide5.xml" Id="R637582cc0e8746d4" /><Relationship Type="http://schemas.openxmlformats.org/officeDocument/2006/relationships/notesMaster" Target="/ppt/notesMasters/notesMaster1.xml" Id="Rb1716d65cd7e4b80" /></Relationships>
</file>

<file path=ppt/notesSlides/_rels/notesSlide6.xml.rels>&#65279;<?xml version="1.0" encoding="utf-8"?><Relationships xmlns="http://schemas.openxmlformats.org/package/2006/relationships"><Relationship Type="http://schemas.openxmlformats.org/officeDocument/2006/relationships/slide" Target="/ppt/slides/slide6.xml" Id="Rb4d2385c31884f85" /><Relationship Type="http://schemas.openxmlformats.org/officeDocument/2006/relationships/notesMaster" Target="/ppt/notesMasters/notesMaster1.xml" Id="R653c0c14575144c7" /></Relationships>
</file>

<file path=ppt/notesSlides/_rels/notesSlide7.xml.rels>&#65279;<?xml version="1.0" encoding="utf-8"?><Relationships xmlns="http://schemas.openxmlformats.org/package/2006/relationships"><Relationship Type="http://schemas.openxmlformats.org/officeDocument/2006/relationships/slide" Target="/ppt/slides/slide7.xml" Id="R8df2eccc6423472c" /><Relationship Type="http://schemas.openxmlformats.org/officeDocument/2006/relationships/notesMaster" Target="/ppt/notesMasters/notesMaster1.xml" Id="R8fa55eeec28f4f12" /></Relationships>
</file>

<file path=ppt/notesSlides/_rels/notesSlide8.xml.rels>&#65279;<?xml version="1.0" encoding="utf-8"?><Relationships xmlns="http://schemas.openxmlformats.org/package/2006/relationships"><Relationship Type="http://schemas.openxmlformats.org/officeDocument/2006/relationships/slide" Target="/ppt/slides/slide8.xml" Id="R21adc1dae2c346b8" /><Relationship Type="http://schemas.openxmlformats.org/officeDocument/2006/relationships/notesMaster" Target="/ppt/notesMasters/notesMaster1.xml" Id="R97b9ba3e24e14621" /></Relationships>
</file>

<file path=ppt/notesSlides/_rels/notesSlide9.xml.rels>&#65279;<?xml version="1.0" encoding="utf-8"?><Relationships xmlns="http://schemas.openxmlformats.org/package/2006/relationships"><Relationship Type="http://schemas.openxmlformats.org/officeDocument/2006/relationships/slide" Target="/ppt/slides/slide9.xml" Id="Rda2e68d04d444064" /><Relationship Type="http://schemas.openxmlformats.org/officeDocument/2006/relationships/notesMaster" Target="/ppt/notesMasters/notesMaster1.xml" Id="R5b683642e0c540a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ad384dbb33c41bb" /><Relationship Type="http://schemas.openxmlformats.org/officeDocument/2006/relationships/notesMaster" Target="/ppt/notesMasters/notesMaster1.xml" Id="R685665fe67e54ca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ec68ee98a5d42f2" /><Relationship Type="http://schemas.openxmlformats.org/officeDocument/2006/relationships/notesMaster" Target="/ppt/notesMasters/notesMaster1.xml" Id="Re529f182ae8644e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a55ea3d5c7f4cbf" /><Relationship Type="http://schemas.openxmlformats.org/officeDocument/2006/relationships/notesMaster" Target="/ppt/notesMasters/notesMaster1.xml" Id="R72300242cca34f2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032326e78074e46" /><Relationship Type="http://schemas.openxmlformats.org/officeDocument/2006/relationships/notesMaster" Target="/ppt/notesMasters/notesMaster1.xml" Id="R675db7e53e76404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105c8bdfbc64f4e" /><Relationship Type="http://schemas.openxmlformats.org/officeDocument/2006/relationships/notesMaster" Target="/ppt/notesMasters/notesMaster1.xml" Id="R91904b51cfc24d1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022130d03d04660" /><Relationship Type="http://schemas.openxmlformats.org/officeDocument/2006/relationships/notesMaster" Target="/ppt/notesMasters/notesMaster1.xml" Id="Rd2f280fc0a02497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91007a878104f39" /><Relationship Type="http://schemas.openxmlformats.org/officeDocument/2006/relationships/notesMaster" Target="/ppt/notesMasters/notesMaster1.xml" Id="Rb7c4df5885b742d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563d35d4aed4c27" /><Relationship Type="http://schemas.openxmlformats.org/officeDocument/2006/relationships/notesMaster" Target="/ppt/notesMasters/notesMaster1.xml" Id="R15dbedf7671348e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a05159aa14a40b4" /><Relationship Type="http://schemas.openxmlformats.org/officeDocument/2006/relationships/notesMaster" Target="/ppt/notesMasters/notesMaster1.xml" Id="R59701f5c91bc485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790c66477b8493f" /><Relationship Type="http://schemas.openxmlformats.org/officeDocument/2006/relationships/notesMaster" Target="/ppt/notesMasters/notesMaster1.xml" Id="R5eff5788e9aa4f1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96daca29da2464e" /><Relationship Type="http://schemas.openxmlformats.org/officeDocument/2006/relationships/notesMaster" Target="/ppt/notesMasters/notesMaster1.xml" Id="R8d22bc111467407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9, book pages 345-388.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9, book pages 345-388.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9, book pages 345-388.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9, book pages 345-388.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9, book pages 345-388. Figure 9-1, PDF page 372. Original caption: Figure 9-1. If you send a request and don’t get a response, it’s not possible to distinguish</a:t>
            </a:r>
          </a:p>
          <a:p xmlns:a="http://schemas.openxmlformats.org/drawingml/2006/main">
            <a:r>
              <a:t>Explanation: Network silence cannot reveal whether a request, execution, or response failed. Retries need idempotency because the original operation may already have completed.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9, book pages 345-388.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9, book pages 345-388.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9, book pages 345-388. Figure 9-2, PDF page 378. Original caption: Figure 9-2. If several machines send network traffic to the same destination, its switch</a:t>
            </a:r>
          </a:p>
          <a:p xmlns:a="http://schemas.openxmlformats.org/drawingml/2006/main">
            <a:r>
              <a:t>Explanation: Network silence cannot reveal whether a request, execution, or response failed. Retries need idempotency because the original operation may already have completed.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9, book pages 345-388.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9, book pages 345-388.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9, book pages 345-388. Figure 9-3, PDF page 387. Original caption: Figure 9-3. Relying on timestamps for ordering events can cause problems when time-of-</a:t>
            </a:r>
          </a:p>
          <a:p xmlns:a="http://schemas.openxmlformats.org/drawingml/2006/main">
            <a:r>
              <a:t>Explanation: Time or lease assumptions can become stale during clock error, delay, or process pause. Fencing tokens let the resource reject operations from an expired owner.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9, book pages 345-388.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9, book pages 345-388.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9, book pages 345-388. Figure 9-4, PDF page 398. Original caption: Figure 9-4. An incorrect implementation of a distributed lock: client 1 believes that it still</a:t>
            </a:r>
          </a:p>
          <a:p xmlns:a="http://schemas.openxmlformats.org/drawingml/2006/main">
            <a:r>
              <a:t>Explanation: Time or lease assumptions can become stale during clock error, delay, or process pause. Fencing tokens let the resource reject operations from an expired owner.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9, book pages 345-388. Figure 9-5, PDF page 398. Original caption: Figure 9-5. A message from a former leaseholder might be delayed for a long time and</a:t>
            </a:r>
          </a:p>
          <a:p xmlns:a="http://schemas.openxmlformats.org/drawingml/2006/main">
            <a:r>
              <a:t>Explanation: Time or lease assumptions can become stale during clock error, delay, or process pause. Fencing tokens let the resource reject operations from an expired owner.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9, book pages 345-388. Figure 9-6, PDF page 399. Original caption: Figure 9-6. Making access to storage safe by allowing writes only in the order of increas‐</a:t>
            </a:r>
          </a:p>
          <a:p xmlns:a="http://schemas.openxmlformats.org/drawingml/2006/main">
            <a:r>
              <a:t>Explanation: Making access to storage safe by allowing writes only in the order of increas‐ It turns the chapter concept into a concrete dataflow, timeline, or state transition. Check the actors, data direction, operation order, and hidden system assumptions.</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9, book pages 345-388. Figure 9-7, PDF page 401. Original caption: Figure 9-7. Using fencing tokens to protect writes to a leaderless replicated database</a:t>
            </a:r>
          </a:p>
          <a:p xmlns:a="http://schemas.openxmlformats.org/drawingml/2006/main">
            <a:r>
              <a:t>Explanation: Time or lease assumptions can become stale during clock error, delay, or process pause. Fencing tokens let the resource reject operations from an expired owner.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9, book pages 345-388.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9, book pages 345-388.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9, book pages 345-388.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9811fbb3bc644b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3d3d973224c41f4" /><Relationship Type="http://schemas.openxmlformats.org/officeDocument/2006/relationships/slideLayout" Target="/ppt/slideLayouts/slideLayout1.xml" Id="Rc626fa379ff84ed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626fa379ff84ed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1cac4f853f24e15" /><Relationship Type="http://schemas.openxmlformats.org/officeDocument/2006/relationships/notesSlide" Target="/ppt/notesSlides/notesSlide1.xml" Id="R4069f4e69cf74a3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f1d0566c12a4e17" /><Relationship Type="http://schemas.openxmlformats.org/officeDocument/2006/relationships/notesSlide" Target="/ppt/notesSlides/notesSlide2.xml" Id="Rcf5fa1bd9ba6422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e9745a0ad574be7" /><Relationship Type="http://schemas.openxmlformats.org/officeDocument/2006/relationships/notesSlide" Target="/ppt/notesSlides/notesSlide3.xml" Id="R901db5166f0541d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0147421d1f04da6" /><Relationship Type="http://schemas.openxmlformats.org/officeDocument/2006/relationships/notesSlide" Target="/ppt/notesSlides/notesSlide4.xml" Id="Rda5989daafde4e4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5615a7b4f86487a" /><Relationship Type="http://schemas.openxmlformats.org/officeDocument/2006/relationships/image" Target="/ppt/media/image.png" Id="R9128433db348468b" /><Relationship Type="http://schemas.openxmlformats.org/officeDocument/2006/relationships/notesSlide" Target="/ppt/notesSlides/notesSlide5.xml" Id="R5fa9112b286347a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6b80999abe44f69" /><Relationship Type="http://schemas.openxmlformats.org/officeDocument/2006/relationships/notesSlide" Target="/ppt/notesSlides/notesSlide6.xml" Id="Rc601623657974f1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2502051e92d48b3" /><Relationship Type="http://schemas.openxmlformats.org/officeDocument/2006/relationships/notesSlide" Target="/ppt/notesSlides/notesSlide7.xml" Id="Rfaaef1055de5496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e3e81874db54e26" /><Relationship Type="http://schemas.openxmlformats.org/officeDocument/2006/relationships/image" Target="/ppt/media/image2.png" Id="Rfc91d6ea0d8347ad" /><Relationship Type="http://schemas.openxmlformats.org/officeDocument/2006/relationships/notesSlide" Target="/ppt/notesSlides/notesSlide8.xml" Id="R0cd941e04f83452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37d4b4ea23649ff" /><Relationship Type="http://schemas.openxmlformats.org/officeDocument/2006/relationships/notesSlide" Target="/ppt/notesSlides/notesSlide9.xml" Id="Rfee2b8ce4fe440e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fcb49d4e30d4c97" /><Relationship Type="http://schemas.openxmlformats.org/officeDocument/2006/relationships/notesSlide" Target="/ppt/notesSlides/notesSlide10.xml" Id="R3eb1811f58a74ae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37b3edd53aa4162" /><Relationship Type="http://schemas.openxmlformats.org/officeDocument/2006/relationships/image" Target="/ppt/media/image3.png" Id="R8d5e2c1aeaef4215" /><Relationship Type="http://schemas.openxmlformats.org/officeDocument/2006/relationships/notesSlide" Target="/ppt/notesSlides/notesSlide11.xml" Id="R03a7e5d5c7434bc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9037d3ba9e4423c" /><Relationship Type="http://schemas.openxmlformats.org/officeDocument/2006/relationships/notesSlide" Target="/ppt/notesSlides/notesSlide12.xml" Id="R5b9b7df5780f4ab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5bdb22fa86649cd" /><Relationship Type="http://schemas.openxmlformats.org/officeDocument/2006/relationships/notesSlide" Target="/ppt/notesSlides/notesSlide13.xml" Id="R6f1012dfad76486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8670630111b4f00" /><Relationship Type="http://schemas.openxmlformats.org/officeDocument/2006/relationships/image" Target="/ppt/media/image4.png" Id="Ra28c27e4c1eb495f" /><Relationship Type="http://schemas.openxmlformats.org/officeDocument/2006/relationships/notesSlide" Target="/ppt/notesSlides/notesSlide14.xml" Id="R4d29798b2105430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c08baf81b97417e" /><Relationship Type="http://schemas.openxmlformats.org/officeDocument/2006/relationships/image" Target="/ppt/media/image5.png" Id="Rdc362b3f594d46ba" /><Relationship Type="http://schemas.openxmlformats.org/officeDocument/2006/relationships/notesSlide" Target="/ppt/notesSlides/notesSlide15.xml" Id="Rb8e18171478a429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445d7c5d90f4009" /><Relationship Type="http://schemas.openxmlformats.org/officeDocument/2006/relationships/image" Target="/ppt/media/image6.png" Id="Rec2a875eecd643a4" /><Relationship Type="http://schemas.openxmlformats.org/officeDocument/2006/relationships/notesSlide" Target="/ppt/notesSlides/notesSlide16.xml" Id="R69ec5469258748e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3fcf1fd4d304924" /><Relationship Type="http://schemas.openxmlformats.org/officeDocument/2006/relationships/image" Target="/ppt/media/image7.png" Id="R5a44dbc0495c44c7" /><Relationship Type="http://schemas.openxmlformats.org/officeDocument/2006/relationships/notesSlide" Target="/ppt/notesSlides/notesSlide17.xml" Id="R23d5ff6099714b9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a922c5ef38a4c4b" /><Relationship Type="http://schemas.openxmlformats.org/officeDocument/2006/relationships/notesSlide" Target="/ppt/notesSlides/notesSlide18.xml" Id="Re3a277eec9af4e8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14f91b7a7d54269" /><Relationship Type="http://schemas.openxmlformats.org/officeDocument/2006/relationships/notesSlide" Target="/ppt/notesSlides/notesSlide19.xml" Id="R6a19e60e337241d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e74874f26e44aff" /><Relationship Type="http://schemas.openxmlformats.org/officeDocument/2006/relationships/notesSlide" Target="/ppt/notesSlides/notesSlide20.xml" Id="R2bb11261f01f42fe"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4E35623-0E8A-432B-9A30-E6D6267691D5}"/>
              </a:ext>
            </a:extLst>
          </p:cNvPr>
          <p:cNvSpPr>
            <a:spLocks xmlns:a="http://schemas.openxmlformats.org/drawingml/2006/main" noGrp="1"/>
          </p:cNvSpPr>
          <p:nvPr/>
        </p:nvSpPr>
        <p:spPr>
          <a:xfrm xmlns:a="http://schemas.openxmlformats.org/drawingml/2006/main">
            <a:off x="714375" y="66675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spc="2">
                <a:solidFill>
                  <a:srgbClr val="6A4C93"/>
                </a:solidFill>
                <a:latin typeface="Arial"/>
                <a:ea typeface="Arial"/>
                <a:cs typeface="Arial"/>
              </a:defRPr>
            </a:pPr>
            <a:r>
              <a:rPr sz="1425" b="1" spc="2">
                <a:solidFill>
                  <a:srgbClr val="6A4C93"/>
                </a:solidFill>
                <a:latin typeface="Arial"/>
                <a:ea typeface="Arial"/>
                <a:cs typeface="Arial"/>
              </a:rPr>
              <a:t>CHAPTER 09</a:t>
            </a:r>
          </a:p>
        </p:txBody>
      </p:sp>
      <p:sp>
        <p:nvSpPr>
          <p:cNvPr id="2" name="">
            <a:extLst xmlns:a="http://schemas.openxmlformats.org/drawingml/2006/main">
              <a:ext uri="{FF2B5EF4-FFF2-40B4-BE49-F238E27FC236}">
                <a16:creationId xmlns:a16="http://schemas.microsoft.com/office/drawing/2014/main" id="{1A451CFB-7CC7-45EF-9642-A69A4F41A038}"/>
              </a:ext>
            </a:extLst>
          </p:cNvPr>
          <p:cNvSpPr>
            <a:spLocks xmlns:a="http://schemas.openxmlformats.org/drawingml/2006/main" noGrp="1"/>
          </p:cNvSpPr>
          <p:nvPr/>
        </p:nvSpPr>
        <p:spPr>
          <a:xfrm xmlns:a="http://schemas.openxmlformats.org/drawingml/2006/main">
            <a:off x="714375" y="1571625"/>
            <a:ext cx="1028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750" b="1">
                <a:solidFill>
                  <a:srgbClr val="FFFFFF"/>
                </a:solidFill>
                <a:latin typeface="Arial"/>
                <a:ea typeface="Arial"/>
                <a:cs typeface="Arial"/>
              </a:defRPr>
            </a:pPr>
            <a:r>
              <a:rPr sz="3750" b="1">
                <a:solidFill>
                  <a:srgbClr val="FFFFFF"/>
                </a:solidFill>
                <a:latin typeface="Arial"/>
                <a:ea typeface="Arial"/>
                <a:cs typeface="Arial"/>
              </a:rPr>
              <a:t>The Trouble with Distributed Systems</a:t>
            </a:r>
          </a:p>
        </p:txBody>
      </p:sp>
      <p:sp>
        <p:nvSpPr>
          <p:cNvPr id="3" name="">
            <a:extLst xmlns:a="http://schemas.openxmlformats.org/drawingml/2006/main">
              <a:ext uri="{FF2B5EF4-FFF2-40B4-BE49-F238E27FC236}">
                <a16:creationId xmlns:a16="http://schemas.microsoft.com/office/drawing/2014/main" id="{AAD9F7C2-1C62-40BF-AC76-681875AFC007}"/>
              </a:ext>
            </a:extLst>
          </p:cNvPr>
          <p:cNvSpPr>
            <a:spLocks xmlns:a="http://schemas.openxmlformats.org/drawingml/2006/main" noGrp="1"/>
          </p:cNvSpPr>
          <p:nvPr/>
        </p:nvSpPr>
        <p:spPr>
          <a:xfrm xmlns:a="http://schemas.openxmlformats.org/drawingml/2006/main">
            <a:off x="742950" y="2809875"/>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D9E2EC"/>
                </a:solidFill>
                <a:latin typeface="Arial"/>
                <a:ea typeface="Arial"/>
                <a:cs typeface="Arial"/>
              </a:defRPr>
            </a:pPr>
            <a:r>
              <a:rPr sz="1725">
                <a:solidFill>
                  <a:srgbClr val="D9E2EC"/>
                </a:solidFill>
                <a:latin typeface="Arial"/>
                <a:ea typeface="Arial"/>
                <a:cs typeface="Arial"/>
              </a:rPr>
              <a:t>Designing Data-Intensive Applications, Second Edition</a:t>
            </a:r>
          </a:p>
        </p:txBody>
      </p:sp>
      <p:sp>
        <p:nvSpPr>
          <p:cNvPr id="4" name="">
            <a:extLst xmlns:a="http://schemas.openxmlformats.org/drawingml/2006/main">
              <a:ext uri="{FF2B5EF4-FFF2-40B4-BE49-F238E27FC236}">
                <a16:creationId xmlns:a16="http://schemas.microsoft.com/office/drawing/2014/main" id="{B4D50A22-4353-4F2D-A602-8B4A11C515AB}"/>
              </a:ext>
            </a:extLst>
          </p:cNvPr>
          <p:cNvSpPr>
            <a:spLocks xmlns:a="http://schemas.openxmlformats.org/drawingml/2006/main" noGrp="1"/>
          </p:cNvSpPr>
          <p:nvPr/>
        </p:nvSpPr>
        <p:spPr>
          <a:xfrm xmlns:a="http://schemas.openxmlformats.org/drawingml/2006/main">
            <a:off x="742950" y="5286375"/>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a:solidFill>
                  <a:srgbClr val="BCCCDC"/>
                </a:solidFill>
                <a:latin typeface="Arial"/>
                <a:ea typeface="Arial"/>
                <a:cs typeface="Arial"/>
              </a:defRPr>
            </a:pPr>
            <a:r>
              <a:rPr sz="1425">
                <a:solidFill>
                  <a:srgbClr val="BCCCDC"/>
                </a:solidFill>
                <a:latin typeface="Arial"/>
                <a:ea typeface="Arial"/>
                <a:cs typeface="Arial"/>
              </a:rPr>
              <a:t>Detailed English Study Edition</a:t>
            </a:r>
          </a:p>
        </p:txBody>
      </p:sp>
      <p:sp>
        <p:nvSpPr>
          <p:cNvPr id="5" name="">
            <a:extLst xmlns:a="http://schemas.openxmlformats.org/drawingml/2006/main">
              <a:ext uri="{FF2B5EF4-FFF2-40B4-BE49-F238E27FC236}">
                <a16:creationId xmlns:a16="http://schemas.microsoft.com/office/drawing/2014/main" id="{18F6AA10-90FD-4326-BFA4-AEE24161ADE7}"/>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9FB3C8"/>
                </a:solidFill>
                <a:latin typeface="Arial"/>
                <a:ea typeface="Arial"/>
                <a:cs typeface="Arial"/>
              </a:defRPr>
            </a:pPr>
            <a:r>
              <a:rPr sz="975">
                <a:solidFill>
                  <a:srgbClr val="9FB3C8"/>
                </a:solidFill>
                <a:latin typeface="Arial"/>
                <a:ea typeface="Arial"/>
                <a:cs typeface="Arial"/>
              </a:rPr>
              <a:t>01 / 20</a:t>
            </a:r>
          </a:p>
        </p:txBody>
      </p:sp>
    </p:spTree>
    <p:extLst>
      <p:ext uri="{BB962C8B-B14F-4D97-AF65-F5344CB8AC3E}">
        <p14:creationId xmlns:p14="http://schemas.microsoft.com/office/powerpoint/2010/main" val="1215220144"/>
      </p:ext>
    </p:extLst>
  </p:cSld>
</p:sld>
</file>

<file path=ppt/slides/slide2.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31E5C3F-830E-45C0-A10B-4584D7F83D5D}"/>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6A4C93"/>
                </a:solidFill>
                <a:latin typeface="Arial"/>
                <a:ea typeface="Arial"/>
                <a:cs typeface="Arial"/>
              </a:defRPr>
            </a:pPr>
            <a:r>
              <a:rPr sz="1200" b="1" spc="2">
                <a:solidFill>
                  <a:srgbClr val="6A4C93"/>
                </a:solidFill>
                <a:latin typeface="Arial"/>
                <a:ea typeface="Arial"/>
                <a:cs typeface="Arial"/>
              </a:rPr>
              <a:t>CHAPTER 09</a:t>
            </a:r>
          </a:p>
        </p:txBody>
      </p:sp>
      <p:sp>
        <p:nvSpPr>
          <p:cNvPr id="2" name="">
            <a:extLst xmlns:a="http://schemas.openxmlformats.org/drawingml/2006/main">
              <a:ext uri="{FF2B5EF4-FFF2-40B4-BE49-F238E27FC236}">
                <a16:creationId xmlns:a16="http://schemas.microsoft.com/office/drawing/2014/main" id="{2C3C9C34-055E-4A3D-9E42-705631452FB1}"/>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Chapter map</a:t>
            </a:r>
          </a:p>
        </p:txBody>
      </p:sp>
      <p:sp>
        <p:nvSpPr>
          <p:cNvPr id="3" name="">
            <a:extLst xmlns:a="http://schemas.openxmlformats.org/drawingml/2006/main">
              <a:ext uri="{FF2B5EF4-FFF2-40B4-BE49-F238E27FC236}">
                <a16:creationId xmlns:a16="http://schemas.microsoft.com/office/drawing/2014/main" id="{EA68DA85-C24F-43B5-9E55-F7BEC842D9A5}"/>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02 / 20</a:t>
            </a:r>
          </a:p>
        </p:txBody>
      </p:sp>
      <p:sp>
        <p:nvSpPr>
          <p:cNvPr id="4" name="">
            <a:extLst xmlns:a="http://schemas.openxmlformats.org/drawingml/2006/main">
              <a:ext uri="{FF2B5EF4-FFF2-40B4-BE49-F238E27FC236}">
                <a16:creationId xmlns:a16="http://schemas.microsoft.com/office/drawing/2014/main" id="{0A132499-07CC-4431-B1D7-305F7AB02C23}"/>
              </a:ext>
            </a:extLst>
          </p:cNvPr>
          <p:cNvSpPr>
            <a:spLocks xmlns:a="http://schemas.openxmlformats.org/drawingml/2006/main" noGrp="1"/>
          </p:cNvSpPr>
          <p:nvPr/>
        </p:nvSpPr>
        <p:spPr>
          <a:xfrm xmlns:a="http://schemas.openxmlformats.org/drawingml/2006/main">
            <a:off x="857250" y="14763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6A4C93"/>
                </a:solidFill>
                <a:latin typeface="Arial"/>
                <a:ea typeface="Arial"/>
                <a:cs typeface="Arial"/>
              </a:defRPr>
            </a:pPr>
            <a:r>
              <a:rPr sz="2100" b="1">
                <a:solidFill>
                  <a:srgbClr val="6A4C93"/>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FAA382A4-224E-48B2-A67B-FCFA77135FA1}"/>
              </a:ext>
            </a:extLst>
          </p:cNvPr>
          <p:cNvSpPr>
            <a:spLocks xmlns:a="http://schemas.openxmlformats.org/drawingml/2006/main" noGrp="1"/>
          </p:cNvSpPr>
          <p:nvPr/>
        </p:nvSpPr>
        <p:spPr>
          <a:xfrm xmlns:a="http://schemas.openxmlformats.org/drawingml/2006/main">
            <a:off x="1905000" y="14287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Partial failures</a:t>
            </a:r>
          </a:p>
        </p:txBody>
      </p:sp>
      <p:sp>
        <p:nvSpPr>
          <p:cNvPr id="6" name="">
            <a:extLst xmlns:a="http://schemas.openxmlformats.org/drawingml/2006/main">
              <a:ext uri="{FF2B5EF4-FFF2-40B4-BE49-F238E27FC236}">
                <a16:creationId xmlns:a16="http://schemas.microsoft.com/office/drawing/2014/main" id="{371C6782-68EE-415A-BAD3-8CA5200C9B0D}"/>
              </a:ext>
            </a:extLst>
          </p:cNvPr>
          <p:cNvSpPr>
            <a:spLocks xmlns:a="http://schemas.openxmlformats.org/drawingml/2006/main" noGrp="1"/>
          </p:cNvSpPr>
          <p:nvPr/>
        </p:nvSpPr>
        <p:spPr>
          <a:xfrm xmlns:a="http://schemas.openxmlformats.org/drawingml/2006/main">
            <a:off x="6191250" y="14287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Some components can fail while the rest of the system continues.</a:t>
            </a:r>
          </a:p>
        </p:txBody>
      </p:sp>
      <p:sp>
        <p:nvSpPr>
          <p:cNvPr id="7" name="">
            <a:extLst xmlns:a="http://schemas.openxmlformats.org/drawingml/2006/main">
              <a:ext uri="{FF2B5EF4-FFF2-40B4-BE49-F238E27FC236}">
                <a16:creationId xmlns:a16="http://schemas.microsoft.com/office/drawing/2014/main" id="{F698D5E6-E0E5-4C93-89A9-008974FD1C21}"/>
              </a:ext>
            </a:extLst>
          </p:cNvPr>
          <p:cNvSpPr>
            <a:spLocks xmlns:a="http://schemas.openxmlformats.org/drawingml/2006/main" noGrp="1"/>
          </p:cNvSpPr>
          <p:nvPr/>
        </p:nvSpPr>
        <p:spPr>
          <a:xfrm xmlns:a="http://schemas.openxmlformats.org/drawingml/2006/main">
            <a:off x="857250" y="23526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6A4C93"/>
                </a:solidFill>
                <a:latin typeface="Arial"/>
                <a:ea typeface="Arial"/>
                <a:cs typeface="Arial"/>
              </a:defRPr>
            </a:pPr>
            <a:r>
              <a:rPr sz="2100" b="1">
                <a:solidFill>
                  <a:srgbClr val="6A4C93"/>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CEF5ECE9-84EE-4B94-AA4C-3E10E99DCD59}"/>
              </a:ext>
            </a:extLst>
          </p:cNvPr>
          <p:cNvSpPr>
            <a:spLocks xmlns:a="http://schemas.openxmlformats.org/drawingml/2006/main" noGrp="1"/>
          </p:cNvSpPr>
          <p:nvPr/>
        </p:nvSpPr>
        <p:spPr>
          <a:xfrm xmlns:a="http://schemas.openxmlformats.org/drawingml/2006/main">
            <a:off x="1905000" y="23050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Unreliable networks</a:t>
            </a:r>
          </a:p>
        </p:txBody>
      </p:sp>
      <p:sp>
        <p:nvSpPr>
          <p:cNvPr id="9" name="">
            <a:extLst xmlns:a="http://schemas.openxmlformats.org/drawingml/2006/main">
              <a:ext uri="{FF2B5EF4-FFF2-40B4-BE49-F238E27FC236}">
                <a16:creationId xmlns:a16="http://schemas.microsoft.com/office/drawing/2014/main" id="{1AD418AB-F934-4873-852D-D6CD0C8A2824}"/>
              </a:ext>
            </a:extLst>
          </p:cNvPr>
          <p:cNvSpPr>
            <a:spLocks xmlns:a="http://schemas.openxmlformats.org/drawingml/2006/main" noGrp="1"/>
          </p:cNvSpPr>
          <p:nvPr/>
        </p:nvSpPr>
        <p:spPr>
          <a:xfrm xmlns:a="http://schemas.openxmlformats.org/drawingml/2006/main">
            <a:off x="6191250" y="23050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Packets can be lost, delayed, duplicated, or reordered.</a:t>
            </a:r>
          </a:p>
        </p:txBody>
      </p:sp>
      <p:sp>
        <p:nvSpPr>
          <p:cNvPr id="10" name="">
            <a:extLst xmlns:a="http://schemas.openxmlformats.org/drawingml/2006/main">
              <a:ext uri="{FF2B5EF4-FFF2-40B4-BE49-F238E27FC236}">
                <a16:creationId xmlns:a16="http://schemas.microsoft.com/office/drawing/2014/main" id="{1EA46CEC-5467-4A56-A06C-2B1BCF7E5AD2}"/>
              </a:ext>
            </a:extLst>
          </p:cNvPr>
          <p:cNvSpPr>
            <a:spLocks xmlns:a="http://schemas.openxmlformats.org/drawingml/2006/main" noGrp="1"/>
          </p:cNvSpPr>
          <p:nvPr/>
        </p:nvSpPr>
        <p:spPr>
          <a:xfrm xmlns:a="http://schemas.openxmlformats.org/drawingml/2006/main">
            <a:off x="857250" y="32289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6A4C93"/>
                </a:solidFill>
                <a:latin typeface="Arial"/>
                <a:ea typeface="Arial"/>
                <a:cs typeface="Arial"/>
              </a:defRPr>
            </a:pPr>
            <a:r>
              <a:rPr sz="2100" b="1">
                <a:solidFill>
                  <a:srgbClr val="6A4C93"/>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7CFB737E-5428-4F21-A6A8-CDBC3C62DA8A}"/>
              </a:ext>
            </a:extLst>
          </p:cNvPr>
          <p:cNvSpPr>
            <a:spLocks xmlns:a="http://schemas.openxmlformats.org/drawingml/2006/main" noGrp="1"/>
          </p:cNvSpPr>
          <p:nvPr/>
        </p:nvSpPr>
        <p:spPr>
          <a:xfrm xmlns:a="http://schemas.openxmlformats.org/drawingml/2006/main">
            <a:off x="1905000" y="31813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Unreliable clocks</a:t>
            </a:r>
          </a:p>
        </p:txBody>
      </p:sp>
      <p:sp>
        <p:nvSpPr>
          <p:cNvPr id="12" name="">
            <a:extLst xmlns:a="http://schemas.openxmlformats.org/drawingml/2006/main">
              <a:ext uri="{FF2B5EF4-FFF2-40B4-BE49-F238E27FC236}">
                <a16:creationId xmlns:a16="http://schemas.microsoft.com/office/drawing/2014/main" id="{378228ED-313B-4DC4-9190-621E96A8566C}"/>
              </a:ext>
            </a:extLst>
          </p:cNvPr>
          <p:cNvSpPr>
            <a:spLocks xmlns:a="http://schemas.openxmlformats.org/drawingml/2006/main" noGrp="1"/>
          </p:cNvSpPr>
          <p:nvPr/>
        </p:nvSpPr>
        <p:spPr>
          <a:xfrm xmlns:a="http://schemas.openxmlformats.org/drawingml/2006/main">
            <a:off x="6191250" y="31813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Monotonic clocks measure durations while wall clocks can jump.</a:t>
            </a:r>
          </a:p>
        </p:txBody>
      </p:sp>
      <p:sp>
        <p:nvSpPr>
          <p:cNvPr id="13" name="">
            <a:extLst xmlns:a="http://schemas.openxmlformats.org/drawingml/2006/main">
              <a:ext uri="{FF2B5EF4-FFF2-40B4-BE49-F238E27FC236}">
                <a16:creationId xmlns:a16="http://schemas.microsoft.com/office/drawing/2014/main" id="{9F450BA6-D711-4DCD-9F76-1A44755F33B4}"/>
              </a:ext>
            </a:extLst>
          </p:cNvPr>
          <p:cNvSpPr>
            <a:spLocks xmlns:a="http://schemas.openxmlformats.org/drawingml/2006/main" noGrp="1"/>
          </p:cNvSpPr>
          <p:nvPr/>
        </p:nvSpPr>
        <p:spPr>
          <a:xfrm xmlns:a="http://schemas.openxmlformats.org/drawingml/2006/main">
            <a:off x="857250" y="41052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6A4C93"/>
                </a:solidFill>
                <a:latin typeface="Arial"/>
                <a:ea typeface="Arial"/>
                <a:cs typeface="Arial"/>
              </a:defRPr>
            </a:pPr>
            <a:r>
              <a:rPr sz="2100" b="1">
                <a:solidFill>
                  <a:srgbClr val="6A4C93"/>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9E1E03EF-13D6-4031-A74E-3DC560753377}"/>
              </a:ext>
            </a:extLst>
          </p:cNvPr>
          <p:cNvSpPr>
            <a:spLocks xmlns:a="http://schemas.openxmlformats.org/drawingml/2006/main" noGrp="1"/>
          </p:cNvSpPr>
          <p:nvPr/>
        </p:nvSpPr>
        <p:spPr>
          <a:xfrm xmlns:a="http://schemas.openxmlformats.org/drawingml/2006/main">
            <a:off x="1905000" y="40576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Knowledge and majorities</a:t>
            </a:r>
          </a:p>
        </p:txBody>
      </p:sp>
      <p:sp>
        <p:nvSpPr>
          <p:cNvPr id="15" name="">
            <a:extLst xmlns:a="http://schemas.openxmlformats.org/drawingml/2006/main">
              <a:ext uri="{FF2B5EF4-FFF2-40B4-BE49-F238E27FC236}">
                <a16:creationId xmlns:a16="http://schemas.microsoft.com/office/drawing/2014/main" id="{D5247FB0-10B6-4E72-A9CE-34F43EC0E227}"/>
              </a:ext>
            </a:extLst>
          </p:cNvPr>
          <p:cNvSpPr>
            <a:spLocks xmlns:a="http://schemas.openxmlformats.org/drawingml/2006/main" noGrp="1"/>
          </p:cNvSpPr>
          <p:nvPr/>
        </p:nvSpPr>
        <p:spPr>
          <a:xfrm xmlns:a="http://schemas.openxmlformats.org/drawingml/2006/main">
            <a:off x="6191250" y="40576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A node infers world state only from messages it has received.</a:t>
            </a:r>
          </a:p>
        </p:txBody>
      </p:sp>
      <p:sp>
        <p:nvSpPr>
          <p:cNvPr id="16" name="">
            <a:extLst xmlns:a="http://schemas.openxmlformats.org/drawingml/2006/main">
              <a:ext uri="{FF2B5EF4-FFF2-40B4-BE49-F238E27FC236}">
                <a16:creationId xmlns:a16="http://schemas.microsoft.com/office/drawing/2014/main" id="{5DCEC9E7-05AE-4D9C-B251-8CA0B987CC54}"/>
              </a:ext>
            </a:extLst>
          </p:cNvPr>
          <p:cNvSpPr>
            <a:spLocks xmlns:a="http://schemas.openxmlformats.org/drawingml/2006/main" noGrp="1"/>
          </p:cNvSpPr>
          <p:nvPr/>
        </p:nvSpPr>
        <p:spPr>
          <a:xfrm xmlns:a="http://schemas.openxmlformats.org/drawingml/2006/main">
            <a:off x="857250" y="49815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6A4C93"/>
                </a:solidFill>
                <a:latin typeface="Arial"/>
                <a:ea typeface="Arial"/>
                <a:cs typeface="Arial"/>
              </a:defRPr>
            </a:pPr>
            <a:r>
              <a:rPr sz="2100" b="1">
                <a:solidFill>
                  <a:srgbClr val="6A4C93"/>
                </a:solidFill>
                <a:latin typeface="Arial"/>
                <a:ea typeface="Arial"/>
                <a:cs typeface="Arial"/>
              </a:rPr>
              <a:t>05</a:t>
            </a:r>
          </a:p>
        </p:txBody>
      </p:sp>
      <p:sp>
        <p:nvSpPr>
          <p:cNvPr id="17" name="">
            <a:extLst xmlns:a="http://schemas.openxmlformats.org/drawingml/2006/main">
              <a:ext uri="{FF2B5EF4-FFF2-40B4-BE49-F238E27FC236}">
                <a16:creationId xmlns:a16="http://schemas.microsoft.com/office/drawing/2014/main" id="{6865CC08-A3B5-4803-AD15-26B8AC2BD4BB}"/>
              </a:ext>
            </a:extLst>
          </p:cNvPr>
          <p:cNvSpPr>
            <a:spLocks xmlns:a="http://schemas.openxmlformats.org/drawingml/2006/main" noGrp="1"/>
          </p:cNvSpPr>
          <p:nvPr/>
        </p:nvSpPr>
        <p:spPr>
          <a:xfrm xmlns:a="http://schemas.openxmlformats.org/drawingml/2006/main">
            <a:off x="1905000" y="49339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System models</a:t>
            </a:r>
          </a:p>
        </p:txBody>
      </p:sp>
      <p:sp>
        <p:nvSpPr>
          <p:cNvPr id="18" name="">
            <a:extLst xmlns:a="http://schemas.openxmlformats.org/drawingml/2006/main">
              <a:ext uri="{FF2B5EF4-FFF2-40B4-BE49-F238E27FC236}">
                <a16:creationId xmlns:a16="http://schemas.microsoft.com/office/drawing/2014/main" id="{C521CF1A-102A-4C8C-A411-11466E22DDA6}"/>
              </a:ext>
            </a:extLst>
          </p:cNvPr>
          <p:cNvSpPr>
            <a:spLocks xmlns:a="http://schemas.openxmlformats.org/drawingml/2006/main" noGrp="1"/>
          </p:cNvSpPr>
          <p:nvPr/>
        </p:nvSpPr>
        <p:spPr>
          <a:xfrm xmlns:a="http://schemas.openxmlformats.org/drawingml/2006/main">
            <a:off x="6191250" y="49339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A model states assumptions about delay, pauses, and failure types.</a:t>
            </a:r>
          </a:p>
        </p:txBody>
      </p:sp>
    </p:spTree>
    <p:extLst>
      <p:ext uri="{BB962C8B-B14F-4D97-AF65-F5344CB8AC3E}">
        <p14:creationId xmlns:p14="http://schemas.microsoft.com/office/powerpoint/2010/main" val="1744681676"/>
      </p:ext>
    </p:extLst>
  </p:cSld>
</p:sld>
</file>

<file path=ppt/slides/slide3.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58DD2B3-6935-4DBD-87A0-89F485EBEE82}"/>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6A4C93"/>
                </a:solidFill>
                <a:latin typeface="Arial"/>
                <a:ea typeface="Arial"/>
                <a:cs typeface="Arial"/>
              </a:defRPr>
            </a:pPr>
            <a:r>
              <a:rPr sz="1200" b="1" spc="2">
                <a:solidFill>
                  <a:srgbClr val="6A4C93"/>
                </a:solidFill>
                <a:latin typeface="Arial"/>
                <a:ea typeface="Arial"/>
                <a:cs typeface="Arial"/>
              </a:rPr>
              <a:t>CHAPTER 09</a:t>
            </a:r>
          </a:p>
        </p:txBody>
      </p:sp>
      <p:sp>
        <p:nvSpPr>
          <p:cNvPr id="2" name="">
            <a:extLst xmlns:a="http://schemas.openxmlformats.org/drawingml/2006/main">
              <a:ext uri="{FF2B5EF4-FFF2-40B4-BE49-F238E27FC236}">
                <a16:creationId xmlns:a16="http://schemas.microsoft.com/office/drawing/2014/main" id="{F5EDFF62-7050-4FA0-8693-A0B56E6F0C8A}"/>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Partial failures</a:t>
            </a:r>
          </a:p>
        </p:txBody>
      </p:sp>
      <p:sp>
        <p:nvSpPr>
          <p:cNvPr id="3" name="">
            <a:extLst xmlns:a="http://schemas.openxmlformats.org/drawingml/2006/main">
              <a:ext uri="{FF2B5EF4-FFF2-40B4-BE49-F238E27FC236}">
                <a16:creationId xmlns:a16="http://schemas.microsoft.com/office/drawing/2014/main" id="{120C891F-2A2C-4784-B710-DC62C413E451}"/>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03 / 20</a:t>
            </a:r>
          </a:p>
        </p:txBody>
      </p:sp>
      <p:sp>
        <p:nvSpPr>
          <p:cNvPr id="4" name="">
            <a:extLst xmlns:a="http://schemas.openxmlformats.org/drawingml/2006/main">
              <a:ext uri="{FF2B5EF4-FFF2-40B4-BE49-F238E27FC236}">
                <a16:creationId xmlns:a16="http://schemas.microsoft.com/office/drawing/2014/main" id="{4B83DA91-97C7-40FF-820B-00948A6BD249}"/>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6A4C93"/>
                </a:solidFill>
                <a:latin typeface="Arial"/>
                <a:ea typeface="Arial"/>
                <a:cs typeface="Arial"/>
              </a:defRPr>
            </a:pPr>
            <a:r>
              <a:rPr sz="6750" b="1">
                <a:solidFill>
                  <a:srgbClr val="6A4C93"/>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406C4519-82BE-4977-83FF-1E1B03E522D6}"/>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Some components can fail while the rest of the system continues.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A timeout cannot prove whether the remote operation ran.</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Retries can duplicate work, so APIs need idempotency or deduplication.</a:t>
            </a:r>
          </a:p>
        </p:txBody>
      </p:sp>
      <p:sp>
        <p:nvSpPr>
          <p:cNvPr id="6" name="">
            <a:extLst xmlns:a="http://schemas.openxmlformats.org/drawingml/2006/main">
              <a:ext uri="{FF2B5EF4-FFF2-40B4-BE49-F238E27FC236}">
                <a16:creationId xmlns:a16="http://schemas.microsoft.com/office/drawing/2014/main" id="{9F9AE713-B900-47BB-8A3B-082CBA796089}"/>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6A4C93"/>
                </a:solidFill>
                <a:latin typeface="Arial"/>
                <a:ea typeface="Arial"/>
                <a:cs typeface="Arial"/>
              </a:defRPr>
            </a:pPr>
            <a:r>
              <a:rPr sz="1200" b="1">
                <a:solidFill>
                  <a:srgbClr val="6A4C93"/>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CD777B4B-F3FC-40D8-8808-321B718471FD}"/>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142451279"/>
      </p:ext>
    </p:extLst>
  </p:cSld>
</p:sld>
</file>

<file path=ppt/slides/slide4.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F85A75A-E045-45A9-8871-DB0D4B2CB382}"/>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6A4C93"/>
                </a:solidFill>
                <a:latin typeface="Arial"/>
                <a:ea typeface="Arial"/>
                <a:cs typeface="Arial"/>
              </a:defRPr>
            </a:pPr>
            <a:r>
              <a:rPr sz="1200" b="1" spc="2">
                <a:solidFill>
                  <a:srgbClr val="6A4C93"/>
                </a:solidFill>
                <a:latin typeface="Arial"/>
                <a:ea typeface="Arial"/>
                <a:cs typeface="Arial"/>
              </a:rPr>
              <a:t>CHAPTER 09</a:t>
            </a:r>
          </a:p>
        </p:txBody>
      </p:sp>
      <p:sp>
        <p:nvSpPr>
          <p:cNvPr id="2" name="">
            <a:extLst xmlns:a="http://schemas.openxmlformats.org/drawingml/2006/main">
              <a:ext uri="{FF2B5EF4-FFF2-40B4-BE49-F238E27FC236}">
                <a16:creationId xmlns:a16="http://schemas.microsoft.com/office/drawing/2014/main" id="{8094B544-F7CA-4E73-A9A7-C84347C71011}"/>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Partial failures: design trade-offs</a:t>
            </a:r>
          </a:p>
        </p:txBody>
      </p:sp>
      <p:sp>
        <p:nvSpPr>
          <p:cNvPr id="3" name="">
            <a:extLst xmlns:a="http://schemas.openxmlformats.org/drawingml/2006/main">
              <a:ext uri="{FF2B5EF4-FFF2-40B4-BE49-F238E27FC236}">
                <a16:creationId xmlns:a16="http://schemas.microsoft.com/office/drawing/2014/main" id="{8CD2E93D-D201-42E7-9F45-D8881D6EFC39}"/>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04 / 20</a:t>
            </a:r>
          </a:p>
        </p:txBody>
      </p:sp>
      <p:sp>
        <p:nvSpPr>
          <p:cNvPr id="4" name="">
            <a:extLst xmlns:a="http://schemas.openxmlformats.org/drawingml/2006/main">
              <a:ext uri="{FF2B5EF4-FFF2-40B4-BE49-F238E27FC236}">
                <a16:creationId xmlns:a16="http://schemas.microsoft.com/office/drawing/2014/main" id="{0EAFE398-3A2F-407B-B3C7-C30AB178A018}"/>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6A4C93"/>
                </a:solidFill>
                <a:latin typeface="Arial"/>
                <a:ea typeface="Arial"/>
                <a:cs typeface="Arial"/>
              </a:defRPr>
            </a:pPr>
            <a:r>
              <a:rPr sz="6750" b="1">
                <a:solidFill>
                  <a:srgbClr val="6A4C93"/>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5F5773C3-95D3-49A8-8C20-477750C8E05C}"/>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Some components can fail while the rest of the system continues.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650995602"/>
      </p:ext>
    </p:extLst>
  </p:cSld>
</p:sld>
</file>

<file path=ppt/slides/slide5.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FBFDC97-DB20-40FC-A6F6-D22E96854350}"/>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6A4C93"/>
                </a:solidFill>
                <a:latin typeface="Arial"/>
                <a:ea typeface="Arial"/>
                <a:cs typeface="Arial"/>
              </a:defRPr>
            </a:pPr>
            <a:r>
              <a:rPr sz="1200" b="1" spc="2">
                <a:solidFill>
                  <a:srgbClr val="6A4C93"/>
                </a:solidFill>
                <a:latin typeface="Arial"/>
                <a:ea typeface="Arial"/>
                <a:cs typeface="Arial"/>
              </a:rPr>
              <a:t>CHAPTER 09</a:t>
            </a:r>
          </a:p>
        </p:txBody>
      </p:sp>
      <p:sp>
        <p:nvSpPr>
          <p:cNvPr id="2" name="">
            <a:extLst xmlns:a="http://schemas.openxmlformats.org/drawingml/2006/main">
              <a:ext uri="{FF2B5EF4-FFF2-40B4-BE49-F238E27FC236}">
                <a16:creationId xmlns:a16="http://schemas.microsoft.com/office/drawing/2014/main" id="{442A1E23-3779-488A-ADF7-8295C65453FC}"/>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9-1: mechanism explained</a:t>
            </a:r>
          </a:p>
        </p:txBody>
      </p:sp>
      <p:sp>
        <p:nvSpPr>
          <p:cNvPr id="3" name="">
            <a:extLst xmlns:a="http://schemas.openxmlformats.org/drawingml/2006/main">
              <a:ext uri="{FF2B5EF4-FFF2-40B4-BE49-F238E27FC236}">
                <a16:creationId xmlns:a16="http://schemas.microsoft.com/office/drawing/2014/main" id="{9FC6777F-08F5-4B13-8220-6C06097F5224}"/>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05 / 20</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128433db348468b"/>
          <a:stretch xmlns:a="http://schemas.openxmlformats.org/drawingml/2006/main"/>
        </p:blipFill>
        <p:spPr>
          <a:xfrm xmlns:a="http://schemas.openxmlformats.org/drawingml/2006/main">
            <a:off x="514350" y="1296676"/>
            <a:ext cx="7762875" cy="4740899"/>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3E97A39-5499-4044-B256-248FEAB2EC0F}"/>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6A4C93"/>
                </a:solidFill>
                <a:latin typeface="Arial"/>
                <a:ea typeface="Arial"/>
                <a:cs typeface="Arial"/>
              </a:defRPr>
            </a:pPr>
            <a:r>
              <a:rPr sz="1200" b="1">
                <a:solidFill>
                  <a:srgbClr val="6A4C93"/>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4170686A-4C0D-418C-8F90-E40732EF9191}"/>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Network silence cannot reveal whether a request, execution, or response failed.</a:t>
            </a:r>
          </a:p>
        </p:txBody>
      </p:sp>
      <p:sp>
        <p:nvSpPr>
          <p:cNvPr id="7" name="">
            <a:extLst xmlns:a="http://schemas.openxmlformats.org/drawingml/2006/main">
              <a:ext uri="{FF2B5EF4-FFF2-40B4-BE49-F238E27FC236}">
                <a16:creationId xmlns:a16="http://schemas.microsoft.com/office/drawing/2014/main" id="{118D15D1-96CD-405A-88EA-D5D36C748887}"/>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6A4C93"/>
                </a:solidFill>
                <a:latin typeface="Arial"/>
                <a:ea typeface="Arial"/>
                <a:cs typeface="Arial"/>
              </a:defRPr>
            </a:pPr>
            <a:r>
              <a:rPr sz="1200" b="1">
                <a:solidFill>
                  <a:srgbClr val="6A4C93"/>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08F3686E-3338-440D-A706-6CEA1CAF2D8B}"/>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Retries need idempotency because the original operation may already have completed.</a:t>
            </a:r>
          </a:p>
        </p:txBody>
      </p:sp>
      <p:sp>
        <p:nvSpPr>
          <p:cNvPr id="9" name="">
            <a:extLst xmlns:a="http://schemas.openxmlformats.org/drawingml/2006/main">
              <a:ext uri="{FF2B5EF4-FFF2-40B4-BE49-F238E27FC236}">
                <a16:creationId xmlns:a16="http://schemas.microsoft.com/office/drawing/2014/main" id="{5D1A836B-553C-42E1-8701-750FAB380410}"/>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6A4C93"/>
                </a:solidFill>
                <a:latin typeface="Arial"/>
                <a:ea typeface="Arial"/>
                <a:cs typeface="Arial"/>
              </a:defRPr>
            </a:pPr>
            <a:r>
              <a:rPr sz="1200" b="1">
                <a:solidFill>
                  <a:srgbClr val="6A4C93"/>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0EA58114-4F2E-4967-BC70-9A86AF58F0DE}"/>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440865641"/>
      </p:ext>
    </p:extLst>
  </p:cSld>
</p:sld>
</file>

<file path=ppt/slides/slide6.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9ECCF10-8326-4EF4-B58E-DDF18C779E6D}"/>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6A4C93"/>
                </a:solidFill>
                <a:latin typeface="Arial"/>
                <a:ea typeface="Arial"/>
                <a:cs typeface="Arial"/>
              </a:defRPr>
            </a:pPr>
            <a:r>
              <a:rPr sz="1200" b="1" spc="2">
                <a:solidFill>
                  <a:srgbClr val="6A4C93"/>
                </a:solidFill>
                <a:latin typeface="Arial"/>
                <a:ea typeface="Arial"/>
                <a:cs typeface="Arial"/>
              </a:rPr>
              <a:t>CHAPTER 09</a:t>
            </a:r>
          </a:p>
        </p:txBody>
      </p:sp>
      <p:sp>
        <p:nvSpPr>
          <p:cNvPr id="2" name="">
            <a:extLst xmlns:a="http://schemas.openxmlformats.org/drawingml/2006/main">
              <a:ext uri="{FF2B5EF4-FFF2-40B4-BE49-F238E27FC236}">
                <a16:creationId xmlns:a16="http://schemas.microsoft.com/office/drawing/2014/main" id="{DD7FBB24-9BA7-48A5-B953-679F1607CE1B}"/>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Unreliable networks</a:t>
            </a:r>
          </a:p>
        </p:txBody>
      </p:sp>
      <p:sp>
        <p:nvSpPr>
          <p:cNvPr id="3" name="">
            <a:extLst xmlns:a="http://schemas.openxmlformats.org/drawingml/2006/main">
              <a:ext uri="{FF2B5EF4-FFF2-40B4-BE49-F238E27FC236}">
                <a16:creationId xmlns:a16="http://schemas.microsoft.com/office/drawing/2014/main" id="{6C707A63-55B5-4B75-A7F2-E5DCB2570493}"/>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06 / 20</a:t>
            </a:r>
          </a:p>
        </p:txBody>
      </p:sp>
      <p:sp>
        <p:nvSpPr>
          <p:cNvPr id="4" name="">
            <a:extLst xmlns:a="http://schemas.openxmlformats.org/drawingml/2006/main">
              <a:ext uri="{FF2B5EF4-FFF2-40B4-BE49-F238E27FC236}">
                <a16:creationId xmlns:a16="http://schemas.microsoft.com/office/drawing/2014/main" id="{D137D013-160C-4E2F-A279-F6E15B3C256C}"/>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6A4C93"/>
                </a:solidFill>
                <a:latin typeface="Arial"/>
                <a:ea typeface="Arial"/>
                <a:cs typeface="Arial"/>
              </a:defRPr>
            </a:pPr>
            <a:r>
              <a:rPr sz="6750" b="1">
                <a:solidFill>
                  <a:srgbClr val="6A4C93"/>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76FC1BF9-6ABB-42C8-AC98-4963A2D25F0F}"/>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Packets can be lost, delayed, duplicated, or reordered.</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TCP supplies a byte stream, not proof that a business action completed.</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Failure detection depends on timing assumptions and accepted false positives.</a:t>
            </a:r>
          </a:p>
        </p:txBody>
      </p:sp>
      <p:sp>
        <p:nvSpPr>
          <p:cNvPr id="6" name="">
            <a:extLst xmlns:a="http://schemas.openxmlformats.org/drawingml/2006/main">
              <a:ext uri="{FF2B5EF4-FFF2-40B4-BE49-F238E27FC236}">
                <a16:creationId xmlns:a16="http://schemas.microsoft.com/office/drawing/2014/main" id="{AEB153A9-5AEF-4377-8B61-A3DD40453DEC}"/>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6A4C93"/>
                </a:solidFill>
                <a:latin typeface="Arial"/>
                <a:ea typeface="Arial"/>
                <a:cs typeface="Arial"/>
              </a:defRPr>
            </a:pPr>
            <a:r>
              <a:rPr sz="1200" b="1">
                <a:solidFill>
                  <a:srgbClr val="6A4C93"/>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84C78B4C-5CCF-424E-9EA2-7DC38A5D3BA4}"/>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1474940886"/>
      </p:ext>
    </p:extLst>
  </p:cSld>
</p:sld>
</file>

<file path=ppt/slides/slide7.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488F7AE-879F-4A0E-8327-804EA45AE408}"/>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6A4C93"/>
                </a:solidFill>
                <a:latin typeface="Arial"/>
                <a:ea typeface="Arial"/>
                <a:cs typeface="Arial"/>
              </a:defRPr>
            </a:pPr>
            <a:r>
              <a:rPr sz="1200" b="1" spc="2">
                <a:solidFill>
                  <a:srgbClr val="6A4C93"/>
                </a:solidFill>
                <a:latin typeface="Arial"/>
                <a:ea typeface="Arial"/>
                <a:cs typeface="Arial"/>
              </a:rPr>
              <a:t>CHAPTER 09</a:t>
            </a:r>
          </a:p>
        </p:txBody>
      </p:sp>
      <p:sp>
        <p:nvSpPr>
          <p:cNvPr id="2" name="">
            <a:extLst xmlns:a="http://schemas.openxmlformats.org/drawingml/2006/main">
              <a:ext uri="{FF2B5EF4-FFF2-40B4-BE49-F238E27FC236}">
                <a16:creationId xmlns:a16="http://schemas.microsoft.com/office/drawing/2014/main" id="{1602C008-574F-4EAE-B042-D9B1F7551E9E}"/>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Unreliable networks: design trade-offs</a:t>
            </a:r>
          </a:p>
        </p:txBody>
      </p:sp>
      <p:sp>
        <p:nvSpPr>
          <p:cNvPr id="3" name="">
            <a:extLst xmlns:a="http://schemas.openxmlformats.org/drawingml/2006/main">
              <a:ext uri="{FF2B5EF4-FFF2-40B4-BE49-F238E27FC236}">
                <a16:creationId xmlns:a16="http://schemas.microsoft.com/office/drawing/2014/main" id="{6A4A69A2-667E-4913-96EA-5D7FF4386854}"/>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07 / 20</a:t>
            </a:r>
          </a:p>
        </p:txBody>
      </p:sp>
      <p:sp>
        <p:nvSpPr>
          <p:cNvPr id="4" name="">
            <a:extLst xmlns:a="http://schemas.openxmlformats.org/drawingml/2006/main">
              <a:ext uri="{FF2B5EF4-FFF2-40B4-BE49-F238E27FC236}">
                <a16:creationId xmlns:a16="http://schemas.microsoft.com/office/drawing/2014/main" id="{C7B7C38C-EAC1-4348-88C9-F3F4138A2AE1}"/>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6A4C93"/>
                </a:solidFill>
                <a:latin typeface="Arial"/>
                <a:ea typeface="Arial"/>
                <a:cs typeface="Arial"/>
              </a:defRPr>
            </a:pPr>
            <a:r>
              <a:rPr sz="6750" b="1">
                <a:solidFill>
                  <a:srgbClr val="6A4C93"/>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A58507A0-507B-446B-823A-856D151A2AFC}"/>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Packets can be lost, delayed, duplicated, or reordered.</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2119694438"/>
      </p:ext>
    </p:extLst>
  </p:cSld>
</p:sld>
</file>

<file path=ppt/slides/slide8.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DB5ADA7-846C-42C6-97EA-E23BC84D1E27}"/>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6A4C93"/>
                </a:solidFill>
                <a:latin typeface="Arial"/>
                <a:ea typeface="Arial"/>
                <a:cs typeface="Arial"/>
              </a:defRPr>
            </a:pPr>
            <a:r>
              <a:rPr sz="1200" b="1" spc="2">
                <a:solidFill>
                  <a:srgbClr val="6A4C93"/>
                </a:solidFill>
                <a:latin typeface="Arial"/>
                <a:ea typeface="Arial"/>
                <a:cs typeface="Arial"/>
              </a:rPr>
              <a:t>CHAPTER 09</a:t>
            </a:r>
          </a:p>
        </p:txBody>
      </p:sp>
      <p:sp>
        <p:nvSpPr>
          <p:cNvPr id="2" name="">
            <a:extLst xmlns:a="http://schemas.openxmlformats.org/drawingml/2006/main">
              <a:ext uri="{FF2B5EF4-FFF2-40B4-BE49-F238E27FC236}">
                <a16:creationId xmlns:a16="http://schemas.microsoft.com/office/drawing/2014/main" id="{CD08BB63-0A19-4C14-BF8A-FA533CF3B7BF}"/>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9-2: mechanism explained</a:t>
            </a:r>
          </a:p>
        </p:txBody>
      </p:sp>
      <p:sp>
        <p:nvSpPr>
          <p:cNvPr id="3" name="">
            <a:extLst xmlns:a="http://schemas.openxmlformats.org/drawingml/2006/main">
              <a:ext uri="{FF2B5EF4-FFF2-40B4-BE49-F238E27FC236}">
                <a16:creationId xmlns:a16="http://schemas.microsoft.com/office/drawing/2014/main" id="{FBA1B5A7-0836-4A77-B552-9A77055567ED}"/>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08 / 20</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c91d6ea0d8347ad"/>
          <a:stretch xmlns:a="http://schemas.openxmlformats.org/drawingml/2006/main"/>
        </p:blipFill>
        <p:spPr>
          <a:xfrm xmlns:a="http://schemas.openxmlformats.org/drawingml/2006/main">
            <a:off x="514350" y="1740269"/>
            <a:ext cx="7762875" cy="3853713"/>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A34649E-7865-4291-9D0E-06C3C82A74C9}"/>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6A4C93"/>
                </a:solidFill>
                <a:latin typeface="Arial"/>
                <a:ea typeface="Arial"/>
                <a:cs typeface="Arial"/>
              </a:defRPr>
            </a:pPr>
            <a:r>
              <a:rPr sz="1200" b="1">
                <a:solidFill>
                  <a:srgbClr val="6A4C93"/>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D2F7C58D-7871-435B-842F-30518474DCBE}"/>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Network silence cannot reveal whether a request, execution, or response failed.</a:t>
            </a:r>
          </a:p>
        </p:txBody>
      </p:sp>
      <p:sp>
        <p:nvSpPr>
          <p:cNvPr id="7" name="">
            <a:extLst xmlns:a="http://schemas.openxmlformats.org/drawingml/2006/main">
              <a:ext uri="{FF2B5EF4-FFF2-40B4-BE49-F238E27FC236}">
                <a16:creationId xmlns:a16="http://schemas.microsoft.com/office/drawing/2014/main" id="{658B698F-B7AC-46B2-867F-39C70DC7A61F}"/>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6A4C93"/>
                </a:solidFill>
                <a:latin typeface="Arial"/>
                <a:ea typeface="Arial"/>
                <a:cs typeface="Arial"/>
              </a:defRPr>
            </a:pPr>
            <a:r>
              <a:rPr sz="1200" b="1">
                <a:solidFill>
                  <a:srgbClr val="6A4C93"/>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29761016-757D-4596-9655-4ACE29EB0C58}"/>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Retries need idempotency because the original operation may already have completed.</a:t>
            </a:r>
          </a:p>
        </p:txBody>
      </p:sp>
      <p:sp>
        <p:nvSpPr>
          <p:cNvPr id="9" name="">
            <a:extLst xmlns:a="http://schemas.openxmlformats.org/drawingml/2006/main">
              <a:ext uri="{FF2B5EF4-FFF2-40B4-BE49-F238E27FC236}">
                <a16:creationId xmlns:a16="http://schemas.microsoft.com/office/drawing/2014/main" id="{A1F57CB0-A005-42CF-ACAB-2D29B7E7B1DB}"/>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6A4C93"/>
                </a:solidFill>
                <a:latin typeface="Arial"/>
                <a:ea typeface="Arial"/>
                <a:cs typeface="Arial"/>
              </a:defRPr>
            </a:pPr>
            <a:r>
              <a:rPr sz="1200" b="1">
                <a:solidFill>
                  <a:srgbClr val="6A4C93"/>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F977760C-3000-4F00-A983-0384A3B3270A}"/>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454895461"/>
      </p:ext>
    </p:extLst>
  </p:cSld>
</p:sld>
</file>

<file path=ppt/slides/slide9.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C6A405D-54A1-4221-A7D8-3C1B50BCAC09}"/>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6A4C93"/>
                </a:solidFill>
                <a:latin typeface="Arial"/>
                <a:ea typeface="Arial"/>
                <a:cs typeface="Arial"/>
              </a:defRPr>
            </a:pPr>
            <a:r>
              <a:rPr sz="1200" b="1" spc="2">
                <a:solidFill>
                  <a:srgbClr val="6A4C93"/>
                </a:solidFill>
                <a:latin typeface="Arial"/>
                <a:ea typeface="Arial"/>
                <a:cs typeface="Arial"/>
              </a:rPr>
              <a:t>CHAPTER 09</a:t>
            </a:r>
          </a:p>
        </p:txBody>
      </p:sp>
      <p:sp>
        <p:nvSpPr>
          <p:cNvPr id="2" name="">
            <a:extLst xmlns:a="http://schemas.openxmlformats.org/drawingml/2006/main">
              <a:ext uri="{FF2B5EF4-FFF2-40B4-BE49-F238E27FC236}">
                <a16:creationId xmlns:a16="http://schemas.microsoft.com/office/drawing/2014/main" id="{87B2E41F-518E-4384-A19C-A1026520309A}"/>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Unreliable clocks</a:t>
            </a:r>
          </a:p>
        </p:txBody>
      </p:sp>
      <p:sp>
        <p:nvSpPr>
          <p:cNvPr id="3" name="">
            <a:extLst xmlns:a="http://schemas.openxmlformats.org/drawingml/2006/main">
              <a:ext uri="{FF2B5EF4-FFF2-40B4-BE49-F238E27FC236}">
                <a16:creationId xmlns:a16="http://schemas.microsoft.com/office/drawing/2014/main" id="{EDD37916-8C74-4388-AA50-BB78EECB0EC3}"/>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09 / 20</a:t>
            </a:r>
          </a:p>
        </p:txBody>
      </p:sp>
      <p:sp>
        <p:nvSpPr>
          <p:cNvPr id="4" name="">
            <a:extLst xmlns:a="http://schemas.openxmlformats.org/drawingml/2006/main">
              <a:ext uri="{FF2B5EF4-FFF2-40B4-BE49-F238E27FC236}">
                <a16:creationId xmlns:a16="http://schemas.microsoft.com/office/drawing/2014/main" id="{E14C49BE-B671-48C2-B7CF-A992671466D6}"/>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6A4C93"/>
                </a:solidFill>
                <a:latin typeface="Arial"/>
                <a:ea typeface="Arial"/>
                <a:cs typeface="Arial"/>
              </a:defRPr>
            </a:pPr>
            <a:r>
              <a:rPr sz="6750" b="1">
                <a:solidFill>
                  <a:srgbClr val="6A4C93"/>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F7839E92-C20D-473B-925D-584C84D6EC3A}"/>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Monotonic clocks measure durations while wall clocks can jump.</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Clock synchronization has uncertainty, so timestamps are not absolute order.</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Process pauses can make an expired lease holder act on stale authority.</a:t>
            </a:r>
          </a:p>
        </p:txBody>
      </p:sp>
      <p:sp>
        <p:nvSpPr>
          <p:cNvPr id="6" name="">
            <a:extLst xmlns:a="http://schemas.openxmlformats.org/drawingml/2006/main">
              <a:ext uri="{FF2B5EF4-FFF2-40B4-BE49-F238E27FC236}">
                <a16:creationId xmlns:a16="http://schemas.microsoft.com/office/drawing/2014/main" id="{4B8B8A89-706C-4144-91F8-F7589B71492A}"/>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6A4C93"/>
                </a:solidFill>
                <a:latin typeface="Arial"/>
                <a:ea typeface="Arial"/>
                <a:cs typeface="Arial"/>
              </a:defRPr>
            </a:pPr>
            <a:r>
              <a:rPr sz="1200" b="1">
                <a:solidFill>
                  <a:srgbClr val="6A4C93"/>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5D9FB1E2-97C1-4DD9-AC8B-42CF77FD0FE1}"/>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1685825281"/>
      </p:ext>
    </p:extLst>
  </p:cSld>
</p:sld>
</file>

<file path=ppt/slides/slide10.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DCA24AA-1B5C-4BAB-ABE2-94D72CE2A176}"/>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6A4C93"/>
                </a:solidFill>
                <a:latin typeface="Arial"/>
                <a:ea typeface="Arial"/>
                <a:cs typeface="Arial"/>
              </a:defRPr>
            </a:pPr>
            <a:r>
              <a:rPr sz="1200" b="1" spc="2">
                <a:solidFill>
                  <a:srgbClr val="6A4C93"/>
                </a:solidFill>
                <a:latin typeface="Arial"/>
                <a:ea typeface="Arial"/>
                <a:cs typeface="Arial"/>
              </a:rPr>
              <a:t>CHAPTER 09</a:t>
            </a:r>
          </a:p>
        </p:txBody>
      </p:sp>
      <p:sp>
        <p:nvSpPr>
          <p:cNvPr id="2" name="">
            <a:extLst xmlns:a="http://schemas.openxmlformats.org/drawingml/2006/main">
              <a:ext uri="{FF2B5EF4-FFF2-40B4-BE49-F238E27FC236}">
                <a16:creationId xmlns:a16="http://schemas.microsoft.com/office/drawing/2014/main" id="{CDCB1B9E-6BB3-4807-8457-F462E64A8D90}"/>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Unreliable clocks: design trade-offs</a:t>
            </a:r>
          </a:p>
        </p:txBody>
      </p:sp>
      <p:sp>
        <p:nvSpPr>
          <p:cNvPr id="3" name="">
            <a:extLst xmlns:a="http://schemas.openxmlformats.org/drawingml/2006/main">
              <a:ext uri="{FF2B5EF4-FFF2-40B4-BE49-F238E27FC236}">
                <a16:creationId xmlns:a16="http://schemas.microsoft.com/office/drawing/2014/main" id="{B9661EA0-D096-4270-8E84-5AD2237F2299}"/>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10 / 20</a:t>
            </a:r>
          </a:p>
        </p:txBody>
      </p:sp>
      <p:sp>
        <p:nvSpPr>
          <p:cNvPr id="4" name="">
            <a:extLst xmlns:a="http://schemas.openxmlformats.org/drawingml/2006/main">
              <a:ext uri="{FF2B5EF4-FFF2-40B4-BE49-F238E27FC236}">
                <a16:creationId xmlns:a16="http://schemas.microsoft.com/office/drawing/2014/main" id="{58ED2A9E-DE64-4262-A3EF-D75AA3197580}"/>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6A4C93"/>
                </a:solidFill>
                <a:latin typeface="Arial"/>
                <a:ea typeface="Arial"/>
                <a:cs typeface="Arial"/>
              </a:defRPr>
            </a:pPr>
            <a:r>
              <a:rPr sz="6750" b="1">
                <a:solidFill>
                  <a:srgbClr val="6A4C93"/>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FA50C108-92E9-4ED4-B60A-920261A9B062}"/>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Monotonic clocks measure durations while wall clocks can jump.</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512235203"/>
      </p:ext>
    </p:extLst>
  </p:cSld>
</p:sld>
</file>

<file path=ppt/slides/slide11.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8091BD8-7ADB-4806-977F-33222C2C9902}"/>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6A4C93"/>
                </a:solidFill>
                <a:latin typeface="Arial"/>
                <a:ea typeface="Arial"/>
                <a:cs typeface="Arial"/>
              </a:defRPr>
            </a:pPr>
            <a:r>
              <a:rPr sz="1200" b="1" spc="2">
                <a:solidFill>
                  <a:srgbClr val="6A4C93"/>
                </a:solidFill>
                <a:latin typeface="Arial"/>
                <a:ea typeface="Arial"/>
                <a:cs typeface="Arial"/>
              </a:rPr>
              <a:t>CHAPTER 09</a:t>
            </a:r>
          </a:p>
        </p:txBody>
      </p:sp>
      <p:sp>
        <p:nvSpPr>
          <p:cNvPr id="2" name="">
            <a:extLst xmlns:a="http://schemas.openxmlformats.org/drawingml/2006/main">
              <a:ext uri="{FF2B5EF4-FFF2-40B4-BE49-F238E27FC236}">
                <a16:creationId xmlns:a16="http://schemas.microsoft.com/office/drawing/2014/main" id="{79F06A5B-057C-47CB-B032-B8743E541136}"/>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9-3: mechanism explained</a:t>
            </a:r>
          </a:p>
        </p:txBody>
      </p:sp>
      <p:sp>
        <p:nvSpPr>
          <p:cNvPr id="3" name="">
            <a:extLst xmlns:a="http://schemas.openxmlformats.org/drawingml/2006/main">
              <a:ext uri="{FF2B5EF4-FFF2-40B4-BE49-F238E27FC236}">
                <a16:creationId xmlns:a16="http://schemas.microsoft.com/office/drawing/2014/main" id="{E05FC911-E5C1-43E2-A308-98D6779CCDD8}"/>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11 / 20</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d5e2c1aeaef4215"/>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F3B173A-BE97-405A-B171-E99068155122}"/>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6A4C93"/>
                </a:solidFill>
                <a:latin typeface="Arial"/>
                <a:ea typeface="Arial"/>
                <a:cs typeface="Arial"/>
              </a:defRPr>
            </a:pPr>
            <a:r>
              <a:rPr sz="1200" b="1">
                <a:solidFill>
                  <a:srgbClr val="6A4C93"/>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9E340B9A-38EE-4620-B8D4-B1AA43F370ED}"/>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Time or lease assumptions can become stale during clock error, delay, or process pause.</a:t>
            </a:r>
          </a:p>
        </p:txBody>
      </p:sp>
      <p:sp>
        <p:nvSpPr>
          <p:cNvPr id="7" name="">
            <a:extLst xmlns:a="http://schemas.openxmlformats.org/drawingml/2006/main">
              <a:ext uri="{FF2B5EF4-FFF2-40B4-BE49-F238E27FC236}">
                <a16:creationId xmlns:a16="http://schemas.microsoft.com/office/drawing/2014/main" id="{30509641-371F-49B4-B4F8-E86AEA11FF7B}"/>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6A4C93"/>
                </a:solidFill>
                <a:latin typeface="Arial"/>
                <a:ea typeface="Arial"/>
                <a:cs typeface="Arial"/>
              </a:defRPr>
            </a:pPr>
            <a:r>
              <a:rPr sz="1200" b="1">
                <a:solidFill>
                  <a:srgbClr val="6A4C93"/>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FE9899C3-59A3-4506-8158-72B64F0BAA86}"/>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Fencing tokens let the resource reject operations from an expired owner.</a:t>
            </a:r>
          </a:p>
        </p:txBody>
      </p:sp>
      <p:sp>
        <p:nvSpPr>
          <p:cNvPr id="9" name="">
            <a:extLst xmlns:a="http://schemas.openxmlformats.org/drawingml/2006/main">
              <a:ext uri="{FF2B5EF4-FFF2-40B4-BE49-F238E27FC236}">
                <a16:creationId xmlns:a16="http://schemas.microsoft.com/office/drawing/2014/main" id="{993F2E41-F2A7-4B59-9B73-B57914AAAF7B}"/>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6A4C93"/>
                </a:solidFill>
                <a:latin typeface="Arial"/>
                <a:ea typeface="Arial"/>
                <a:cs typeface="Arial"/>
              </a:defRPr>
            </a:pPr>
            <a:r>
              <a:rPr sz="1200" b="1">
                <a:solidFill>
                  <a:srgbClr val="6A4C93"/>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69A4B3D9-74E7-4033-9293-472E1D686AF1}"/>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1690288699"/>
      </p:ext>
    </p:extLst>
  </p:cSld>
</p:sld>
</file>

<file path=ppt/slides/slide12.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F8FC3A9-12D5-4AEA-A510-CE5EBC2126C7}"/>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6A4C93"/>
                </a:solidFill>
                <a:latin typeface="Arial"/>
                <a:ea typeface="Arial"/>
                <a:cs typeface="Arial"/>
              </a:defRPr>
            </a:pPr>
            <a:r>
              <a:rPr sz="1200" b="1" spc="2">
                <a:solidFill>
                  <a:srgbClr val="6A4C93"/>
                </a:solidFill>
                <a:latin typeface="Arial"/>
                <a:ea typeface="Arial"/>
                <a:cs typeface="Arial"/>
              </a:rPr>
              <a:t>CHAPTER 09</a:t>
            </a:r>
          </a:p>
        </p:txBody>
      </p:sp>
      <p:sp>
        <p:nvSpPr>
          <p:cNvPr id="2" name="">
            <a:extLst xmlns:a="http://schemas.openxmlformats.org/drawingml/2006/main">
              <a:ext uri="{FF2B5EF4-FFF2-40B4-BE49-F238E27FC236}">
                <a16:creationId xmlns:a16="http://schemas.microsoft.com/office/drawing/2014/main" id="{FF1E8DFB-6C5D-44BF-BCA3-B0CF0F704D07}"/>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Knowledge and majorities</a:t>
            </a:r>
          </a:p>
        </p:txBody>
      </p:sp>
      <p:sp>
        <p:nvSpPr>
          <p:cNvPr id="3" name="">
            <a:extLst xmlns:a="http://schemas.openxmlformats.org/drawingml/2006/main">
              <a:ext uri="{FF2B5EF4-FFF2-40B4-BE49-F238E27FC236}">
                <a16:creationId xmlns:a16="http://schemas.microsoft.com/office/drawing/2014/main" id="{679EBE6C-1767-480D-993E-B9B3D90FEB82}"/>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12 / 20</a:t>
            </a:r>
          </a:p>
        </p:txBody>
      </p:sp>
      <p:sp>
        <p:nvSpPr>
          <p:cNvPr id="4" name="">
            <a:extLst xmlns:a="http://schemas.openxmlformats.org/drawingml/2006/main">
              <a:ext uri="{FF2B5EF4-FFF2-40B4-BE49-F238E27FC236}">
                <a16:creationId xmlns:a16="http://schemas.microsoft.com/office/drawing/2014/main" id="{9DA8F658-62EF-4661-9A8A-4B459AC5B7A1}"/>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6A4C93"/>
                </a:solidFill>
                <a:latin typeface="Arial"/>
                <a:ea typeface="Arial"/>
                <a:cs typeface="Arial"/>
              </a:defRPr>
            </a:pPr>
            <a:r>
              <a:rPr sz="6750" b="1">
                <a:solidFill>
                  <a:srgbClr val="6A4C93"/>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85FF1745-2926-4EC0-8B7E-7888D6B46788}"/>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A node infers world state only from messages it has received.</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Majorities form decisions while minority nodes may retain stale knowledge.</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Fencing tokens prevent expired lease holders from writing.</a:t>
            </a:r>
          </a:p>
        </p:txBody>
      </p:sp>
      <p:sp>
        <p:nvSpPr>
          <p:cNvPr id="6" name="">
            <a:extLst xmlns:a="http://schemas.openxmlformats.org/drawingml/2006/main">
              <a:ext uri="{FF2B5EF4-FFF2-40B4-BE49-F238E27FC236}">
                <a16:creationId xmlns:a16="http://schemas.microsoft.com/office/drawing/2014/main" id="{2543FA5F-260A-4428-95A7-7F0354BA8408}"/>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6A4C93"/>
                </a:solidFill>
                <a:latin typeface="Arial"/>
                <a:ea typeface="Arial"/>
                <a:cs typeface="Arial"/>
              </a:defRPr>
            </a:pPr>
            <a:r>
              <a:rPr sz="1200" b="1">
                <a:solidFill>
                  <a:srgbClr val="6A4C93"/>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ABC8575A-E84B-4EB5-BF3B-9AA311866D12}"/>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1377093967"/>
      </p:ext>
    </p:extLst>
  </p:cSld>
</p:sld>
</file>

<file path=ppt/slides/slide13.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FE561A4-887E-4CA1-9F3B-9354935E57AB}"/>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6A4C93"/>
                </a:solidFill>
                <a:latin typeface="Arial"/>
                <a:ea typeface="Arial"/>
                <a:cs typeface="Arial"/>
              </a:defRPr>
            </a:pPr>
            <a:r>
              <a:rPr sz="1200" b="1" spc="2">
                <a:solidFill>
                  <a:srgbClr val="6A4C93"/>
                </a:solidFill>
                <a:latin typeface="Arial"/>
                <a:ea typeface="Arial"/>
                <a:cs typeface="Arial"/>
              </a:rPr>
              <a:t>CHAPTER 09</a:t>
            </a:r>
          </a:p>
        </p:txBody>
      </p:sp>
      <p:sp>
        <p:nvSpPr>
          <p:cNvPr id="2" name="">
            <a:extLst xmlns:a="http://schemas.openxmlformats.org/drawingml/2006/main">
              <a:ext uri="{FF2B5EF4-FFF2-40B4-BE49-F238E27FC236}">
                <a16:creationId xmlns:a16="http://schemas.microsoft.com/office/drawing/2014/main" id="{41490E07-AD1C-4DDD-A372-675B3495547D}"/>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Knowledge and majorities: design trade-offs</a:t>
            </a:r>
          </a:p>
        </p:txBody>
      </p:sp>
      <p:sp>
        <p:nvSpPr>
          <p:cNvPr id="3" name="">
            <a:extLst xmlns:a="http://schemas.openxmlformats.org/drawingml/2006/main">
              <a:ext uri="{FF2B5EF4-FFF2-40B4-BE49-F238E27FC236}">
                <a16:creationId xmlns:a16="http://schemas.microsoft.com/office/drawing/2014/main" id="{E644EF4F-4390-4111-B8F3-E30BF73456B1}"/>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13 / 20</a:t>
            </a:r>
          </a:p>
        </p:txBody>
      </p:sp>
      <p:sp>
        <p:nvSpPr>
          <p:cNvPr id="4" name="">
            <a:extLst xmlns:a="http://schemas.openxmlformats.org/drawingml/2006/main">
              <a:ext uri="{FF2B5EF4-FFF2-40B4-BE49-F238E27FC236}">
                <a16:creationId xmlns:a16="http://schemas.microsoft.com/office/drawing/2014/main" id="{94135F4E-E793-48FA-8189-6006C00B1F28}"/>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6A4C93"/>
                </a:solidFill>
                <a:latin typeface="Arial"/>
                <a:ea typeface="Arial"/>
                <a:cs typeface="Arial"/>
              </a:defRPr>
            </a:pPr>
            <a:r>
              <a:rPr sz="6750" b="1">
                <a:solidFill>
                  <a:srgbClr val="6A4C93"/>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51B12607-7760-4F36-B43F-5A2979727CBB}"/>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A node infers world state only from messages it has received.</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410274909"/>
      </p:ext>
    </p:extLst>
  </p:cSld>
</p:sld>
</file>

<file path=ppt/slides/slide14.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DE52642-8410-4739-8995-CA9F12F4A5B3}"/>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6A4C93"/>
                </a:solidFill>
                <a:latin typeface="Arial"/>
                <a:ea typeface="Arial"/>
                <a:cs typeface="Arial"/>
              </a:defRPr>
            </a:pPr>
            <a:r>
              <a:rPr sz="1200" b="1" spc="2">
                <a:solidFill>
                  <a:srgbClr val="6A4C93"/>
                </a:solidFill>
                <a:latin typeface="Arial"/>
                <a:ea typeface="Arial"/>
                <a:cs typeface="Arial"/>
              </a:rPr>
              <a:t>CHAPTER 09</a:t>
            </a:r>
          </a:p>
        </p:txBody>
      </p:sp>
      <p:sp>
        <p:nvSpPr>
          <p:cNvPr id="2" name="">
            <a:extLst xmlns:a="http://schemas.openxmlformats.org/drawingml/2006/main">
              <a:ext uri="{FF2B5EF4-FFF2-40B4-BE49-F238E27FC236}">
                <a16:creationId xmlns:a16="http://schemas.microsoft.com/office/drawing/2014/main" id="{AFB480FE-BBA9-4632-9056-CD8DB806704E}"/>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9-4: mechanism explained</a:t>
            </a:r>
          </a:p>
        </p:txBody>
      </p:sp>
      <p:sp>
        <p:nvSpPr>
          <p:cNvPr id="3" name="">
            <a:extLst xmlns:a="http://schemas.openxmlformats.org/drawingml/2006/main">
              <a:ext uri="{FF2B5EF4-FFF2-40B4-BE49-F238E27FC236}">
                <a16:creationId xmlns:a16="http://schemas.microsoft.com/office/drawing/2014/main" id="{59DF8726-F880-4D8D-ACEA-A8E3234558DE}"/>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14 / 20</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28c27e4c1eb495f"/>
          <a:stretch xmlns:a="http://schemas.openxmlformats.org/drawingml/2006/main"/>
        </p:blipFill>
        <p:spPr>
          <a:xfrm xmlns:a="http://schemas.openxmlformats.org/drawingml/2006/main">
            <a:off x="514350" y="1677888"/>
            <a:ext cx="7762875" cy="3978473"/>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663ED08-29DE-4B73-AAB4-3888F2A64DBC}"/>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6A4C93"/>
                </a:solidFill>
                <a:latin typeface="Arial"/>
                <a:ea typeface="Arial"/>
                <a:cs typeface="Arial"/>
              </a:defRPr>
            </a:pPr>
            <a:r>
              <a:rPr sz="1200" b="1">
                <a:solidFill>
                  <a:srgbClr val="6A4C93"/>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360B0370-D6A5-4621-8887-5A3A1933C87E}"/>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Time or lease assumptions can become stale during clock error, delay, or process pause.</a:t>
            </a:r>
          </a:p>
        </p:txBody>
      </p:sp>
      <p:sp>
        <p:nvSpPr>
          <p:cNvPr id="7" name="">
            <a:extLst xmlns:a="http://schemas.openxmlformats.org/drawingml/2006/main">
              <a:ext uri="{FF2B5EF4-FFF2-40B4-BE49-F238E27FC236}">
                <a16:creationId xmlns:a16="http://schemas.microsoft.com/office/drawing/2014/main" id="{77BEC04C-4474-487D-A36F-584019AF959C}"/>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6A4C93"/>
                </a:solidFill>
                <a:latin typeface="Arial"/>
                <a:ea typeface="Arial"/>
                <a:cs typeface="Arial"/>
              </a:defRPr>
            </a:pPr>
            <a:r>
              <a:rPr sz="1200" b="1">
                <a:solidFill>
                  <a:srgbClr val="6A4C93"/>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498F6E42-6566-4A18-BDA3-AFBA7D002291}"/>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Fencing tokens let the resource reject operations from an expired owner.</a:t>
            </a:r>
          </a:p>
        </p:txBody>
      </p:sp>
      <p:sp>
        <p:nvSpPr>
          <p:cNvPr id="9" name="">
            <a:extLst xmlns:a="http://schemas.openxmlformats.org/drawingml/2006/main">
              <a:ext uri="{FF2B5EF4-FFF2-40B4-BE49-F238E27FC236}">
                <a16:creationId xmlns:a16="http://schemas.microsoft.com/office/drawing/2014/main" id="{A83942B3-E2C3-4681-A4E0-74746DCBB67A}"/>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6A4C93"/>
                </a:solidFill>
                <a:latin typeface="Arial"/>
                <a:ea typeface="Arial"/>
                <a:cs typeface="Arial"/>
              </a:defRPr>
            </a:pPr>
            <a:r>
              <a:rPr sz="1200" b="1">
                <a:solidFill>
                  <a:srgbClr val="6A4C93"/>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F79CF2E9-86B9-4E9B-8CEF-8697B7C5CFEE}"/>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168147840"/>
      </p:ext>
    </p:extLst>
  </p:cSld>
</p:sld>
</file>

<file path=ppt/slides/slide15.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9646505-2704-4B10-B40B-55BD926CE525}"/>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6A4C93"/>
                </a:solidFill>
                <a:latin typeface="Arial"/>
                <a:ea typeface="Arial"/>
                <a:cs typeface="Arial"/>
              </a:defRPr>
            </a:pPr>
            <a:r>
              <a:rPr sz="1200" b="1" spc="2">
                <a:solidFill>
                  <a:srgbClr val="6A4C93"/>
                </a:solidFill>
                <a:latin typeface="Arial"/>
                <a:ea typeface="Arial"/>
                <a:cs typeface="Arial"/>
              </a:rPr>
              <a:t>CHAPTER 09</a:t>
            </a:r>
          </a:p>
        </p:txBody>
      </p:sp>
      <p:sp>
        <p:nvSpPr>
          <p:cNvPr id="2" name="">
            <a:extLst xmlns:a="http://schemas.openxmlformats.org/drawingml/2006/main">
              <a:ext uri="{FF2B5EF4-FFF2-40B4-BE49-F238E27FC236}">
                <a16:creationId xmlns:a16="http://schemas.microsoft.com/office/drawing/2014/main" id="{C2FE4A94-DC1E-4246-9D37-2EB29033436C}"/>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9-5: mechanism explained</a:t>
            </a:r>
          </a:p>
        </p:txBody>
      </p:sp>
      <p:sp>
        <p:nvSpPr>
          <p:cNvPr id="3" name="">
            <a:extLst xmlns:a="http://schemas.openxmlformats.org/drawingml/2006/main">
              <a:ext uri="{FF2B5EF4-FFF2-40B4-BE49-F238E27FC236}">
                <a16:creationId xmlns:a16="http://schemas.microsoft.com/office/drawing/2014/main" id="{8D9671D3-0738-429F-A80F-B551DE682FEA}"/>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15 / 20</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c362b3f594d46ba"/>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000D68E-A696-4F90-BC2E-71D0C8BEDDC1}"/>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6A4C93"/>
                </a:solidFill>
                <a:latin typeface="Arial"/>
                <a:ea typeface="Arial"/>
                <a:cs typeface="Arial"/>
              </a:defRPr>
            </a:pPr>
            <a:r>
              <a:rPr sz="1200" b="1">
                <a:solidFill>
                  <a:srgbClr val="6A4C93"/>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6D9D2D22-F476-496E-B10A-DACCF4C5D19F}"/>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Time or lease assumptions can become stale during clock error, delay, or process pause.</a:t>
            </a:r>
          </a:p>
        </p:txBody>
      </p:sp>
      <p:sp>
        <p:nvSpPr>
          <p:cNvPr id="7" name="">
            <a:extLst xmlns:a="http://schemas.openxmlformats.org/drawingml/2006/main">
              <a:ext uri="{FF2B5EF4-FFF2-40B4-BE49-F238E27FC236}">
                <a16:creationId xmlns:a16="http://schemas.microsoft.com/office/drawing/2014/main" id="{7D79100F-6935-4350-8E3C-1B67C5E1B76A}"/>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6A4C93"/>
                </a:solidFill>
                <a:latin typeface="Arial"/>
                <a:ea typeface="Arial"/>
                <a:cs typeface="Arial"/>
              </a:defRPr>
            </a:pPr>
            <a:r>
              <a:rPr sz="1200" b="1">
                <a:solidFill>
                  <a:srgbClr val="6A4C93"/>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952CE5EB-0220-471C-82FB-37D64242124C}"/>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Fencing tokens let the resource reject operations from an expired owner.</a:t>
            </a:r>
          </a:p>
        </p:txBody>
      </p:sp>
      <p:sp>
        <p:nvSpPr>
          <p:cNvPr id="9" name="">
            <a:extLst xmlns:a="http://schemas.openxmlformats.org/drawingml/2006/main">
              <a:ext uri="{FF2B5EF4-FFF2-40B4-BE49-F238E27FC236}">
                <a16:creationId xmlns:a16="http://schemas.microsoft.com/office/drawing/2014/main" id="{ED710755-6E80-4ED1-B446-BE2A86A37D53}"/>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6A4C93"/>
                </a:solidFill>
                <a:latin typeface="Arial"/>
                <a:ea typeface="Arial"/>
                <a:cs typeface="Arial"/>
              </a:defRPr>
            </a:pPr>
            <a:r>
              <a:rPr sz="1200" b="1">
                <a:solidFill>
                  <a:srgbClr val="6A4C93"/>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A73D6775-B688-46B9-89CD-556954D42824}"/>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1562580893"/>
      </p:ext>
    </p:extLst>
  </p:cSld>
</p:sld>
</file>

<file path=ppt/slides/slide16.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F014E50-B6F5-4E24-A042-13176D6B3919}"/>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6A4C93"/>
                </a:solidFill>
                <a:latin typeface="Arial"/>
                <a:ea typeface="Arial"/>
                <a:cs typeface="Arial"/>
              </a:defRPr>
            </a:pPr>
            <a:r>
              <a:rPr sz="1200" b="1" spc="2">
                <a:solidFill>
                  <a:srgbClr val="6A4C93"/>
                </a:solidFill>
                <a:latin typeface="Arial"/>
                <a:ea typeface="Arial"/>
                <a:cs typeface="Arial"/>
              </a:rPr>
              <a:t>CHAPTER 09</a:t>
            </a:r>
          </a:p>
        </p:txBody>
      </p:sp>
      <p:sp>
        <p:nvSpPr>
          <p:cNvPr id="2" name="">
            <a:extLst xmlns:a="http://schemas.openxmlformats.org/drawingml/2006/main">
              <a:ext uri="{FF2B5EF4-FFF2-40B4-BE49-F238E27FC236}">
                <a16:creationId xmlns:a16="http://schemas.microsoft.com/office/drawing/2014/main" id="{7575DEF7-13DD-4110-9F80-055D30971F97}"/>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9-6: mechanism explained</a:t>
            </a:r>
          </a:p>
        </p:txBody>
      </p:sp>
      <p:sp>
        <p:nvSpPr>
          <p:cNvPr id="3" name="">
            <a:extLst xmlns:a="http://schemas.openxmlformats.org/drawingml/2006/main">
              <a:ext uri="{FF2B5EF4-FFF2-40B4-BE49-F238E27FC236}">
                <a16:creationId xmlns:a16="http://schemas.microsoft.com/office/drawing/2014/main" id="{1CB065A7-5F56-41F3-B8F1-7178B6E5A2DF}"/>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16 / 20</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c2a875eecd643a4"/>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FC76E1E-CF1B-4EEE-90F5-541504AB07C3}"/>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6A4C93"/>
                </a:solidFill>
                <a:latin typeface="Arial"/>
                <a:ea typeface="Arial"/>
                <a:cs typeface="Arial"/>
              </a:defRPr>
            </a:pPr>
            <a:r>
              <a:rPr sz="1200" b="1">
                <a:solidFill>
                  <a:srgbClr val="6A4C93"/>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998FA88B-846A-4337-8277-1EDBB20B123B}"/>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Making access to storage safe by allowing writes only in the order of increas‐</a:t>
            </a:r>
          </a:p>
        </p:txBody>
      </p:sp>
      <p:sp>
        <p:nvSpPr>
          <p:cNvPr id="7" name="">
            <a:extLst xmlns:a="http://schemas.openxmlformats.org/drawingml/2006/main">
              <a:ext uri="{FF2B5EF4-FFF2-40B4-BE49-F238E27FC236}">
                <a16:creationId xmlns:a16="http://schemas.microsoft.com/office/drawing/2014/main" id="{6A515310-D164-4E90-96A4-A095FD14B1C2}"/>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6A4C93"/>
                </a:solidFill>
                <a:latin typeface="Arial"/>
                <a:ea typeface="Arial"/>
                <a:cs typeface="Arial"/>
              </a:defRPr>
            </a:pPr>
            <a:r>
              <a:rPr sz="1200" b="1">
                <a:solidFill>
                  <a:srgbClr val="6A4C93"/>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956FACC2-3E33-4746-BBA9-7CBB57FF7AF1}"/>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It turns the chapter concept into a concrete dataflow, timeline, or state transition.</a:t>
            </a:r>
          </a:p>
        </p:txBody>
      </p:sp>
      <p:sp>
        <p:nvSpPr>
          <p:cNvPr id="9" name="">
            <a:extLst xmlns:a="http://schemas.openxmlformats.org/drawingml/2006/main">
              <a:ext uri="{FF2B5EF4-FFF2-40B4-BE49-F238E27FC236}">
                <a16:creationId xmlns:a16="http://schemas.microsoft.com/office/drawing/2014/main" id="{11A56664-298B-4009-99B1-0D7402E969B0}"/>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6A4C93"/>
                </a:solidFill>
                <a:latin typeface="Arial"/>
                <a:ea typeface="Arial"/>
                <a:cs typeface="Arial"/>
              </a:defRPr>
            </a:pPr>
            <a:r>
              <a:rPr sz="1200" b="1">
                <a:solidFill>
                  <a:srgbClr val="6A4C93"/>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61F45275-4051-48E7-B172-92395EB02F52}"/>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Check the actors, data direction, operation order, and hidden system assumptions.</a:t>
            </a:r>
          </a:p>
        </p:txBody>
      </p:sp>
    </p:spTree>
    <p:extLst>
      <p:ext uri="{BB962C8B-B14F-4D97-AF65-F5344CB8AC3E}">
        <p14:creationId xmlns:p14="http://schemas.microsoft.com/office/powerpoint/2010/main" val="1309364529"/>
      </p:ext>
    </p:extLst>
  </p:cSld>
</p:sld>
</file>

<file path=ppt/slides/slide17.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0B09344-49BD-46A7-B94C-9CECADD1C4FE}"/>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6A4C93"/>
                </a:solidFill>
                <a:latin typeface="Arial"/>
                <a:ea typeface="Arial"/>
                <a:cs typeface="Arial"/>
              </a:defRPr>
            </a:pPr>
            <a:r>
              <a:rPr sz="1200" b="1" spc="2">
                <a:solidFill>
                  <a:srgbClr val="6A4C93"/>
                </a:solidFill>
                <a:latin typeface="Arial"/>
                <a:ea typeface="Arial"/>
                <a:cs typeface="Arial"/>
              </a:rPr>
              <a:t>CHAPTER 09</a:t>
            </a:r>
          </a:p>
        </p:txBody>
      </p:sp>
      <p:sp>
        <p:nvSpPr>
          <p:cNvPr id="2" name="">
            <a:extLst xmlns:a="http://schemas.openxmlformats.org/drawingml/2006/main">
              <a:ext uri="{FF2B5EF4-FFF2-40B4-BE49-F238E27FC236}">
                <a16:creationId xmlns:a16="http://schemas.microsoft.com/office/drawing/2014/main" id="{D12D3D1E-3081-46BC-853B-559C6DF3973A}"/>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9-7: mechanism explained</a:t>
            </a:r>
          </a:p>
        </p:txBody>
      </p:sp>
      <p:sp>
        <p:nvSpPr>
          <p:cNvPr id="3" name="">
            <a:extLst xmlns:a="http://schemas.openxmlformats.org/drawingml/2006/main">
              <a:ext uri="{FF2B5EF4-FFF2-40B4-BE49-F238E27FC236}">
                <a16:creationId xmlns:a16="http://schemas.microsoft.com/office/drawing/2014/main" id="{F51E8389-DB58-44D3-9CE8-FC05CC4C6462}"/>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17 / 20</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a44dbc0495c44c7"/>
          <a:stretch xmlns:a="http://schemas.openxmlformats.org/drawingml/2006/main"/>
        </p:blipFill>
        <p:spPr>
          <a:xfrm xmlns:a="http://schemas.openxmlformats.org/drawingml/2006/main">
            <a:off x="732326" y="1285875"/>
            <a:ext cx="7326923"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6AC3152-8007-42A0-BFE9-D53D969DE322}"/>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6A4C93"/>
                </a:solidFill>
                <a:latin typeface="Arial"/>
                <a:ea typeface="Arial"/>
                <a:cs typeface="Arial"/>
              </a:defRPr>
            </a:pPr>
            <a:r>
              <a:rPr sz="1200" b="1">
                <a:solidFill>
                  <a:srgbClr val="6A4C93"/>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AC83C01D-3894-41E7-990A-3E76EE5D45F2}"/>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Time or lease assumptions can become stale during clock error, delay, or process pause.</a:t>
            </a:r>
          </a:p>
        </p:txBody>
      </p:sp>
      <p:sp>
        <p:nvSpPr>
          <p:cNvPr id="7" name="">
            <a:extLst xmlns:a="http://schemas.openxmlformats.org/drawingml/2006/main">
              <a:ext uri="{FF2B5EF4-FFF2-40B4-BE49-F238E27FC236}">
                <a16:creationId xmlns:a16="http://schemas.microsoft.com/office/drawing/2014/main" id="{8FA222E5-2254-4BAC-911C-B62C56A7C023}"/>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6A4C93"/>
                </a:solidFill>
                <a:latin typeface="Arial"/>
                <a:ea typeface="Arial"/>
                <a:cs typeface="Arial"/>
              </a:defRPr>
            </a:pPr>
            <a:r>
              <a:rPr sz="1200" b="1">
                <a:solidFill>
                  <a:srgbClr val="6A4C93"/>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1150A0E9-22B0-4D67-B701-25A6BC6749AE}"/>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Fencing tokens let the resource reject operations from an expired owner.</a:t>
            </a:r>
          </a:p>
        </p:txBody>
      </p:sp>
      <p:sp>
        <p:nvSpPr>
          <p:cNvPr id="9" name="">
            <a:extLst xmlns:a="http://schemas.openxmlformats.org/drawingml/2006/main">
              <a:ext uri="{FF2B5EF4-FFF2-40B4-BE49-F238E27FC236}">
                <a16:creationId xmlns:a16="http://schemas.microsoft.com/office/drawing/2014/main" id="{435694DD-4383-4662-893C-D14E23585AA4}"/>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6A4C93"/>
                </a:solidFill>
                <a:latin typeface="Arial"/>
                <a:ea typeface="Arial"/>
                <a:cs typeface="Arial"/>
              </a:defRPr>
            </a:pPr>
            <a:r>
              <a:rPr sz="1200" b="1">
                <a:solidFill>
                  <a:srgbClr val="6A4C93"/>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674B46ED-3054-4FD0-BBDE-11D4FFC03150}"/>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370126858"/>
      </p:ext>
    </p:extLst>
  </p:cSld>
</p:sld>
</file>

<file path=ppt/slides/slide18.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6B404BB-1AA6-435E-BE31-C7D347FDFCAA}"/>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6A4C93"/>
                </a:solidFill>
                <a:latin typeface="Arial"/>
                <a:ea typeface="Arial"/>
                <a:cs typeface="Arial"/>
              </a:defRPr>
            </a:pPr>
            <a:r>
              <a:rPr sz="1200" b="1" spc="2">
                <a:solidFill>
                  <a:srgbClr val="6A4C93"/>
                </a:solidFill>
                <a:latin typeface="Arial"/>
                <a:ea typeface="Arial"/>
                <a:cs typeface="Arial"/>
              </a:rPr>
              <a:t>CHAPTER 09</a:t>
            </a:r>
          </a:p>
        </p:txBody>
      </p:sp>
      <p:sp>
        <p:nvSpPr>
          <p:cNvPr id="2" name="">
            <a:extLst xmlns:a="http://schemas.openxmlformats.org/drawingml/2006/main">
              <a:ext uri="{FF2B5EF4-FFF2-40B4-BE49-F238E27FC236}">
                <a16:creationId xmlns:a16="http://schemas.microsoft.com/office/drawing/2014/main" id="{07182F8D-C574-4758-A7B0-59BC5A541777}"/>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System models</a:t>
            </a:r>
          </a:p>
        </p:txBody>
      </p:sp>
      <p:sp>
        <p:nvSpPr>
          <p:cNvPr id="3" name="">
            <a:extLst xmlns:a="http://schemas.openxmlformats.org/drawingml/2006/main">
              <a:ext uri="{FF2B5EF4-FFF2-40B4-BE49-F238E27FC236}">
                <a16:creationId xmlns:a16="http://schemas.microsoft.com/office/drawing/2014/main" id="{FA6BB5FA-30B7-4E03-8CEA-ABDC1CD22F4A}"/>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18 / 20</a:t>
            </a:r>
          </a:p>
        </p:txBody>
      </p:sp>
      <p:sp>
        <p:nvSpPr>
          <p:cNvPr id="4" name="">
            <a:extLst xmlns:a="http://schemas.openxmlformats.org/drawingml/2006/main">
              <a:ext uri="{FF2B5EF4-FFF2-40B4-BE49-F238E27FC236}">
                <a16:creationId xmlns:a16="http://schemas.microsoft.com/office/drawing/2014/main" id="{F5654CD2-530E-48CD-ADDB-1DCD0CE208C7}"/>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6A4C93"/>
                </a:solidFill>
                <a:latin typeface="Arial"/>
                <a:ea typeface="Arial"/>
                <a:cs typeface="Arial"/>
              </a:defRPr>
            </a:pPr>
            <a:r>
              <a:rPr sz="6750" b="1">
                <a:solidFill>
                  <a:srgbClr val="6A4C93"/>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90783A88-7BA4-41AA-A639-CDD04458262E}"/>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A model states assumptions about delay, pauses, and failure types.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Byzantine faults allow arbitrary or malicious behavior.</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Formal methods and randomized testing expose rare concurrency errors.</a:t>
            </a:r>
          </a:p>
        </p:txBody>
      </p:sp>
      <p:sp>
        <p:nvSpPr>
          <p:cNvPr id="6" name="">
            <a:extLst xmlns:a="http://schemas.openxmlformats.org/drawingml/2006/main">
              <a:ext uri="{FF2B5EF4-FFF2-40B4-BE49-F238E27FC236}">
                <a16:creationId xmlns:a16="http://schemas.microsoft.com/office/drawing/2014/main" id="{40B784B2-DA4A-4424-99AA-CC1AFE405E44}"/>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6A4C93"/>
                </a:solidFill>
                <a:latin typeface="Arial"/>
                <a:ea typeface="Arial"/>
                <a:cs typeface="Arial"/>
              </a:defRPr>
            </a:pPr>
            <a:r>
              <a:rPr sz="1200" b="1">
                <a:solidFill>
                  <a:srgbClr val="6A4C93"/>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B54890AD-CAA1-46D0-8C76-C6E2BBA991D1}"/>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2112453962"/>
      </p:ext>
    </p:extLst>
  </p:cSld>
</p:sld>
</file>

<file path=ppt/slides/slide19.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5FC32D2-39B6-4A04-87DF-3AA70BECD6A5}"/>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6A4C93"/>
                </a:solidFill>
                <a:latin typeface="Arial"/>
                <a:ea typeface="Arial"/>
                <a:cs typeface="Arial"/>
              </a:defRPr>
            </a:pPr>
            <a:r>
              <a:rPr sz="1200" b="1" spc="2">
                <a:solidFill>
                  <a:srgbClr val="6A4C93"/>
                </a:solidFill>
                <a:latin typeface="Arial"/>
                <a:ea typeface="Arial"/>
                <a:cs typeface="Arial"/>
              </a:rPr>
              <a:t>CHAPTER 09</a:t>
            </a:r>
          </a:p>
        </p:txBody>
      </p:sp>
      <p:sp>
        <p:nvSpPr>
          <p:cNvPr id="2" name="">
            <a:extLst xmlns:a="http://schemas.openxmlformats.org/drawingml/2006/main">
              <a:ext uri="{FF2B5EF4-FFF2-40B4-BE49-F238E27FC236}">
                <a16:creationId xmlns:a16="http://schemas.microsoft.com/office/drawing/2014/main" id="{2A051FEA-CC06-43D5-A09A-4049CC29A877}"/>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System models: design trade-offs</a:t>
            </a:r>
          </a:p>
        </p:txBody>
      </p:sp>
      <p:sp>
        <p:nvSpPr>
          <p:cNvPr id="3" name="">
            <a:extLst xmlns:a="http://schemas.openxmlformats.org/drawingml/2006/main">
              <a:ext uri="{FF2B5EF4-FFF2-40B4-BE49-F238E27FC236}">
                <a16:creationId xmlns:a16="http://schemas.microsoft.com/office/drawing/2014/main" id="{F1CE191D-78B0-4487-A07E-07B27BA4DB09}"/>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19 / 20</a:t>
            </a:r>
          </a:p>
        </p:txBody>
      </p:sp>
      <p:sp>
        <p:nvSpPr>
          <p:cNvPr id="4" name="">
            <a:extLst xmlns:a="http://schemas.openxmlformats.org/drawingml/2006/main">
              <a:ext uri="{FF2B5EF4-FFF2-40B4-BE49-F238E27FC236}">
                <a16:creationId xmlns:a16="http://schemas.microsoft.com/office/drawing/2014/main" id="{55D495DC-2D0D-4917-9BA0-A7A78E489BBA}"/>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6A4C93"/>
                </a:solidFill>
                <a:latin typeface="Arial"/>
                <a:ea typeface="Arial"/>
                <a:cs typeface="Arial"/>
              </a:defRPr>
            </a:pPr>
            <a:r>
              <a:rPr sz="6750" b="1">
                <a:solidFill>
                  <a:srgbClr val="6A4C93"/>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7DD30712-EB05-4D42-BF23-A4C10D7A1D52}"/>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A model states assumptions about delay, pauses, and failure types.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1902097204"/>
      </p:ext>
    </p:extLst>
  </p:cSld>
</p:sld>
</file>

<file path=ppt/slides/slide20.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9CE0CF4-8B3D-4775-9E61-149AD3780E75}"/>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6A4C93"/>
                </a:solidFill>
                <a:latin typeface="Arial"/>
                <a:ea typeface="Arial"/>
                <a:cs typeface="Arial"/>
              </a:defRPr>
            </a:pPr>
            <a:r>
              <a:rPr sz="1200" b="1" spc="2">
                <a:solidFill>
                  <a:srgbClr val="6A4C93"/>
                </a:solidFill>
                <a:latin typeface="Arial"/>
                <a:ea typeface="Arial"/>
                <a:cs typeface="Arial"/>
              </a:rPr>
              <a:t>CHAPTER 09</a:t>
            </a:r>
          </a:p>
        </p:txBody>
      </p:sp>
      <p:sp>
        <p:nvSpPr>
          <p:cNvPr id="2" name="">
            <a:extLst xmlns:a="http://schemas.openxmlformats.org/drawingml/2006/main">
              <a:ext uri="{FF2B5EF4-FFF2-40B4-BE49-F238E27FC236}">
                <a16:creationId xmlns:a16="http://schemas.microsoft.com/office/drawing/2014/main" id="{5EC4E18A-E0B2-4959-82E4-5376B23D0E39}"/>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Review and application</a:t>
            </a:r>
          </a:p>
        </p:txBody>
      </p:sp>
      <p:sp>
        <p:nvSpPr>
          <p:cNvPr id="3" name="">
            <a:extLst xmlns:a="http://schemas.openxmlformats.org/drawingml/2006/main">
              <a:ext uri="{FF2B5EF4-FFF2-40B4-BE49-F238E27FC236}">
                <a16:creationId xmlns:a16="http://schemas.microsoft.com/office/drawing/2014/main" id="{370280BE-2AF4-4297-A72C-9ADEB8DB949B}"/>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20 / 20</a:t>
            </a:r>
          </a:p>
        </p:txBody>
      </p:sp>
      <p:sp>
        <p:nvSpPr>
          <p:cNvPr id="4" name="">
            <a:extLst xmlns:a="http://schemas.openxmlformats.org/drawingml/2006/main">
              <a:ext uri="{FF2B5EF4-FFF2-40B4-BE49-F238E27FC236}">
                <a16:creationId xmlns:a16="http://schemas.microsoft.com/office/drawing/2014/main" id="{A3522D8F-267F-4649-96BC-BF2C91AE06AE}"/>
              </a:ext>
            </a:extLst>
          </p:cNvPr>
          <p:cNvSpPr>
            <a:spLocks xmlns:a="http://schemas.openxmlformats.org/drawingml/2006/main" noGrp="1"/>
          </p:cNvSpPr>
          <p:nvPr/>
        </p:nvSpPr>
        <p:spPr>
          <a:xfrm xmlns:a="http://schemas.openxmlformats.org/drawingml/2006/main">
            <a:off x="1285875" y="1666875"/>
            <a:ext cx="9525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800">
                <a:solidFill>
                  <a:srgbClr val="17324D"/>
                </a:solidFill>
                <a:latin typeface="Arial"/>
                <a:ea typeface="Arial"/>
                <a:cs typeface="Arial"/>
              </a:defRPr>
            </a:pPr>
            <a:r>
              <a:rPr sz="1800">
                <a:solidFill>
                  <a:srgbClr val="17324D"/>
                </a:solidFill>
                <a:latin typeface="Arial"/>
                <a:ea typeface="Arial"/>
                <a:cs typeface="Arial"/>
              </a:rPr>
              <a:t>State the chapter’s central problem in one sentence.</a:t>
            </a:r>
          </a:p>
          <a:p xmlns:a="http://schemas.openxmlformats.org/drawingml/2006/main">
            <a:pPr marL="228600" indent="-114300">
              <a:spcAft>
                <a:spcPts val="1000"/>
              </a:spcAft>
              <a:buChar char="•"/>
              <a:defRPr sz="1800">
                <a:solidFill>
                  <a:srgbClr val="17324D"/>
                </a:solidFill>
                <a:latin typeface="Arial"/>
                <a:ea typeface="Arial"/>
                <a:cs typeface="Arial"/>
              </a:defRPr>
            </a:pPr>
            <a:r>
              <a:rPr sz="1800">
                <a:solidFill>
                  <a:srgbClr val="17324D"/>
                </a:solidFill>
                <a:latin typeface="Arial"/>
                <a:ea typeface="Arial"/>
                <a:cs typeface="Arial"/>
              </a:rPr>
              <a:t>Choose one mechanism and list the assumptions it relies on.</a:t>
            </a:r>
          </a:p>
          <a:p xmlns:a="http://schemas.openxmlformats.org/drawingml/2006/main">
            <a:pPr marL="228600" indent="-114300">
              <a:spcAft>
                <a:spcPts val="1000"/>
              </a:spcAft>
              <a:buChar char="•"/>
              <a:defRPr sz="1800">
                <a:solidFill>
                  <a:srgbClr val="17324D"/>
                </a:solidFill>
                <a:latin typeface="Arial"/>
                <a:ea typeface="Arial"/>
                <a:cs typeface="Arial"/>
              </a:defRPr>
            </a:pPr>
            <a:r>
              <a:rPr sz="1800">
                <a:solidFill>
                  <a:srgbClr val="17324D"/>
                </a:solidFill>
                <a:latin typeface="Arial"/>
                <a:ea typeface="Arial"/>
                <a:cs typeface="Arial"/>
              </a:rPr>
              <a:t>Describe a failure scenario and explain the recovery path.</a:t>
            </a:r>
          </a:p>
          <a:p xmlns:a="http://schemas.openxmlformats.org/drawingml/2006/main">
            <a:pPr marL="228600" indent="-114300">
              <a:spcAft>
                <a:spcPts val="1000"/>
              </a:spcAft>
              <a:buChar char="•"/>
              <a:defRPr sz="1800">
                <a:solidFill>
                  <a:srgbClr val="17324D"/>
                </a:solidFill>
                <a:latin typeface="Arial"/>
                <a:ea typeface="Arial"/>
                <a:cs typeface="Arial"/>
              </a:defRPr>
            </a:pPr>
            <a:r>
              <a:rPr sz="1800">
                <a:solidFill>
                  <a:srgbClr val="17324D"/>
                </a:solidFill>
                <a:latin typeface="Arial"/>
                <a:ea typeface="Arial"/>
                <a:cs typeface="Arial"/>
              </a:rPr>
              <a:t>Apply one trade-off from the chapter to a system you are designing.</a:t>
            </a:r>
          </a:p>
        </p:txBody>
      </p:sp>
    </p:spTree>
    <p:extLst>
      <p:ext uri="{BB962C8B-B14F-4D97-AF65-F5344CB8AC3E}">
        <p14:creationId xmlns:p14="http://schemas.microsoft.com/office/powerpoint/2010/main" val="17118770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2026-09-27T19:47:37.5500000Z</dcterms:created>
  <dcterms:modified xsi:type="dcterms:W3CDTF">2026-09-27T19:47:37.5500000Z</dcterms:modified>
</coreProperties>
</file>