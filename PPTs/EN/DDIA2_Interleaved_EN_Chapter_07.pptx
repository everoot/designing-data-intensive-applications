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74e7e7ab0cc4a6d" /><Relationship Type="http://schemas.openxmlformats.org/officeDocument/2006/relationships/extended-properties" Target="/docProps/app.xml" Id="R4147aba7a0aa409e" /><Relationship Type="http://schemas.openxmlformats.org/officeDocument/2006/relationships/officeDocument" Target="/ppt/presentation.xml" Id="Rf2211e3f99e84c24" /></Relationships>
</file>

<file path=ppt/presentation.xml><?xml version="1.0" encoding="utf-8"?>
<p:presentation xmlns:p="http://schemas.openxmlformats.org/presentationml/2006/main">
  <p:sldMasterIdLst>
    <p:sldMasterId xmlns:r="http://schemas.openxmlformats.org/officeDocument/2006/relationships" id="2147483648" r:id="Rd743fc2c194d4967"/>
  </p:sldMasterIdLst>
  <p:notesMasterIdLst>
    <p:notesMasterId xmlns:r="http://schemas.openxmlformats.org/officeDocument/2006/relationships" r:id="R0e39fc190b7b46ab"/>
  </p:notesMasterIdLst>
  <p:sldIdLst>
    <p:sldId xmlns:r="http://schemas.openxmlformats.org/officeDocument/2006/relationships" id="256" r:id="Rb28f065691084557"/>
    <p:sldId xmlns:r="http://schemas.openxmlformats.org/officeDocument/2006/relationships" id="257" r:id="Rae9c4ed334f74c00"/>
    <p:sldId xmlns:r="http://schemas.openxmlformats.org/officeDocument/2006/relationships" id="258" r:id="Rf1c4832b0c6241b2"/>
    <p:sldId xmlns:r="http://schemas.openxmlformats.org/officeDocument/2006/relationships" id="259" r:id="Ra2f132ee59004638"/>
    <p:sldId xmlns:r="http://schemas.openxmlformats.org/officeDocument/2006/relationships" id="260" r:id="Rd729581436b642be"/>
    <p:sldId xmlns:r="http://schemas.openxmlformats.org/officeDocument/2006/relationships" id="261" r:id="R2448daccc9754c5e"/>
    <p:sldId xmlns:r="http://schemas.openxmlformats.org/officeDocument/2006/relationships" id="262" r:id="R4b31445cad034a18"/>
    <p:sldId xmlns:r="http://schemas.openxmlformats.org/officeDocument/2006/relationships" id="263" r:id="Rbf6c881bbf994248"/>
    <p:sldId xmlns:r="http://schemas.openxmlformats.org/officeDocument/2006/relationships" id="264" r:id="R0151c34a0a644e14"/>
    <p:sldId xmlns:r="http://schemas.openxmlformats.org/officeDocument/2006/relationships" id="265" r:id="Re69aa309426843df"/>
    <p:sldId xmlns:r="http://schemas.openxmlformats.org/officeDocument/2006/relationships" id="266" r:id="Rf664bd88ea014f4e"/>
    <p:sldId xmlns:r="http://schemas.openxmlformats.org/officeDocument/2006/relationships" id="267" r:id="R247a8c4da2ee4dd3"/>
    <p:sldId xmlns:r="http://schemas.openxmlformats.org/officeDocument/2006/relationships" id="268" r:id="R885efa3a447e4b92"/>
    <p:sldId xmlns:r="http://schemas.openxmlformats.org/officeDocument/2006/relationships" id="269" r:id="R223def9b4c9d4e62"/>
    <p:sldId xmlns:r="http://schemas.openxmlformats.org/officeDocument/2006/relationships" id="270" r:id="Rd8124f34f868460a"/>
    <p:sldId xmlns:r="http://schemas.openxmlformats.org/officeDocument/2006/relationships" id="271" r:id="R76fa281a9c604711"/>
    <p:sldId xmlns:r="http://schemas.openxmlformats.org/officeDocument/2006/relationships" id="272" r:id="Rca087508fd5f4bfd"/>
    <p:sldId xmlns:r="http://schemas.openxmlformats.org/officeDocument/2006/relationships" id="273" r:id="R7a428c0315db4c3e"/>
    <p:sldId xmlns:r="http://schemas.openxmlformats.org/officeDocument/2006/relationships" id="274" r:id="Rfd81b8ac3835426f"/>
    <p:sldId xmlns:r="http://schemas.openxmlformats.org/officeDocument/2006/relationships" id="275" r:id="Ra6f43a5cb1554815"/>
    <p:sldId xmlns:r="http://schemas.openxmlformats.org/officeDocument/2006/relationships" id="276" r:id="R702729863a8a4982"/>
    <p:sldId xmlns:r="http://schemas.openxmlformats.org/officeDocument/2006/relationships" id="277" r:id="Rd34ba28e69b142b7"/>
    <p:sldId xmlns:r="http://schemas.openxmlformats.org/officeDocument/2006/relationships" id="278" r:id="R3f46934a0fa84d5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cbeba3ba0c44365" /><Relationship Type="http://schemas.openxmlformats.org/officeDocument/2006/relationships/slideMaster" Target="/ppt/slideMasters/slideMaster1.xml" Id="Rd743fc2c194d4967" /><Relationship Type="http://schemas.openxmlformats.org/officeDocument/2006/relationships/notesMaster" Target="/ppt/notesMasters/notesMaster1.xml" Id="R0e39fc190b7b46ab" /><Relationship Type="http://schemas.openxmlformats.org/officeDocument/2006/relationships/presProps" Target="/ppt/presProps.xml" Id="R015d40315b1840ca" /><Relationship Type="http://schemas.openxmlformats.org/officeDocument/2006/relationships/tableStyles" Target="/ppt/tableStyles.xml" Id="R040fe743602d497c" /><Relationship Type="http://schemas.openxmlformats.org/officeDocument/2006/relationships/slide" Target="/ppt/slides/slide1.xml" Id="Rb28f065691084557" /><Relationship Type="http://schemas.openxmlformats.org/officeDocument/2006/relationships/slide" Target="/ppt/slides/slide2.xml" Id="Rae9c4ed334f74c00" /><Relationship Type="http://schemas.openxmlformats.org/officeDocument/2006/relationships/slide" Target="/ppt/slides/slide3.xml" Id="Rf1c4832b0c6241b2" /><Relationship Type="http://schemas.openxmlformats.org/officeDocument/2006/relationships/slide" Target="/ppt/slides/slide4.xml" Id="Ra2f132ee59004638" /><Relationship Type="http://schemas.openxmlformats.org/officeDocument/2006/relationships/slide" Target="/ppt/slides/slide5.xml" Id="Rd729581436b642be" /><Relationship Type="http://schemas.openxmlformats.org/officeDocument/2006/relationships/slide" Target="/ppt/slides/slide6.xml" Id="R2448daccc9754c5e" /><Relationship Type="http://schemas.openxmlformats.org/officeDocument/2006/relationships/slide" Target="/ppt/slides/slide7.xml" Id="R4b31445cad034a18" /><Relationship Type="http://schemas.openxmlformats.org/officeDocument/2006/relationships/slide" Target="/ppt/slides/slide8.xml" Id="Rbf6c881bbf994248" /><Relationship Type="http://schemas.openxmlformats.org/officeDocument/2006/relationships/slide" Target="/ppt/slides/slide9.xml" Id="R0151c34a0a644e14" /><Relationship Type="http://schemas.openxmlformats.org/officeDocument/2006/relationships/slide" Target="/ppt/slides/slide10.xml" Id="Re69aa309426843df" /><Relationship Type="http://schemas.openxmlformats.org/officeDocument/2006/relationships/slide" Target="/ppt/slides/slide11.xml" Id="Rf664bd88ea014f4e" /><Relationship Type="http://schemas.openxmlformats.org/officeDocument/2006/relationships/slide" Target="/ppt/slides/slide12.xml" Id="R247a8c4da2ee4dd3" /><Relationship Type="http://schemas.openxmlformats.org/officeDocument/2006/relationships/slide" Target="/ppt/slides/slide13.xml" Id="R885efa3a447e4b92" /><Relationship Type="http://schemas.openxmlformats.org/officeDocument/2006/relationships/slide" Target="/ppt/slides/slide14.xml" Id="R223def9b4c9d4e62" /><Relationship Type="http://schemas.openxmlformats.org/officeDocument/2006/relationships/slide" Target="/ppt/slides/slide15.xml" Id="Rd8124f34f868460a" /><Relationship Type="http://schemas.openxmlformats.org/officeDocument/2006/relationships/slide" Target="/ppt/slides/slide16.xml" Id="R76fa281a9c604711" /><Relationship Type="http://schemas.openxmlformats.org/officeDocument/2006/relationships/slide" Target="/ppt/slides/slide17.xml" Id="Rca087508fd5f4bfd" /><Relationship Type="http://schemas.openxmlformats.org/officeDocument/2006/relationships/slide" Target="/ppt/slides/slide18.xml" Id="R7a428c0315db4c3e" /><Relationship Type="http://schemas.openxmlformats.org/officeDocument/2006/relationships/slide" Target="/ppt/slides/slide19.xml" Id="Rfd81b8ac3835426f" /><Relationship Type="http://schemas.openxmlformats.org/officeDocument/2006/relationships/slide" Target="/ppt/slides/slide20.xml" Id="Ra6f43a5cb1554815" /><Relationship Type="http://schemas.openxmlformats.org/officeDocument/2006/relationships/slide" Target="/ppt/slides/slide21.xml" Id="R702729863a8a4982" /><Relationship Type="http://schemas.openxmlformats.org/officeDocument/2006/relationships/slide" Target="/ppt/slides/slide22.xml" Id="Rd34ba28e69b142b7" /><Relationship Type="http://schemas.openxmlformats.org/officeDocument/2006/relationships/slide" Target="/ppt/slides/slide23.xml" Id="R3f46934a0fa84d5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032cd6beb8b4c4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4a1f72db1094c52" /><Relationship Type="http://schemas.openxmlformats.org/officeDocument/2006/relationships/notesMaster" Target="/ppt/notesMasters/notesMaster1.xml" Id="R11c8f3a2f1974a4d" /></Relationships>
</file>

<file path=ppt/notesSlides/_rels/notesSlide2.xml.rels>&#65279;<?xml version="1.0" encoding="utf-8"?><Relationships xmlns="http://schemas.openxmlformats.org/package/2006/relationships"><Relationship Type="http://schemas.openxmlformats.org/officeDocument/2006/relationships/slide" Target="/ppt/slides/slide2.xml" Id="R03e046bf83b14885" /><Relationship Type="http://schemas.openxmlformats.org/officeDocument/2006/relationships/notesMaster" Target="/ppt/notesMasters/notesMaster1.xml" Id="R780c49595151467a" /></Relationships>
</file>

<file path=ppt/notesSlides/_rels/notesSlide3.xml.rels>&#65279;<?xml version="1.0" encoding="utf-8"?><Relationships xmlns="http://schemas.openxmlformats.org/package/2006/relationships"><Relationship Type="http://schemas.openxmlformats.org/officeDocument/2006/relationships/slide" Target="/ppt/slides/slide3.xml" Id="R5546e0333257449a" /><Relationship Type="http://schemas.openxmlformats.org/officeDocument/2006/relationships/notesMaster" Target="/ppt/notesMasters/notesMaster1.xml" Id="R8e78f86400f64173" /></Relationships>
</file>

<file path=ppt/notesSlides/_rels/notesSlide4.xml.rels>&#65279;<?xml version="1.0" encoding="utf-8"?><Relationships xmlns="http://schemas.openxmlformats.org/package/2006/relationships"><Relationship Type="http://schemas.openxmlformats.org/officeDocument/2006/relationships/slide" Target="/ppt/slides/slide4.xml" Id="Rcdde509359ca4490" /><Relationship Type="http://schemas.openxmlformats.org/officeDocument/2006/relationships/notesMaster" Target="/ppt/notesMasters/notesMaster1.xml" Id="R9f574e0e190e4dc1" /></Relationships>
</file>

<file path=ppt/notesSlides/_rels/notesSlide5.xml.rels>&#65279;<?xml version="1.0" encoding="utf-8"?><Relationships xmlns="http://schemas.openxmlformats.org/package/2006/relationships"><Relationship Type="http://schemas.openxmlformats.org/officeDocument/2006/relationships/slide" Target="/ppt/slides/slide5.xml" Id="R479ad30899e9471c" /><Relationship Type="http://schemas.openxmlformats.org/officeDocument/2006/relationships/notesMaster" Target="/ppt/notesMasters/notesMaster1.xml" Id="R78e8e953a0d74fd9" /></Relationships>
</file>

<file path=ppt/notesSlides/_rels/notesSlide6.xml.rels>&#65279;<?xml version="1.0" encoding="utf-8"?><Relationships xmlns="http://schemas.openxmlformats.org/package/2006/relationships"><Relationship Type="http://schemas.openxmlformats.org/officeDocument/2006/relationships/slide" Target="/ppt/slides/slide6.xml" Id="R6722a6fbb6604880" /><Relationship Type="http://schemas.openxmlformats.org/officeDocument/2006/relationships/notesMaster" Target="/ppt/notesMasters/notesMaster1.xml" Id="R69d2fb50f7114bd6" /></Relationships>
</file>

<file path=ppt/notesSlides/_rels/notesSlide7.xml.rels>&#65279;<?xml version="1.0" encoding="utf-8"?><Relationships xmlns="http://schemas.openxmlformats.org/package/2006/relationships"><Relationship Type="http://schemas.openxmlformats.org/officeDocument/2006/relationships/slide" Target="/ppt/slides/slide7.xml" Id="R4143ceef79b345ef" /><Relationship Type="http://schemas.openxmlformats.org/officeDocument/2006/relationships/notesMaster" Target="/ppt/notesMasters/notesMaster1.xml" Id="Ra028808bc3b04c3f" /></Relationships>
</file>

<file path=ppt/notesSlides/_rels/notesSlide8.xml.rels>&#65279;<?xml version="1.0" encoding="utf-8"?><Relationships xmlns="http://schemas.openxmlformats.org/package/2006/relationships"><Relationship Type="http://schemas.openxmlformats.org/officeDocument/2006/relationships/slide" Target="/ppt/slides/slide8.xml" Id="Raacaee0d7bca4ab7" /><Relationship Type="http://schemas.openxmlformats.org/officeDocument/2006/relationships/notesMaster" Target="/ppt/notesMasters/notesMaster1.xml" Id="R0b8280cb4e98444f" /></Relationships>
</file>

<file path=ppt/notesSlides/_rels/notesSlide9.xml.rels>&#65279;<?xml version="1.0" encoding="utf-8"?><Relationships xmlns="http://schemas.openxmlformats.org/package/2006/relationships"><Relationship Type="http://schemas.openxmlformats.org/officeDocument/2006/relationships/slide" Target="/ppt/slides/slide9.xml" Id="Rdf6ff81fb3474901" /><Relationship Type="http://schemas.openxmlformats.org/officeDocument/2006/relationships/notesMaster" Target="/ppt/notesMasters/notesMaster1.xml" Id="R74e6c8aad9aa441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7610f8413404f5f" /><Relationship Type="http://schemas.openxmlformats.org/officeDocument/2006/relationships/notesMaster" Target="/ppt/notesMasters/notesMaster1.xml" Id="Rb964d9bfa1a74b3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8e968dbe3c34420" /><Relationship Type="http://schemas.openxmlformats.org/officeDocument/2006/relationships/notesMaster" Target="/ppt/notesMasters/notesMaster1.xml" Id="R319afc075bf84ed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966413688964198" /><Relationship Type="http://schemas.openxmlformats.org/officeDocument/2006/relationships/notesMaster" Target="/ppt/notesMasters/notesMaster1.xml" Id="R8f11aca1b78b449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00cccc4f8474638" /><Relationship Type="http://schemas.openxmlformats.org/officeDocument/2006/relationships/notesMaster" Target="/ppt/notesMasters/notesMaster1.xml" Id="R24f136233312449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c8c79ce20ef452c" /><Relationship Type="http://schemas.openxmlformats.org/officeDocument/2006/relationships/notesMaster" Target="/ppt/notesMasters/notesMaster1.xml" Id="R39cb35f6f561456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1e7b75ad07a4f41" /><Relationship Type="http://schemas.openxmlformats.org/officeDocument/2006/relationships/notesMaster" Target="/ppt/notesMasters/notesMaster1.xml" Id="Ra9cf8bbe46c746b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53e151371a6472f" /><Relationship Type="http://schemas.openxmlformats.org/officeDocument/2006/relationships/notesMaster" Target="/ppt/notesMasters/notesMaster1.xml" Id="R33d272a2d334449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cfbff7ab73c4615" /><Relationship Type="http://schemas.openxmlformats.org/officeDocument/2006/relationships/notesMaster" Target="/ppt/notesMasters/notesMaster1.xml" Id="R6782da5fc1444da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d68d13a441846f0" /><Relationship Type="http://schemas.openxmlformats.org/officeDocument/2006/relationships/notesMaster" Target="/ppt/notesMasters/notesMaster1.xml" Id="R43a1d4f50d014ed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ab56faa43b84164" /><Relationship Type="http://schemas.openxmlformats.org/officeDocument/2006/relationships/notesMaster" Target="/ppt/notesMasters/notesMaster1.xml" Id="Rc3efd4ec2c71432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96f02217ae54b1b" /><Relationship Type="http://schemas.openxmlformats.org/officeDocument/2006/relationships/notesMaster" Target="/ppt/notesMasters/notesMaster1.xml" Id="R2bffe32303e9472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00144b1f9c5430a" /><Relationship Type="http://schemas.openxmlformats.org/officeDocument/2006/relationships/notesMaster" Target="/ppt/notesMasters/notesMaster1.xml" Id="R368493bea7b5476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61c630c5a904ee5" /><Relationship Type="http://schemas.openxmlformats.org/officeDocument/2006/relationships/notesMaster" Target="/ppt/notesMasters/notesMaster1.xml" Id="Re4b0dd28b90d449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9af57868cac4703" /><Relationship Type="http://schemas.openxmlformats.org/officeDocument/2006/relationships/notesMaster" Target="/ppt/notesMasters/notesMaster1.xml" Id="R504358e4144444d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7, book pages 251-271.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7, book pages 251-271.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7, book pages 251-271.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7, book pages 251-271.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7, book pages 251-271. Figure 7-1, PDF page 276. Original caption: Figure 7-1. Combining replication and sharding: each node acts as leader for some</a:t>
            </a:r>
          </a:p>
          <a:p xmlns:a="http://schemas.openxmlformats.org/drawingml/2006/main">
            <a:r>
              <a:t>Explanation: Keys, requests, or index entries are assigned across partitions. The assignment controls balance, range locality, routing work, and rebalancing cost.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7, book pages 251-271.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7, book pages 251-271.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7, book pages 251-271. Figure 7-2, PDF page 280. Original caption: Figure 7-2. A print encyclopedia is sharded by key range.</a:t>
            </a:r>
          </a:p>
          <a:p xmlns:a="http://schemas.openxmlformats.org/drawingml/2006/main">
            <a:r>
              <a:t>Explanation: Keys, requests, or index entries are assigned across partitions. The assignment controls balance, range locality, routing work, and rebalancing cost.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7, book pages 251-271.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7, book pages 251-271.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7, book pages 251-271. Figure 7-3, PDF page 283. Original caption: Figure 7-3. Assigning keys to nodes by hashing the key and taking it modulo the number</a:t>
            </a:r>
          </a:p>
          <a:p xmlns:a="http://schemas.openxmlformats.org/drawingml/2006/main">
            <a:r>
              <a:t>Explanation: Assigning keys to nodes by hashing the key and taking it modulo the number It turns the chapter concept into a concrete dataflow, timeline, or state transition. Check the actors, data direction, operation order, and hidden system assumptions.</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7, book pages 251-271. Figure 7-4, PDF page 284. Original caption: Figure 7-4. Adding a new node to a database cluster with multiple shards per node</a:t>
            </a:r>
          </a:p>
          <a:p xmlns:a="http://schemas.openxmlformats.org/drawingml/2006/main">
            <a:r>
              <a:t>Explanation: Keys, requests, or index entries are assigned across partitions. The assignment controls balance, range locality, routing work, and rebalancing cost.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7, book pages 251-271. Figure 7-5, PDF page 285. Original caption: Figure 7-5. Assigning a contiguous range of hash values to each shard</a:t>
            </a:r>
          </a:p>
          <a:p xmlns:a="http://schemas.openxmlformats.org/drawingml/2006/main">
            <a:r>
              <a:t>Explanation: Keys, requests, or index entries are assigned across partitions. The assignment controls balance, range locality, routing work, and rebalancing cost.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7, book pages 251-271. Figure 7-6, PDF page 286. Original caption: Figure 7-6. Cassandra and ScyllaDB split the range of possible hash values (here 0–1024)</a:t>
            </a:r>
          </a:p>
          <a:p xmlns:a="http://schemas.openxmlformats.org/drawingml/2006/main">
            <a:r>
              <a:t>Explanation: Keys, requests, or index entries are assigned across partitions. The assignment controls balance, range locality, routing work, and rebalancing cost.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7, book pages 251-271.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7, book pages 251-271.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7, book pages 251-271.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7, book pages 251-271.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7, book pages 251-271. Figure 7-7, PDF page 290. Original caption: Figure 7-7. Three ways of routing a request to the right node</a:t>
            </a:r>
          </a:p>
          <a:p xmlns:a="http://schemas.openxmlformats.org/drawingml/2006/main">
            <a:r>
              <a:t>Explanation: Keys, requests, or index entries are assigned across partitions. The assignment controls balance, range locality, routing work, and rebalancing cost.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7, book pages 251-271. Figure 7-8, PDF page 291. Original caption: Figure 7-8. Using ZooKeeper to keep track of the assignment of shards to nodes</a:t>
            </a:r>
          </a:p>
          <a:p xmlns:a="http://schemas.openxmlformats.org/drawingml/2006/main">
            <a:r>
              <a:t>Explanation: Keys, requests, or index entries are assigned across partitions. The assignment controls balance, range locality, routing work, and rebalancing cost.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7, book pages 251-271. Figure 7-9, PDF page 293. Original caption: Figure 7-9. With local secondary indexes, each shard indexes only the records it contains.</a:t>
            </a:r>
          </a:p>
          <a:p xmlns:a="http://schemas.openxmlformats.org/drawingml/2006/main">
            <a:r>
              <a:t>Explanation: Keys, requests, or index entries are assigned across partitions. The assignment controls balance, range locality, routing work, and rebalancing cost.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7, book pages 251-271. Figure 7-10, PDF page 294. Original caption: Figure 7-10. A global secondary index reflects data from all shards and is itself sharded</a:t>
            </a:r>
          </a:p>
          <a:p xmlns:a="http://schemas.openxmlformats.org/drawingml/2006/main">
            <a:r>
              <a:t>Explanation: Keys, requests, or index entries are assigned across partitions. The assignment controls balance, range locality, routing work, and rebalancing cost.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7, book pages 251-271.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fbb72afcf404cb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bb0b7bc6e8f4b52" /><Relationship Type="http://schemas.openxmlformats.org/officeDocument/2006/relationships/slideLayout" Target="/ppt/slideLayouts/slideLayout1.xml" Id="R1786a552be39468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786a552be39468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461f605871045d9" /><Relationship Type="http://schemas.openxmlformats.org/officeDocument/2006/relationships/notesSlide" Target="/ppt/notesSlides/notesSlide1.xml" Id="R832e538a3a824d9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7fa5a60402f4d7a" /><Relationship Type="http://schemas.openxmlformats.org/officeDocument/2006/relationships/notesSlide" Target="/ppt/notesSlides/notesSlide2.xml" Id="R257922eda538408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b44a7ef263b4202" /><Relationship Type="http://schemas.openxmlformats.org/officeDocument/2006/relationships/notesSlide" Target="/ppt/notesSlides/notesSlide3.xml" Id="Rdaa1434d87be42a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d82d1cd91f94e32" /><Relationship Type="http://schemas.openxmlformats.org/officeDocument/2006/relationships/notesSlide" Target="/ppt/notesSlides/notesSlide4.xml" Id="Rad124b2ced6a4eb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ed2fadc5dfc464a" /><Relationship Type="http://schemas.openxmlformats.org/officeDocument/2006/relationships/image" Target="/ppt/media/image.png" Id="R6f23d7d989d74533" /><Relationship Type="http://schemas.openxmlformats.org/officeDocument/2006/relationships/notesSlide" Target="/ppt/notesSlides/notesSlide5.xml" Id="Rca9270f9f262453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78d3fd5e66d4e6f" /><Relationship Type="http://schemas.openxmlformats.org/officeDocument/2006/relationships/notesSlide" Target="/ppt/notesSlides/notesSlide6.xml" Id="Rb77f03ab3b93470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7fc6ef32e834bb5" /><Relationship Type="http://schemas.openxmlformats.org/officeDocument/2006/relationships/notesSlide" Target="/ppt/notesSlides/notesSlide7.xml" Id="R0f961f23eedd4a2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cc5f1acae5e431b" /><Relationship Type="http://schemas.openxmlformats.org/officeDocument/2006/relationships/image" Target="/ppt/media/image2.png" Id="R11d9aed37a25482a" /><Relationship Type="http://schemas.openxmlformats.org/officeDocument/2006/relationships/notesSlide" Target="/ppt/notesSlides/notesSlide8.xml" Id="R38b23f5573da4dd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f5ba14b4ad24544" /><Relationship Type="http://schemas.openxmlformats.org/officeDocument/2006/relationships/notesSlide" Target="/ppt/notesSlides/notesSlide9.xml" Id="R7d8aea62e51c493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b24b9e30f104c88" /><Relationship Type="http://schemas.openxmlformats.org/officeDocument/2006/relationships/notesSlide" Target="/ppt/notesSlides/notesSlide10.xml" Id="R5890004749b9403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4dd5340c25444cc" /><Relationship Type="http://schemas.openxmlformats.org/officeDocument/2006/relationships/image" Target="/ppt/media/image3.png" Id="R3880da831bf04371" /><Relationship Type="http://schemas.openxmlformats.org/officeDocument/2006/relationships/notesSlide" Target="/ppt/notesSlides/notesSlide11.xml" Id="R85d60d7cd58346c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1a06235523448af" /><Relationship Type="http://schemas.openxmlformats.org/officeDocument/2006/relationships/image" Target="/ppt/media/image4.png" Id="R05f9f70e94ca4d3f" /><Relationship Type="http://schemas.openxmlformats.org/officeDocument/2006/relationships/notesSlide" Target="/ppt/notesSlides/notesSlide12.xml" Id="Rde84b3db44c943c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e35e36032344d2e" /><Relationship Type="http://schemas.openxmlformats.org/officeDocument/2006/relationships/image" Target="/ppt/media/image5.png" Id="Ra70eb7b8c3c546b1" /><Relationship Type="http://schemas.openxmlformats.org/officeDocument/2006/relationships/notesSlide" Target="/ppt/notesSlides/notesSlide13.xml" Id="Raf6ae075acb4426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c21d4e7da334d5f" /><Relationship Type="http://schemas.openxmlformats.org/officeDocument/2006/relationships/image" Target="/ppt/media/image6.png" Id="R4a4082f6fb034ab2" /><Relationship Type="http://schemas.openxmlformats.org/officeDocument/2006/relationships/notesSlide" Target="/ppt/notesSlides/notesSlide14.xml" Id="R4ae92e283be14ad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c64bdf325364fbf" /><Relationship Type="http://schemas.openxmlformats.org/officeDocument/2006/relationships/notesSlide" Target="/ppt/notesSlides/notesSlide15.xml" Id="R75e8bed58e7d49e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c8383b1e73446e5" /><Relationship Type="http://schemas.openxmlformats.org/officeDocument/2006/relationships/notesSlide" Target="/ppt/notesSlides/notesSlide16.xml" Id="R735f7f636eef4a1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deb7293ad094975" /><Relationship Type="http://schemas.openxmlformats.org/officeDocument/2006/relationships/notesSlide" Target="/ppt/notesSlides/notesSlide17.xml" Id="R10bf7f8e802346d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d5afbe9acfb41e7" /><Relationship Type="http://schemas.openxmlformats.org/officeDocument/2006/relationships/notesSlide" Target="/ppt/notesSlides/notesSlide18.xml" Id="R574c61abc0904cc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24ccfd2107246f4" /><Relationship Type="http://schemas.openxmlformats.org/officeDocument/2006/relationships/image" Target="/ppt/media/image7.png" Id="Re4577d7513e34f87" /><Relationship Type="http://schemas.openxmlformats.org/officeDocument/2006/relationships/notesSlide" Target="/ppt/notesSlides/notesSlide19.xml" Id="R63389e22959745f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68e64ee8d814505" /><Relationship Type="http://schemas.openxmlformats.org/officeDocument/2006/relationships/image" Target="/ppt/media/image8.png" Id="R0ebb075b8f4a4a53" /><Relationship Type="http://schemas.openxmlformats.org/officeDocument/2006/relationships/notesSlide" Target="/ppt/notesSlides/notesSlide20.xml" Id="R1cc90d1e52034e9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6967405d8f845c0" /><Relationship Type="http://schemas.openxmlformats.org/officeDocument/2006/relationships/image" Target="/ppt/media/image9.png" Id="R39f681a6c8dc4f02" /><Relationship Type="http://schemas.openxmlformats.org/officeDocument/2006/relationships/notesSlide" Target="/ppt/notesSlides/notesSlide21.xml" Id="Rd51fcf3de364494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6477aa0dcdb14b77" /><Relationship Type="http://schemas.openxmlformats.org/officeDocument/2006/relationships/image" Target="/ppt/media/image10.png" Id="Rb9ecd7a7644347e0" /><Relationship Type="http://schemas.openxmlformats.org/officeDocument/2006/relationships/notesSlide" Target="/ppt/notesSlides/notesSlide22.xml" Id="R3337740c858a441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d69c6bf9f82345fd" /><Relationship Type="http://schemas.openxmlformats.org/officeDocument/2006/relationships/notesSlide" Target="/ppt/notesSlides/notesSlide23.xml" Id="Rcbf923fbef534de4" /></Relationships>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67FED26-0FAC-4695-8FA4-A4C1662C5403}"/>
              </a:ext>
            </a:extLst>
          </p:cNvPr>
          <p:cNvSpPr>
            <a:spLocks xmlns:a="http://schemas.openxmlformats.org/drawingml/2006/main" noGrp="1"/>
          </p:cNvSpPr>
          <p:nvPr/>
        </p:nvSpPr>
        <p:spPr>
          <a:xfrm xmlns:a="http://schemas.openxmlformats.org/drawingml/2006/main">
            <a:off x="714375" y="66675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spc="2">
                <a:solidFill>
                  <a:srgbClr val="3A86FF"/>
                </a:solidFill>
                <a:latin typeface="Arial"/>
                <a:ea typeface="Arial"/>
                <a:cs typeface="Arial"/>
              </a:defRPr>
            </a:pPr>
            <a:r>
              <a:rPr sz="1425" b="1" spc="2">
                <a:solidFill>
                  <a:srgbClr val="3A86FF"/>
                </a:solidFill>
                <a:latin typeface="Arial"/>
                <a:ea typeface="Arial"/>
                <a:cs typeface="Arial"/>
              </a:rPr>
              <a:t>CHAPTER 07</a:t>
            </a:r>
          </a:p>
        </p:txBody>
      </p:sp>
      <p:sp>
        <p:nvSpPr>
          <p:cNvPr id="2" name="">
            <a:extLst xmlns:a="http://schemas.openxmlformats.org/drawingml/2006/main">
              <a:ext uri="{FF2B5EF4-FFF2-40B4-BE49-F238E27FC236}">
                <a16:creationId xmlns:a16="http://schemas.microsoft.com/office/drawing/2014/main" id="{31C31A34-0CE2-405D-8E6A-1ED2B1AA555B}"/>
              </a:ext>
            </a:extLst>
          </p:cNvPr>
          <p:cNvSpPr>
            <a:spLocks xmlns:a="http://schemas.openxmlformats.org/drawingml/2006/main" noGrp="1"/>
          </p:cNvSpPr>
          <p:nvPr/>
        </p:nvSpPr>
        <p:spPr>
          <a:xfrm xmlns:a="http://schemas.openxmlformats.org/drawingml/2006/main">
            <a:off x="714375" y="1571625"/>
            <a:ext cx="10287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750" b="1">
                <a:solidFill>
                  <a:srgbClr val="FFFFFF"/>
                </a:solidFill>
                <a:latin typeface="Arial"/>
                <a:ea typeface="Arial"/>
                <a:cs typeface="Arial"/>
              </a:defRPr>
            </a:pPr>
            <a:r>
              <a:rPr sz="3750" b="1">
                <a:solidFill>
                  <a:srgbClr val="FFFFFF"/>
                </a:solidFill>
                <a:latin typeface="Arial"/>
                <a:ea typeface="Arial"/>
                <a:cs typeface="Arial"/>
              </a:rPr>
              <a:t>Sharding</a:t>
            </a:r>
          </a:p>
        </p:txBody>
      </p:sp>
      <p:sp>
        <p:nvSpPr>
          <p:cNvPr id="3" name="">
            <a:extLst xmlns:a="http://schemas.openxmlformats.org/drawingml/2006/main">
              <a:ext uri="{FF2B5EF4-FFF2-40B4-BE49-F238E27FC236}">
                <a16:creationId xmlns:a16="http://schemas.microsoft.com/office/drawing/2014/main" id="{D0B1AA4D-64A1-45C9-BE7E-966047EB8708}"/>
              </a:ext>
            </a:extLst>
          </p:cNvPr>
          <p:cNvSpPr>
            <a:spLocks xmlns:a="http://schemas.openxmlformats.org/drawingml/2006/main" noGrp="1"/>
          </p:cNvSpPr>
          <p:nvPr/>
        </p:nvSpPr>
        <p:spPr>
          <a:xfrm xmlns:a="http://schemas.openxmlformats.org/drawingml/2006/main">
            <a:off x="742950" y="2809875"/>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D9E2EC"/>
                </a:solidFill>
                <a:latin typeface="Arial"/>
                <a:ea typeface="Arial"/>
                <a:cs typeface="Arial"/>
              </a:defRPr>
            </a:pPr>
            <a:r>
              <a:rPr sz="1725">
                <a:solidFill>
                  <a:srgbClr val="D9E2EC"/>
                </a:solidFill>
                <a:latin typeface="Arial"/>
                <a:ea typeface="Arial"/>
                <a:cs typeface="Arial"/>
              </a:rPr>
              <a:t>Designing Data-Intensive Applications, Second Edition</a:t>
            </a:r>
          </a:p>
        </p:txBody>
      </p:sp>
      <p:sp>
        <p:nvSpPr>
          <p:cNvPr id="4" name="">
            <a:extLst xmlns:a="http://schemas.openxmlformats.org/drawingml/2006/main">
              <a:ext uri="{FF2B5EF4-FFF2-40B4-BE49-F238E27FC236}">
                <a16:creationId xmlns:a16="http://schemas.microsoft.com/office/drawing/2014/main" id="{6DCC9EBB-73C1-40A3-ADCF-B8FCEE0CCA61}"/>
              </a:ext>
            </a:extLst>
          </p:cNvPr>
          <p:cNvSpPr>
            <a:spLocks xmlns:a="http://schemas.openxmlformats.org/drawingml/2006/main" noGrp="1"/>
          </p:cNvSpPr>
          <p:nvPr/>
        </p:nvSpPr>
        <p:spPr>
          <a:xfrm xmlns:a="http://schemas.openxmlformats.org/drawingml/2006/main">
            <a:off x="742950" y="5286375"/>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a:solidFill>
                  <a:srgbClr val="BCCCDC"/>
                </a:solidFill>
                <a:latin typeface="Arial"/>
                <a:ea typeface="Arial"/>
                <a:cs typeface="Arial"/>
              </a:defRPr>
            </a:pPr>
            <a:r>
              <a:rPr sz="1425">
                <a:solidFill>
                  <a:srgbClr val="BCCCDC"/>
                </a:solidFill>
                <a:latin typeface="Arial"/>
                <a:ea typeface="Arial"/>
                <a:cs typeface="Arial"/>
              </a:rPr>
              <a:t>Detailed English Study Edition</a:t>
            </a:r>
          </a:p>
        </p:txBody>
      </p:sp>
      <p:sp>
        <p:nvSpPr>
          <p:cNvPr id="5" name="">
            <a:extLst xmlns:a="http://schemas.openxmlformats.org/drawingml/2006/main">
              <a:ext uri="{FF2B5EF4-FFF2-40B4-BE49-F238E27FC236}">
                <a16:creationId xmlns:a16="http://schemas.microsoft.com/office/drawing/2014/main" id="{CF2AED37-A536-4D26-A14F-7A5EA8A7A3A6}"/>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9FB3C8"/>
                </a:solidFill>
                <a:latin typeface="Arial"/>
                <a:ea typeface="Arial"/>
                <a:cs typeface="Arial"/>
              </a:defRPr>
            </a:pPr>
            <a:r>
              <a:rPr sz="975">
                <a:solidFill>
                  <a:srgbClr val="9FB3C8"/>
                </a:solidFill>
                <a:latin typeface="Arial"/>
                <a:ea typeface="Arial"/>
                <a:cs typeface="Arial"/>
              </a:rPr>
              <a:t>01 / 23</a:t>
            </a:r>
          </a:p>
        </p:txBody>
      </p:sp>
    </p:spTree>
    <p:extLst>
      <p:ext uri="{BB962C8B-B14F-4D97-AF65-F5344CB8AC3E}">
        <p14:creationId xmlns:p14="http://schemas.microsoft.com/office/powerpoint/2010/main" val="274397997"/>
      </p:ext>
    </p:extLst>
  </p:cSld>
</p:sld>
</file>

<file path=ppt/slides/slide2.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58384C8-EE99-401C-9AB0-40910498893B}"/>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3A86FF"/>
                </a:solidFill>
                <a:latin typeface="Arial"/>
                <a:ea typeface="Arial"/>
                <a:cs typeface="Arial"/>
              </a:defRPr>
            </a:pPr>
            <a:r>
              <a:rPr sz="1200" b="1" spc="2">
                <a:solidFill>
                  <a:srgbClr val="3A86FF"/>
                </a:solidFill>
                <a:latin typeface="Arial"/>
                <a:ea typeface="Arial"/>
                <a:cs typeface="Arial"/>
              </a:rPr>
              <a:t>CHAPTER 07</a:t>
            </a:r>
          </a:p>
        </p:txBody>
      </p:sp>
      <p:sp>
        <p:nvSpPr>
          <p:cNvPr id="2" name="">
            <a:extLst xmlns:a="http://schemas.openxmlformats.org/drawingml/2006/main">
              <a:ext uri="{FF2B5EF4-FFF2-40B4-BE49-F238E27FC236}">
                <a16:creationId xmlns:a16="http://schemas.microsoft.com/office/drawing/2014/main" id="{9CFBBA1E-EFD2-4F99-B99C-0C13576A3DC9}"/>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Chapter map</a:t>
            </a:r>
          </a:p>
        </p:txBody>
      </p:sp>
      <p:sp>
        <p:nvSpPr>
          <p:cNvPr id="3" name="">
            <a:extLst xmlns:a="http://schemas.openxmlformats.org/drawingml/2006/main">
              <a:ext uri="{FF2B5EF4-FFF2-40B4-BE49-F238E27FC236}">
                <a16:creationId xmlns:a16="http://schemas.microsoft.com/office/drawing/2014/main" id="{C70E7D71-D841-4FF8-866F-BEB55980F1DB}"/>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02 / 23</a:t>
            </a:r>
          </a:p>
        </p:txBody>
      </p:sp>
      <p:sp>
        <p:nvSpPr>
          <p:cNvPr id="4" name="">
            <a:extLst xmlns:a="http://schemas.openxmlformats.org/drawingml/2006/main">
              <a:ext uri="{FF2B5EF4-FFF2-40B4-BE49-F238E27FC236}">
                <a16:creationId xmlns:a16="http://schemas.microsoft.com/office/drawing/2014/main" id="{6CDD0023-5C64-4B31-9421-95862108731D}"/>
              </a:ext>
            </a:extLst>
          </p:cNvPr>
          <p:cNvSpPr>
            <a:spLocks xmlns:a="http://schemas.openxmlformats.org/drawingml/2006/main" noGrp="1"/>
          </p:cNvSpPr>
          <p:nvPr/>
        </p:nvSpPr>
        <p:spPr>
          <a:xfrm xmlns:a="http://schemas.openxmlformats.org/drawingml/2006/main">
            <a:off x="857250" y="14763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3A86FF"/>
                </a:solidFill>
                <a:latin typeface="Arial"/>
                <a:ea typeface="Arial"/>
                <a:cs typeface="Arial"/>
              </a:defRPr>
            </a:pPr>
            <a:r>
              <a:rPr sz="2100" b="1">
                <a:solidFill>
                  <a:srgbClr val="3A86FF"/>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6AFB5D09-4ABE-4115-8372-D7E1BE71E7CD}"/>
              </a:ext>
            </a:extLst>
          </p:cNvPr>
          <p:cNvSpPr>
            <a:spLocks xmlns:a="http://schemas.openxmlformats.org/drawingml/2006/main" noGrp="1"/>
          </p:cNvSpPr>
          <p:nvPr/>
        </p:nvSpPr>
        <p:spPr>
          <a:xfrm xmlns:a="http://schemas.openxmlformats.org/drawingml/2006/main">
            <a:off x="1905000" y="14287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Why shard data</a:t>
            </a:r>
          </a:p>
        </p:txBody>
      </p:sp>
      <p:sp>
        <p:nvSpPr>
          <p:cNvPr id="6" name="">
            <a:extLst xmlns:a="http://schemas.openxmlformats.org/drawingml/2006/main">
              <a:ext uri="{FF2B5EF4-FFF2-40B4-BE49-F238E27FC236}">
                <a16:creationId xmlns:a16="http://schemas.microsoft.com/office/drawing/2014/main" id="{E9ECFCA0-52C0-4E27-97D0-A4F680690860}"/>
              </a:ext>
            </a:extLst>
          </p:cNvPr>
          <p:cNvSpPr>
            <a:spLocks xmlns:a="http://schemas.openxmlformats.org/drawingml/2006/main" noGrp="1"/>
          </p:cNvSpPr>
          <p:nvPr/>
        </p:nvSpPr>
        <p:spPr>
          <a:xfrm xmlns:a="http://schemas.openxmlformats.org/drawingml/2006/main">
            <a:off x="6191250" y="14287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52667A"/>
                </a:solidFill>
                <a:latin typeface="Arial"/>
                <a:ea typeface="Arial"/>
                <a:cs typeface="Arial"/>
              </a:defRPr>
            </a:pPr>
            <a:r>
              <a:rPr sz="1275">
                <a:solidFill>
                  <a:srgbClr val="52667A"/>
                </a:solidFill>
                <a:latin typeface="Arial"/>
                <a:ea typeface="Arial"/>
                <a:cs typeface="Arial"/>
              </a:rPr>
              <a:t>Sharding spreads storage and throughput across nodes.</a:t>
            </a:r>
          </a:p>
        </p:txBody>
      </p:sp>
      <p:sp>
        <p:nvSpPr>
          <p:cNvPr id="7" name="">
            <a:extLst xmlns:a="http://schemas.openxmlformats.org/drawingml/2006/main">
              <a:ext uri="{FF2B5EF4-FFF2-40B4-BE49-F238E27FC236}">
                <a16:creationId xmlns:a16="http://schemas.microsoft.com/office/drawing/2014/main" id="{8CB952D0-D343-4A4F-BF0C-4810A6528A5D}"/>
              </a:ext>
            </a:extLst>
          </p:cNvPr>
          <p:cNvSpPr>
            <a:spLocks xmlns:a="http://schemas.openxmlformats.org/drawingml/2006/main" noGrp="1"/>
          </p:cNvSpPr>
          <p:nvPr/>
        </p:nvSpPr>
        <p:spPr>
          <a:xfrm xmlns:a="http://schemas.openxmlformats.org/drawingml/2006/main">
            <a:off x="857250" y="23526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3A86FF"/>
                </a:solidFill>
                <a:latin typeface="Arial"/>
                <a:ea typeface="Arial"/>
                <a:cs typeface="Arial"/>
              </a:defRPr>
            </a:pPr>
            <a:r>
              <a:rPr sz="2100" b="1">
                <a:solidFill>
                  <a:srgbClr val="3A86FF"/>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4B58F22A-D7D3-4B5A-A191-C9467A69E2B0}"/>
              </a:ext>
            </a:extLst>
          </p:cNvPr>
          <p:cNvSpPr>
            <a:spLocks xmlns:a="http://schemas.openxmlformats.org/drawingml/2006/main" noGrp="1"/>
          </p:cNvSpPr>
          <p:nvPr/>
        </p:nvSpPr>
        <p:spPr>
          <a:xfrm xmlns:a="http://schemas.openxmlformats.org/drawingml/2006/main">
            <a:off x="1905000" y="23050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Range sharding</a:t>
            </a:r>
          </a:p>
        </p:txBody>
      </p:sp>
      <p:sp>
        <p:nvSpPr>
          <p:cNvPr id="9" name="">
            <a:extLst xmlns:a="http://schemas.openxmlformats.org/drawingml/2006/main">
              <a:ext uri="{FF2B5EF4-FFF2-40B4-BE49-F238E27FC236}">
                <a16:creationId xmlns:a16="http://schemas.microsoft.com/office/drawing/2014/main" id="{EC41C838-1618-4E0F-9344-BEB5D6D98B64}"/>
              </a:ext>
            </a:extLst>
          </p:cNvPr>
          <p:cNvSpPr>
            <a:spLocks xmlns:a="http://schemas.openxmlformats.org/drawingml/2006/main" noGrp="1"/>
          </p:cNvSpPr>
          <p:nvPr/>
        </p:nvSpPr>
        <p:spPr>
          <a:xfrm xmlns:a="http://schemas.openxmlformats.org/drawingml/2006/main">
            <a:off x="6191250" y="23050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52667A"/>
                </a:solidFill>
                <a:latin typeface="Arial"/>
                <a:ea typeface="Arial"/>
                <a:cs typeface="Arial"/>
              </a:defRPr>
            </a:pPr>
            <a:r>
              <a:rPr sz="1275">
                <a:solidFill>
                  <a:srgbClr val="52667A"/>
                </a:solidFill>
                <a:latin typeface="Arial"/>
                <a:ea typeface="Arial"/>
                <a:cs typeface="Arial"/>
              </a:rPr>
              <a:t>Adjacent keys share shards, enabling efficient range scans.</a:t>
            </a:r>
          </a:p>
        </p:txBody>
      </p:sp>
      <p:sp>
        <p:nvSpPr>
          <p:cNvPr id="10" name="">
            <a:extLst xmlns:a="http://schemas.openxmlformats.org/drawingml/2006/main">
              <a:ext uri="{FF2B5EF4-FFF2-40B4-BE49-F238E27FC236}">
                <a16:creationId xmlns:a16="http://schemas.microsoft.com/office/drawing/2014/main" id="{4C4363B4-D09E-43F1-A36E-E8233A3FB6D3}"/>
              </a:ext>
            </a:extLst>
          </p:cNvPr>
          <p:cNvSpPr>
            <a:spLocks xmlns:a="http://schemas.openxmlformats.org/drawingml/2006/main" noGrp="1"/>
          </p:cNvSpPr>
          <p:nvPr/>
        </p:nvSpPr>
        <p:spPr>
          <a:xfrm xmlns:a="http://schemas.openxmlformats.org/drawingml/2006/main">
            <a:off x="857250" y="32289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3A86FF"/>
                </a:solidFill>
                <a:latin typeface="Arial"/>
                <a:ea typeface="Arial"/>
                <a:cs typeface="Arial"/>
              </a:defRPr>
            </a:pPr>
            <a:r>
              <a:rPr sz="2100" b="1">
                <a:solidFill>
                  <a:srgbClr val="3A86FF"/>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68A9901D-D9DC-41FD-82E3-8C3E443A4DA2}"/>
              </a:ext>
            </a:extLst>
          </p:cNvPr>
          <p:cNvSpPr>
            <a:spLocks xmlns:a="http://schemas.openxmlformats.org/drawingml/2006/main" noGrp="1"/>
          </p:cNvSpPr>
          <p:nvPr/>
        </p:nvSpPr>
        <p:spPr>
          <a:xfrm xmlns:a="http://schemas.openxmlformats.org/drawingml/2006/main">
            <a:off x="1905000" y="31813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Hash sharding</a:t>
            </a:r>
          </a:p>
        </p:txBody>
      </p:sp>
      <p:sp>
        <p:nvSpPr>
          <p:cNvPr id="12" name="">
            <a:extLst xmlns:a="http://schemas.openxmlformats.org/drawingml/2006/main">
              <a:ext uri="{FF2B5EF4-FFF2-40B4-BE49-F238E27FC236}">
                <a16:creationId xmlns:a16="http://schemas.microsoft.com/office/drawing/2014/main" id="{C84C7AE6-3AF2-4C8A-A0F9-81BF418AE8B2}"/>
              </a:ext>
            </a:extLst>
          </p:cNvPr>
          <p:cNvSpPr>
            <a:spLocks xmlns:a="http://schemas.openxmlformats.org/drawingml/2006/main" noGrp="1"/>
          </p:cNvSpPr>
          <p:nvPr/>
        </p:nvSpPr>
        <p:spPr>
          <a:xfrm xmlns:a="http://schemas.openxmlformats.org/drawingml/2006/main">
            <a:off x="6191250" y="31813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52667A"/>
                </a:solidFill>
                <a:latin typeface="Arial"/>
                <a:ea typeface="Arial"/>
                <a:cs typeface="Arial"/>
              </a:defRPr>
            </a:pPr>
            <a:r>
              <a:rPr sz="1275">
                <a:solidFill>
                  <a:srgbClr val="52667A"/>
                </a:solidFill>
                <a:latin typeface="Arial"/>
                <a:ea typeface="Arial"/>
                <a:cs typeface="Arial"/>
              </a:rPr>
              <a:t>Hashing distributes keys more evenly.</a:t>
            </a:r>
          </a:p>
        </p:txBody>
      </p:sp>
      <p:sp>
        <p:nvSpPr>
          <p:cNvPr id="13" name="">
            <a:extLst xmlns:a="http://schemas.openxmlformats.org/drawingml/2006/main">
              <a:ext uri="{FF2B5EF4-FFF2-40B4-BE49-F238E27FC236}">
                <a16:creationId xmlns:a16="http://schemas.microsoft.com/office/drawing/2014/main" id="{89929B1D-AC0D-4E94-A9BA-96F0740C42DC}"/>
              </a:ext>
            </a:extLst>
          </p:cNvPr>
          <p:cNvSpPr>
            <a:spLocks xmlns:a="http://schemas.openxmlformats.org/drawingml/2006/main" noGrp="1"/>
          </p:cNvSpPr>
          <p:nvPr/>
        </p:nvSpPr>
        <p:spPr>
          <a:xfrm xmlns:a="http://schemas.openxmlformats.org/drawingml/2006/main">
            <a:off x="857250" y="41052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3A86FF"/>
                </a:solidFill>
                <a:latin typeface="Arial"/>
                <a:ea typeface="Arial"/>
                <a:cs typeface="Arial"/>
              </a:defRPr>
            </a:pPr>
            <a:r>
              <a:rPr sz="2100" b="1">
                <a:solidFill>
                  <a:srgbClr val="3A86FF"/>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7F1106F7-6A18-4F3A-9925-4A748622760A}"/>
              </a:ext>
            </a:extLst>
          </p:cNvPr>
          <p:cNvSpPr>
            <a:spLocks xmlns:a="http://schemas.openxmlformats.org/drawingml/2006/main" noGrp="1"/>
          </p:cNvSpPr>
          <p:nvPr/>
        </p:nvSpPr>
        <p:spPr>
          <a:xfrm xmlns:a="http://schemas.openxmlformats.org/drawingml/2006/main">
            <a:off x="1905000" y="40576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Hot spots and rebalancing</a:t>
            </a:r>
          </a:p>
        </p:txBody>
      </p:sp>
      <p:sp>
        <p:nvSpPr>
          <p:cNvPr id="15" name="">
            <a:extLst xmlns:a="http://schemas.openxmlformats.org/drawingml/2006/main">
              <a:ext uri="{FF2B5EF4-FFF2-40B4-BE49-F238E27FC236}">
                <a16:creationId xmlns:a16="http://schemas.microsoft.com/office/drawing/2014/main" id="{8C10FD7B-1EA5-42FA-8F31-872C561CC3E8}"/>
              </a:ext>
            </a:extLst>
          </p:cNvPr>
          <p:cNvSpPr>
            <a:spLocks xmlns:a="http://schemas.openxmlformats.org/drawingml/2006/main" noGrp="1"/>
          </p:cNvSpPr>
          <p:nvPr/>
        </p:nvSpPr>
        <p:spPr>
          <a:xfrm xmlns:a="http://schemas.openxmlformats.org/drawingml/2006/main">
            <a:off x="6191250" y="40576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52667A"/>
                </a:solidFill>
                <a:latin typeface="Arial"/>
                <a:ea typeface="Arial"/>
                <a:cs typeface="Arial"/>
              </a:defRPr>
            </a:pPr>
            <a:r>
              <a:rPr sz="1275">
                <a:solidFill>
                  <a:srgbClr val="52667A"/>
                </a:solidFill>
                <a:latin typeface="Arial"/>
                <a:ea typeface="Arial"/>
                <a:cs typeface="Arial"/>
              </a:rPr>
              <a:t>Hot keys, tenants, and time-correlated writes create skew.</a:t>
            </a:r>
          </a:p>
        </p:txBody>
      </p:sp>
      <p:sp>
        <p:nvSpPr>
          <p:cNvPr id="16" name="">
            <a:extLst xmlns:a="http://schemas.openxmlformats.org/drawingml/2006/main">
              <a:ext uri="{FF2B5EF4-FFF2-40B4-BE49-F238E27FC236}">
                <a16:creationId xmlns:a16="http://schemas.microsoft.com/office/drawing/2014/main" id="{6763DFD2-56EC-4BB9-92EE-4541E27CBE76}"/>
              </a:ext>
            </a:extLst>
          </p:cNvPr>
          <p:cNvSpPr>
            <a:spLocks xmlns:a="http://schemas.openxmlformats.org/drawingml/2006/main" noGrp="1"/>
          </p:cNvSpPr>
          <p:nvPr/>
        </p:nvSpPr>
        <p:spPr>
          <a:xfrm xmlns:a="http://schemas.openxmlformats.org/drawingml/2006/main">
            <a:off x="857250" y="49815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3A86FF"/>
                </a:solidFill>
                <a:latin typeface="Arial"/>
                <a:ea typeface="Arial"/>
                <a:cs typeface="Arial"/>
              </a:defRPr>
            </a:pPr>
            <a:r>
              <a:rPr sz="2100" b="1">
                <a:solidFill>
                  <a:srgbClr val="3A86FF"/>
                </a:solidFill>
                <a:latin typeface="Arial"/>
                <a:ea typeface="Arial"/>
                <a:cs typeface="Arial"/>
              </a:rPr>
              <a:t>05</a:t>
            </a:r>
          </a:p>
        </p:txBody>
      </p:sp>
      <p:sp>
        <p:nvSpPr>
          <p:cNvPr id="17" name="">
            <a:extLst xmlns:a="http://schemas.openxmlformats.org/drawingml/2006/main">
              <a:ext uri="{FF2B5EF4-FFF2-40B4-BE49-F238E27FC236}">
                <a16:creationId xmlns:a16="http://schemas.microsoft.com/office/drawing/2014/main" id="{EF0C3F84-6A4E-4FBA-AA02-1E6EA8B90926}"/>
              </a:ext>
            </a:extLst>
          </p:cNvPr>
          <p:cNvSpPr>
            <a:spLocks xmlns:a="http://schemas.openxmlformats.org/drawingml/2006/main" noGrp="1"/>
          </p:cNvSpPr>
          <p:nvPr/>
        </p:nvSpPr>
        <p:spPr>
          <a:xfrm xmlns:a="http://schemas.openxmlformats.org/drawingml/2006/main">
            <a:off x="1905000" y="49339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Indexes and routing</a:t>
            </a:r>
          </a:p>
        </p:txBody>
      </p:sp>
      <p:sp>
        <p:nvSpPr>
          <p:cNvPr id="18" name="">
            <a:extLst xmlns:a="http://schemas.openxmlformats.org/drawingml/2006/main">
              <a:ext uri="{FF2B5EF4-FFF2-40B4-BE49-F238E27FC236}">
                <a16:creationId xmlns:a16="http://schemas.microsoft.com/office/drawing/2014/main" id="{D1DE6AE0-6ED3-4AE1-ABF8-C1CEBF3ACCB4}"/>
              </a:ext>
            </a:extLst>
          </p:cNvPr>
          <p:cNvSpPr>
            <a:spLocks xmlns:a="http://schemas.openxmlformats.org/drawingml/2006/main" noGrp="1"/>
          </p:cNvSpPr>
          <p:nvPr/>
        </p:nvSpPr>
        <p:spPr>
          <a:xfrm xmlns:a="http://schemas.openxmlformats.org/drawingml/2006/main">
            <a:off x="6191250" y="49339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52667A"/>
                </a:solidFill>
                <a:latin typeface="Arial"/>
                <a:ea typeface="Arial"/>
                <a:cs typeface="Arial"/>
              </a:defRPr>
            </a:pPr>
            <a:r>
              <a:rPr sz="1275">
                <a:solidFill>
                  <a:srgbClr val="52667A"/>
                </a:solidFill>
                <a:latin typeface="Arial"/>
                <a:ea typeface="Arial"/>
                <a:cs typeface="Arial"/>
              </a:rPr>
              <a:t>Local indexes simplify writes but require scatter-gather queries.</a:t>
            </a:r>
          </a:p>
        </p:txBody>
      </p:sp>
    </p:spTree>
    <p:extLst>
      <p:ext uri="{BB962C8B-B14F-4D97-AF65-F5344CB8AC3E}">
        <p14:creationId xmlns:p14="http://schemas.microsoft.com/office/powerpoint/2010/main" val="497086632"/>
      </p:ext>
    </p:extLst>
  </p:cSld>
</p:sld>
</file>

<file path=ppt/slides/slide3.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80EB5A5-5018-401F-ADAD-43C0665F0883}"/>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3A86FF"/>
                </a:solidFill>
                <a:latin typeface="Arial"/>
                <a:ea typeface="Arial"/>
                <a:cs typeface="Arial"/>
              </a:defRPr>
            </a:pPr>
            <a:r>
              <a:rPr sz="1200" b="1" spc="2">
                <a:solidFill>
                  <a:srgbClr val="3A86FF"/>
                </a:solidFill>
                <a:latin typeface="Arial"/>
                <a:ea typeface="Arial"/>
                <a:cs typeface="Arial"/>
              </a:rPr>
              <a:t>CHAPTER 07</a:t>
            </a:r>
          </a:p>
        </p:txBody>
      </p:sp>
      <p:sp>
        <p:nvSpPr>
          <p:cNvPr id="2" name="">
            <a:extLst xmlns:a="http://schemas.openxmlformats.org/drawingml/2006/main">
              <a:ext uri="{FF2B5EF4-FFF2-40B4-BE49-F238E27FC236}">
                <a16:creationId xmlns:a16="http://schemas.microsoft.com/office/drawing/2014/main" id="{15EFEFF0-EFE3-4279-AF28-FC49E8921C11}"/>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Why shard data</a:t>
            </a:r>
          </a:p>
        </p:txBody>
      </p:sp>
      <p:sp>
        <p:nvSpPr>
          <p:cNvPr id="3" name="">
            <a:extLst xmlns:a="http://schemas.openxmlformats.org/drawingml/2006/main">
              <a:ext uri="{FF2B5EF4-FFF2-40B4-BE49-F238E27FC236}">
                <a16:creationId xmlns:a16="http://schemas.microsoft.com/office/drawing/2014/main" id="{3E34850F-83CB-4146-BC1C-628A33CB1745}"/>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03 / 23</a:t>
            </a:r>
          </a:p>
        </p:txBody>
      </p:sp>
      <p:sp>
        <p:nvSpPr>
          <p:cNvPr id="4" name="">
            <a:extLst xmlns:a="http://schemas.openxmlformats.org/drawingml/2006/main">
              <a:ext uri="{FF2B5EF4-FFF2-40B4-BE49-F238E27FC236}">
                <a16:creationId xmlns:a16="http://schemas.microsoft.com/office/drawing/2014/main" id="{08250BA9-EC52-416F-9F58-8A07426A9DC3}"/>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3A86FF"/>
                </a:solidFill>
                <a:latin typeface="Arial"/>
                <a:ea typeface="Arial"/>
                <a:cs typeface="Arial"/>
              </a:defRPr>
            </a:pPr>
            <a:r>
              <a:rPr sz="6750" b="1">
                <a:solidFill>
                  <a:srgbClr val="3A86FF"/>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D270D134-56FF-433F-8B28-29A46EC10F64}"/>
              </a:ext>
            </a:extLst>
          </p:cNvPr>
          <p:cNvSpPr>
            <a:spLocks xmlns:a="http://schemas.openxmlformats.org/drawingml/2006/main" noGrp="1"/>
          </p:cNvSpPr>
          <p:nvPr/>
        </p:nvSpPr>
        <p:spPr>
          <a:xfrm xmlns:a="http://schemas.openxmlformats.org/drawingml/2006/main">
            <a:off x="2857500" y="1571625"/>
            <a:ext cx="809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Sharding spreads storage and throughput across nodes.</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The hard problems are balance, hot spots, and cross-shard work.</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Routing and rebalancing become part of normal operations.</a:t>
            </a:r>
          </a:p>
        </p:txBody>
      </p:sp>
      <p:sp>
        <p:nvSpPr>
          <p:cNvPr id="6" name="">
            <a:extLst xmlns:a="http://schemas.openxmlformats.org/drawingml/2006/main">
              <a:ext uri="{FF2B5EF4-FFF2-40B4-BE49-F238E27FC236}">
                <a16:creationId xmlns:a16="http://schemas.microsoft.com/office/drawing/2014/main" id="{3E553AF8-DF4E-4D20-B0C6-83C0C7378352}"/>
              </a:ext>
            </a:extLst>
          </p:cNvPr>
          <p:cNvSpPr>
            <a:spLocks xmlns:a="http://schemas.openxmlformats.org/drawingml/2006/main" noGrp="1"/>
          </p:cNvSpPr>
          <p:nvPr/>
        </p:nvSpPr>
        <p:spPr>
          <a:xfrm xmlns:a="http://schemas.openxmlformats.org/drawingml/2006/main">
            <a:off x="2857500" y="5000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3A86FF"/>
                </a:solidFill>
                <a:latin typeface="Arial"/>
                <a:ea typeface="Arial"/>
                <a:cs typeface="Arial"/>
              </a:defRPr>
            </a:pPr>
            <a:r>
              <a:rPr sz="1200" b="1">
                <a:solidFill>
                  <a:srgbClr val="3A86FF"/>
                </a:solidFill>
                <a:latin typeface="Arial"/>
                <a:ea typeface="Arial"/>
                <a:cs typeface="Arial"/>
              </a:rPr>
              <a:t>Core question</a:t>
            </a:r>
          </a:p>
        </p:txBody>
      </p:sp>
      <p:sp>
        <p:nvSpPr>
          <p:cNvPr id="7" name="">
            <a:extLst xmlns:a="http://schemas.openxmlformats.org/drawingml/2006/main">
              <a:ext uri="{FF2B5EF4-FFF2-40B4-BE49-F238E27FC236}">
                <a16:creationId xmlns:a16="http://schemas.microsoft.com/office/drawing/2014/main" id="{FBC5C4FC-53E5-4210-8BB7-CC2CC7EE4E81}"/>
              </a:ext>
            </a:extLst>
          </p:cNvPr>
          <p:cNvSpPr>
            <a:spLocks xmlns:a="http://schemas.openxmlformats.org/drawingml/2006/main" noGrp="1"/>
          </p:cNvSpPr>
          <p:nvPr/>
        </p:nvSpPr>
        <p:spPr>
          <a:xfrm xmlns:a="http://schemas.openxmlformats.org/drawingml/2006/main">
            <a:off x="2857500" y="52863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a:solidFill>
                  <a:srgbClr val="52667A"/>
                </a:solidFill>
                <a:latin typeface="Arial"/>
                <a:ea typeface="Arial"/>
                <a:cs typeface="Arial"/>
              </a:defRPr>
            </a:pPr>
            <a:r>
              <a:rPr sz="1500">
                <a:solidFill>
                  <a:srgbClr val="52667A"/>
                </a:solidFill>
                <a:latin typeface="Arial"/>
                <a:ea typeface="Arial"/>
                <a:cs typeface="Arial"/>
              </a:rPr>
              <a:t>What problem does it solve, and what does it cost under failure, growth, and change?</a:t>
            </a:r>
          </a:p>
        </p:txBody>
      </p:sp>
    </p:spTree>
    <p:extLst>
      <p:ext uri="{BB962C8B-B14F-4D97-AF65-F5344CB8AC3E}">
        <p14:creationId xmlns:p14="http://schemas.microsoft.com/office/powerpoint/2010/main" val="552491097"/>
      </p:ext>
    </p:extLst>
  </p:cSld>
</p:sld>
</file>

<file path=ppt/slides/slide4.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787F2B3-AE69-4637-9235-9F6E0F74A576}"/>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3A86FF"/>
                </a:solidFill>
                <a:latin typeface="Arial"/>
                <a:ea typeface="Arial"/>
                <a:cs typeface="Arial"/>
              </a:defRPr>
            </a:pPr>
            <a:r>
              <a:rPr sz="1200" b="1" spc="2">
                <a:solidFill>
                  <a:srgbClr val="3A86FF"/>
                </a:solidFill>
                <a:latin typeface="Arial"/>
                <a:ea typeface="Arial"/>
                <a:cs typeface="Arial"/>
              </a:rPr>
              <a:t>CHAPTER 07</a:t>
            </a:r>
          </a:p>
        </p:txBody>
      </p:sp>
      <p:sp>
        <p:nvSpPr>
          <p:cNvPr id="2" name="">
            <a:extLst xmlns:a="http://schemas.openxmlformats.org/drawingml/2006/main">
              <a:ext uri="{FF2B5EF4-FFF2-40B4-BE49-F238E27FC236}">
                <a16:creationId xmlns:a16="http://schemas.microsoft.com/office/drawing/2014/main" id="{B1EC12AC-016C-4EF2-B70B-1B9EAFE09814}"/>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Why shard data: design trade-offs</a:t>
            </a:r>
          </a:p>
        </p:txBody>
      </p:sp>
      <p:sp>
        <p:nvSpPr>
          <p:cNvPr id="3" name="">
            <a:extLst xmlns:a="http://schemas.openxmlformats.org/drawingml/2006/main">
              <a:ext uri="{FF2B5EF4-FFF2-40B4-BE49-F238E27FC236}">
                <a16:creationId xmlns:a16="http://schemas.microsoft.com/office/drawing/2014/main" id="{26056838-EB30-4051-9E43-1168218E2B7E}"/>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04 / 23</a:t>
            </a:r>
          </a:p>
        </p:txBody>
      </p:sp>
      <p:sp>
        <p:nvSpPr>
          <p:cNvPr id="4" name="">
            <a:extLst xmlns:a="http://schemas.openxmlformats.org/drawingml/2006/main">
              <a:ext uri="{FF2B5EF4-FFF2-40B4-BE49-F238E27FC236}">
                <a16:creationId xmlns:a16="http://schemas.microsoft.com/office/drawing/2014/main" id="{16D196B9-F29F-4ADB-8349-518426D5C101}"/>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3A86FF"/>
                </a:solidFill>
                <a:latin typeface="Arial"/>
                <a:ea typeface="Arial"/>
                <a:cs typeface="Arial"/>
              </a:defRPr>
            </a:pPr>
            <a:r>
              <a:rPr sz="6750" b="1">
                <a:solidFill>
                  <a:srgbClr val="3A86FF"/>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888E483D-7FA7-4E91-95F2-F2AFEFFBF10B}"/>
              </a:ext>
            </a:extLst>
          </p:cNvPr>
          <p:cNvSpPr>
            <a:spLocks xmlns:a="http://schemas.openxmlformats.org/drawingml/2006/main" noGrp="1"/>
          </p:cNvSpPr>
          <p:nvPr/>
        </p:nvSpPr>
        <p:spPr>
          <a:xfrm xmlns:a="http://schemas.openxmlformats.org/drawingml/2006/main">
            <a:off x="2857500" y="1571625"/>
            <a:ext cx="8096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Fit: Sharding spreads storage and throughput across nodes.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Cost: evaluate latency, throughput, consistency, and operational complexity.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Failure check: what state becomes visible when a node, network path, or dependency fails?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Evolution check: can formats, interfaces, and topology change through rolling upgrades?</a:t>
            </a:r>
          </a:p>
        </p:txBody>
      </p:sp>
    </p:spTree>
    <p:extLst>
      <p:ext uri="{BB962C8B-B14F-4D97-AF65-F5344CB8AC3E}">
        <p14:creationId xmlns:p14="http://schemas.microsoft.com/office/powerpoint/2010/main" val="644550453"/>
      </p:ext>
    </p:extLst>
  </p:cSld>
</p:sld>
</file>

<file path=ppt/slides/slide5.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3686F28-3689-4FCF-A7A4-75EDFE11CB4D}"/>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3A86FF"/>
                </a:solidFill>
                <a:latin typeface="Arial"/>
                <a:ea typeface="Arial"/>
                <a:cs typeface="Arial"/>
              </a:defRPr>
            </a:pPr>
            <a:r>
              <a:rPr sz="1200" b="1" spc="2">
                <a:solidFill>
                  <a:srgbClr val="3A86FF"/>
                </a:solidFill>
                <a:latin typeface="Arial"/>
                <a:ea typeface="Arial"/>
                <a:cs typeface="Arial"/>
              </a:rPr>
              <a:t>CHAPTER 07</a:t>
            </a:r>
          </a:p>
        </p:txBody>
      </p:sp>
      <p:sp>
        <p:nvSpPr>
          <p:cNvPr id="2" name="">
            <a:extLst xmlns:a="http://schemas.openxmlformats.org/drawingml/2006/main">
              <a:ext uri="{FF2B5EF4-FFF2-40B4-BE49-F238E27FC236}">
                <a16:creationId xmlns:a16="http://schemas.microsoft.com/office/drawing/2014/main" id="{915B3649-3B30-41CD-91F4-7D89AE513155}"/>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7-1: mechanism explained</a:t>
            </a:r>
          </a:p>
        </p:txBody>
      </p:sp>
      <p:sp>
        <p:nvSpPr>
          <p:cNvPr id="3" name="">
            <a:extLst xmlns:a="http://schemas.openxmlformats.org/drawingml/2006/main">
              <a:ext uri="{FF2B5EF4-FFF2-40B4-BE49-F238E27FC236}">
                <a16:creationId xmlns:a16="http://schemas.microsoft.com/office/drawing/2014/main" id="{B05C333F-84A0-4A3C-AEE4-C9B7D0B41330}"/>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05 / 23</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6f23d7d989d74533"/>
          <a:stretch xmlns:a="http://schemas.openxmlformats.org/drawingml/2006/main"/>
        </p:blipFill>
        <p:spPr>
          <a:xfrm xmlns:a="http://schemas.openxmlformats.org/drawingml/2006/main">
            <a:off x="623510" y="1285875"/>
            <a:ext cx="7544554"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FB5AB25-A881-4E64-862A-3751CE9B1D15}"/>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3A86FF"/>
                </a:solidFill>
                <a:latin typeface="Arial"/>
                <a:ea typeface="Arial"/>
                <a:cs typeface="Arial"/>
              </a:defRPr>
            </a:pPr>
            <a:r>
              <a:rPr sz="1200" b="1">
                <a:solidFill>
                  <a:srgbClr val="3A86FF"/>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D76933C8-429C-46ED-A6E4-F53547671B08}"/>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Keys, requests, or index entries are assigned across partitions.</a:t>
            </a:r>
          </a:p>
        </p:txBody>
      </p:sp>
      <p:sp>
        <p:nvSpPr>
          <p:cNvPr id="7" name="">
            <a:extLst xmlns:a="http://schemas.openxmlformats.org/drawingml/2006/main">
              <a:ext uri="{FF2B5EF4-FFF2-40B4-BE49-F238E27FC236}">
                <a16:creationId xmlns:a16="http://schemas.microsoft.com/office/drawing/2014/main" id="{48F1755F-9753-457E-8422-8C53DCE3A3E0}"/>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3A86FF"/>
                </a:solidFill>
                <a:latin typeface="Arial"/>
                <a:ea typeface="Arial"/>
                <a:cs typeface="Arial"/>
              </a:defRPr>
            </a:pPr>
            <a:r>
              <a:rPr sz="1200" b="1">
                <a:solidFill>
                  <a:srgbClr val="3A86FF"/>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84D22548-1F83-4A31-96F8-C3BF9F38BF14}"/>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The assignment controls balance, range locality, routing work, and rebalancing cost.</a:t>
            </a:r>
          </a:p>
        </p:txBody>
      </p:sp>
      <p:sp>
        <p:nvSpPr>
          <p:cNvPr id="9" name="">
            <a:extLst xmlns:a="http://schemas.openxmlformats.org/drawingml/2006/main">
              <a:ext uri="{FF2B5EF4-FFF2-40B4-BE49-F238E27FC236}">
                <a16:creationId xmlns:a16="http://schemas.microsoft.com/office/drawing/2014/main" id="{0E7435B6-420D-47E1-BE7F-B15174413F19}"/>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3A86FF"/>
                </a:solidFill>
                <a:latin typeface="Arial"/>
                <a:ea typeface="Arial"/>
                <a:cs typeface="Arial"/>
              </a:defRPr>
            </a:pPr>
            <a:r>
              <a:rPr sz="1200" b="1">
                <a:solidFill>
                  <a:srgbClr val="3A86FF"/>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941F3B0C-5C24-4033-BCEA-898257525EEA}"/>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727773275"/>
      </p:ext>
    </p:extLst>
  </p:cSld>
</p:sld>
</file>

<file path=ppt/slides/slide6.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9F88A6E-CC50-476C-905E-6D301A4C8D15}"/>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3A86FF"/>
                </a:solidFill>
                <a:latin typeface="Arial"/>
                <a:ea typeface="Arial"/>
                <a:cs typeface="Arial"/>
              </a:defRPr>
            </a:pPr>
            <a:r>
              <a:rPr sz="1200" b="1" spc="2">
                <a:solidFill>
                  <a:srgbClr val="3A86FF"/>
                </a:solidFill>
                <a:latin typeface="Arial"/>
                <a:ea typeface="Arial"/>
                <a:cs typeface="Arial"/>
              </a:rPr>
              <a:t>CHAPTER 07</a:t>
            </a:r>
          </a:p>
        </p:txBody>
      </p:sp>
      <p:sp>
        <p:nvSpPr>
          <p:cNvPr id="2" name="">
            <a:extLst xmlns:a="http://schemas.openxmlformats.org/drawingml/2006/main">
              <a:ext uri="{FF2B5EF4-FFF2-40B4-BE49-F238E27FC236}">
                <a16:creationId xmlns:a16="http://schemas.microsoft.com/office/drawing/2014/main" id="{C14D8707-726D-445D-99CC-D4E16AB13151}"/>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Range sharding</a:t>
            </a:r>
          </a:p>
        </p:txBody>
      </p:sp>
      <p:sp>
        <p:nvSpPr>
          <p:cNvPr id="3" name="">
            <a:extLst xmlns:a="http://schemas.openxmlformats.org/drawingml/2006/main">
              <a:ext uri="{FF2B5EF4-FFF2-40B4-BE49-F238E27FC236}">
                <a16:creationId xmlns:a16="http://schemas.microsoft.com/office/drawing/2014/main" id="{AC2C8991-4414-43F3-B464-F9E3F2C26427}"/>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06 / 23</a:t>
            </a:r>
          </a:p>
        </p:txBody>
      </p:sp>
      <p:sp>
        <p:nvSpPr>
          <p:cNvPr id="4" name="">
            <a:extLst xmlns:a="http://schemas.openxmlformats.org/drawingml/2006/main">
              <a:ext uri="{FF2B5EF4-FFF2-40B4-BE49-F238E27FC236}">
                <a16:creationId xmlns:a16="http://schemas.microsoft.com/office/drawing/2014/main" id="{78B07E76-F25A-4F71-8D95-35EDA42902C5}"/>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3A86FF"/>
                </a:solidFill>
                <a:latin typeface="Arial"/>
                <a:ea typeface="Arial"/>
                <a:cs typeface="Arial"/>
              </a:defRPr>
            </a:pPr>
            <a:r>
              <a:rPr sz="6750" b="1">
                <a:solidFill>
                  <a:srgbClr val="3A86FF"/>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D8B0CD03-FEC6-4382-B259-A6E7EA86EAFB}"/>
              </a:ext>
            </a:extLst>
          </p:cNvPr>
          <p:cNvSpPr>
            <a:spLocks xmlns:a="http://schemas.openxmlformats.org/drawingml/2006/main" noGrp="1"/>
          </p:cNvSpPr>
          <p:nvPr/>
        </p:nvSpPr>
        <p:spPr>
          <a:xfrm xmlns:a="http://schemas.openxmlformats.org/drawingml/2006/main">
            <a:off x="2857500" y="1571625"/>
            <a:ext cx="809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Adjacent keys share shards, enabling efficient range scans.</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Sequential inserts can concentrate load on one shard.</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Dynamic boundaries adapt shard size to the observed distribution.</a:t>
            </a:r>
          </a:p>
        </p:txBody>
      </p:sp>
      <p:sp>
        <p:nvSpPr>
          <p:cNvPr id="6" name="">
            <a:extLst xmlns:a="http://schemas.openxmlformats.org/drawingml/2006/main">
              <a:ext uri="{FF2B5EF4-FFF2-40B4-BE49-F238E27FC236}">
                <a16:creationId xmlns:a16="http://schemas.microsoft.com/office/drawing/2014/main" id="{3364F4B9-CBF6-446F-8BE0-A12C384FAD30}"/>
              </a:ext>
            </a:extLst>
          </p:cNvPr>
          <p:cNvSpPr>
            <a:spLocks xmlns:a="http://schemas.openxmlformats.org/drawingml/2006/main" noGrp="1"/>
          </p:cNvSpPr>
          <p:nvPr/>
        </p:nvSpPr>
        <p:spPr>
          <a:xfrm xmlns:a="http://schemas.openxmlformats.org/drawingml/2006/main">
            <a:off x="2857500" y="5000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3A86FF"/>
                </a:solidFill>
                <a:latin typeface="Arial"/>
                <a:ea typeface="Arial"/>
                <a:cs typeface="Arial"/>
              </a:defRPr>
            </a:pPr>
            <a:r>
              <a:rPr sz="1200" b="1">
                <a:solidFill>
                  <a:srgbClr val="3A86FF"/>
                </a:solidFill>
                <a:latin typeface="Arial"/>
                <a:ea typeface="Arial"/>
                <a:cs typeface="Arial"/>
              </a:rPr>
              <a:t>Core question</a:t>
            </a:r>
          </a:p>
        </p:txBody>
      </p:sp>
      <p:sp>
        <p:nvSpPr>
          <p:cNvPr id="7" name="">
            <a:extLst xmlns:a="http://schemas.openxmlformats.org/drawingml/2006/main">
              <a:ext uri="{FF2B5EF4-FFF2-40B4-BE49-F238E27FC236}">
                <a16:creationId xmlns:a16="http://schemas.microsoft.com/office/drawing/2014/main" id="{3416B99D-A62B-4EBE-9FD3-CF1770DC590F}"/>
              </a:ext>
            </a:extLst>
          </p:cNvPr>
          <p:cNvSpPr>
            <a:spLocks xmlns:a="http://schemas.openxmlformats.org/drawingml/2006/main" noGrp="1"/>
          </p:cNvSpPr>
          <p:nvPr/>
        </p:nvSpPr>
        <p:spPr>
          <a:xfrm xmlns:a="http://schemas.openxmlformats.org/drawingml/2006/main">
            <a:off x="2857500" y="52863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a:solidFill>
                  <a:srgbClr val="52667A"/>
                </a:solidFill>
                <a:latin typeface="Arial"/>
                <a:ea typeface="Arial"/>
                <a:cs typeface="Arial"/>
              </a:defRPr>
            </a:pPr>
            <a:r>
              <a:rPr sz="1500">
                <a:solidFill>
                  <a:srgbClr val="52667A"/>
                </a:solidFill>
                <a:latin typeface="Arial"/>
                <a:ea typeface="Arial"/>
                <a:cs typeface="Arial"/>
              </a:rPr>
              <a:t>What problem does it solve, and what does it cost under failure, growth, and change?</a:t>
            </a:r>
          </a:p>
        </p:txBody>
      </p:sp>
    </p:spTree>
    <p:extLst>
      <p:ext uri="{BB962C8B-B14F-4D97-AF65-F5344CB8AC3E}">
        <p14:creationId xmlns:p14="http://schemas.microsoft.com/office/powerpoint/2010/main" val="647152214"/>
      </p:ext>
    </p:extLst>
  </p:cSld>
</p:sld>
</file>

<file path=ppt/slides/slide7.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0F36CF1-37F0-4EEC-9456-B1B6F64ACAE3}"/>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3A86FF"/>
                </a:solidFill>
                <a:latin typeface="Arial"/>
                <a:ea typeface="Arial"/>
                <a:cs typeface="Arial"/>
              </a:defRPr>
            </a:pPr>
            <a:r>
              <a:rPr sz="1200" b="1" spc="2">
                <a:solidFill>
                  <a:srgbClr val="3A86FF"/>
                </a:solidFill>
                <a:latin typeface="Arial"/>
                <a:ea typeface="Arial"/>
                <a:cs typeface="Arial"/>
              </a:rPr>
              <a:t>CHAPTER 07</a:t>
            </a:r>
          </a:p>
        </p:txBody>
      </p:sp>
      <p:sp>
        <p:nvSpPr>
          <p:cNvPr id="2" name="">
            <a:extLst xmlns:a="http://schemas.openxmlformats.org/drawingml/2006/main">
              <a:ext uri="{FF2B5EF4-FFF2-40B4-BE49-F238E27FC236}">
                <a16:creationId xmlns:a16="http://schemas.microsoft.com/office/drawing/2014/main" id="{E9E8C5B9-8E2E-4723-BBAB-8A199D61DCDA}"/>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Range sharding: design trade-offs</a:t>
            </a:r>
          </a:p>
        </p:txBody>
      </p:sp>
      <p:sp>
        <p:nvSpPr>
          <p:cNvPr id="3" name="">
            <a:extLst xmlns:a="http://schemas.openxmlformats.org/drawingml/2006/main">
              <a:ext uri="{FF2B5EF4-FFF2-40B4-BE49-F238E27FC236}">
                <a16:creationId xmlns:a16="http://schemas.microsoft.com/office/drawing/2014/main" id="{A0E7118E-6ADB-477A-8531-991C4EB411E4}"/>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07 / 23</a:t>
            </a:r>
          </a:p>
        </p:txBody>
      </p:sp>
      <p:sp>
        <p:nvSpPr>
          <p:cNvPr id="4" name="">
            <a:extLst xmlns:a="http://schemas.openxmlformats.org/drawingml/2006/main">
              <a:ext uri="{FF2B5EF4-FFF2-40B4-BE49-F238E27FC236}">
                <a16:creationId xmlns:a16="http://schemas.microsoft.com/office/drawing/2014/main" id="{EB07CEF3-5D32-4EBB-9B09-F205290CA8A1}"/>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3A86FF"/>
                </a:solidFill>
                <a:latin typeface="Arial"/>
                <a:ea typeface="Arial"/>
                <a:cs typeface="Arial"/>
              </a:defRPr>
            </a:pPr>
            <a:r>
              <a:rPr sz="6750" b="1">
                <a:solidFill>
                  <a:srgbClr val="3A86FF"/>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B398790A-6C4C-4B8D-B809-38C471E883E0}"/>
              </a:ext>
            </a:extLst>
          </p:cNvPr>
          <p:cNvSpPr>
            <a:spLocks xmlns:a="http://schemas.openxmlformats.org/drawingml/2006/main" noGrp="1"/>
          </p:cNvSpPr>
          <p:nvPr/>
        </p:nvSpPr>
        <p:spPr>
          <a:xfrm xmlns:a="http://schemas.openxmlformats.org/drawingml/2006/main">
            <a:off x="2857500" y="1571625"/>
            <a:ext cx="8096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Fit: Adjacent keys share shards, enabling efficient range scans.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Cost: evaluate latency, throughput, consistency, and operational complexity.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Failure check: what state becomes visible when a node, network path, or dependency fails?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Evolution check: can formats, interfaces, and topology change through rolling upgrades?</a:t>
            </a:r>
          </a:p>
        </p:txBody>
      </p:sp>
    </p:spTree>
    <p:extLst>
      <p:ext uri="{BB962C8B-B14F-4D97-AF65-F5344CB8AC3E}">
        <p14:creationId xmlns:p14="http://schemas.microsoft.com/office/powerpoint/2010/main" val="987475053"/>
      </p:ext>
    </p:extLst>
  </p:cSld>
</p:sld>
</file>

<file path=ppt/slides/slide8.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377A0D1-081D-4FB4-8219-5B3D15BAA281}"/>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3A86FF"/>
                </a:solidFill>
                <a:latin typeface="Arial"/>
                <a:ea typeface="Arial"/>
                <a:cs typeface="Arial"/>
              </a:defRPr>
            </a:pPr>
            <a:r>
              <a:rPr sz="1200" b="1" spc="2">
                <a:solidFill>
                  <a:srgbClr val="3A86FF"/>
                </a:solidFill>
                <a:latin typeface="Arial"/>
                <a:ea typeface="Arial"/>
                <a:cs typeface="Arial"/>
              </a:rPr>
              <a:t>CHAPTER 07</a:t>
            </a:r>
          </a:p>
        </p:txBody>
      </p:sp>
      <p:sp>
        <p:nvSpPr>
          <p:cNvPr id="2" name="">
            <a:extLst xmlns:a="http://schemas.openxmlformats.org/drawingml/2006/main">
              <a:ext uri="{FF2B5EF4-FFF2-40B4-BE49-F238E27FC236}">
                <a16:creationId xmlns:a16="http://schemas.microsoft.com/office/drawing/2014/main" id="{75413AD4-3A21-49CB-BAC5-0474F6C2867F}"/>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7-2: mechanism explained</a:t>
            </a:r>
          </a:p>
        </p:txBody>
      </p:sp>
      <p:sp>
        <p:nvSpPr>
          <p:cNvPr id="3" name="">
            <a:extLst xmlns:a="http://schemas.openxmlformats.org/drawingml/2006/main">
              <a:ext uri="{FF2B5EF4-FFF2-40B4-BE49-F238E27FC236}">
                <a16:creationId xmlns:a16="http://schemas.microsoft.com/office/drawing/2014/main" id="{8F8D73BF-F857-4B0E-9E6E-DE2620C38E9F}"/>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08 / 23</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1d9aed37a25482a"/>
          <a:stretch xmlns:a="http://schemas.openxmlformats.org/drawingml/2006/main"/>
        </p:blipFill>
        <p:spPr>
          <a:xfrm xmlns:a="http://schemas.openxmlformats.org/drawingml/2006/main">
            <a:off x="1235835" y="1285875"/>
            <a:ext cx="631990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8640AF5-74C6-4814-83D6-4345A2498206}"/>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3A86FF"/>
                </a:solidFill>
                <a:latin typeface="Arial"/>
                <a:ea typeface="Arial"/>
                <a:cs typeface="Arial"/>
              </a:defRPr>
            </a:pPr>
            <a:r>
              <a:rPr sz="1200" b="1">
                <a:solidFill>
                  <a:srgbClr val="3A86FF"/>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69F31E5A-A7A3-42FB-977F-8250AE320691}"/>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Keys, requests, or index entries are assigned across partitions.</a:t>
            </a:r>
          </a:p>
        </p:txBody>
      </p:sp>
      <p:sp>
        <p:nvSpPr>
          <p:cNvPr id="7" name="">
            <a:extLst xmlns:a="http://schemas.openxmlformats.org/drawingml/2006/main">
              <a:ext uri="{FF2B5EF4-FFF2-40B4-BE49-F238E27FC236}">
                <a16:creationId xmlns:a16="http://schemas.microsoft.com/office/drawing/2014/main" id="{5B26235A-E1D9-40FF-9523-E583ECA29B2F}"/>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3A86FF"/>
                </a:solidFill>
                <a:latin typeface="Arial"/>
                <a:ea typeface="Arial"/>
                <a:cs typeface="Arial"/>
              </a:defRPr>
            </a:pPr>
            <a:r>
              <a:rPr sz="1200" b="1">
                <a:solidFill>
                  <a:srgbClr val="3A86FF"/>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2165F482-2463-47A6-9BF6-3A882C43E15E}"/>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The assignment controls balance, range locality, routing work, and rebalancing cost.</a:t>
            </a:r>
          </a:p>
        </p:txBody>
      </p:sp>
      <p:sp>
        <p:nvSpPr>
          <p:cNvPr id="9" name="">
            <a:extLst xmlns:a="http://schemas.openxmlformats.org/drawingml/2006/main">
              <a:ext uri="{FF2B5EF4-FFF2-40B4-BE49-F238E27FC236}">
                <a16:creationId xmlns:a16="http://schemas.microsoft.com/office/drawing/2014/main" id="{5B70EBF9-8599-4726-862F-DF50480B57DC}"/>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3A86FF"/>
                </a:solidFill>
                <a:latin typeface="Arial"/>
                <a:ea typeface="Arial"/>
                <a:cs typeface="Arial"/>
              </a:defRPr>
            </a:pPr>
            <a:r>
              <a:rPr sz="1200" b="1">
                <a:solidFill>
                  <a:srgbClr val="3A86FF"/>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1888D5B1-2482-4D54-9780-D0413DFD12A7}"/>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740962912"/>
      </p:ext>
    </p:extLst>
  </p:cSld>
</p:sld>
</file>

<file path=ppt/slides/slide9.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9B33BE4-9802-4FD9-90B9-73F1362C25EA}"/>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3A86FF"/>
                </a:solidFill>
                <a:latin typeface="Arial"/>
                <a:ea typeface="Arial"/>
                <a:cs typeface="Arial"/>
              </a:defRPr>
            </a:pPr>
            <a:r>
              <a:rPr sz="1200" b="1" spc="2">
                <a:solidFill>
                  <a:srgbClr val="3A86FF"/>
                </a:solidFill>
                <a:latin typeface="Arial"/>
                <a:ea typeface="Arial"/>
                <a:cs typeface="Arial"/>
              </a:rPr>
              <a:t>CHAPTER 07</a:t>
            </a:r>
          </a:p>
        </p:txBody>
      </p:sp>
      <p:sp>
        <p:nvSpPr>
          <p:cNvPr id="2" name="">
            <a:extLst xmlns:a="http://schemas.openxmlformats.org/drawingml/2006/main">
              <a:ext uri="{FF2B5EF4-FFF2-40B4-BE49-F238E27FC236}">
                <a16:creationId xmlns:a16="http://schemas.microsoft.com/office/drawing/2014/main" id="{D18580DD-ECFB-4B40-B59E-8425AAEBBB8A}"/>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Hash sharding</a:t>
            </a:r>
          </a:p>
        </p:txBody>
      </p:sp>
      <p:sp>
        <p:nvSpPr>
          <p:cNvPr id="3" name="">
            <a:extLst xmlns:a="http://schemas.openxmlformats.org/drawingml/2006/main">
              <a:ext uri="{FF2B5EF4-FFF2-40B4-BE49-F238E27FC236}">
                <a16:creationId xmlns:a16="http://schemas.microsoft.com/office/drawing/2014/main" id="{AB074F85-9C57-40B9-9926-3EB2A4A5BE00}"/>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09 / 23</a:t>
            </a:r>
          </a:p>
        </p:txBody>
      </p:sp>
      <p:sp>
        <p:nvSpPr>
          <p:cNvPr id="4" name="">
            <a:extLst xmlns:a="http://schemas.openxmlformats.org/drawingml/2006/main">
              <a:ext uri="{FF2B5EF4-FFF2-40B4-BE49-F238E27FC236}">
                <a16:creationId xmlns:a16="http://schemas.microsoft.com/office/drawing/2014/main" id="{66AEF017-D63E-4F57-A186-8DBA4D4212C2}"/>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3A86FF"/>
                </a:solidFill>
                <a:latin typeface="Arial"/>
                <a:ea typeface="Arial"/>
                <a:cs typeface="Arial"/>
              </a:defRPr>
            </a:pPr>
            <a:r>
              <a:rPr sz="6750" b="1">
                <a:solidFill>
                  <a:srgbClr val="3A86FF"/>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FE28CD3C-4683-41E5-890C-6A5D447328C7}"/>
              </a:ext>
            </a:extLst>
          </p:cNvPr>
          <p:cNvSpPr>
            <a:spLocks xmlns:a="http://schemas.openxmlformats.org/drawingml/2006/main" noGrp="1"/>
          </p:cNvSpPr>
          <p:nvPr/>
        </p:nvSpPr>
        <p:spPr>
          <a:xfrm xmlns:a="http://schemas.openxmlformats.org/drawingml/2006/main">
            <a:off x="2857500" y="1571625"/>
            <a:ext cx="809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Hashing distributes keys more evenly.</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Range scans usually contact several shards.</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Fixed slots or consistent hashing reduce movement during rebalancing.</a:t>
            </a:r>
          </a:p>
        </p:txBody>
      </p:sp>
      <p:sp>
        <p:nvSpPr>
          <p:cNvPr id="6" name="">
            <a:extLst xmlns:a="http://schemas.openxmlformats.org/drawingml/2006/main">
              <a:ext uri="{FF2B5EF4-FFF2-40B4-BE49-F238E27FC236}">
                <a16:creationId xmlns:a16="http://schemas.microsoft.com/office/drawing/2014/main" id="{F16F3FFD-CA1B-454A-B67D-9C965138230F}"/>
              </a:ext>
            </a:extLst>
          </p:cNvPr>
          <p:cNvSpPr>
            <a:spLocks xmlns:a="http://schemas.openxmlformats.org/drawingml/2006/main" noGrp="1"/>
          </p:cNvSpPr>
          <p:nvPr/>
        </p:nvSpPr>
        <p:spPr>
          <a:xfrm xmlns:a="http://schemas.openxmlformats.org/drawingml/2006/main">
            <a:off x="2857500" y="5000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3A86FF"/>
                </a:solidFill>
                <a:latin typeface="Arial"/>
                <a:ea typeface="Arial"/>
                <a:cs typeface="Arial"/>
              </a:defRPr>
            </a:pPr>
            <a:r>
              <a:rPr sz="1200" b="1">
                <a:solidFill>
                  <a:srgbClr val="3A86FF"/>
                </a:solidFill>
                <a:latin typeface="Arial"/>
                <a:ea typeface="Arial"/>
                <a:cs typeface="Arial"/>
              </a:rPr>
              <a:t>Core question</a:t>
            </a:r>
          </a:p>
        </p:txBody>
      </p:sp>
      <p:sp>
        <p:nvSpPr>
          <p:cNvPr id="7" name="">
            <a:extLst xmlns:a="http://schemas.openxmlformats.org/drawingml/2006/main">
              <a:ext uri="{FF2B5EF4-FFF2-40B4-BE49-F238E27FC236}">
                <a16:creationId xmlns:a16="http://schemas.microsoft.com/office/drawing/2014/main" id="{E27F9947-BDC0-4187-8346-02BD7B70576D}"/>
              </a:ext>
            </a:extLst>
          </p:cNvPr>
          <p:cNvSpPr>
            <a:spLocks xmlns:a="http://schemas.openxmlformats.org/drawingml/2006/main" noGrp="1"/>
          </p:cNvSpPr>
          <p:nvPr/>
        </p:nvSpPr>
        <p:spPr>
          <a:xfrm xmlns:a="http://schemas.openxmlformats.org/drawingml/2006/main">
            <a:off x="2857500" y="52863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a:solidFill>
                  <a:srgbClr val="52667A"/>
                </a:solidFill>
                <a:latin typeface="Arial"/>
                <a:ea typeface="Arial"/>
                <a:cs typeface="Arial"/>
              </a:defRPr>
            </a:pPr>
            <a:r>
              <a:rPr sz="1500">
                <a:solidFill>
                  <a:srgbClr val="52667A"/>
                </a:solidFill>
                <a:latin typeface="Arial"/>
                <a:ea typeface="Arial"/>
                <a:cs typeface="Arial"/>
              </a:rPr>
              <a:t>What problem does it solve, and what does it cost under failure, growth, and change?</a:t>
            </a:r>
          </a:p>
        </p:txBody>
      </p:sp>
    </p:spTree>
    <p:extLst>
      <p:ext uri="{BB962C8B-B14F-4D97-AF65-F5344CB8AC3E}">
        <p14:creationId xmlns:p14="http://schemas.microsoft.com/office/powerpoint/2010/main" val="1413031556"/>
      </p:ext>
    </p:extLst>
  </p:cSld>
</p:sld>
</file>

<file path=ppt/slides/slide10.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AD2531E-6FA6-4156-982B-4AB33DEC5E74}"/>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3A86FF"/>
                </a:solidFill>
                <a:latin typeface="Arial"/>
                <a:ea typeface="Arial"/>
                <a:cs typeface="Arial"/>
              </a:defRPr>
            </a:pPr>
            <a:r>
              <a:rPr sz="1200" b="1" spc="2">
                <a:solidFill>
                  <a:srgbClr val="3A86FF"/>
                </a:solidFill>
                <a:latin typeface="Arial"/>
                <a:ea typeface="Arial"/>
                <a:cs typeface="Arial"/>
              </a:rPr>
              <a:t>CHAPTER 07</a:t>
            </a:r>
          </a:p>
        </p:txBody>
      </p:sp>
      <p:sp>
        <p:nvSpPr>
          <p:cNvPr id="2" name="">
            <a:extLst xmlns:a="http://schemas.openxmlformats.org/drawingml/2006/main">
              <a:ext uri="{FF2B5EF4-FFF2-40B4-BE49-F238E27FC236}">
                <a16:creationId xmlns:a16="http://schemas.microsoft.com/office/drawing/2014/main" id="{6243BDC2-290A-42AE-A160-D2473227A030}"/>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Hash sharding: design trade-offs</a:t>
            </a:r>
          </a:p>
        </p:txBody>
      </p:sp>
      <p:sp>
        <p:nvSpPr>
          <p:cNvPr id="3" name="">
            <a:extLst xmlns:a="http://schemas.openxmlformats.org/drawingml/2006/main">
              <a:ext uri="{FF2B5EF4-FFF2-40B4-BE49-F238E27FC236}">
                <a16:creationId xmlns:a16="http://schemas.microsoft.com/office/drawing/2014/main" id="{FB67F804-5F37-4D77-A106-425328A8E28B}"/>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10 / 23</a:t>
            </a:r>
          </a:p>
        </p:txBody>
      </p:sp>
      <p:sp>
        <p:nvSpPr>
          <p:cNvPr id="4" name="">
            <a:extLst xmlns:a="http://schemas.openxmlformats.org/drawingml/2006/main">
              <a:ext uri="{FF2B5EF4-FFF2-40B4-BE49-F238E27FC236}">
                <a16:creationId xmlns:a16="http://schemas.microsoft.com/office/drawing/2014/main" id="{50B355C6-1339-4F29-95C2-F7FF1494E484}"/>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3A86FF"/>
                </a:solidFill>
                <a:latin typeface="Arial"/>
                <a:ea typeface="Arial"/>
                <a:cs typeface="Arial"/>
              </a:defRPr>
            </a:pPr>
            <a:r>
              <a:rPr sz="6750" b="1">
                <a:solidFill>
                  <a:srgbClr val="3A86FF"/>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1FA24043-4ED2-42C9-B2B1-618603876F15}"/>
              </a:ext>
            </a:extLst>
          </p:cNvPr>
          <p:cNvSpPr>
            <a:spLocks xmlns:a="http://schemas.openxmlformats.org/drawingml/2006/main" noGrp="1"/>
          </p:cNvSpPr>
          <p:nvPr/>
        </p:nvSpPr>
        <p:spPr>
          <a:xfrm xmlns:a="http://schemas.openxmlformats.org/drawingml/2006/main">
            <a:off x="2857500" y="1571625"/>
            <a:ext cx="8096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Fit: Hashing distributes keys more evenly.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Cost: evaluate latency, throughput, consistency, and operational complexity.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Failure check: what state becomes visible when a node, network path, or dependency fails?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Evolution check: can formats, interfaces, and topology change through rolling upgrades?</a:t>
            </a:r>
          </a:p>
        </p:txBody>
      </p:sp>
    </p:spTree>
    <p:extLst>
      <p:ext uri="{BB962C8B-B14F-4D97-AF65-F5344CB8AC3E}">
        <p14:creationId xmlns:p14="http://schemas.microsoft.com/office/powerpoint/2010/main" val="278983633"/>
      </p:ext>
    </p:extLst>
  </p:cSld>
</p:sld>
</file>

<file path=ppt/slides/slide11.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EF45215-2608-43D5-AC7B-B08AD40D5319}"/>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3A86FF"/>
                </a:solidFill>
                <a:latin typeface="Arial"/>
                <a:ea typeface="Arial"/>
                <a:cs typeface="Arial"/>
              </a:defRPr>
            </a:pPr>
            <a:r>
              <a:rPr sz="1200" b="1" spc="2">
                <a:solidFill>
                  <a:srgbClr val="3A86FF"/>
                </a:solidFill>
                <a:latin typeface="Arial"/>
                <a:ea typeface="Arial"/>
                <a:cs typeface="Arial"/>
              </a:rPr>
              <a:t>CHAPTER 07</a:t>
            </a:r>
          </a:p>
        </p:txBody>
      </p:sp>
      <p:sp>
        <p:nvSpPr>
          <p:cNvPr id="2" name="">
            <a:extLst xmlns:a="http://schemas.openxmlformats.org/drawingml/2006/main">
              <a:ext uri="{FF2B5EF4-FFF2-40B4-BE49-F238E27FC236}">
                <a16:creationId xmlns:a16="http://schemas.microsoft.com/office/drawing/2014/main" id="{11EAC0C3-00B6-4990-99B0-07464347A531}"/>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7-3: mechanism explained</a:t>
            </a:r>
          </a:p>
        </p:txBody>
      </p:sp>
      <p:sp>
        <p:nvSpPr>
          <p:cNvPr id="3" name="">
            <a:extLst xmlns:a="http://schemas.openxmlformats.org/drawingml/2006/main">
              <a:ext uri="{FF2B5EF4-FFF2-40B4-BE49-F238E27FC236}">
                <a16:creationId xmlns:a16="http://schemas.microsoft.com/office/drawing/2014/main" id="{7CBD9516-20A8-48E7-B1DB-0D04DBDA13F0}"/>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11 / 23</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3880da831bf04371"/>
          <a:stretch xmlns:a="http://schemas.openxmlformats.org/drawingml/2006/main"/>
        </p:blipFill>
        <p:spPr>
          <a:xfrm xmlns:a="http://schemas.openxmlformats.org/drawingml/2006/main">
            <a:off x="1235835" y="1285875"/>
            <a:ext cx="631990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13ECE5C-8999-4887-8BF0-6D3A01523017}"/>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3A86FF"/>
                </a:solidFill>
                <a:latin typeface="Arial"/>
                <a:ea typeface="Arial"/>
                <a:cs typeface="Arial"/>
              </a:defRPr>
            </a:pPr>
            <a:r>
              <a:rPr sz="1200" b="1">
                <a:solidFill>
                  <a:srgbClr val="3A86FF"/>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3D164BF7-BDA2-4243-8930-A92002B05949}"/>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Assigning keys to nodes by hashing the key and taking it modulo the number</a:t>
            </a:r>
          </a:p>
        </p:txBody>
      </p:sp>
      <p:sp>
        <p:nvSpPr>
          <p:cNvPr id="7" name="">
            <a:extLst xmlns:a="http://schemas.openxmlformats.org/drawingml/2006/main">
              <a:ext uri="{FF2B5EF4-FFF2-40B4-BE49-F238E27FC236}">
                <a16:creationId xmlns:a16="http://schemas.microsoft.com/office/drawing/2014/main" id="{0B2D744E-ACCB-4888-8648-C71734A9FE19}"/>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3A86FF"/>
                </a:solidFill>
                <a:latin typeface="Arial"/>
                <a:ea typeface="Arial"/>
                <a:cs typeface="Arial"/>
              </a:defRPr>
            </a:pPr>
            <a:r>
              <a:rPr sz="1200" b="1">
                <a:solidFill>
                  <a:srgbClr val="3A86FF"/>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CD9230EE-CA95-4D58-AB1E-8A1088E7C5C4}"/>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It turns the chapter concept into a concrete dataflow, timeline, or state transition.</a:t>
            </a:r>
          </a:p>
        </p:txBody>
      </p:sp>
      <p:sp>
        <p:nvSpPr>
          <p:cNvPr id="9" name="">
            <a:extLst xmlns:a="http://schemas.openxmlformats.org/drawingml/2006/main">
              <a:ext uri="{FF2B5EF4-FFF2-40B4-BE49-F238E27FC236}">
                <a16:creationId xmlns:a16="http://schemas.microsoft.com/office/drawing/2014/main" id="{99CC0359-39C5-4F7F-98CD-7A23D7C2890F}"/>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3A86FF"/>
                </a:solidFill>
                <a:latin typeface="Arial"/>
                <a:ea typeface="Arial"/>
                <a:cs typeface="Arial"/>
              </a:defRPr>
            </a:pPr>
            <a:r>
              <a:rPr sz="1200" b="1">
                <a:solidFill>
                  <a:srgbClr val="3A86FF"/>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FC24D9C2-89A4-43DF-8A35-1CE7AC22D728}"/>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Check the actors, data direction, operation order, and hidden system assumptions.</a:t>
            </a:r>
          </a:p>
        </p:txBody>
      </p:sp>
    </p:spTree>
    <p:extLst>
      <p:ext uri="{BB962C8B-B14F-4D97-AF65-F5344CB8AC3E}">
        <p14:creationId xmlns:p14="http://schemas.microsoft.com/office/powerpoint/2010/main" val="453379775"/>
      </p:ext>
    </p:extLst>
  </p:cSld>
</p:sld>
</file>

<file path=ppt/slides/slide12.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FBF0AB6-5C47-41DE-AC09-1DC46359EF05}"/>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3A86FF"/>
                </a:solidFill>
                <a:latin typeface="Arial"/>
                <a:ea typeface="Arial"/>
                <a:cs typeface="Arial"/>
              </a:defRPr>
            </a:pPr>
            <a:r>
              <a:rPr sz="1200" b="1" spc="2">
                <a:solidFill>
                  <a:srgbClr val="3A86FF"/>
                </a:solidFill>
                <a:latin typeface="Arial"/>
                <a:ea typeface="Arial"/>
                <a:cs typeface="Arial"/>
              </a:rPr>
              <a:t>CHAPTER 07</a:t>
            </a:r>
          </a:p>
        </p:txBody>
      </p:sp>
      <p:sp>
        <p:nvSpPr>
          <p:cNvPr id="2" name="">
            <a:extLst xmlns:a="http://schemas.openxmlformats.org/drawingml/2006/main">
              <a:ext uri="{FF2B5EF4-FFF2-40B4-BE49-F238E27FC236}">
                <a16:creationId xmlns:a16="http://schemas.microsoft.com/office/drawing/2014/main" id="{0B56CC02-070A-4177-B6CF-38AAE2DF1045}"/>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7-4: mechanism explained</a:t>
            </a:r>
          </a:p>
        </p:txBody>
      </p:sp>
      <p:sp>
        <p:nvSpPr>
          <p:cNvPr id="3" name="">
            <a:extLst xmlns:a="http://schemas.openxmlformats.org/drawingml/2006/main">
              <a:ext uri="{FF2B5EF4-FFF2-40B4-BE49-F238E27FC236}">
                <a16:creationId xmlns:a16="http://schemas.microsoft.com/office/drawing/2014/main" id="{6BEF6251-C24B-4458-BF08-179EA4AA0583}"/>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12 / 23</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05f9f70e94ca4d3f"/>
          <a:stretch xmlns:a="http://schemas.openxmlformats.org/drawingml/2006/main"/>
        </p:blipFill>
        <p:spPr>
          <a:xfrm xmlns:a="http://schemas.openxmlformats.org/drawingml/2006/main">
            <a:off x="1235835" y="1285875"/>
            <a:ext cx="631990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5E06614-AD32-48AF-AB0B-AC42C67E0980}"/>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3A86FF"/>
                </a:solidFill>
                <a:latin typeface="Arial"/>
                <a:ea typeface="Arial"/>
                <a:cs typeface="Arial"/>
              </a:defRPr>
            </a:pPr>
            <a:r>
              <a:rPr sz="1200" b="1">
                <a:solidFill>
                  <a:srgbClr val="3A86FF"/>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C74CA45B-C6B8-4A1B-8CE5-03187920D239}"/>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Keys, requests, or index entries are assigned across partitions.</a:t>
            </a:r>
          </a:p>
        </p:txBody>
      </p:sp>
      <p:sp>
        <p:nvSpPr>
          <p:cNvPr id="7" name="">
            <a:extLst xmlns:a="http://schemas.openxmlformats.org/drawingml/2006/main">
              <a:ext uri="{FF2B5EF4-FFF2-40B4-BE49-F238E27FC236}">
                <a16:creationId xmlns:a16="http://schemas.microsoft.com/office/drawing/2014/main" id="{B8D7505F-EC1B-45B5-B082-D73F55E636FF}"/>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3A86FF"/>
                </a:solidFill>
                <a:latin typeface="Arial"/>
                <a:ea typeface="Arial"/>
                <a:cs typeface="Arial"/>
              </a:defRPr>
            </a:pPr>
            <a:r>
              <a:rPr sz="1200" b="1">
                <a:solidFill>
                  <a:srgbClr val="3A86FF"/>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0C8269D8-77BD-4844-8F23-FED57D182D21}"/>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The assignment controls balance, range locality, routing work, and rebalancing cost.</a:t>
            </a:r>
          </a:p>
        </p:txBody>
      </p:sp>
      <p:sp>
        <p:nvSpPr>
          <p:cNvPr id="9" name="">
            <a:extLst xmlns:a="http://schemas.openxmlformats.org/drawingml/2006/main">
              <a:ext uri="{FF2B5EF4-FFF2-40B4-BE49-F238E27FC236}">
                <a16:creationId xmlns:a16="http://schemas.microsoft.com/office/drawing/2014/main" id="{F57B33BC-CCE8-4A43-865C-957861D703B3}"/>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3A86FF"/>
                </a:solidFill>
                <a:latin typeface="Arial"/>
                <a:ea typeface="Arial"/>
                <a:cs typeface="Arial"/>
              </a:defRPr>
            </a:pPr>
            <a:r>
              <a:rPr sz="1200" b="1">
                <a:solidFill>
                  <a:srgbClr val="3A86FF"/>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430238BE-FA10-4A42-9986-45E611C7FD9E}"/>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72127519"/>
      </p:ext>
    </p:extLst>
  </p:cSld>
</p:sld>
</file>

<file path=ppt/slides/slide13.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85B88B9-0CD5-4B02-BBD7-8757E3B96C95}"/>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3A86FF"/>
                </a:solidFill>
                <a:latin typeface="Arial"/>
                <a:ea typeface="Arial"/>
                <a:cs typeface="Arial"/>
              </a:defRPr>
            </a:pPr>
            <a:r>
              <a:rPr sz="1200" b="1" spc="2">
                <a:solidFill>
                  <a:srgbClr val="3A86FF"/>
                </a:solidFill>
                <a:latin typeface="Arial"/>
                <a:ea typeface="Arial"/>
                <a:cs typeface="Arial"/>
              </a:rPr>
              <a:t>CHAPTER 07</a:t>
            </a:r>
          </a:p>
        </p:txBody>
      </p:sp>
      <p:sp>
        <p:nvSpPr>
          <p:cNvPr id="2" name="">
            <a:extLst xmlns:a="http://schemas.openxmlformats.org/drawingml/2006/main">
              <a:ext uri="{FF2B5EF4-FFF2-40B4-BE49-F238E27FC236}">
                <a16:creationId xmlns:a16="http://schemas.microsoft.com/office/drawing/2014/main" id="{B6D712B2-1ECA-40A5-AB19-63A1A0D45A89}"/>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7-5: mechanism explained</a:t>
            </a:r>
          </a:p>
        </p:txBody>
      </p:sp>
      <p:sp>
        <p:nvSpPr>
          <p:cNvPr id="3" name="">
            <a:extLst xmlns:a="http://schemas.openxmlformats.org/drawingml/2006/main">
              <a:ext uri="{FF2B5EF4-FFF2-40B4-BE49-F238E27FC236}">
                <a16:creationId xmlns:a16="http://schemas.microsoft.com/office/drawing/2014/main" id="{24A24CA7-C470-4D8A-938E-1FA842861FFE}"/>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13 / 23</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a70eb7b8c3c546b1"/>
          <a:stretch xmlns:a="http://schemas.openxmlformats.org/drawingml/2006/main"/>
        </p:blipFill>
        <p:spPr>
          <a:xfrm xmlns:a="http://schemas.openxmlformats.org/drawingml/2006/main">
            <a:off x="1235835" y="1285875"/>
            <a:ext cx="631990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2084ED2-C38C-48FA-8E6B-6BAEE6F49B53}"/>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3A86FF"/>
                </a:solidFill>
                <a:latin typeface="Arial"/>
                <a:ea typeface="Arial"/>
                <a:cs typeface="Arial"/>
              </a:defRPr>
            </a:pPr>
            <a:r>
              <a:rPr sz="1200" b="1">
                <a:solidFill>
                  <a:srgbClr val="3A86FF"/>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E72A699A-EE32-4489-AAC3-C45D49C1AA50}"/>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Keys, requests, or index entries are assigned across partitions.</a:t>
            </a:r>
          </a:p>
        </p:txBody>
      </p:sp>
      <p:sp>
        <p:nvSpPr>
          <p:cNvPr id="7" name="">
            <a:extLst xmlns:a="http://schemas.openxmlformats.org/drawingml/2006/main">
              <a:ext uri="{FF2B5EF4-FFF2-40B4-BE49-F238E27FC236}">
                <a16:creationId xmlns:a16="http://schemas.microsoft.com/office/drawing/2014/main" id="{3F72CA59-6A75-4979-AD9E-B0F1E2A773AB}"/>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3A86FF"/>
                </a:solidFill>
                <a:latin typeface="Arial"/>
                <a:ea typeface="Arial"/>
                <a:cs typeface="Arial"/>
              </a:defRPr>
            </a:pPr>
            <a:r>
              <a:rPr sz="1200" b="1">
                <a:solidFill>
                  <a:srgbClr val="3A86FF"/>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1E5D68B0-5082-4C0B-84E0-5DFFFFE3BA7A}"/>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The assignment controls balance, range locality, routing work, and rebalancing cost.</a:t>
            </a:r>
          </a:p>
        </p:txBody>
      </p:sp>
      <p:sp>
        <p:nvSpPr>
          <p:cNvPr id="9" name="">
            <a:extLst xmlns:a="http://schemas.openxmlformats.org/drawingml/2006/main">
              <a:ext uri="{FF2B5EF4-FFF2-40B4-BE49-F238E27FC236}">
                <a16:creationId xmlns:a16="http://schemas.microsoft.com/office/drawing/2014/main" id="{9C798F23-D9BC-4276-B3EE-CDEFC40F19C0}"/>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3A86FF"/>
                </a:solidFill>
                <a:latin typeface="Arial"/>
                <a:ea typeface="Arial"/>
                <a:cs typeface="Arial"/>
              </a:defRPr>
            </a:pPr>
            <a:r>
              <a:rPr sz="1200" b="1">
                <a:solidFill>
                  <a:srgbClr val="3A86FF"/>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0686B9D4-A22E-428F-82BD-DA65E633E1FE}"/>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1235934125"/>
      </p:ext>
    </p:extLst>
  </p:cSld>
</p:sld>
</file>

<file path=ppt/slides/slide14.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2EC21DD-D2F3-4E91-B4CC-E8775E0906DD}"/>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3A86FF"/>
                </a:solidFill>
                <a:latin typeface="Arial"/>
                <a:ea typeface="Arial"/>
                <a:cs typeface="Arial"/>
              </a:defRPr>
            </a:pPr>
            <a:r>
              <a:rPr sz="1200" b="1" spc="2">
                <a:solidFill>
                  <a:srgbClr val="3A86FF"/>
                </a:solidFill>
                <a:latin typeface="Arial"/>
                <a:ea typeface="Arial"/>
                <a:cs typeface="Arial"/>
              </a:rPr>
              <a:t>CHAPTER 07</a:t>
            </a:r>
          </a:p>
        </p:txBody>
      </p:sp>
      <p:sp>
        <p:nvSpPr>
          <p:cNvPr id="2" name="">
            <a:extLst xmlns:a="http://schemas.openxmlformats.org/drawingml/2006/main">
              <a:ext uri="{FF2B5EF4-FFF2-40B4-BE49-F238E27FC236}">
                <a16:creationId xmlns:a16="http://schemas.microsoft.com/office/drawing/2014/main" id="{A0D4C909-51ED-45EE-9EC0-7CDFBE4A2785}"/>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7-6: mechanism explained</a:t>
            </a:r>
          </a:p>
        </p:txBody>
      </p:sp>
      <p:sp>
        <p:nvSpPr>
          <p:cNvPr id="3" name="">
            <a:extLst xmlns:a="http://schemas.openxmlformats.org/drawingml/2006/main">
              <a:ext uri="{FF2B5EF4-FFF2-40B4-BE49-F238E27FC236}">
                <a16:creationId xmlns:a16="http://schemas.microsoft.com/office/drawing/2014/main" id="{C0A23369-AA2E-4653-9125-44F4C3C8C252}"/>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14 / 23</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4a4082f6fb034ab2"/>
          <a:stretch xmlns:a="http://schemas.openxmlformats.org/drawingml/2006/main"/>
        </p:blipFill>
        <p:spPr>
          <a:xfrm xmlns:a="http://schemas.openxmlformats.org/drawingml/2006/main">
            <a:off x="1235835" y="1285875"/>
            <a:ext cx="631990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5CD9E01-5EA4-4383-BCBE-C76530ED15D1}"/>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3A86FF"/>
                </a:solidFill>
                <a:latin typeface="Arial"/>
                <a:ea typeface="Arial"/>
                <a:cs typeface="Arial"/>
              </a:defRPr>
            </a:pPr>
            <a:r>
              <a:rPr sz="1200" b="1">
                <a:solidFill>
                  <a:srgbClr val="3A86FF"/>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AA87B1A5-51D4-4333-B1A0-A9E53A377033}"/>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Keys, requests, or index entries are assigned across partitions.</a:t>
            </a:r>
          </a:p>
        </p:txBody>
      </p:sp>
      <p:sp>
        <p:nvSpPr>
          <p:cNvPr id="7" name="">
            <a:extLst xmlns:a="http://schemas.openxmlformats.org/drawingml/2006/main">
              <a:ext uri="{FF2B5EF4-FFF2-40B4-BE49-F238E27FC236}">
                <a16:creationId xmlns:a16="http://schemas.microsoft.com/office/drawing/2014/main" id="{298DC1FA-97FD-4E10-BCB6-816C2D9928B0}"/>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3A86FF"/>
                </a:solidFill>
                <a:latin typeface="Arial"/>
                <a:ea typeface="Arial"/>
                <a:cs typeface="Arial"/>
              </a:defRPr>
            </a:pPr>
            <a:r>
              <a:rPr sz="1200" b="1">
                <a:solidFill>
                  <a:srgbClr val="3A86FF"/>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A2F62DF2-542C-4BBE-B867-660E28C6ECA4}"/>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The assignment controls balance, range locality, routing work, and rebalancing cost.</a:t>
            </a:r>
          </a:p>
        </p:txBody>
      </p:sp>
      <p:sp>
        <p:nvSpPr>
          <p:cNvPr id="9" name="">
            <a:extLst xmlns:a="http://schemas.openxmlformats.org/drawingml/2006/main">
              <a:ext uri="{FF2B5EF4-FFF2-40B4-BE49-F238E27FC236}">
                <a16:creationId xmlns:a16="http://schemas.microsoft.com/office/drawing/2014/main" id="{766FC986-9C08-4AF2-980C-8D0874DAD516}"/>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3A86FF"/>
                </a:solidFill>
                <a:latin typeface="Arial"/>
                <a:ea typeface="Arial"/>
                <a:cs typeface="Arial"/>
              </a:defRPr>
            </a:pPr>
            <a:r>
              <a:rPr sz="1200" b="1">
                <a:solidFill>
                  <a:srgbClr val="3A86FF"/>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4659D11A-3DE3-43A3-A7CF-796BBDC42546}"/>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1261974003"/>
      </p:ext>
    </p:extLst>
  </p:cSld>
</p:sld>
</file>

<file path=ppt/slides/slide15.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25AA485-67DC-4D63-B6DC-FEB1B1ECEE37}"/>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3A86FF"/>
                </a:solidFill>
                <a:latin typeface="Arial"/>
                <a:ea typeface="Arial"/>
                <a:cs typeface="Arial"/>
              </a:defRPr>
            </a:pPr>
            <a:r>
              <a:rPr sz="1200" b="1" spc="2">
                <a:solidFill>
                  <a:srgbClr val="3A86FF"/>
                </a:solidFill>
                <a:latin typeface="Arial"/>
                <a:ea typeface="Arial"/>
                <a:cs typeface="Arial"/>
              </a:rPr>
              <a:t>CHAPTER 07</a:t>
            </a:r>
          </a:p>
        </p:txBody>
      </p:sp>
      <p:sp>
        <p:nvSpPr>
          <p:cNvPr id="2" name="">
            <a:extLst xmlns:a="http://schemas.openxmlformats.org/drawingml/2006/main">
              <a:ext uri="{FF2B5EF4-FFF2-40B4-BE49-F238E27FC236}">
                <a16:creationId xmlns:a16="http://schemas.microsoft.com/office/drawing/2014/main" id="{4432B0DA-96CD-4793-97EE-4D953839AA29}"/>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Hot spots and rebalancing</a:t>
            </a:r>
          </a:p>
        </p:txBody>
      </p:sp>
      <p:sp>
        <p:nvSpPr>
          <p:cNvPr id="3" name="">
            <a:extLst xmlns:a="http://schemas.openxmlformats.org/drawingml/2006/main">
              <a:ext uri="{FF2B5EF4-FFF2-40B4-BE49-F238E27FC236}">
                <a16:creationId xmlns:a16="http://schemas.microsoft.com/office/drawing/2014/main" id="{C9F8D844-3AE6-4DC3-8372-9B59B636A69A}"/>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15 / 23</a:t>
            </a:r>
          </a:p>
        </p:txBody>
      </p:sp>
      <p:sp>
        <p:nvSpPr>
          <p:cNvPr id="4" name="">
            <a:extLst xmlns:a="http://schemas.openxmlformats.org/drawingml/2006/main">
              <a:ext uri="{FF2B5EF4-FFF2-40B4-BE49-F238E27FC236}">
                <a16:creationId xmlns:a16="http://schemas.microsoft.com/office/drawing/2014/main" id="{CFA967BB-CB44-4991-86A5-681C998E3F4F}"/>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3A86FF"/>
                </a:solidFill>
                <a:latin typeface="Arial"/>
                <a:ea typeface="Arial"/>
                <a:cs typeface="Arial"/>
              </a:defRPr>
            </a:pPr>
            <a:r>
              <a:rPr sz="6750" b="1">
                <a:solidFill>
                  <a:srgbClr val="3A86FF"/>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CBF41EB7-4B28-40DE-B8E2-83E416EFE7DB}"/>
              </a:ext>
            </a:extLst>
          </p:cNvPr>
          <p:cNvSpPr>
            <a:spLocks xmlns:a="http://schemas.openxmlformats.org/drawingml/2006/main" noGrp="1"/>
          </p:cNvSpPr>
          <p:nvPr/>
        </p:nvSpPr>
        <p:spPr>
          <a:xfrm xmlns:a="http://schemas.openxmlformats.org/drawingml/2006/main">
            <a:off x="2857500" y="1571625"/>
            <a:ext cx="809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Hot keys, tenants, and time-correlated writes create skew.</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Splitting a hot key complicates aggregation and consistency.</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Automated movement needs rate limits and stability controls.</a:t>
            </a:r>
          </a:p>
        </p:txBody>
      </p:sp>
      <p:sp>
        <p:nvSpPr>
          <p:cNvPr id="6" name="">
            <a:extLst xmlns:a="http://schemas.openxmlformats.org/drawingml/2006/main">
              <a:ext uri="{FF2B5EF4-FFF2-40B4-BE49-F238E27FC236}">
                <a16:creationId xmlns:a16="http://schemas.microsoft.com/office/drawing/2014/main" id="{E040812B-09FD-4761-A17B-8978BA6CFB3B}"/>
              </a:ext>
            </a:extLst>
          </p:cNvPr>
          <p:cNvSpPr>
            <a:spLocks xmlns:a="http://schemas.openxmlformats.org/drawingml/2006/main" noGrp="1"/>
          </p:cNvSpPr>
          <p:nvPr/>
        </p:nvSpPr>
        <p:spPr>
          <a:xfrm xmlns:a="http://schemas.openxmlformats.org/drawingml/2006/main">
            <a:off x="2857500" y="5000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3A86FF"/>
                </a:solidFill>
                <a:latin typeface="Arial"/>
                <a:ea typeface="Arial"/>
                <a:cs typeface="Arial"/>
              </a:defRPr>
            </a:pPr>
            <a:r>
              <a:rPr sz="1200" b="1">
                <a:solidFill>
                  <a:srgbClr val="3A86FF"/>
                </a:solidFill>
                <a:latin typeface="Arial"/>
                <a:ea typeface="Arial"/>
                <a:cs typeface="Arial"/>
              </a:rPr>
              <a:t>Core question</a:t>
            </a:r>
          </a:p>
        </p:txBody>
      </p:sp>
      <p:sp>
        <p:nvSpPr>
          <p:cNvPr id="7" name="">
            <a:extLst xmlns:a="http://schemas.openxmlformats.org/drawingml/2006/main">
              <a:ext uri="{FF2B5EF4-FFF2-40B4-BE49-F238E27FC236}">
                <a16:creationId xmlns:a16="http://schemas.microsoft.com/office/drawing/2014/main" id="{486D2B60-08F4-44A7-ADF9-5E063955DF35}"/>
              </a:ext>
            </a:extLst>
          </p:cNvPr>
          <p:cNvSpPr>
            <a:spLocks xmlns:a="http://schemas.openxmlformats.org/drawingml/2006/main" noGrp="1"/>
          </p:cNvSpPr>
          <p:nvPr/>
        </p:nvSpPr>
        <p:spPr>
          <a:xfrm xmlns:a="http://schemas.openxmlformats.org/drawingml/2006/main">
            <a:off x="2857500" y="52863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a:solidFill>
                  <a:srgbClr val="52667A"/>
                </a:solidFill>
                <a:latin typeface="Arial"/>
                <a:ea typeface="Arial"/>
                <a:cs typeface="Arial"/>
              </a:defRPr>
            </a:pPr>
            <a:r>
              <a:rPr sz="1500">
                <a:solidFill>
                  <a:srgbClr val="52667A"/>
                </a:solidFill>
                <a:latin typeface="Arial"/>
                <a:ea typeface="Arial"/>
                <a:cs typeface="Arial"/>
              </a:rPr>
              <a:t>What problem does it solve, and what does it cost under failure, growth, and change?</a:t>
            </a:r>
          </a:p>
        </p:txBody>
      </p:sp>
    </p:spTree>
    <p:extLst>
      <p:ext uri="{BB962C8B-B14F-4D97-AF65-F5344CB8AC3E}">
        <p14:creationId xmlns:p14="http://schemas.microsoft.com/office/powerpoint/2010/main" val="2062240633"/>
      </p:ext>
    </p:extLst>
  </p:cSld>
</p:sld>
</file>

<file path=ppt/slides/slide16.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53464E0-4880-4EF3-AC4B-6BE5665D3019}"/>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3A86FF"/>
                </a:solidFill>
                <a:latin typeface="Arial"/>
                <a:ea typeface="Arial"/>
                <a:cs typeface="Arial"/>
              </a:defRPr>
            </a:pPr>
            <a:r>
              <a:rPr sz="1200" b="1" spc="2">
                <a:solidFill>
                  <a:srgbClr val="3A86FF"/>
                </a:solidFill>
                <a:latin typeface="Arial"/>
                <a:ea typeface="Arial"/>
                <a:cs typeface="Arial"/>
              </a:rPr>
              <a:t>CHAPTER 07</a:t>
            </a:r>
          </a:p>
        </p:txBody>
      </p:sp>
      <p:sp>
        <p:nvSpPr>
          <p:cNvPr id="2" name="">
            <a:extLst xmlns:a="http://schemas.openxmlformats.org/drawingml/2006/main">
              <a:ext uri="{FF2B5EF4-FFF2-40B4-BE49-F238E27FC236}">
                <a16:creationId xmlns:a16="http://schemas.microsoft.com/office/drawing/2014/main" id="{939C5D6A-D7F7-44BE-9E6A-39B1CA1535BC}"/>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Hot spots and rebalancing: design trade-offs</a:t>
            </a:r>
          </a:p>
        </p:txBody>
      </p:sp>
      <p:sp>
        <p:nvSpPr>
          <p:cNvPr id="3" name="">
            <a:extLst xmlns:a="http://schemas.openxmlformats.org/drawingml/2006/main">
              <a:ext uri="{FF2B5EF4-FFF2-40B4-BE49-F238E27FC236}">
                <a16:creationId xmlns:a16="http://schemas.microsoft.com/office/drawing/2014/main" id="{4E5E4EA7-CA91-4739-AA9A-4CD270843B7F}"/>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16 / 23</a:t>
            </a:r>
          </a:p>
        </p:txBody>
      </p:sp>
      <p:sp>
        <p:nvSpPr>
          <p:cNvPr id="4" name="">
            <a:extLst xmlns:a="http://schemas.openxmlformats.org/drawingml/2006/main">
              <a:ext uri="{FF2B5EF4-FFF2-40B4-BE49-F238E27FC236}">
                <a16:creationId xmlns:a16="http://schemas.microsoft.com/office/drawing/2014/main" id="{7565489A-E0B7-48D9-AB94-F1A6529C94B5}"/>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3A86FF"/>
                </a:solidFill>
                <a:latin typeface="Arial"/>
                <a:ea typeface="Arial"/>
                <a:cs typeface="Arial"/>
              </a:defRPr>
            </a:pPr>
            <a:r>
              <a:rPr sz="6750" b="1">
                <a:solidFill>
                  <a:srgbClr val="3A86FF"/>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473E616C-3A34-431A-A479-40BD5586F00D}"/>
              </a:ext>
            </a:extLst>
          </p:cNvPr>
          <p:cNvSpPr>
            <a:spLocks xmlns:a="http://schemas.openxmlformats.org/drawingml/2006/main" noGrp="1"/>
          </p:cNvSpPr>
          <p:nvPr/>
        </p:nvSpPr>
        <p:spPr>
          <a:xfrm xmlns:a="http://schemas.openxmlformats.org/drawingml/2006/main">
            <a:off x="2857500" y="1571625"/>
            <a:ext cx="8096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Fit: Hot keys, tenants, and time-correlated writes create skew.</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Cost: evaluate latency, throughput, consistency, and operational complexity.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Failure check: what state becomes visible when a node, network path, or dependency fails?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Evolution check: can formats, interfaces, and topology change through rolling upgrades?</a:t>
            </a:r>
          </a:p>
        </p:txBody>
      </p:sp>
    </p:spTree>
    <p:extLst>
      <p:ext uri="{BB962C8B-B14F-4D97-AF65-F5344CB8AC3E}">
        <p14:creationId xmlns:p14="http://schemas.microsoft.com/office/powerpoint/2010/main" val="916149774"/>
      </p:ext>
    </p:extLst>
  </p:cSld>
</p:sld>
</file>

<file path=ppt/slides/slide17.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482E7DC-FE9F-4BE0-9773-DA5D79D5604B}"/>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3A86FF"/>
                </a:solidFill>
                <a:latin typeface="Arial"/>
                <a:ea typeface="Arial"/>
                <a:cs typeface="Arial"/>
              </a:defRPr>
            </a:pPr>
            <a:r>
              <a:rPr sz="1200" b="1" spc="2">
                <a:solidFill>
                  <a:srgbClr val="3A86FF"/>
                </a:solidFill>
                <a:latin typeface="Arial"/>
                <a:ea typeface="Arial"/>
                <a:cs typeface="Arial"/>
              </a:rPr>
              <a:t>CHAPTER 07</a:t>
            </a:r>
          </a:p>
        </p:txBody>
      </p:sp>
      <p:sp>
        <p:nvSpPr>
          <p:cNvPr id="2" name="">
            <a:extLst xmlns:a="http://schemas.openxmlformats.org/drawingml/2006/main">
              <a:ext uri="{FF2B5EF4-FFF2-40B4-BE49-F238E27FC236}">
                <a16:creationId xmlns:a16="http://schemas.microsoft.com/office/drawing/2014/main" id="{FB8CE877-7DC2-4670-B824-1A10767FA819}"/>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Indexes and routing</a:t>
            </a:r>
          </a:p>
        </p:txBody>
      </p:sp>
      <p:sp>
        <p:nvSpPr>
          <p:cNvPr id="3" name="">
            <a:extLst xmlns:a="http://schemas.openxmlformats.org/drawingml/2006/main">
              <a:ext uri="{FF2B5EF4-FFF2-40B4-BE49-F238E27FC236}">
                <a16:creationId xmlns:a16="http://schemas.microsoft.com/office/drawing/2014/main" id="{DB8597A5-F91D-4C99-9D7B-FDE3B2833C1B}"/>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17 / 23</a:t>
            </a:r>
          </a:p>
        </p:txBody>
      </p:sp>
      <p:sp>
        <p:nvSpPr>
          <p:cNvPr id="4" name="">
            <a:extLst xmlns:a="http://schemas.openxmlformats.org/drawingml/2006/main">
              <a:ext uri="{FF2B5EF4-FFF2-40B4-BE49-F238E27FC236}">
                <a16:creationId xmlns:a16="http://schemas.microsoft.com/office/drawing/2014/main" id="{0FCA6720-2029-4176-975B-8FCC92602BB3}"/>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3A86FF"/>
                </a:solidFill>
                <a:latin typeface="Arial"/>
                <a:ea typeface="Arial"/>
                <a:cs typeface="Arial"/>
              </a:defRPr>
            </a:pPr>
            <a:r>
              <a:rPr sz="6750" b="1">
                <a:solidFill>
                  <a:srgbClr val="3A86FF"/>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2E09FA6B-ABC3-444B-9EA6-5CA9E1887FCD}"/>
              </a:ext>
            </a:extLst>
          </p:cNvPr>
          <p:cNvSpPr>
            <a:spLocks xmlns:a="http://schemas.openxmlformats.org/drawingml/2006/main" noGrp="1"/>
          </p:cNvSpPr>
          <p:nvPr/>
        </p:nvSpPr>
        <p:spPr>
          <a:xfrm xmlns:a="http://schemas.openxmlformats.org/drawingml/2006/main">
            <a:off x="2857500" y="1571625"/>
            <a:ext cx="809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Local indexes simplify writes but require scatter-gather queries.</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Global indexes speed reads but complicate updates.</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Routers must track ownership while topology changes.</a:t>
            </a:r>
          </a:p>
        </p:txBody>
      </p:sp>
      <p:sp>
        <p:nvSpPr>
          <p:cNvPr id="6" name="">
            <a:extLst xmlns:a="http://schemas.openxmlformats.org/drawingml/2006/main">
              <a:ext uri="{FF2B5EF4-FFF2-40B4-BE49-F238E27FC236}">
                <a16:creationId xmlns:a16="http://schemas.microsoft.com/office/drawing/2014/main" id="{4CAF1349-E5E4-43D5-8957-0FA50BD9CAA5}"/>
              </a:ext>
            </a:extLst>
          </p:cNvPr>
          <p:cNvSpPr>
            <a:spLocks xmlns:a="http://schemas.openxmlformats.org/drawingml/2006/main" noGrp="1"/>
          </p:cNvSpPr>
          <p:nvPr/>
        </p:nvSpPr>
        <p:spPr>
          <a:xfrm xmlns:a="http://schemas.openxmlformats.org/drawingml/2006/main">
            <a:off x="2857500" y="5000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3A86FF"/>
                </a:solidFill>
                <a:latin typeface="Arial"/>
                <a:ea typeface="Arial"/>
                <a:cs typeface="Arial"/>
              </a:defRPr>
            </a:pPr>
            <a:r>
              <a:rPr sz="1200" b="1">
                <a:solidFill>
                  <a:srgbClr val="3A86FF"/>
                </a:solidFill>
                <a:latin typeface="Arial"/>
                <a:ea typeface="Arial"/>
                <a:cs typeface="Arial"/>
              </a:rPr>
              <a:t>Core question</a:t>
            </a:r>
          </a:p>
        </p:txBody>
      </p:sp>
      <p:sp>
        <p:nvSpPr>
          <p:cNvPr id="7" name="">
            <a:extLst xmlns:a="http://schemas.openxmlformats.org/drawingml/2006/main">
              <a:ext uri="{FF2B5EF4-FFF2-40B4-BE49-F238E27FC236}">
                <a16:creationId xmlns:a16="http://schemas.microsoft.com/office/drawing/2014/main" id="{AAD7B013-A169-4483-82F1-0BD037E0AA76}"/>
              </a:ext>
            </a:extLst>
          </p:cNvPr>
          <p:cNvSpPr>
            <a:spLocks xmlns:a="http://schemas.openxmlformats.org/drawingml/2006/main" noGrp="1"/>
          </p:cNvSpPr>
          <p:nvPr/>
        </p:nvSpPr>
        <p:spPr>
          <a:xfrm xmlns:a="http://schemas.openxmlformats.org/drawingml/2006/main">
            <a:off x="2857500" y="52863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a:solidFill>
                  <a:srgbClr val="52667A"/>
                </a:solidFill>
                <a:latin typeface="Arial"/>
                <a:ea typeface="Arial"/>
                <a:cs typeface="Arial"/>
              </a:defRPr>
            </a:pPr>
            <a:r>
              <a:rPr sz="1500">
                <a:solidFill>
                  <a:srgbClr val="52667A"/>
                </a:solidFill>
                <a:latin typeface="Arial"/>
                <a:ea typeface="Arial"/>
                <a:cs typeface="Arial"/>
              </a:rPr>
              <a:t>What problem does it solve, and what does it cost under failure, growth, and change?</a:t>
            </a:r>
          </a:p>
        </p:txBody>
      </p:sp>
    </p:spTree>
    <p:extLst>
      <p:ext uri="{BB962C8B-B14F-4D97-AF65-F5344CB8AC3E}">
        <p14:creationId xmlns:p14="http://schemas.microsoft.com/office/powerpoint/2010/main" val="2045163626"/>
      </p:ext>
    </p:extLst>
  </p:cSld>
</p:sld>
</file>

<file path=ppt/slides/slide18.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6BA8AF8-1814-4F89-80FE-1D658B0EF987}"/>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3A86FF"/>
                </a:solidFill>
                <a:latin typeface="Arial"/>
                <a:ea typeface="Arial"/>
                <a:cs typeface="Arial"/>
              </a:defRPr>
            </a:pPr>
            <a:r>
              <a:rPr sz="1200" b="1" spc="2">
                <a:solidFill>
                  <a:srgbClr val="3A86FF"/>
                </a:solidFill>
                <a:latin typeface="Arial"/>
                <a:ea typeface="Arial"/>
                <a:cs typeface="Arial"/>
              </a:rPr>
              <a:t>CHAPTER 07</a:t>
            </a:r>
          </a:p>
        </p:txBody>
      </p:sp>
      <p:sp>
        <p:nvSpPr>
          <p:cNvPr id="2" name="">
            <a:extLst xmlns:a="http://schemas.openxmlformats.org/drawingml/2006/main">
              <a:ext uri="{FF2B5EF4-FFF2-40B4-BE49-F238E27FC236}">
                <a16:creationId xmlns:a16="http://schemas.microsoft.com/office/drawing/2014/main" id="{A7AA7A43-DA9D-4555-B02C-2578AEA23EE2}"/>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Indexes and routing: design trade-offs</a:t>
            </a:r>
          </a:p>
        </p:txBody>
      </p:sp>
      <p:sp>
        <p:nvSpPr>
          <p:cNvPr id="3" name="">
            <a:extLst xmlns:a="http://schemas.openxmlformats.org/drawingml/2006/main">
              <a:ext uri="{FF2B5EF4-FFF2-40B4-BE49-F238E27FC236}">
                <a16:creationId xmlns:a16="http://schemas.microsoft.com/office/drawing/2014/main" id="{B881E3C5-B877-4C9F-8F23-056BE13EF76D}"/>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18 / 23</a:t>
            </a:r>
          </a:p>
        </p:txBody>
      </p:sp>
      <p:sp>
        <p:nvSpPr>
          <p:cNvPr id="4" name="">
            <a:extLst xmlns:a="http://schemas.openxmlformats.org/drawingml/2006/main">
              <a:ext uri="{FF2B5EF4-FFF2-40B4-BE49-F238E27FC236}">
                <a16:creationId xmlns:a16="http://schemas.microsoft.com/office/drawing/2014/main" id="{FB315A1A-6EEF-439D-9CA7-6650EEB31AA5}"/>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3A86FF"/>
                </a:solidFill>
                <a:latin typeface="Arial"/>
                <a:ea typeface="Arial"/>
                <a:cs typeface="Arial"/>
              </a:defRPr>
            </a:pPr>
            <a:r>
              <a:rPr sz="6750" b="1">
                <a:solidFill>
                  <a:srgbClr val="3A86FF"/>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F82BF038-949D-4616-9C38-04D141D49644}"/>
              </a:ext>
            </a:extLst>
          </p:cNvPr>
          <p:cNvSpPr>
            <a:spLocks xmlns:a="http://schemas.openxmlformats.org/drawingml/2006/main" noGrp="1"/>
          </p:cNvSpPr>
          <p:nvPr/>
        </p:nvSpPr>
        <p:spPr>
          <a:xfrm xmlns:a="http://schemas.openxmlformats.org/drawingml/2006/main">
            <a:off x="2857500" y="1571625"/>
            <a:ext cx="8096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Fit: Local indexes simplify writes but require scatter-gather queries.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Cost: evaluate latency, throughput, consistency, and operational complexity.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Failure check: what state becomes visible when a node, network path, or dependency fails?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Evolution check: can formats, interfaces, and topology change through rolling upgrades?</a:t>
            </a:r>
          </a:p>
        </p:txBody>
      </p:sp>
    </p:spTree>
    <p:extLst>
      <p:ext uri="{BB962C8B-B14F-4D97-AF65-F5344CB8AC3E}">
        <p14:creationId xmlns:p14="http://schemas.microsoft.com/office/powerpoint/2010/main" val="564246749"/>
      </p:ext>
    </p:extLst>
  </p:cSld>
</p:sld>
</file>

<file path=ppt/slides/slide19.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63C56E4-C9ED-4D6C-AD8E-D4435C3DB188}"/>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3A86FF"/>
                </a:solidFill>
                <a:latin typeface="Arial"/>
                <a:ea typeface="Arial"/>
                <a:cs typeface="Arial"/>
              </a:defRPr>
            </a:pPr>
            <a:r>
              <a:rPr sz="1200" b="1" spc="2">
                <a:solidFill>
                  <a:srgbClr val="3A86FF"/>
                </a:solidFill>
                <a:latin typeface="Arial"/>
                <a:ea typeface="Arial"/>
                <a:cs typeface="Arial"/>
              </a:rPr>
              <a:t>CHAPTER 07</a:t>
            </a:r>
          </a:p>
        </p:txBody>
      </p:sp>
      <p:sp>
        <p:nvSpPr>
          <p:cNvPr id="2" name="">
            <a:extLst xmlns:a="http://schemas.openxmlformats.org/drawingml/2006/main">
              <a:ext uri="{FF2B5EF4-FFF2-40B4-BE49-F238E27FC236}">
                <a16:creationId xmlns:a16="http://schemas.microsoft.com/office/drawing/2014/main" id="{1E17FF67-94F9-4458-9CA6-03EDB2AE4A83}"/>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7-7: mechanism explained</a:t>
            </a:r>
          </a:p>
        </p:txBody>
      </p:sp>
      <p:sp>
        <p:nvSpPr>
          <p:cNvPr id="3" name="">
            <a:extLst xmlns:a="http://schemas.openxmlformats.org/drawingml/2006/main">
              <a:ext uri="{FF2B5EF4-FFF2-40B4-BE49-F238E27FC236}">
                <a16:creationId xmlns:a16="http://schemas.microsoft.com/office/drawing/2014/main" id="{C1B12D92-B60E-476F-B7E1-64702EC55D46}"/>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19 / 23</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4577d7513e34f87"/>
          <a:stretch xmlns:a="http://schemas.openxmlformats.org/drawingml/2006/main"/>
        </p:blipFill>
        <p:spPr>
          <a:xfrm xmlns:a="http://schemas.openxmlformats.org/drawingml/2006/main">
            <a:off x="1235835" y="1285875"/>
            <a:ext cx="631990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F070E46-E68E-4C49-85FC-1275552EF852}"/>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3A86FF"/>
                </a:solidFill>
                <a:latin typeface="Arial"/>
                <a:ea typeface="Arial"/>
                <a:cs typeface="Arial"/>
              </a:defRPr>
            </a:pPr>
            <a:r>
              <a:rPr sz="1200" b="1">
                <a:solidFill>
                  <a:srgbClr val="3A86FF"/>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C44F97AE-82B6-4109-9565-6E519A59C6F9}"/>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Keys, requests, or index entries are assigned across partitions.</a:t>
            </a:r>
          </a:p>
        </p:txBody>
      </p:sp>
      <p:sp>
        <p:nvSpPr>
          <p:cNvPr id="7" name="">
            <a:extLst xmlns:a="http://schemas.openxmlformats.org/drawingml/2006/main">
              <a:ext uri="{FF2B5EF4-FFF2-40B4-BE49-F238E27FC236}">
                <a16:creationId xmlns:a16="http://schemas.microsoft.com/office/drawing/2014/main" id="{D8B0F0D4-CCD0-48CE-BD11-332BC46FD482}"/>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3A86FF"/>
                </a:solidFill>
                <a:latin typeface="Arial"/>
                <a:ea typeface="Arial"/>
                <a:cs typeface="Arial"/>
              </a:defRPr>
            </a:pPr>
            <a:r>
              <a:rPr sz="1200" b="1">
                <a:solidFill>
                  <a:srgbClr val="3A86FF"/>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B2A2ACCB-7F1A-4A04-9F92-5C1AF13D3B3B}"/>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The assignment controls balance, range locality, routing work, and rebalancing cost.</a:t>
            </a:r>
          </a:p>
        </p:txBody>
      </p:sp>
      <p:sp>
        <p:nvSpPr>
          <p:cNvPr id="9" name="">
            <a:extLst xmlns:a="http://schemas.openxmlformats.org/drawingml/2006/main">
              <a:ext uri="{FF2B5EF4-FFF2-40B4-BE49-F238E27FC236}">
                <a16:creationId xmlns:a16="http://schemas.microsoft.com/office/drawing/2014/main" id="{F541AEE6-3E61-46E9-8296-94AA870E6856}"/>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3A86FF"/>
                </a:solidFill>
                <a:latin typeface="Arial"/>
                <a:ea typeface="Arial"/>
                <a:cs typeface="Arial"/>
              </a:defRPr>
            </a:pPr>
            <a:r>
              <a:rPr sz="1200" b="1">
                <a:solidFill>
                  <a:srgbClr val="3A86FF"/>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22AC6142-BC12-4010-966E-BDB169FB32F9}"/>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793226989"/>
      </p:ext>
    </p:extLst>
  </p:cSld>
</p:sld>
</file>

<file path=ppt/slides/slide20.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D32E211-D2D7-453F-8FAD-D2EB64885945}"/>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3A86FF"/>
                </a:solidFill>
                <a:latin typeface="Arial"/>
                <a:ea typeface="Arial"/>
                <a:cs typeface="Arial"/>
              </a:defRPr>
            </a:pPr>
            <a:r>
              <a:rPr sz="1200" b="1" spc="2">
                <a:solidFill>
                  <a:srgbClr val="3A86FF"/>
                </a:solidFill>
                <a:latin typeface="Arial"/>
                <a:ea typeface="Arial"/>
                <a:cs typeface="Arial"/>
              </a:rPr>
              <a:t>CHAPTER 07</a:t>
            </a:r>
          </a:p>
        </p:txBody>
      </p:sp>
      <p:sp>
        <p:nvSpPr>
          <p:cNvPr id="2" name="">
            <a:extLst xmlns:a="http://schemas.openxmlformats.org/drawingml/2006/main">
              <a:ext uri="{FF2B5EF4-FFF2-40B4-BE49-F238E27FC236}">
                <a16:creationId xmlns:a16="http://schemas.microsoft.com/office/drawing/2014/main" id="{5F637F08-8F90-43DD-B39D-CF0C9EF5AE2D}"/>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7-8: mechanism explained</a:t>
            </a:r>
          </a:p>
        </p:txBody>
      </p:sp>
      <p:sp>
        <p:nvSpPr>
          <p:cNvPr id="3" name="">
            <a:extLst xmlns:a="http://schemas.openxmlformats.org/drawingml/2006/main">
              <a:ext uri="{FF2B5EF4-FFF2-40B4-BE49-F238E27FC236}">
                <a16:creationId xmlns:a16="http://schemas.microsoft.com/office/drawing/2014/main" id="{D6FD071E-5E1D-482A-B72C-60A0F0DCDCFC}"/>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20 / 23</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0ebb075b8f4a4a53"/>
          <a:stretch xmlns:a="http://schemas.openxmlformats.org/drawingml/2006/main"/>
        </p:blipFill>
        <p:spPr>
          <a:xfrm xmlns:a="http://schemas.openxmlformats.org/drawingml/2006/main">
            <a:off x="1235835" y="1285875"/>
            <a:ext cx="631990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57301CA-9211-4C0B-9714-8D9A6401DA2E}"/>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3A86FF"/>
                </a:solidFill>
                <a:latin typeface="Arial"/>
                <a:ea typeface="Arial"/>
                <a:cs typeface="Arial"/>
              </a:defRPr>
            </a:pPr>
            <a:r>
              <a:rPr sz="1200" b="1">
                <a:solidFill>
                  <a:srgbClr val="3A86FF"/>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6647C516-7EA5-47B3-B3A9-AF9507D6A776}"/>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Keys, requests, or index entries are assigned across partitions.</a:t>
            </a:r>
          </a:p>
        </p:txBody>
      </p:sp>
      <p:sp>
        <p:nvSpPr>
          <p:cNvPr id="7" name="">
            <a:extLst xmlns:a="http://schemas.openxmlformats.org/drawingml/2006/main">
              <a:ext uri="{FF2B5EF4-FFF2-40B4-BE49-F238E27FC236}">
                <a16:creationId xmlns:a16="http://schemas.microsoft.com/office/drawing/2014/main" id="{D0FD40D1-AE1E-4E54-8DA9-5BF4D93AF887}"/>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3A86FF"/>
                </a:solidFill>
                <a:latin typeface="Arial"/>
                <a:ea typeface="Arial"/>
                <a:cs typeface="Arial"/>
              </a:defRPr>
            </a:pPr>
            <a:r>
              <a:rPr sz="1200" b="1">
                <a:solidFill>
                  <a:srgbClr val="3A86FF"/>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538C31EC-CA8C-48FF-A944-693C5C889EC8}"/>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The assignment controls balance, range locality, routing work, and rebalancing cost.</a:t>
            </a:r>
          </a:p>
        </p:txBody>
      </p:sp>
      <p:sp>
        <p:nvSpPr>
          <p:cNvPr id="9" name="">
            <a:extLst xmlns:a="http://schemas.openxmlformats.org/drawingml/2006/main">
              <a:ext uri="{FF2B5EF4-FFF2-40B4-BE49-F238E27FC236}">
                <a16:creationId xmlns:a16="http://schemas.microsoft.com/office/drawing/2014/main" id="{A92BFE13-59E3-4AED-9DDF-BD3442C3B716}"/>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3A86FF"/>
                </a:solidFill>
                <a:latin typeface="Arial"/>
                <a:ea typeface="Arial"/>
                <a:cs typeface="Arial"/>
              </a:defRPr>
            </a:pPr>
            <a:r>
              <a:rPr sz="1200" b="1">
                <a:solidFill>
                  <a:srgbClr val="3A86FF"/>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CF845BEC-3888-493C-ACAA-54D5C1F71DE3}"/>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475677989"/>
      </p:ext>
    </p:extLst>
  </p:cSld>
</p:sld>
</file>

<file path=ppt/slides/slide21.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CEB4706-F7E5-4A63-9C04-50693F177EA1}"/>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3A86FF"/>
                </a:solidFill>
                <a:latin typeface="Arial"/>
                <a:ea typeface="Arial"/>
                <a:cs typeface="Arial"/>
              </a:defRPr>
            </a:pPr>
            <a:r>
              <a:rPr sz="1200" b="1" spc="2">
                <a:solidFill>
                  <a:srgbClr val="3A86FF"/>
                </a:solidFill>
                <a:latin typeface="Arial"/>
                <a:ea typeface="Arial"/>
                <a:cs typeface="Arial"/>
              </a:rPr>
              <a:t>CHAPTER 07</a:t>
            </a:r>
          </a:p>
        </p:txBody>
      </p:sp>
      <p:sp>
        <p:nvSpPr>
          <p:cNvPr id="2" name="">
            <a:extLst xmlns:a="http://schemas.openxmlformats.org/drawingml/2006/main">
              <a:ext uri="{FF2B5EF4-FFF2-40B4-BE49-F238E27FC236}">
                <a16:creationId xmlns:a16="http://schemas.microsoft.com/office/drawing/2014/main" id="{1AD78B6D-5473-4363-9E87-6E0D9CC92B6C}"/>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7-9: mechanism explained</a:t>
            </a:r>
          </a:p>
        </p:txBody>
      </p:sp>
      <p:sp>
        <p:nvSpPr>
          <p:cNvPr id="3" name="">
            <a:extLst xmlns:a="http://schemas.openxmlformats.org/drawingml/2006/main">
              <a:ext uri="{FF2B5EF4-FFF2-40B4-BE49-F238E27FC236}">
                <a16:creationId xmlns:a16="http://schemas.microsoft.com/office/drawing/2014/main" id="{409A429B-16FE-43F7-9FE9-FBDCC41DB5AD}"/>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21 / 23</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39f681a6c8dc4f02"/>
          <a:stretch xmlns:a="http://schemas.openxmlformats.org/drawingml/2006/main"/>
        </p:blipFill>
        <p:spPr>
          <a:xfrm xmlns:a="http://schemas.openxmlformats.org/drawingml/2006/main">
            <a:off x="1213210" y="1285875"/>
            <a:ext cx="636515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AA487F4-623E-4F40-BA94-24C263B50532}"/>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3A86FF"/>
                </a:solidFill>
                <a:latin typeface="Arial"/>
                <a:ea typeface="Arial"/>
                <a:cs typeface="Arial"/>
              </a:defRPr>
            </a:pPr>
            <a:r>
              <a:rPr sz="1200" b="1">
                <a:solidFill>
                  <a:srgbClr val="3A86FF"/>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E036DD26-FCA4-4CDD-A3AD-627DA6620CB7}"/>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Keys, requests, or index entries are assigned across partitions.</a:t>
            </a:r>
          </a:p>
        </p:txBody>
      </p:sp>
      <p:sp>
        <p:nvSpPr>
          <p:cNvPr id="7" name="">
            <a:extLst xmlns:a="http://schemas.openxmlformats.org/drawingml/2006/main">
              <a:ext uri="{FF2B5EF4-FFF2-40B4-BE49-F238E27FC236}">
                <a16:creationId xmlns:a16="http://schemas.microsoft.com/office/drawing/2014/main" id="{7EE972B4-3CE8-41FE-B6B1-F8568267B1E8}"/>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3A86FF"/>
                </a:solidFill>
                <a:latin typeface="Arial"/>
                <a:ea typeface="Arial"/>
                <a:cs typeface="Arial"/>
              </a:defRPr>
            </a:pPr>
            <a:r>
              <a:rPr sz="1200" b="1">
                <a:solidFill>
                  <a:srgbClr val="3A86FF"/>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8FA1EA1E-EA82-46A0-8B4B-F75EF1730A63}"/>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The assignment controls balance, range locality, routing work, and rebalancing cost.</a:t>
            </a:r>
          </a:p>
        </p:txBody>
      </p:sp>
      <p:sp>
        <p:nvSpPr>
          <p:cNvPr id="9" name="">
            <a:extLst xmlns:a="http://schemas.openxmlformats.org/drawingml/2006/main">
              <a:ext uri="{FF2B5EF4-FFF2-40B4-BE49-F238E27FC236}">
                <a16:creationId xmlns:a16="http://schemas.microsoft.com/office/drawing/2014/main" id="{84962B4D-E5DE-49F4-A7E0-FE857D086D86}"/>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3A86FF"/>
                </a:solidFill>
                <a:latin typeface="Arial"/>
                <a:ea typeface="Arial"/>
                <a:cs typeface="Arial"/>
              </a:defRPr>
            </a:pPr>
            <a:r>
              <a:rPr sz="1200" b="1">
                <a:solidFill>
                  <a:srgbClr val="3A86FF"/>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A99F6C43-C441-4974-94F8-923E1D2A50AE}"/>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477863006"/>
      </p:ext>
    </p:extLst>
  </p:cSld>
</p:sld>
</file>

<file path=ppt/slides/slide22.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EC8A3B3-BD75-4D54-A283-6A872A316B16}"/>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3A86FF"/>
                </a:solidFill>
                <a:latin typeface="Arial"/>
                <a:ea typeface="Arial"/>
                <a:cs typeface="Arial"/>
              </a:defRPr>
            </a:pPr>
            <a:r>
              <a:rPr sz="1200" b="1" spc="2">
                <a:solidFill>
                  <a:srgbClr val="3A86FF"/>
                </a:solidFill>
                <a:latin typeface="Arial"/>
                <a:ea typeface="Arial"/>
                <a:cs typeface="Arial"/>
              </a:rPr>
              <a:t>CHAPTER 07</a:t>
            </a:r>
          </a:p>
        </p:txBody>
      </p:sp>
      <p:sp>
        <p:nvSpPr>
          <p:cNvPr id="2" name="">
            <a:extLst xmlns:a="http://schemas.openxmlformats.org/drawingml/2006/main">
              <a:ext uri="{FF2B5EF4-FFF2-40B4-BE49-F238E27FC236}">
                <a16:creationId xmlns:a16="http://schemas.microsoft.com/office/drawing/2014/main" id="{B1371506-3D4F-48C5-844E-C531D62A0317}"/>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7-10: mechanism explained</a:t>
            </a:r>
          </a:p>
        </p:txBody>
      </p:sp>
      <p:sp>
        <p:nvSpPr>
          <p:cNvPr id="3" name="">
            <a:extLst xmlns:a="http://schemas.openxmlformats.org/drawingml/2006/main">
              <a:ext uri="{FF2B5EF4-FFF2-40B4-BE49-F238E27FC236}">
                <a16:creationId xmlns:a16="http://schemas.microsoft.com/office/drawing/2014/main" id="{98D90FEC-CFA3-4811-8AD0-B82DBB5C977F}"/>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22 / 23</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b9ecd7a7644347e0"/>
          <a:stretch xmlns:a="http://schemas.openxmlformats.org/drawingml/2006/main"/>
        </p:blipFill>
        <p:spPr>
          <a:xfrm xmlns:a="http://schemas.openxmlformats.org/drawingml/2006/main">
            <a:off x="1235835" y="1285875"/>
            <a:ext cx="631990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909A688-03A5-44E9-9211-92299A8D5653}"/>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3A86FF"/>
                </a:solidFill>
                <a:latin typeface="Arial"/>
                <a:ea typeface="Arial"/>
                <a:cs typeface="Arial"/>
              </a:defRPr>
            </a:pPr>
            <a:r>
              <a:rPr sz="1200" b="1">
                <a:solidFill>
                  <a:srgbClr val="3A86FF"/>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0F60D24E-B623-4DAB-98AE-D017C867D99C}"/>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Keys, requests, or index entries are assigned across partitions.</a:t>
            </a:r>
          </a:p>
        </p:txBody>
      </p:sp>
      <p:sp>
        <p:nvSpPr>
          <p:cNvPr id="7" name="">
            <a:extLst xmlns:a="http://schemas.openxmlformats.org/drawingml/2006/main">
              <a:ext uri="{FF2B5EF4-FFF2-40B4-BE49-F238E27FC236}">
                <a16:creationId xmlns:a16="http://schemas.microsoft.com/office/drawing/2014/main" id="{B076B2B7-9115-440C-9523-94E986357212}"/>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3A86FF"/>
                </a:solidFill>
                <a:latin typeface="Arial"/>
                <a:ea typeface="Arial"/>
                <a:cs typeface="Arial"/>
              </a:defRPr>
            </a:pPr>
            <a:r>
              <a:rPr sz="1200" b="1">
                <a:solidFill>
                  <a:srgbClr val="3A86FF"/>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31D9093F-7474-461A-B246-0917F3576C56}"/>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The assignment controls balance, range locality, routing work, and rebalancing cost.</a:t>
            </a:r>
          </a:p>
        </p:txBody>
      </p:sp>
      <p:sp>
        <p:nvSpPr>
          <p:cNvPr id="9" name="">
            <a:extLst xmlns:a="http://schemas.openxmlformats.org/drawingml/2006/main">
              <a:ext uri="{FF2B5EF4-FFF2-40B4-BE49-F238E27FC236}">
                <a16:creationId xmlns:a16="http://schemas.microsoft.com/office/drawing/2014/main" id="{C4F3B0D7-E235-47F6-A310-9B5C4A322549}"/>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3A86FF"/>
                </a:solidFill>
                <a:latin typeface="Arial"/>
                <a:ea typeface="Arial"/>
                <a:cs typeface="Arial"/>
              </a:defRPr>
            </a:pPr>
            <a:r>
              <a:rPr sz="1200" b="1">
                <a:solidFill>
                  <a:srgbClr val="3A86FF"/>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7F0C4785-3582-4819-B9FB-58EDA6144FCD}"/>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1108069251"/>
      </p:ext>
    </p:extLst>
  </p:cSld>
</p:sld>
</file>

<file path=ppt/slides/slide23.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E7A1167-5B61-4972-903A-ADEE2AA5B913}"/>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3A86FF"/>
                </a:solidFill>
                <a:latin typeface="Arial"/>
                <a:ea typeface="Arial"/>
                <a:cs typeface="Arial"/>
              </a:defRPr>
            </a:pPr>
            <a:r>
              <a:rPr sz="1200" b="1" spc="2">
                <a:solidFill>
                  <a:srgbClr val="3A86FF"/>
                </a:solidFill>
                <a:latin typeface="Arial"/>
                <a:ea typeface="Arial"/>
                <a:cs typeface="Arial"/>
              </a:rPr>
              <a:t>CHAPTER 07</a:t>
            </a:r>
          </a:p>
        </p:txBody>
      </p:sp>
      <p:sp>
        <p:nvSpPr>
          <p:cNvPr id="2" name="">
            <a:extLst xmlns:a="http://schemas.openxmlformats.org/drawingml/2006/main">
              <a:ext uri="{FF2B5EF4-FFF2-40B4-BE49-F238E27FC236}">
                <a16:creationId xmlns:a16="http://schemas.microsoft.com/office/drawing/2014/main" id="{D2754884-F9B3-43FA-BE0A-CD9397BC83DD}"/>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Review and application</a:t>
            </a:r>
          </a:p>
        </p:txBody>
      </p:sp>
      <p:sp>
        <p:nvSpPr>
          <p:cNvPr id="3" name="">
            <a:extLst xmlns:a="http://schemas.openxmlformats.org/drawingml/2006/main">
              <a:ext uri="{FF2B5EF4-FFF2-40B4-BE49-F238E27FC236}">
                <a16:creationId xmlns:a16="http://schemas.microsoft.com/office/drawing/2014/main" id="{0B81B84C-AD84-46FE-9D23-93D5620808E9}"/>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23 / 23</a:t>
            </a:r>
          </a:p>
        </p:txBody>
      </p:sp>
      <p:sp>
        <p:nvSpPr>
          <p:cNvPr id="4" name="">
            <a:extLst xmlns:a="http://schemas.openxmlformats.org/drawingml/2006/main">
              <a:ext uri="{FF2B5EF4-FFF2-40B4-BE49-F238E27FC236}">
                <a16:creationId xmlns:a16="http://schemas.microsoft.com/office/drawing/2014/main" id="{AD6B5DFB-5973-4190-A85E-85A4D0B549CF}"/>
              </a:ext>
            </a:extLst>
          </p:cNvPr>
          <p:cNvSpPr>
            <a:spLocks xmlns:a="http://schemas.openxmlformats.org/drawingml/2006/main" noGrp="1"/>
          </p:cNvSpPr>
          <p:nvPr/>
        </p:nvSpPr>
        <p:spPr>
          <a:xfrm xmlns:a="http://schemas.openxmlformats.org/drawingml/2006/main">
            <a:off x="1285875" y="1666875"/>
            <a:ext cx="9525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800">
                <a:solidFill>
                  <a:srgbClr val="17324D"/>
                </a:solidFill>
                <a:latin typeface="Arial"/>
                <a:ea typeface="Arial"/>
                <a:cs typeface="Arial"/>
              </a:defRPr>
            </a:pPr>
            <a:r>
              <a:rPr sz="1800">
                <a:solidFill>
                  <a:srgbClr val="17324D"/>
                </a:solidFill>
                <a:latin typeface="Arial"/>
                <a:ea typeface="Arial"/>
                <a:cs typeface="Arial"/>
              </a:rPr>
              <a:t>State the chapter’s central problem in one sentence.</a:t>
            </a:r>
          </a:p>
          <a:p xmlns:a="http://schemas.openxmlformats.org/drawingml/2006/main">
            <a:pPr marL="228600" indent="-114300">
              <a:spcAft>
                <a:spcPts val="1000"/>
              </a:spcAft>
              <a:buChar char="•"/>
              <a:defRPr sz="1800">
                <a:solidFill>
                  <a:srgbClr val="17324D"/>
                </a:solidFill>
                <a:latin typeface="Arial"/>
                <a:ea typeface="Arial"/>
                <a:cs typeface="Arial"/>
              </a:defRPr>
            </a:pPr>
            <a:r>
              <a:rPr sz="1800">
                <a:solidFill>
                  <a:srgbClr val="17324D"/>
                </a:solidFill>
                <a:latin typeface="Arial"/>
                <a:ea typeface="Arial"/>
                <a:cs typeface="Arial"/>
              </a:rPr>
              <a:t>Choose one mechanism and list the assumptions it relies on.</a:t>
            </a:r>
          </a:p>
          <a:p xmlns:a="http://schemas.openxmlformats.org/drawingml/2006/main">
            <a:pPr marL="228600" indent="-114300">
              <a:spcAft>
                <a:spcPts val="1000"/>
              </a:spcAft>
              <a:buChar char="•"/>
              <a:defRPr sz="1800">
                <a:solidFill>
                  <a:srgbClr val="17324D"/>
                </a:solidFill>
                <a:latin typeface="Arial"/>
                <a:ea typeface="Arial"/>
                <a:cs typeface="Arial"/>
              </a:defRPr>
            </a:pPr>
            <a:r>
              <a:rPr sz="1800">
                <a:solidFill>
                  <a:srgbClr val="17324D"/>
                </a:solidFill>
                <a:latin typeface="Arial"/>
                <a:ea typeface="Arial"/>
                <a:cs typeface="Arial"/>
              </a:rPr>
              <a:t>Describe a failure scenario and explain the recovery path.</a:t>
            </a:r>
          </a:p>
          <a:p xmlns:a="http://schemas.openxmlformats.org/drawingml/2006/main">
            <a:pPr marL="228600" indent="-114300">
              <a:spcAft>
                <a:spcPts val="1000"/>
              </a:spcAft>
              <a:buChar char="•"/>
              <a:defRPr sz="1800">
                <a:solidFill>
                  <a:srgbClr val="17324D"/>
                </a:solidFill>
                <a:latin typeface="Arial"/>
                <a:ea typeface="Arial"/>
                <a:cs typeface="Arial"/>
              </a:defRPr>
            </a:pPr>
            <a:r>
              <a:rPr sz="1800">
                <a:solidFill>
                  <a:srgbClr val="17324D"/>
                </a:solidFill>
                <a:latin typeface="Arial"/>
                <a:ea typeface="Arial"/>
                <a:cs typeface="Arial"/>
              </a:rPr>
              <a:t>Apply one trade-off from the chapter to a system you are designing.</a:t>
            </a:r>
          </a:p>
        </p:txBody>
      </p:sp>
    </p:spTree>
    <p:extLst>
      <p:ext uri="{BB962C8B-B14F-4D97-AF65-F5344CB8AC3E}">
        <p14:creationId xmlns:p14="http://schemas.microsoft.com/office/powerpoint/2010/main" val="5670261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2026-09-27T19:47:26.0420000Z</dcterms:created>
  <dcterms:modified xsi:type="dcterms:W3CDTF">2026-09-27T19:47:26.0420000Z</dcterms:modified>
</coreProperties>
</file>