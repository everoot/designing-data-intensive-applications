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a93da3c77204d19" /><Relationship Type="http://schemas.openxmlformats.org/officeDocument/2006/relationships/extended-properties" Target="/docProps/app.xml" Id="Ra2d09c82369d406d" /><Relationship Type="http://schemas.openxmlformats.org/officeDocument/2006/relationships/officeDocument" Target="/ppt/presentation.xml" Id="R0c91e23cbe134b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841c33dd424016"/>
  </p:sldMasterIdLst>
  <p:notesMasterIdLst>
    <p:notesMasterId xmlns:r="http://schemas.openxmlformats.org/officeDocument/2006/relationships" r:id="Raec29d8ea15b46ed"/>
  </p:notesMasterIdLst>
  <p:sldIdLst>
    <p:sldId xmlns:r="http://schemas.openxmlformats.org/officeDocument/2006/relationships" id="256" r:id="Ra69e9fd818874c8c"/>
    <p:sldId xmlns:r="http://schemas.openxmlformats.org/officeDocument/2006/relationships" id="257" r:id="R50fd7199deaa4acd"/>
    <p:sldId xmlns:r="http://schemas.openxmlformats.org/officeDocument/2006/relationships" id="258" r:id="R884113eaeefa44bf"/>
    <p:sldId xmlns:r="http://schemas.openxmlformats.org/officeDocument/2006/relationships" id="259" r:id="R35e49845f52541dc"/>
    <p:sldId xmlns:r="http://schemas.openxmlformats.org/officeDocument/2006/relationships" id="260" r:id="R6b686eb8ad7443d0"/>
    <p:sldId xmlns:r="http://schemas.openxmlformats.org/officeDocument/2006/relationships" id="261" r:id="Rb0867365470740a7"/>
    <p:sldId xmlns:r="http://schemas.openxmlformats.org/officeDocument/2006/relationships" id="262" r:id="R0621eafa274849b7"/>
    <p:sldId xmlns:r="http://schemas.openxmlformats.org/officeDocument/2006/relationships" id="263" r:id="R034b9fc443864f12"/>
    <p:sldId xmlns:r="http://schemas.openxmlformats.org/officeDocument/2006/relationships" id="264" r:id="R8ac2134463374102"/>
    <p:sldId xmlns:r="http://schemas.openxmlformats.org/officeDocument/2006/relationships" id="265" r:id="R4ef6919a42b04934"/>
    <p:sldId xmlns:r="http://schemas.openxmlformats.org/officeDocument/2006/relationships" id="266" r:id="R8ea984027acc4e8d"/>
    <p:sldId xmlns:r="http://schemas.openxmlformats.org/officeDocument/2006/relationships" id="267" r:id="R0eae99d552364a72"/>
    <p:sldId xmlns:r="http://schemas.openxmlformats.org/officeDocument/2006/relationships" id="268" r:id="Rfad1128e30e540a3"/>
    <p:sldId xmlns:r="http://schemas.openxmlformats.org/officeDocument/2006/relationships" id="269" r:id="R1d857f62a8924213"/>
    <p:sldId xmlns:r="http://schemas.openxmlformats.org/officeDocument/2006/relationships" id="270" r:id="R612a16ec9ad24751"/>
    <p:sldId xmlns:r="http://schemas.openxmlformats.org/officeDocument/2006/relationships" id="271" r:id="Rfbaeff34ec8c4e48"/>
    <p:sldId xmlns:r="http://schemas.openxmlformats.org/officeDocument/2006/relationships" id="272" r:id="R12d1210ca988450e"/>
    <p:sldId xmlns:r="http://schemas.openxmlformats.org/officeDocument/2006/relationships" id="273" r:id="R881c9065cc8441e7"/>
    <p:sldId xmlns:r="http://schemas.openxmlformats.org/officeDocument/2006/relationships" id="274" r:id="R2d8ea815c2e849c4"/>
    <p:sldId xmlns:r="http://schemas.openxmlformats.org/officeDocument/2006/relationships" id="275" r:id="R8a4cf795740148b2"/>
    <p:sldId xmlns:r="http://schemas.openxmlformats.org/officeDocument/2006/relationships" id="276" r:id="R9530b273d969474b"/>
    <p:sldId xmlns:r="http://schemas.openxmlformats.org/officeDocument/2006/relationships" id="277" r:id="R9eb7e4aace594d1c"/>
    <p:sldId xmlns:r="http://schemas.openxmlformats.org/officeDocument/2006/relationships" id="278" r:id="Rb241cef77efd446f"/>
    <p:sldId xmlns:r="http://schemas.openxmlformats.org/officeDocument/2006/relationships" id="279" r:id="R7c6c456a456c4784"/>
    <p:sldId xmlns:r="http://schemas.openxmlformats.org/officeDocument/2006/relationships" id="280" r:id="Ra5743e388451467f"/>
    <p:sldId xmlns:r="http://schemas.openxmlformats.org/officeDocument/2006/relationships" id="281" r:id="R74f7e115234f4ce5"/>
    <p:sldId xmlns:r="http://schemas.openxmlformats.org/officeDocument/2006/relationships" id="282" r:id="R6672345efd254ed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90d05d11b44e96" /><Relationship Type="http://schemas.openxmlformats.org/officeDocument/2006/relationships/slideMaster" Target="/ppt/slideMasters/slideMaster1.xml" Id="R03841c33dd424016" /><Relationship Type="http://schemas.openxmlformats.org/officeDocument/2006/relationships/notesMaster" Target="/ppt/notesMasters/notesMaster1.xml" Id="Raec29d8ea15b46ed" /><Relationship Type="http://schemas.openxmlformats.org/officeDocument/2006/relationships/presProps" Target="/ppt/presProps.xml" Id="R31af8f3a37204327" /><Relationship Type="http://schemas.openxmlformats.org/officeDocument/2006/relationships/tableStyles" Target="/ppt/tableStyles.xml" Id="Rd414964e466a437c" /><Relationship Type="http://schemas.openxmlformats.org/officeDocument/2006/relationships/slide" Target="/ppt/slides/slide1.xml" Id="Ra69e9fd818874c8c" /><Relationship Type="http://schemas.openxmlformats.org/officeDocument/2006/relationships/slide" Target="/ppt/slides/slide2.xml" Id="R50fd7199deaa4acd" /><Relationship Type="http://schemas.openxmlformats.org/officeDocument/2006/relationships/slide" Target="/ppt/slides/slide3.xml" Id="R884113eaeefa44bf" /><Relationship Type="http://schemas.openxmlformats.org/officeDocument/2006/relationships/slide" Target="/ppt/slides/slide4.xml" Id="R35e49845f52541dc" /><Relationship Type="http://schemas.openxmlformats.org/officeDocument/2006/relationships/slide" Target="/ppt/slides/slide5.xml" Id="R6b686eb8ad7443d0" /><Relationship Type="http://schemas.openxmlformats.org/officeDocument/2006/relationships/slide" Target="/ppt/slides/slide6.xml" Id="Rb0867365470740a7" /><Relationship Type="http://schemas.openxmlformats.org/officeDocument/2006/relationships/slide" Target="/ppt/slides/slide7.xml" Id="R0621eafa274849b7" /><Relationship Type="http://schemas.openxmlformats.org/officeDocument/2006/relationships/slide" Target="/ppt/slides/slide8.xml" Id="R034b9fc443864f12" /><Relationship Type="http://schemas.openxmlformats.org/officeDocument/2006/relationships/slide" Target="/ppt/slides/slide9.xml" Id="R8ac2134463374102" /><Relationship Type="http://schemas.openxmlformats.org/officeDocument/2006/relationships/slide" Target="/ppt/slides/slide10.xml" Id="R4ef6919a42b04934" /><Relationship Type="http://schemas.openxmlformats.org/officeDocument/2006/relationships/slide" Target="/ppt/slides/slide11.xml" Id="R8ea984027acc4e8d" /><Relationship Type="http://schemas.openxmlformats.org/officeDocument/2006/relationships/slide" Target="/ppt/slides/slide12.xml" Id="R0eae99d552364a72" /><Relationship Type="http://schemas.openxmlformats.org/officeDocument/2006/relationships/slide" Target="/ppt/slides/slide13.xml" Id="Rfad1128e30e540a3" /><Relationship Type="http://schemas.openxmlformats.org/officeDocument/2006/relationships/slide" Target="/ppt/slides/slide14.xml" Id="R1d857f62a8924213" /><Relationship Type="http://schemas.openxmlformats.org/officeDocument/2006/relationships/slide" Target="/ppt/slides/slide15.xml" Id="R612a16ec9ad24751" /><Relationship Type="http://schemas.openxmlformats.org/officeDocument/2006/relationships/slide" Target="/ppt/slides/slide16.xml" Id="Rfbaeff34ec8c4e48" /><Relationship Type="http://schemas.openxmlformats.org/officeDocument/2006/relationships/slide" Target="/ppt/slides/slide17.xml" Id="R12d1210ca988450e" /><Relationship Type="http://schemas.openxmlformats.org/officeDocument/2006/relationships/slide" Target="/ppt/slides/slide18.xml" Id="R881c9065cc8441e7" /><Relationship Type="http://schemas.openxmlformats.org/officeDocument/2006/relationships/slide" Target="/ppt/slides/slide19.xml" Id="R2d8ea815c2e849c4" /><Relationship Type="http://schemas.openxmlformats.org/officeDocument/2006/relationships/slide" Target="/ppt/slides/slide20.xml" Id="R8a4cf795740148b2" /><Relationship Type="http://schemas.openxmlformats.org/officeDocument/2006/relationships/slide" Target="/ppt/slides/slide21.xml" Id="R9530b273d969474b" /><Relationship Type="http://schemas.openxmlformats.org/officeDocument/2006/relationships/slide" Target="/ppt/slides/slide22.xml" Id="R9eb7e4aace594d1c" /><Relationship Type="http://schemas.openxmlformats.org/officeDocument/2006/relationships/slide" Target="/ppt/slides/slide23.xml" Id="Rb241cef77efd446f" /><Relationship Type="http://schemas.openxmlformats.org/officeDocument/2006/relationships/slide" Target="/ppt/slides/slide24.xml" Id="R7c6c456a456c4784" /><Relationship Type="http://schemas.openxmlformats.org/officeDocument/2006/relationships/slide" Target="/ppt/slides/slide25.xml" Id="Ra5743e388451467f" /><Relationship Type="http://schemas.openxmlformats.org/officeDocument/2006/relationships/slide" Target="/ppt/slides/slide26.xml" Id="R74f7e115234f4ce5" /><Relationship Type="http://schemas.openxmlformats.org/officeDocument/2006/relationships/slide" Target="/ppt/slides/slide27.xml" Id="R6672345efd254e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b7b4e615b144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6ec99513844f1f" /><Relationship Type="http://schemas.openxmlformats.org/officeDocument/2006/relationships/notesMaster" Target="/ppt/notesMasters/notesMaster1.xml" Id="Re4b8fdd372da40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a28681bc90f41f5" /><Relationship Type="http://schemas.openxmlformats.org/officeDocument/2006/relationships/notesMaster" Target="/ppt/notesMasters/notesMaster1.xml" Id="R29743898f7ec49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acdebf0cb3a48eb" /><Relationship Type="http://schemas.openxmlformats.org/officeDocument/2006/relationships/notesMaster" Target="/ppt/notesMasters/notesMaster1.xml" Id="Rdde197f9bccf4c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27ce1617c64d92" /><Relationship Type="http://schemas.openxmlformats.org/officeDocument/2006/relationships/notesMaster" Target="/ppt/notesMasters/notesMaster1.xml" Id="Rd21b45826cf745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63a4e1cbb494bf1" /><Relationship Type="http://schemas.openxmlformats.org/officeDocument/2006/relationships/notesMaster" Target="/ppt/notesMasters/notesMaster1.xml" Id="R43225860e79b4fe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b374071804d4d10" /><Relationship Type="http://schemas.openxmlformats.org/officeDocument/2006/relationships/notesMaster" Target="/ppt/notesMasters/notesMaster1.xml" Id="Rf3ed1011e26f4ad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7904a4e2d704107" /><Relationship Type="http://schemas.openxmlformats.org/officeDocument/2006/relationships/notesMaster" Target="/ppt/notesMasters/notesMaster1.xml" Id="R5847b13c026c47f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f3f31f6dbf4955" /><Relationship Type="http://schemas.openxmlformats.org/officeDocument/2006/relationships/notesMaster" Target="/ppt/notesMasters/notesMaster1.xml" Id="Rb45ef9b6a9dd4d7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cc5c25658f84f4e" /><Relationship Type="http://schemas.openxmlformats.org/officeDocument/2006/relationships/notesMaster" Target="/ppt/notesMasters/notesMaster1.xml" Id="Rd7fc63793a24498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33ba9f85e6449dd" /><Relationship Type="http://schemas.openxmlformats.org/officeDocument/2006/relationships/notesMaster" Target="/ppt/notesMasters/notesMaster1.xml" Id="R6aa3602f007345f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57b6d6c92e54da3" /><Relationship Type="http://schemas.openxmlformats.org/officeDocument/2006/relationships/notesMaster" Target="/ppt/notesMasters/notesMaster1.xml" Id="Rf1241b524956463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96c9a4471ab49db" /><Relationship Type="http://schemas.openxmlformats.org/officeDocument/2006/relationships/notesMaster" Target="/ppt/notesMasters/notesMaster1.xml" Id="Rb69123e41d1e44f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57c3a7095fa4a01" /><Relationship Type="http://schemas.openxmlformats.org/officeDocument/2006/relationships/notesMaster" Target="/ppt/notesMasters/notesMaster1.xml" Id="R41ebf8ff9d92436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25e3c0b816b446d" /><Relationship Type="http://schemas.openxmlformats.org/officeDocument/2006/relationships/notesMaster" Target="/ppt/notesMasters/notesMaster1.xml" Id="R5c11a0fa3736492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7e14c7c4b1043f8" /><Relationship Type="http://schemas.openxmlformats.org/officeDocument/2006/relationships/notesMaster" Target="/ppt/notesMasters/notesMaster1.xml" Id="Rc30b3a2a14fb486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d08da59d60d48f5" /><Relationship Type="http://schemas.openxmlformats.org/officeDocument/2006/relationships/notesMaster" Target="/ppt/notesMasters/notesMaster1.xml" Id="R3ff3280576fe481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4e36d24abf34c88" /><Relationship Type="http://schemas.openxmlformats.org/officeDocument/2006/relationships/notesMaster" Target="/ppt/notesMasters/notesMaster1.xml" Id="R8d3cc64ad7934c3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7dbd2807ddf4570" /><Relationship Type="http://schemas.openxmlformats.org/officeDocument/2006/relationships/notesMaster" Target="/ppt/notesMasters/notesMaster1.xml" Id="Ra969be0fa34e45c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6cd7c90f4214477" /><Relationship Type="http://schemas.openxmlformats.org/officeDocument/2006/relationships/notesMaster" Target="/ppt/notesMasters/notesMaster1.xml" Id="Rf83d19be618747b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a1d6d042d7f476f" /><Relationship Type="http://schemas.openxmlformats.org/officeDocument/2006/relationships/notesMaster" Target="/ppt/notesMasters/notesMaster1.xml" Id="Ra3a76dbcb0c94bf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4e00e866170434b" /><Relationship Type="http://schemas.openxmlformats.org/officeDocument/2006/relationships/notesMaster" Target="/ppt/notesMasters/notesMaster1.xml" Id="R1b3e9d9b31e348c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dce0129684d4283" /><Relationship Type="http://schemas.openxmlformats.org/officeDocument/2006/relationships/notesMaster" Target="/ppt/notesMasters/notesMaster1.xml" Id="Rd66867adf43b415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5681d02f7664995" /><Relationship Type="http://schemas.openxmlformats.org/officeDocument/2006/relationships/notesMaster" Target="/ppt/notesMasters/notesMaster1.xml" Id="R798abd3800374e8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45382c461a540bb" /><Relationship Type="http://schemas.openxmlformats.org/officeDocument/2006/relationships/notesMaster" Target="/ppt/notesMasters/notesMaster1.xml" Id="Reea30e9bc47942b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6fbd666cd054c8f" /><Relationship Type="http://schemas.openxmlformats.org/officeDocument/2006/relationships/notesMaster" Target="/ppt/notesMasters/notesMaster1.xml" Id="R1de64cacc62f47b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8133af351c84d5a" /><Relationship Type="http://schemas.openxmlformats.org/officeDocument/2006/relationships/notesMaster" Target="/ppt/notesMasters/notesMaster1.xml" Id="Rc7c513fd5e394cc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18503a003c94793" /><Relationship Type="http://schemas.openxmlformats.org/officeDocument/2006/relationships/notesMaster" Target="/ppt/notesMasters/notesMaster1.xml" Id="R826411f6f50942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8, book pages 277-335.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8, book pages 277-335.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8, book pages 277-335.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8, book pages 277-335.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8, book pages 277-335. Figure 8-1, PDF page 306. Original caption: Figure 8-1. A race condition between two clients concurrently incrementing a counter</a:t>
            </a:r>
          </a:p>
          <a:p xmlns:a="http://schemas.openxmlformats.org/drawingml/2006/main">
            <a:r>
              <a:t>Explanation: 该图具体展示：A race condition between two clients concurrently incrementing a counter 它把本章的抽象概念落实到数据流、时间线或状态转换。 重点检查参与者、数据流向、操作顺序和图中隐含的系统假设。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8, book pages 277-335. Figure 8-2, PDF page 309. Original caption: Figure 8-2. Violating isolation: one transaction reads another transaction’s uncommitted</a:t>
            </a:r>
          </a:p>
          <a:p xmlns:a="http://schemas.openxmlformats.org/drawingml/2006/main">
            <a:r>
              <a:t>Explanation: 该图具体展示：Violating isolation: one transaction reads another transaction’s uncommitted 它把本章的抽象概念落实到数据流、时间线或状态转换。 重点检查参与者、数据流向、操作顺序和图中隐含的系统假设。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8, book pages 277-335. Figure 8-3, PDF page 309. Original caption: Figure 8-3. Atomicity ensures that if an error occurs, any prior writes from that transac‐</a:t>
            </a:r>
          </a:p>
          <a:p xmlns:a="http://schemas.openxmlformats.org/drawingml/2006/main">
            <a:r>
              <a:t>Explanation: 该图具体展示：Atomicity ensures that if an error occurs, any prior writes from that transac‐ 它把本章的抽象概念落实到数据流、时间线或状态转换。 重点检查参与者、数据流向、操作顺序和图中隐含的系统假设。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8, book pages 277-335.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8, book pages 277-335.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8, book pages 277-335. Figure 8-4, PDF page 314. Original caption: Figure 8-4. No dirty reads: user 2 sees the new value for x only after user 1’s transaction</a:t>
            </a:r>
          </a:p>
          <a:p xmlns:a="http://schemas.openxmlformats.org/drawingml/2006/main">
            <a:r>
              <a:t>Explanation: 时间线展示一个事务读到中间状态或不一致状态。 隔离规则需要阻止任何合法串行执行都不会暴露的状态。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8, book pages 277-335. Figure 8-5, PDF page 316. Original caption: Figure 8-5. With dirty writes, conflicting writes from different transactions can be mixed</a:t>
            </a:r>
          </a:p>
          <a:p xmlns:a="http://schemas.openxmlformats.org/drawingml/2006/main">
            <a:r>
              <a:t>Explanation: 多个写入者会产生并发版本，并可能以不同顺序到达。 冲突解决应保留业务意图；最后写入胜出可能静默丢失有效更新。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8, book pages 277-335. Figure 8-6, PDF page 318. Original caption: Figure 8-6. Read skew: Aaliyah observes the database in an inconsistent state</a:t>
            </a:r>
          </a:p>
          <a:p xmlns:a="http://schemas.openxmlformats.org/drawingml/2006/main">
            <a:r>
              <a:t>Explanation: 时间线展示一个事务读到中间状态或不一致状态。 隔离规则需要阻止任何合法串行执行都不会暴露的状态。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8, book pages 277-335. Figure 8-7, PDF page 320. Original caption: Figure 8-7. Implementing snapshot isolation using multiversion concurrency control</a:t>
            </a:r>
          </a:p>
          <a:p xmlns:a="http://schemas.openxmlformats.org/drawingml/2006/main">
            <a:r>
              <a:t>Explanation: 并发事务读取快照并形成可能导致异常的依赖关系。 MVCC 提高并发度，而冲突检测或串行化负责保护业务不变量。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8, book pages 277-335. Figure 8-8, PDF page 328. Original caption: Figure 8-8. A write skew causing an application bug</a:t>
            </a:r>
          </a:p>
          <a:p xmlns:a="http://schemas.openxmlformats.org/drawingml/2006/main">
            <a:r>
              <a:t>Explanation: 并发事务读取快照并形成可能导致异常的依赖关系。 MVCC 提高并发度，而冲突检测或串行化负责保护业务不变量。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8, book pages 277-335.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8, book pages 277-335.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8, book pages 277-335. Figure 8-9, PDF page 334. Original caption: Figure 8-9. Provided that all data required by a transaction is in memory, the stored</a:t>
            </a:r>
          </a:p>
          <a:p xmlns:a="http://schemas.openxmlformats.org/drawingml/2006/main">
            <a:r>
              <a:t>Explanation: 该图具体展示：Provided that all data required by a transaction is in memory, the stored 它把本章的抽象概念落实到数据流、时间线或状态转换。 重点检查参与者、数据流向、操作顺序和图中隐含的系统假设。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8, book pages 277-335. Figure 8-10, PDF page 344. Original caption: Figure 8-10. Detecting when a transaction reads outdated values from an MVCC</a:t>
            </a:r>
          </a:p>
          <a:p xmlns:a="http://schemas.openxmlformats.org/drawingml/2006/main">
            <a:r>
              <a:t>Explanation: 并发事务读取快照并形成可能导致异常的依赖关系。 MVCC 提高并发度，而冲突检测或串行化负责保护业务不变量。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8, book pages 277-335. Figure 8-11, PDF page 345. Original caption: Figure 8-11. In serializable snapshot isolation, detecting when one transaction modifies</a:t>
            </a:r>
          </a:p>
          <a:p xmlns:a="http://schemas.openxmlformats.org/drawingml/2006/main">
            <a:r>
              <a:t>Explanation: 并发事务读取快照并形成可能导致异常的依赖关系。 MVCC 提高并发度，而冲突检测或串行化负责保护业务不变量。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8, book pages 277-335.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8, book pages 277-335.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8, book pages 277-335. Figure 8-12, PDF page 348. Original caption: Figure 8-12. When a transaction involves multiple database nodes, it may commit on</a:t>
            </a:r>
          </a:p>
          <a:p xmlns:a="http://schemas.openxmlformats.org/drawingml/2006/main">
            <a:r>
              <a:t>Explanation: 该图具体展示：When a transaction involves multiple database nodes, it may commit on 它把本章的抽象概念落实到数据流、时间线或状态转换。 重点检查参与者、数据流向、操作顺序和图中隐含的系统假设。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8, book pages 277-335. Figure 8-13, PDF page 349. Original caption: Figure 8-13. A successful execution of 2PC</a:t>
            </a:r>
          </a:p>
          <a:p xmlns:a="http://schemas.openxmlformats.org/drawingml/2006/main">
            <a:r>
              <a:t>Explanation: 参与者先进入准备状态，再执行统一的提交或中止决定。 协调者在准备后故障，可能使参与者阻塞并继续占用资源。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8, book pages 277-335. Figure 8-14, PDF page 352. Original caption: Figure 8-14. The coordinator crashes after participants vote yes. Database 1 does not</a:t>
            </a:r>
          </a:p>
          <a:p xmlns:a="http://schemas.openxmlformats.org/drawingml/2006/main">
            <a:r>
              <a:t>Explanation: 参与者先进入准备状态，再执行统一的提交或中止决定。 协调者在准备后故障，可能使参与者阻塞并继续占用资源。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8, book pages 277-335.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8, book pages 277-335.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8, book pages 277-335.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b5c6005e5445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e97fdfe2874333" /><Relationship Type="http://schemas.openxmlformats.org/officeDocument/2006/relationships/slideLayout" Target="/ppt/slideLayouts/slideLayout1.xml" Id="R9c6f59f72a7a44d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6f59f72a7a44d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fadc8be1914ebb" /><Relationship Type="http://schemas.openxmlformats.org/officeDocument/2006/relationships/notesSlide" Target="/ppt/notesSlides/notesSlide1.xml" Id="Ra4eaf32ea9ba4b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8a2936958a4ca5" /><Relationship Type="http://schemas.openxmlformats.org/officeDocument/2006/relationships/notesSlide" Target="/ppt/notesSlides/notesSlide2.xml" Id="Rb0d336aa8a8f4f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3c354ffeff4823" /><Relationship Type="http://schemas.openxmlformats.org/officeDocument/2006/relationships/notesSlide" Target="/ppt/notesSlides/notesSlide3.xml" Id="Rbee27d2796a64c9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cd6e6aad424bf1" /><Relationship Type="http://schemas.openxmlformats.org/officeDocument/2006/relationships/notesSlide" Target="/ppt/notesSlides/notesSlide4.xml" Id="R70b1efead64c4c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514f90f75b4cb5" /><Relationship Type="http://schemas.openxmlformats.org/officeDocument/2006/relationships/image" Target="/ppt/media/image.png" Id="R3b862a2d186d4910" /><Relationship Type="http://schemas.openxmlformats.org/officeDocument/2006/relationships/notesSlide" Target="/ppt/notesSlides/notesSlide5.xml" Id="R1694cae8aa4f45e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5217285fd4455b" /><Relationship Type="http://schemas.openxmlformats.org/officeDocument/2006/relationships/image" Target="/ppt/media/image2.png" Id="R5c1a0889d9ea4fda" /><Relationship Type="http://schemas.openxmlformats.org/officeDocument/2006/relationships/notesSlide" Target="/ppt/notesSlides/notesSlide6.xml" Id="Rdc3a3e3177f9482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9051807f4a4a09" /><Relationship Type="http://schemas.openxmlformats.org/officeDocument/2006/relationships/image" Target="/ppt/media/image3.png" Id="R0104f7020a434ca0" /><Relationship Type="http://schemas.openxmlformats.org/officeDocument/2006/relationships/notesSlide" Target="/ppt/notesSlides/notesSlide7.xml" Id="R0538d638784b410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e48d7bf3574a70" /><Relationship Type="http://schemas.openxmlformats.org/officeDocument/2006/relationships/notesSlide" Target="/ppt/notesSlides/notesSlide8.xml" Id="R3389dde1cb91478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6e4719d6b24a54" /><Relationship Type="http://schemas.openxmlformats.org/officeDocument/2006/relationships/notesSlide" Target="/ppt/notesSlides/notesSlide9.xml" Id="Rd563e9cc899840e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95bc7407f04b45" /><Relationship Type="http://schemas.openxmlformats.org/officeDocument/2006/relationships/image" Target="/ppt/media/image4.png" Id="R1cd06a151729415a" /><Relationship Type="http://schemas.openxmlformats.org/officeDocument/2006/relationships/notesSlide" Target="/ppt/notesSlides/notesSlide10.xml" Id="Rffee75e396264de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915e9a846f40f7" /><Relationship Type="http://schemas.openxmlformats.org/officeDocument/2006/relationships/image" Target="/ppt/media/image5.png" Id="R26daa9fa528a460a" /><Relationship Type="http://schemas.openxmlformats.org/officeDocument/2006/relationships/notesSlide" Target="/ppt/notesSlides/notesSlide11.xml" Id="R00fbfc13755548d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13b545099749d4" /><Relationship Type="http://schemas.openxmlformats.org/officeDocument/2006/relationships/image" Target="/ppt/media/image6.png" Id="R5f9af2f978a74281" /><Relationship Type="http://schemas.openxmlformats.org/officeDocument/2006/relationships/notesSlide" Target="/ppt/notesSlides/notesSlide12.xml" Id="Rcc0818ed8509479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ac6f2e331f4c90" /><Relationship Type="http://schemas.openxmlformats.org/officeDocument/2006/relationships/image" Target="/ppt/media/image7.png" Id="R907b8be178c846f5" /><Relationship Type="http://schemas.openxmlformats.org/officeDocument/2006/relationships/notesSlide" Target="/ppt/notesSlides/notesSlide13.xml" Id="R4354d802262a464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c364ff7e8f431c" /><Relationship Type="http://schemas.openxmlformats.org/officeDocument/2006/relationships/image" Target="/ppt/media/image8.png" Id="R0f04962c0c104006" /><Relationship Type="http://schemas.openxmlformats.org/officeDocument/2006/relationships/notesSlide" Target="/ppt/notesSlides/notesSlide14.xml" Id="R3dbcc2f84cbc423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83b0a089b14525" /><Relationship Type="http://schemas.openxmlformats.org/officeDocument/2006/relationships/notesSlide" Target="/ppt/notesSlides/notesSlide15.xml" Id="R0e405a57971c406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595d2ada314ecc" /><Relationship Type="http://schemas.openxmlformats.org/officeDocument/2006/relationships/notesSlide" Target="/ppt/notesSlides/notesSlide16.xml" Id="R25b785686b23449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a83ed2ef7d46b6" /><Relationship Type="http://schemas.openxmlformats.org/officeDocument/2006/relationships/image" Target="/ppt/media/image9.png" Id="R6c17b9a2d2b4435d" /><Relationship Type="http://schemas.openxmlformats.org/officeDocument/2006/relationships/notesSlide" Target="/ppt/notesSlides/notesSlide17.xml" Id="Rc596c552fcdf427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b3721429074a4a" /><Relationship Type="http://schemas.openxmlformats.org/officeDocument/2006/relationships/image" Target="/ppt/media/image10.png" Id="Rd74a3dedf81f4bb7" /><Relationship Type="http://schemas.openxmlformats.org/officeDocument/2006/relationships/notesSlide" Target="/ppt/notesSlides/notesSlide18.xml" Id="Rb143a228f18c46a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2ffa672366425c" /><Relationship Type="http://schemas.openxmlformats.org/officeDocument/2006/relationships/image" Target="/ppt/media/image11.png" Id="Rcd0ffe8f87f6463e" /><Relationship Type="http://schemas.openxmlformats.org/officeDocument/2006/relationships/notesSlide" Target="/ppt/notesSlides/notesSlide19.xml" Id="R459e14f14d164ee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f5c6a601a74940" /><Relationship Type="http://schemas.openxmlformats.org/officeDocument/2006/relationships/notesSlide" Target="/ppt/notesSlides/notesSlide20.xml" Id="R5bb3ed9808c347c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102d2221a846f5" /><Relationship Type="http://schemas.openxmlformats.org/officeDocument/2006/relationships/notesSlide" Target="/ppt/notesSlides/notesSlide21.xml" Id="R41feac87c5c74e1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e0bc76d1c245c0" /><Relationship Type="http://schemas.openxmlformats.org/officeDocument/2006/relationships/image" Target="/ppt/media/image12.png" Id="R32725216881d47f9" /><Relationship Type="http://schemas.openxmlformats.org/officeDocument/2006/relationships/notesSlide" Target="/ppt/notesSlides/notesSlide22.xml" Id="R7d7ecd116957444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d7da3e780d46ab" /><Relationship Type="http://schemas.openxmlformats.org/officeDocument/2006/relationships/image" Target="/ppt/media/image13.png" Id="R7b4aae5eb4e540a4" /><Relationship Type="http://schemas.openxmlformats.org/officeDocument/2006/relationships/notesSlide" Target="/ppt/notesSlides/notesSlide23.xml" Id="R938f9cdd8c1a406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36a6b22e25491f" /><Relationship Type="http://schemas.openxmlformats.org/officeDocument/2006/relationships/image" Target="/ppt/media/image14.png" Id="Re45368d705df4eb9" /><Relationship Type="http://schemas.openxmlformats.org/officeDocument/2006/relationships/notesSlide" Target="/ppt/notesSlides/notesSlide24.xml" Id="R1824ae9f430748c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9f4d1e15ac4fb5" /><Relationship Type="http://schemas.openxmlformats.org/officeDocument/2006/relationships/notesSlide" Target="/ppt/notesSlides/notesSlide25.xml" Id="R62687ad98cfb43f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647e2bceac47be" /><Relationship Type="http://schemas.openxmlformats.org/officeDocument/2006/relationships/notesSlide" Target="/ppt/notesSlides/notesSlide26.xml" Id="Rba9cfd2106f248c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9e976efd3b4068" /><Relationship Type="http://schemas.openxmlformats.org/officeDocument/2006/relationships/notesSlide" Target="/ppt/notesSlides/notesSlide27.xml" Id="Rb894fa06b4c0408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3F7ACE-9692-4246-8D1B-F00F240C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667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 spc="2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1425" b="1" spc="2">
                <a:solidFill>
                  <a:srgbClr val="FF7F11"/>
                </a:solidFill>
                <a:latin typeface="Arial"/>
                <a:ea typeface="Arial"/>
                <a:cs typeface="Arial"/>
              </a:rPr>
              <a:t>第 08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AE5ECB-698E-4645-BA18-0746DDB6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10287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事务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C011FB-BC6E-47CB-A8BA-C5CEF1CF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9875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D9E2EC"/>
                </a:solidFill>
                <a:latin typeface="Arial"/>
                <a:ea typeface="Arial"/>
                <a:cs typeface="Arial"/>
              </a:rPr>
              <a:t>Transactions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384E94-1B6A-4DFB-AF85-005C7D86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BCCCDC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BCCCDC"/>
                </a:solidFill>
                <a:latin typeface="Arial"/>
                <a:ea typeface="Arial"/>
                <a:cs typeface="Arial"/>
              </a:rPr>
              <a:t>详细中文学习版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CF91FC-5747-43D8-8D76-00ECEB2B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9FB3C8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9FB3C8"/>
                </a:solidFill>
                <a:latin typeface="Arial"/>
                <a:ea typeface="Arial"/>
                <a:cs typeface="Arial"/>
              </a:rPr>
              <a:t>01 / 27</a:t>
            </a:r>
          </a:p>
        </p:txBody>
      </p:sp>
    </p:spTree>
    <p:extLst>
      <p:ext uri="{BB962C8B-B14F-4D97-AF65-F5344CB8AC3E}">
        <p14:creationId xmlns:p14="http://schemas.microsoft.com/office/powerpoint/2010/main" val="6471534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36B7B4-F4B9-494D-A45B-937A6942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FF7F11"/>
                </a:solidFill>
                <a:latin typeface="Arial"/>
                <a:ea typeface="Arial"/>
                <a:cs typeface="Arial"/>
              </a:rPr>
              <a:t>第 08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18E69C-22CC-4BE3-9232-5AC1151A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本章结构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1B5910-6E8B-4C4C-86DD-C4C63F7A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02 / 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C2BCD9-D213-4C32-AF42-CED8105A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7F1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3F56D3-5E0D-4796-840D-6D640491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4287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事务边界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131B9B-01A6-4953-9AEC-74CA66BA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67A"/>
                </a:solidFill>
                <a:latin typeface="Arial"/>
                <a:ea typeface="Arial"/>
                <a:cs typeface="Arial"/>
              </a:rPr>
              <a:t>事务把一组读写视为一个逻辑操作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750F5E-632D-4740-9F09-F523D180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526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7F1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B92E83-7220-4D9E-9CCC-646FFA15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050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弱隔离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15F484-320B-478A-B8D2-B9E59356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050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67A"/>
                </a:solidFill>
                <a:latin typeface="Arial"/>
                <a:ea typeface="Arial"/>
                <a:cs typeface="Arial"/>
              </a:rPr>
              <a:t>读已提交阻止脏读和脏写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25C144-5C38-46B1-8FA0-FBB002C2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289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7F1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8D1F32-8B63-403B-8089-0981CA0B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813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串行化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E561D2-271B-4EBF-BD74-924DB92D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813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67A"/>
                </a:solidFill>
                <a:latin typeface="Arial"/>
                <a:ea typeface="Arial"/>
                <a:cs typeface="Arial"/>
              </a:rPr>
              <a:t>串行化提供等同于某种串行执行的结果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7281FA-31E6-40B0-A8D5-C8C9E533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052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7F1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8BF511-D7C9-4A38-AAD3-7F09CC18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0576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两阶段提交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673615-38C8-4223-84E2-3D54FF92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576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67A"/>
                </a:solidFill>
                <a:latin typeface="Arial"/>
                <a:ea typeface="Arial"/>
                <a:cs typeface="Arial"/>
              </a:rPr>
              <a:t>协调者先收集参与者的准备结果，再决定提交或中止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0549C0-89C5-4E70-B8A2-2FA45E81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815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7F1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6E885E-E34B-4ECE-90A3-C177B9E2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339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事务选择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14FCF0-523B-41FE-A3B0-F78C91AC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339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67A"/>
                </a:solidFill>
                <a:latin typeface="Arial"/>
                <a:ea typeface="Arial"/>
                <a:cs typeface="Arial"/>
              </a:rPr>
              <a:t>先识别需要保护的不变量和可能的并发异常</a:t>
            </a:r>
          </a:p>
        </p:txBody>
      </p:sp>
    </p:spTree>
    <p:extLst>
      <p:ext uri="{BB962C8B-B14F-4D97-AF65-F5344CB8AC3E}">
        <p14:creationId xmlns:p14="http://schemas.microsoft.com/office/powerpoint/2010/main" val="21070266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3ECA06-C543-4673-B555-22083BFD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FF7F11"/>
                </a:solidFill>
                <a:latin typeface="Arial"/>
                <a:ea typeface="Arial"/>
                <a:cs typeface="Arial"/>
              </a:rPr>
              <a:t>第 08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8D4696-853B-4386-B254-32758618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事务边界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7060B0-81AB-41C0-846D-52AEE43A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03 / 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6008A1-7DA0-4A25-B341-7DAEA58D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FF7F1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AC4F36-4955-4109-830F-CFEA8FEA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事务把一组读写视为一个逻辑操作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ACID 描述原子性、一致性、隔离性和持久性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单对象原子操作不能自动替代多对象事务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C7A539-C71C-4322-81C2-4F29151B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00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7F11"/>
                </a:solidFill>
                <a:latin typeface="Arial"/>
                <a:ea typeface="Arial"/>
                <a:cs typeface="Arial"/>
              </a:rPr>
              <a:t>核心问题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C0E8B5-8BDA-4B4D-91AA-2A554F48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67A"/>
                </a:solidFill>
                <a:latin typeface="Arial"/>
                <a:ea typeface="Arial"/>
                <a:cs typeface="Arial"/>
              </a:rPr>
              <a:t>它解决了什么问题？在故障、扩容和演化时会付出什么代价？</a:t>
            </a:r>
          </a:p>
        </p:txBody>
      </p:sp>
    </p:spTree>
    <p:extLst>
      <p:ext uri="{BB962C8B-B14F-4D97-AF65-F5344CB8AC3E}">
        <p14:creationId xmlns:p14="http://schemas.microsoft.com/office/powerpoint/2010/main" val="9005954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245680-5B26-4AAA-B3D2-697F57A5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FF7F11"/>
                </a:solidFill>
                <a:latin typeface="Arial"/>
                <a:ea typeface="Arial"/>
                <a:cs typeface="Arial"/>
              </a:rPr>
              <a:t>第 08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17FA4B-9613-4884-B162-F54B1156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事务边界：设计权衡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CF8B11-2663-49CC-BA99-0A9F6A91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04 / 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7ECDC0-60BB-4F60-9F62-2549CE7C4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FF7F1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CA0EF6-DD1F-47C0-A6E1-2F53DA70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适用条件：事务把一组读写视为一个逻辑操作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主要代价：围绕延迟、吞吐、一致性和运维复杂度评估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故障检查：节点、网络或依赖失效后，系统会暴露什么状态？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演化检查：数据格式、接口或拓扑变化时，能否滚动升级和回滚？</a:t>
            </a:r>
          </a:p>
        </p:txBody>
      </p:sp>
    </p:spTree>
    <p:extLst>
      <p:ext uri="{BB962C8B-B14F-4D97-AF65-F5344CB8AC3E}">
        <p14:creationId xmlns:p14="http://schemas.microsoft.com/office/powerpoint/2010/main" val="13574625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47F87B-4548-433C-995B-73C0F981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FF7F11"/>
                </a:solidFill>
                <a:latin typeface="Arial"/>
                <a:ea typeface="Arial"/>
                <a:cs typeface="Arial"/>
              </a:rPr>
              <a:t>第 08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F50120-8CAE-4218-B5F5-87233F0F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8-1：机制解释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0BB499-7962-4F62-8405-2263BDB0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05 / 27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862a2d186d4910"/>
          <a:stretch xmlns:a="http://schemas.openxmlformats.org/drawingml/2006/main"/>
        </p:blipFill>
        <p:spPr>
          <a:xfrm xmlns:a="http://schemas.openxmlformats.org/drawingml/2006/main">
            <a:off x="514350" y="1986324"/>
            <a:ext cx="7762875" cy="336160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61E3EC-7671-47EB-9124-A7DE1B38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7F11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9E79C2-31F3-4A26-9276-9333864B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该图具体展示：A race condition between two clients concurrently incrementing a counter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308AC1-2AB9-425A-A9EF-DE0CB6A8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7F11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A8E97A-F73C-4AE4-8BDC-2866ADE1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它把本章的抽象概念落实到数据流、时间线或状态转换。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FF51A4-DE98-4E22-8D6D-1502D5DC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7F11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47D95C-8ACC-4694-8285-E2A974D0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重点检查参与者、数据流向、操作顺序和图中隐含的系统假设。</a:t>
            </a:r>
          </a:p>
        </p:txBody>
      </p:sp>
    </p:spTree>
    <p:extLst>
      <p:ext uri="{BB962C8B-B14F-4D97-AF65-F5344CB8AC3E}">
        <p14:creationId xmlns:p14="http://schemas.microsoft.com/office/powerpoint/2010/main" val="18681886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39E925-5B25-47AD-9F61-8C3A6229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FF7F11"/>
                </a:solidFill>
                <a:latin typeface="Arial"/>
                <a:ea typeface="Arial"/>
                <a:cs typeface="Arial"/>
              </a:rPr>
              <a:t>第 08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AEE9ED-791C-4C23-8D60-B5F9B842F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8-2：机制解释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CA1F18-5F66-4894-B391-DC121FA1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06 / 27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1a0889d9ea4fda"/>
          <a:stretch xmlns:a="http://schemas.openxmlformats.org/drawingml/2006/main"/>
        </p:blipFill>
        <p:spPr>
          <a:xfrm xmlns:a="http://schemas.openxmlformats.org/drawingml/2006/main">
            <a:off x="514350" y="1359056"/>
            <a:ext cx="7762875" cy="461613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FE31AD-AF2D-40E6-9111-BF549886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7F11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A02396-80E9-43AA-830F-30B8E27F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该图具体展示：Violating isolation: one transaction reads another transaction’s uncommitted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BB3E30-F41F-4C49-945C-AB03160E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7F11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1B5D0C-0A3F-44C9-AEDA-EED127C2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它把本章的抽象概念落实到数据流、时间线或状态转换。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476EEF-7913-4373-B8AB-44A296C93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7F11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B62102-682F-4925-940C-1607FF29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重点检查参与者、数据流向、操作顺序和图中隐含的系统假设。</a:t>
            </a:r>
          </a:p>
        </p:txBody>
      </p:sp>
    </p:spTree>
    <p:extLst>
      <p:ext uri="{BB962C8B-B14F-4D97-AF65-F5344CB8AC3E}">
        <p14:creationId xmlns:p14="http://schemas.microsoft.com/office/powerpoint/2010/main" val="543664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CC7489-4417-44E1-8320-048ACCF5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FF7F11"/>
                </a:solidFill>
                <a:latin typeface="Arial"/>
                <a:ea typeface="Arial"/>
                <a:cs typeface="Arial"/>
              </a:rPr>
              <a:t>第 08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97AEF8-DAA1-4812-B97E-E853DAC71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8-3：机制解释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F4DB0C-984D-4D72-A589-09ED0E1E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07 / 27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04f7020a434ca0"/>
          <a:stretch xmlns:a="http://schemas.openxmlformats.org/drawingml/2006/main"/>
        </p:blipFill>
        <p:spPr>
          <a:xfrm xmlns:a="http://schemas.openxmlformats.org/drawingml/2006/main">
            <a:off x="1235835" y="1285875"/>
            <a:ext cx="6319905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008826-7FD4-48D9-B7D4-14882700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7F11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ECB3B2-12F5-498A-BEB2-9E84F7D6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该图具体展示：Atomicity ensures that if an error occurs, any prior writes from that transac‐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D94B53-E092-464C-B6FC-16DCEDD4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7F11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E1CEC8-0A93-4A7A-8A5D-AD2B52EB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它把本章的抽象概念落实到数据流、时间线或状态转换。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C81F24-92CE-46CB-8678-9A2CE259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7F11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7E58A0-622D-40C4-A7C7-132402B7F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重点检查参与者、数据流向、操作顺序和图中隐含的系统假设。</a:t>
            </a:r>
          </a:p>
        </p:txBody>
      </p:sp>
    </p:spTree>
    <p:extLst>
      <p:ext uri="{BB962C8B-B14F-4D97-AF65-F5344CB8AC3E}">
        <p14:creationId xmlns:p14="http://schemas.microsoft.com/office/powerpoint/2010/main" val="358747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8E9559-BB04-4F4A-BDD8-5E95EA04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FF7F11"/>
                </a:solidFill>
                <a:latin typeface="Arial"/>
                <a:ea typeface="Arial"/>
                <a:cs typeface="Arial"/>
              </a:rPr>
              <a:t>第 08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825D5E-B356-4969-864F-B5D28163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弱隔离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F729A6-F477-4F17-B635-E382D4C0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08 / 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ECBC94-E201-476F-BA33-30FBD596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FF7F1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AC56B1-B0DF-4018-BCE5-097F8E3F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读已提交阻止脏读和脏写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快照隔离让事务读取一致快照，但仍可能写偏斜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丢失更新可用原子更新、显式锁或冲突检测避免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B3A918-60BE-4DC9-87ED-C76173CE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00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7F11"/>
                </a:solidFill>
                <a:latin typeface="Arial"/>
                <a:ea typeface="Arial"/>
                <a:cs typeface="Arial"/>
              </a:rPr>
              <a:t>核心问题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6ADB70-C291-41A2-8326-025F4F8A2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67A"/>
                </a:solidFill>
                <a:latin typeface="Arial"/>
                <a:ea typeface="Arial"/>
                <a:cs typeface="Arial"/>
              </a:rPr>
              <a:t>它解决了什么问题？在故障、扩容和演化时会付出什么代价？</a:t>
            </a:r>
          </a:p>
        </p:txBody>
      </p:sp>
    </p:spTree>
    <p:extLst>
      <p:ext uri="{BB962C8B-B14F-4D97-AF65-F5344CB8AC3E}">
        <p14:creationId xmlns:p14="http://schemas.microsoft.com/office/powerpoint/2010/main" val="12813392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76E797-8ED0-4C34-87D6-63D44062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FF7F11"/>
                </a:solidFill>
                <a:latin typeface="Arial"/>
                <a:ea typeface="Arial"/>
                <a:cs typeface="Arial"/>
              </a:rPr>
              <a:t>第 08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43EBD7-9B95-44BC-AF54-60D9CE6F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弱隔离：设计权衡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814488-1203-4649-B725-324E8462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09 / 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F4B577-8F4A-4E44-9E55-61CEAB6B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FF7F1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76619E-BC2A-4201-A303-A873A33D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适用条件：读已提交阻止脏读和脏写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主要代价：围绕延迟、吞吐、一致性和运维复杂度评估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故障检查：节点、网络或依赖失效后，系统会暴露什么状态？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演化检查：数据格式、接口或拓扑变化时，能否滚动升级和回滚？</a:t>
            </a:r>
          </a:p>
        </p:txBody>
      </p:sp>
    </p:spTree>
    <p:extLst>
      <p:ext uri="{BB962C8B-B14F-4D97-AF65-F5344CB8AC3E}">
        <p14:creationId xmlns:p14="http://schemas.microsoft.com/office/powerpoint/2010/main" val="20130420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DC493C-1AE0-44F1-9D20-2DE0340D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FF7F11"/>
                </a:solidFill>
                <a:latin typeface="Arial"/>
                <a:ea typeface="Arial"/>
                <a:cs typeface="Arial"/>
              </a:rPr>
              <a:t>第 08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5F0013-EFBD-41B3-B562-C7C9E815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8-4：机制解释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36E334-41C4-44E9-A914-5EACF49E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10 / 27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d06a151729415a"/>
          <a:stretch xmlns:a="http://schemas.openxmlformats.org/drawingml/2006/main"/>
        </p:blipFill>
        <p:spPr>
          <a:xfrm xmlns:a="http://schemas.openxmlformats.org/drawingml/2006/main">
            <a:off x="1235835" y="1285875"/>
            <a:ext cx="6319905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9BCF2B-873F-4432-9931-C976E17B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7F11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E31C4C-5958-45CD-8889-E3C07F55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时间线展示一个事务读到中间状态或不一致状态。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BB9600-687A-45CA-9BF2-40CDB968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7F11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DBBA0D-D3E2-43A3-8B5F-1FF320E5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隔离规则需要阻止任何合法串行执行都不会暴露的状态。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E4EA57-D663-4F50-9477-CF76F119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7F11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D27E8B-43D9-4F07-8393-7549BC41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14172566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31E3F8-B879-4BC8-B0D1-036E5B8A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FF7F11"/>
                </a:solidFill>
                <a:latin typeface="Arial"/>
                <a:ea typeface="Arial"/>
                <a:cs typeface="Arial"/>
              </a:rPr>
              <a:t>第 08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0F9EB6-4F3A-49CC-B438-C6D0AC928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8-5：机制解释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7E0606-882F-4260-A29F-E48BC98A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11 / 27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daa9fa528a460a"/>
          <a:stretch xmlns:a="http://schemas.openxmlformats.org/drawingml/2006/main"/>
        </p:blipFill>
        <p:spPr>
          <a:xfrm xmlns:a="http://schemas.openxmlformats.org/drawingml/2006/main">
            <a:off x="514350" y="1386780"/>
            <a:ext cx="7762875" cy="456068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1F5FB3-0559-444D-8B0E-9D91064F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7F11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BD5759-3040-4E21-AF99-CA4EE76F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多个写入者会产生并发版本，并可能以不同顺序到达。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2B3139-0BFC-4564-8F0F-F3AF2121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7F11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AC2EF2-D3FF-49CD-93FE-1CC0602B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冲突解决应保留业务意图；最后写入胜出可能静默丢失有效更新。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44232B-5A04-4912-89E1-3809EF07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7F11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A82D0C-C2AB-4A4F-895D-F04F1CFA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171434509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4C6E8E-DA8D-471A-8215-0588D881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FF7F11"/>
                </a:solidFill>
                <a:latin typeface="Arial"/>
                <a:ea typeface="Arial"/>
                <a:cs typeface="Arial"/>
              </a:rPr>
              <a:t>第 08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7D1249-2A1C-426A-8652-24E8F092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8-6：机制解释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EA0981-CECF-45F2-8323-4DDC788FC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12 / 27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9af2f978a74281"/>
          <a:stretch xmlns:a="http://schemas.openxmlformats.org/drawingml/2006/main"/>
        </p:blipFill>
        <p:spPr>
          <a:xfrm xmlns:a="http://schemas.openxmlformats.org/drawingml/2006/main">
            <a:off x="514350" y="1414505"/>
            <a:ext cx="7762875" cy="450524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A3A0DE-D01E-4E56-B32C-DD827CC6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7F11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5BD755-18B3-4EB9-9A72-8F1D069E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时间线展示一个事务读到中间状态或不一致状态。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4F894A-99FF-45E5-ADAC-295CAFAEB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7F11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82E5B2-531D-4F52-B4A8-BEE90972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隔离规则需要阻止任何合法串行执行都不会暴露的状态。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6F89E3-147B-4255-8BE6-C2708C6EB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7F11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75106A-DD66-4099-AF29-208BD88C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34459834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E59C3A-EE28-4E85-95C9-25D0420B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FF7F11"/>
                </a:solidFill>
                <a:latin typeface="Arial"/>
                <a:ea typeface="Arial"/>
                <a:cs typeface="Arial"/>
              </a:rPr>
              <a:t>第 08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C11821-7EBB-49BB-BEA2-72FAF1E0C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8-7：机制解释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B7E9A7-4D12-4809-9A70-6708FEAC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13 / 27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7b8be178c846f5"/>
          <a:stretch xmlns:a="http://schemas.openxmlformats.org/drawingml/2006/main"/>
        </p:blipFill>
        <p:spPr>
          <a:xfrm xmlns:a="http://schemas.openxmlformats.org/drawingml/2006/main">
            <a:off x="1235835" y="1285875"/>
            <a:ext cx="6319905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3C83BA-C15B-431F-A011-AE64B9B4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7F11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7D890F-62CD-4D01-9A9A-208D26D5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并发事务读取快照并形成可能导致异常的依赖关系。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30039D-846D-4079-BA2A-027E3DF4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7F11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A60D7D-8B99-4C33-A31B-45E567FD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MVCC 提高并发度，而冲突检测或串行化负责保护业务不变量。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2C7F27-FEF5-4BFC-9FB9-1E50B751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7F11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E1AD6F-919A-4DBF-A751-528A6DA3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37703290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6A191D-72C7-427B-BE5B-A78EE108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FF7F11"/>
                </a:solidFill>
                <a:latin typeface="Arial"/>
                <a:ea typeface="Arial"/>
                <a:cs typeface="Arial"/>
              </a:rPr>
              <a:t>第 08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CCC782-9296-45FF-BA44-868FFBB4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8-8：机制解释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16EC60-7691-4EF9-9769-89A2CEB9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14 / 27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04962c0c104006"/>
          <a:stretch xmlns:a="http://schemas.openxmlformats.org/drawingml/2006/main"/>
        </p:blipFill>
        <p:spPr>
          <a:xfrm xmlns:a="http://schemas.openxmlformats.org/drawingml/2006/main">
            <a:off x="1235835" y="1285875"/>
            <a:ext cx="6319905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1F231A-DF8C-4607-BD90-2EA498319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7F11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0A7C8F-DBD7-48C7-BBF8-92FF9BD7F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并发事务读取快照并形成可能导致异常的依赖关系。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B6C864-87C8-447C-85DE-2E435F9C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7F11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5F769A-AD15-48CB-A68B-A6720566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MVCC 提高并发度，而冲突检测或串行化负责保护业务不变量。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4B7F44-DF45-4FE5-9B2C-C678FDD7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7F11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CDF5A4-29E3-4A7C-81DA-97D977ED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126377281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7E1701-E454-4FD8-8FFE-BB730092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FF7F11"/>
                </a:solidFill>
                <a:latin typeface="Arial"/>
                <a:ea typeface="Arial"/>
                <a:cs typeface="Arial"/>
              </a:rPr>
              <a:t>第 08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BC1D07-25EE-47E5-84CE-8670D98B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串行化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AAF4B8-3EEC-440C-8713-D0F6D25C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15 / 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4D8D01-37D7-4E13-991B-A6734C84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FF7F1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38F570-70ED-49FB-B3E3-C372E84B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串行化提供等同于某种串行执行的结果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真实串行执行简单，但受单线程吞吐和事务时长限制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两阶段锁和 SSI 用不同代价阻止并发异常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2E2AC3-A154-4045-BD61-9ED98F92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00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7F11"/>
                </a:solidFill>
                <a:latin typeface="Arial"/>
                <a:ea typeface="Arial"/>
                <a:cs typeface="Arial"/>
              </a:rPr>
              <a:t>核心问题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1F6781-66A4-4566-81B9-97F68B11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67A"/>
                </a:solidFill>
                <a:latin typeface="Arial"/>
                <a:ea typeface="Arial"/>
                <a:cs typeface="Arial"/>
              </a:rPr>
              <a:t>它解决了什么问题？在故障、扩容和演化时会付出什么代价？</a:t>
            </a:r>
          </a:p>
        </p:txBody>
      </p:sp>
    </p:spTree>
    <p:extLst>
      <p:ext uri="{BB962C8B-B14F-4D97-AF65-F5344CB8AC3E}">
        <p14:creationId xmlns:p14="http://schemas.microsoft.com/office/powerpoint/2010/main" val="133220381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9BE402-E951-491F-8DDB-5B66AA8E0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FF7F11"/>
                </a:solidFill>
                <a:latin typeface="Arial"/>
                <a:ea typeface="Arial"/>
                <a:cs typeface="Arial"/>
              </a:rPr>
              <a:t>第 08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FCC3D4-CDB3-4577-AAB0-0F77C68A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串行化：设计权衡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7F0A0B-7A71-40A1-A739-AF29692D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16 / 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B077AE-F00B-4F25-ABE7-5DBCE92A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FF7F1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F9FDCE-1EEF-4189-ACDC-FE54C36A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适用条件：串行化提供等同于某种串行执行的结果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主要代价：围绕延迟、吞吐、一致性和运维复杂度评估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故障检查：节点、网络或依赖失效后，系统会暴露什么状态？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演化检查：数据格式、接口或拓扑变化时，能否滚动升级和回滚？</a:t>
            </a:r>
          </a:p>
        </p:txBody>
      </p:sp>
    </p:spTree>
    <p:extLst>
      <p:ext uri="{BB962C8B-B14F-4D97-AF65-F5344CB8AC3E}">
        <p14:creationId xmlns:p14="http://schemas.microsoft.com/office/powerpoint/2010/main" val="119200038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03386B-98C1-428F-9263-09930365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FF7F11"/>
                </a:solidFill>
                <a:latin typeface="Arial"/>
                <a:ea typeface="Arial"/>
                <a:cs typeface="Arial"/>
              </a:rPr>
              <a:t>第 08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FFFF4B-B37B-4757-A9C8-9381365E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8-9：机制解释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AFBE8E-AB67-4DA5-94F2-9CA3289B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17 / 27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17b9a2d2b4435d"/>
          <a:stretch xmlns:a="http://schemas.openxmlformats.org/drawingml/2006/main"/>
        </p:blipFill>
        <p:spPr>
          <a:xfrm xmlns:a="http://schemas.openxmlformats.org/drawingml/2006/main">
            <a:off x="1235835" y="1285875"/>
            <a:ext cx="6319905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2D674F-F2A5-4BDB-94B2-56FC5EF6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7F11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06FA0F-E3A2-42E2-B786-164C68AB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该图具体展示：Provided that all data required by a transaction is in memory, the stored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42C969-E026-4371-AC1E-F1460588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7F11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AD1712-C11F-4496-87EE-8F76F1DB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它把本章的抽象概念落实到数据流、时间线或状态转换。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D5AF4B-B8F5-4055-90C9-DEEA5CCB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7F11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8A0362-617B-4C20-8A9A-2CBF27FE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重点检查参与者、数据流向、操作顺序和图中隐含的系统假设。</a:t>
            </a:r>
          </a:p>
        </p:txBody>
      </p:sp>
    </p:spTree>
    <p:extLst>
      <p:ext uri="{BB962C8B-B14F-4D97-AF65-F5344CB8AC3E}">
        <p14:creationId xmlns:p14="http://schemas.microsoft.com/office/powerpoint/2010/main" val="128250867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0868E3-8850-4977-9E4B-7870DAB0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FF7F11"/>
                </a:solidFill>
                <a:latin typeface="Arial"/>
                <a:ea typeface="Arial"/>
                <a:cs typeface="Arial"/>
              </a:rPr>
              <a:t>第 08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9AF977-404E-4351-9847-EC17EAF8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8-10：机制解释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A5A81A-83BF-49C3-8D0B-5849D37F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18 / 27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4a3dedf81f4bb7"/>
          <a:stretch xmlns:a="http://schemas.openxmlformats.org/drawingml/2006/main"/>
        </p:blipFill>
        <p:spPr>
          <a:xfrm xmlns:a="http://schemas.openxmlformats.org/drawingml/2006/main">
            <a:off x="1235835" y="1285875"/>
            <a:ext cx="6319905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466627-CEDD-4E16-BC44-F4623744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7F11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BC452B-3A69-4BF6-9529-F9B3B074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并发事务读取快照并形成可能导致异常的依赖关系。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1B71BB-A10B-4CD4-97D2-58934D5F5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7F11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B0BD1B-6FC5-478B-9746-3FF100FA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MVCC 提高并发度，而冲突检测或串行化负责保护业务不变量。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ADD6F1-2730-4924-8861-038C6ADF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7F11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E39BB0-2D98-477B-A635-F78894C5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130770650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9885D7-61FF-4294-82EF-4AE8F8F2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FF7F11"/>
                </a:solidFill>
                <a:latin typeface="Arial"/>
                <a:ea typeface="Arial"/>
                <a:cs typeface="Arial"/>
              </a:rPr>
              <a:t>第 08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25A806-00AC-4242-91CD-C201F6D3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8-11：机制解释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3C1001-DC20-458B-BB76-C0726CD4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19 / 27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0ffe8f87f6463e"/>
          <a:stretch xmlns:a="http://schemas.openxmlformats.org/drawingml/2006/main"/>
        </p:blipFill>
        <p:spPr>
          <a:xfrm xmlns:a="http://schemas.openxmlformats.org/drawingml/2006/main">
            <a:off x="1235835" y="1285875"/>
            <a:ext cx="6319905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D42D9D-6827-410E-AEEE-0E0446F9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7F11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9400D8-EC68-4C99-A5C7-A3534391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并发事务读取快照并形成可能导致异常的依赖关系。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7967C8-572E-40BC-BD77-47BC450E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7F11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167140-7C9C-4234-873A-B64D4F6D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MVCC 提高并发度，而冲突检测或串行化负责保护业务不变量。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01C03B-FB5E-4146-BB52-97BB4178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7F11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BB8E59-387F-43D9-962F-F2ABD24E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108170509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0F5C82-B908-4F3F-BE43-6EAE0593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FF7F11"/>
                </a:solidFill>
                <a:latin typeface="Arial"/>
                <a:ea typeface="Arial"/>
                <a:cs typeface="Arial"/>
              </a:rPr>
              <a:t>第 08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3C04CA-51B1-4E1A-814C-0ADAB0FDD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两阶段提交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A8EE84-0190-41A6-9730-2CB70030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20 / 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37F34C-2C45-4B6F-B8F3-0BD810B1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FF7F1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BDDEF2-1FF4-41ED-827E-98138A7A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协调者先收集参与者的准备结果，再决定提交或中止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协议在部分故障下可能阻塞，并依赖协调者日志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跨系统事务扩大故障域和运维难度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090B44-BE8A-4883-9605-E3F2DE69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00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7F11"/>
                </a:solidFill>
                <a:latin typeface="Arial"/>
                <a:ea typeface="Arial"/>
                <a:cs typeface="Arial"/>
              </a:rPr>
              <a:t>核心问题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1C241B-3F26-4B68-ADCE-68C16AF5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67A"/>
                </a:solidFill>
                <a:latin typeface="Arial"/>
                <a:ea typeface="Arial"/>
                <a:cs typeface="Arial"/>
              </a:rPr>
              <a:t>它解决了什么问题？在故障、扩容和演化时会付出什么代价？</a:t>
            </a:r>
          </a:p>
        </p:txBody>
      </p:sp>
    </p:spTree>
    <p:extLst>
      <p:ext uri="{BB962C8B-B14F-4D97-AF65-F5344CB8AC3E}">
        <p14:creationId xmlns:p14="http://schemas.microsoft.com/office/powerpoint/2010/main" val="33531346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5D2EBB-CE0E-43B4-B353-7DF725BF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FF7F11"/>
                </a:solidFill>
                <a:latin typeface="Arial"/>
                <a:ea typeface="Arial"/>
                <a:cs typeface="Arial"/>
              </a:rPr>
              <a:t>第 08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CDB92F-3AF9-489C-98D8-05786E7C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两阶段提交：设计权衡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403B67-4E07-4E30-ACD8-B75AF818C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21 / 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E7F3F4-9771-47A2-AC23-442E1F32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FF7F1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2DB2FD-1428-4880-9934-68C476F7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适用条件：协调者先收集参与者的准备结果，再决定提交或中止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主要代价：围绕延迟、吞吐、一致性和运维复杂度评估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故障检查：节点、网络或依赖失效后，系统会暴露什么状态？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演化检查：数据格式、接口或拓扑变化时，能否滚动升级和回滚？</a:t>
            </a:r>
          </a:p>
        </p:txBody>
      </p:sp>
    </p:spTree>
    <p:extLst>
      <p:ext uri="{BB962C8B-B14F-4D97-AF65-F5344CB8AC3E}">
        <p14:creationId xmlns:p14="http://schemas.microsoft.com/office/powerpoint/2010/main" val="88262958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C69465-C643-4F30-909D-80EFB463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FF7F11"/>
                </a:solidFill>
                <a:latin typeface="Arial"/>
                <a:ea typeface="Arial"/>
                <a:cs typeface="Arial"/>
              </a:rPr>
              <a:t>第 08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A9BC29-D786-4CE6-813E-8318144A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8-12：机制解释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FD6710-6E71-4F5F-B0AF-28851E47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22 / 27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725216881d47f9"/>
          <a:stretch xmlns:a="http://schemas.openxmlformats.org/drawingml/2006/main"/>
        </p:blipFill>
        <p:spPr>
          <a:xfrm xmlns:a="http://schemas.openxmlformats.org/drawingml/2006/main">
            <a:off x="1151262" y="1285875"/>
            <a:ext cx="6489051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499E2D-4FCC-413C-AD22-04F891D9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7F11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4895A7-B6B2-420A-8994-758FAAF6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该图具体展示：When a transaction involves multiple database nodes, it may commit 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E9FC58-8D31-447A-BE97-CC7B144B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7F11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AFF2D9-2CD3-4022-BC6A-383BD75FE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它把本章的抽象概念落实到数据流、时间线或状态转换。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098E1E-3444-4B4C-8152-B3A75B2B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7F11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402476-B6B8-46F5-A769-26DFF49F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重点检查参与者、数据流向、操作顺序和图中隐含的系统假设。</a:t>
            </a:r>
          </a:p>
        </p:txBody>
      </p:sp>
    </p:spTree>
    <p:extLst>
      <p:ext uri="{BB962C8B-B14F-4D97-AF65-F5344CB8AC3E}">
        <p14:creationId xmlns:p14="http://schemas.microsoft.com/office/powerpoint/2010/main" val="27481150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D4AC34-E672-46B9-9E32-29ECF01F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FF7F11"/>
                </a:solidFill>
                <a:latin typeface="Arial"/>
                <a:ea typeface="Arial"/>
                <a:cs typeface="Arial"/>
              </a:rPr>
              <a:t>第 08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F97CB3-BEEE-4197-8A6A-AC6C2CA00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8-13：机制解释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BB60E8-B348-4F18-ABE9-E5657821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23 / 27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4aae5eb4e540a4"/>
          <a:stretch xmlns:a="http://schemas.openxmlformats.org/drawingml/2006/main"/>
        </p:blipFill>
        <p:spPr>
          <a:xfrm xmlns:a="http://schemas.openxmlformats.org/drawingml/2006/main">
            <a:off x="514350" y="1435298"/>
            <a:ext cx="7762875" cy="446365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046A25-98D4-418A-83B9-8547787E4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7F11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8870AA-94D8-4279-A090-1B664A30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参与者先进入准备状态，再执行统一的提交或中止决定。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9FD6D2-92E9-423B-AEB9-6DC1EDB3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7F11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505979-3B66-4133-8874-C629D719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协调者在准备后故障，可能使参与者阻塞并继续占用资源。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E9611E-6B3B-4B7D-A556-7BBEC3B3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7F11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8172EF-F079-4268-A076-6E11EF48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15399689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684229-65CC-45D0-8653-7AFACDB5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FF7F11"/>
                </a:solidFill>
                <a:latin typeface="Arial"/>
                <a:ea typeface="Arial"/>
                <a:cs typeface="Arial"/>
              </a:rPr>
              <a:t>第 08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324F30-836E-46C0-A531-D3556410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8-14：机制解释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049973-158B-43E6-A07D-7DDBE4AF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24 / 27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5368d705df4eb9"/>
          <a:stretch xmlns:a="http://schemas.openxmlformats.org/drawingml/2006/main"/>
        </p:blipFill>
        <p:spPr>
          <a:xfrm xmlns:a="http://schemas.openxmlformats.org/drawingml/2006/main">
            <a:off x="536164" y="1285875"/>
            <a:ext cx="7719247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C075C3-C8F1-4795-B84A-C3BF5BB3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7F11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2374F2-35DD-4546-80A7-6D5D2C9F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参与者先进入准备状态，再执行统一的提交或中止决定。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13C511-0318-4562-AD94-4D770709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7F11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E4AF60-7113-4037-86D4-AA5826B1A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协调者在准备后故障，可能使参与者阻塞并继续占用资源。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A03B06-C118-4310-89DD-B52440DA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7F11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4B9505-6DDA-46CB-B12E-3EEFA7ED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137322510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558FC7-92B8-4F22-87A2-58053DBF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FF7F11"/>
                </a:solidFill>
                <a:latin typeface="Arial"/>
                <a:ea typeface="Arial"/>
                <a:cs typeface="Arial"/>
              </a:rPr>
              <a:t>第 08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0A0547-E8A9-49EA-9329-F0875EE86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事务选择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8C5A61-383B-4898-9D58-47A2A426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25 / 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BA1D11-7DBA-43BB-B721-36926181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FF7F1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E49552-3ECA-4760-949F-11059C74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先识别需要保护的不变量和可能的并发异常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按风险选择隔离级别，并用测试验证假设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消息处理中的“恰好一次”通常依赖事务性状态与幂等副作用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6D0E30-95AB-4E56-A26D-66CACA3F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00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7F11"/>
                </a:solidFill>
                <a:latin typeface="Arial"/>
                <a:ea typeface="Arial"/>
                <a:cs typeface="Arial"/>
              </a:rPr>
              <a:t>核心问题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733FBE-AB76-4CAB-A539-8C17151C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67A"/>
                </a:solidFill>
                <a:latin typeface="Arial"/>
                <a:ea typeface="Arial"/>
                <a:cs typeface="Arial"/>
              </a:rPr>
              <a:t>它解决了什么问题？在故障、扩容和演化时会付出什么代价？</a:t>
            </a:r>
          </a:p>
        </p:txBody>
      </p:sp>
    </p:spTree>
    <p:extLst>
      <p:ext uri="{BB962C8B-B14F-4D97-AF65-F5344CB8AC3E}">
        <p14:creationId xmlns:p14="http://schemas.microsoft.com/office/powerpoint/2010/main" val="159083469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D31A7E-F347-4048-A84B-A55949BD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FF7F11"/>
                </a:solidFill>
                <a:latin typeface="Arial"/>
                <a:ea typeface="Arial"/>
                <a:cs typeface="Arial"/>
              </a:rPr>
              <a:t>第 08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014EAE-CABA-4A04-82AE-E9E7AEF3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事务选择：设计权衡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CC858B-77EA-426C-8462-9FB97F28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26 / 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B35C89-E86F-49B5-9ABD-7BD8A00E1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FF7F1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78D56F-2A86-49D3-8F9C-53D32EBC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适用条件：先识别需要保护的不变量和可能的并发异常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主要代价：围绕延迟、吞吐、一致性和运维复杂度评估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故障检查：节点、网络或依赖失效后，系统会暴露什么状态？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演化检查：数据格式、接口或拓扑变化时，能否滚动升级和回滚？</a:t>
            </a:r>
          </a:p>
        </p:txBody>
      </p:sp>
    </p:spTree>
    <p:extLst>
      <p:ext uri="{BB962C8B-B14F-4D97-AF65-F5344CB8AC3E}">
        <p14:creationId xmlns:p14="http://schemas.microsoft.com/office/powerpoint/2010/main" val="149480465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40FC94-CDD9-470D-A0EB-6832C686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FF7F11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FF7F11"/>
                </a:solidFill>
                <a:latin typeface="Arial"/>
                <a:ea typeface="Arial"/>
                <a:cs typeface="Arial"/>
              </a:rPr>
              <a:t>第 08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E4CC2C-CB4B-4C1A-84C6-3C286FB2C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复习与应用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286DF7-30C8-495B-90D3-E30C2E11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27 / 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8E41D0-B6C2-4427-BA4A-48E74C7A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666875"/>
            <a:ext cx="9525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24D"/>
                </a:solidFill>
                <a:latin typeface="Arial"/>
                <a:ea typeface="Arial"/>
                <a:cs typeface="Arial"/>
              </a:rPr>
              <a:t>用一句话说明本章解决的核心问题。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24D"/>
                </a:solidFill>
                <a:latin typeface="Arial"/>
                <a:ea typeface="Arial"/>
                <a:cs typeface="Arial"/>
              </a:rPr>
              <a:t>选择一个机制，列出它成立所依赖的假设。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24D"/>
                </a:solidFill>
                <a:latin typeface="Arial"/>
                <a:ea typeface="Arial"/>
                <a:cs typeface="Arial"/>
              </a:rPr>
              <a:t>描述一个故障场景，并解释系统如何恢复。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24D"/>
                </a:solidFill>
                <a:latin typeface="Arial"/>
                <a:ea typeface="Arial"/>
                <a:cs typeface="Arial"/>
              </a:rPr>
              <a:t>把本章权衡应用到你正在设计的一个系统。</a:t>
            </a:r>
          </a:p>
        </p:txBody>
      </p:sp>
    </p:spTree>
    <p:extLst>
      <p:ext uri="{BB962C8B-B14F-4D97-AF65-F5344CB8AC3E}">
        <p14:creationId xmlns:p14="http://schemas.microsoft.com/office/powerpoint/2010/main" val="12274303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2026-09-27T19:47:34.9080000Z</dcterms:created>
  <dcterms:modified xsi:type="dcterms:W3CDTF">2026-09-27T19:47:34.9080000Z</dcterms:modified>
</coreProperties>
</file>