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4901b9875242c7" /><Relationship Type="http://schemas.openxmlformats.org/officeDocument/2006/relationships/extended-properties" Target="/docProps/app.xml" Id="Re59820c31f304dce" /><Relationship Type="http://schemas.openxmlformats.org/officeDocument/2006/relationships/officeDocument" Target="/ppt/presentation.xml" Id="R1936bf05850745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95e0a3bb7a472b"/>
  </p:sldMasterIdLst>
  <p:notesMasterIdLst>
    <p:notesMasterId xmlns:r="http://schemas.openxmlformats.org/officeDocument/2006/relationships" r:id="Rcbfddb8021844ebd"/>
  </p:notesMasterIdLst>
  <p:sldIdLst>
    <p:sldId xmlns:r="http://schemas.openxmlformats.org/officeDocument/2006/relationships" id="256" r:id="Ra299f9a545914d61"/>
    <p:sldId xmlns:r="http://schemas.openxmlformats.org/officeDocument/2006/relationships" id="257" r:id="R93a3efd240174857"/>
    <p:sldId xmlns:r="http://schemas.openxmlformats.org/officeDocument/2006/relationships" id="258" r:id="R44a1d206c74e418a"/>
    <p:sldId xmlns:r="http://schemas.openxmlformats.org/officeDocument/2006/relationships" id="259" r:id="R586d13393ad84cd3"/>
    <p:sldId xmlns:r="http://schemas.openxmlformats.org/officeDocument/2006/relationships" id="260" r:id="Rce19da1b1e194e0e"/>
    <p:sldId xmlns:r="http://schemas.openxmlformats.org/officeDocument/2006/relationships" id="261" r:id="R8414f6ccd4624ce4"/>
    <p:sldId xmlns:r="http://schemas.openxmlformats.org/officeDocument/2006/relationships" id="262" r:id="Rffe1caa71fd34df7"/>
    <p:sldId xmlns:r="http://schemas.openxmlformats.org/officeDocument/2006/relationships" id="263" r:id="R211d6d1143304adb"/>
    <p:sldId xmlns:r="http://schemas.openxmlformats.org/officeDocument/2006/relationships" id="264" r:id="R994d08a12533464b"/>
    <p:sldId xmlns:r="http://schemas.openxmlformats.org/officeDocument/2006/relationships" id="265" r:id="R520dd084b7764f50"/>
    <p:sldId xmlns:r="http://schemas.openxmlformats.org/officeDocument/2006/relationships" id="266" r:id="R2025b14bfcb646b4"/>
    <p:sldId xmlns:r="http://schemas.openxmlformats.org/officeDocument/2006/relationships" id="267" r:id="Rfbe7670c5f1640bf"/>
    <p:sldId xmlns:r="http://schemas.openxmlformats.org/officeDocument/2006/relationships" id="268" r:id="Ra6f5140e9b374e5c"/>
    <p:sldId xmlns:r="http://schemas.openxmlformats.org/officeDocument/2006/relationships" id="269" r:id="Re331e05367de4c0e"/>
    <p:sldId xmlns:r="http://schemas.openxmlformats.org/officeDocument/2006/relationships" id="270" r:id="Rb5515115b8244a62"/>
    <p:sldId xmlns:r="http://schemas.openxmlformats.org/officeDocument/2006/relationships" id="271" r:id="Rf67652de64d24747"/>
    <p:sldId xmlns:r="http://schemas.openxmlformats.org/officeDocument/2006/relationships" id="272" r:id="Re6e541c31d76489d"/>
    <p:sldId xmlns:r="http://schemas.openxmlformats.org/officeDocument/2006/relationships" id="273" r:id="R683df410551547c9"/>
    <p:sldId xmlns:r="http://schemas.openxmlformats.org/officeDocument/2006/relationships" id="274" r:id="R83db3561ef774af8"/>
    <p:sldId xmlns:r="http://schemas.openxmlformats.org/officeDocument/2006/relationships" id="275" r:id="R862610e55e144605"/>
    <p:sldId xmlns:r="http://schemas.openxmlformats.org/officeDocument/2006/relationships" id="276" r:id="Rd3eb1de572194c7b"/>
    <p:sldId xmlns:r="http://schemas.openxmlformats.org/officeDocument/2006/relationships" id="277" r:id="Racde0dd1855546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0632bb0718416d" /><Relationship Type="http://schemas.openxmlformats.org/officeDocument/2006/relationships/slideMaster" Target="/ppt/slideMasters/slideMaster1.xml" Id="Ra295e0a3bb7a472b" /><Relationship Type="http://schemas.openxmlformats.org/officeDocument/2006/relationships/notesMaster" Target="/ppt/notesMasters/notesMaster1.xml" Id="Rcbfddb8021844ebd" /><Relationship Type="http://schemas.openxmlformats.org/officeDocument/2006/relationships/presProps" Target="/ppt/presProps.xml" Id="Ra7b51e1a0d0f476a" /><Relationship Type="http://schemas.openxmlformats.org/officeDocument/2006/relationships/tableStyles" Target="/ppt/tableStyles.xml" Id="R69030286ee044e66" /><Relationship Type="http://schemas.openxmlformats.org/officeDocument/2006/relationships/slide" Target="/ppt/slides/slide1.xml" Id="Ra299f9a545914d61" /><Relationship Type="http://schemas.openxmlformats.org/officeDocument/2006/relationships/slide" Target="/ppt/slides/slide2.xml" Id="R93a3efd240174857" /><Relationship Type="http://schemas.openxmlformats.org/officeDocument/2006/relationships/slide" Target="/ppt/slides/slide3.xml" Id="R44a1d206c74e418a" /><Relationship Type="http://schemas.openxmlformats.org/officeDocument/2006/relationships/slide" Target="/ppt/slides/slide4.xml" Id="R586d13393ad84cd3" /><Relationship Type="http://schemas.openxmlformats.org/officeDocument/2006/relationships/slide" Target="/ppt/slides/slide5.xml" Id="Rce19da1b1e194e0e" /><Relationship Type="http://schemas.openxmlformats.org/officeDocument/2006/relationships/slide" Target="/ppt/slides/slide6.xml" Id="R8414f6ccd4624ce4" /><Relationship Type="http://schemas.openxmlformats.org/officeDocument/2006/relationships/slide" Target="/ppt/slides/slide7.xml" Id="Rffe1caa71fd34df7" /><Relationship Type="http://schemas.openxmlformats.org/officeDocument/2006/relationships/slide" Target="/ppt/slides/slide8.xml" Id="R211d6d1143304adb" /><Relationship Type="http://schemas.openxmlformats.org/officeDocument/2006/relationships/slide" Target="/ppt/slides/slide9.xml" Id="R994d08a12533464b" /><Relationship Type="http://schemas.openxmlformats.org/officeDocument/2006/relationships/slide" Target="/ppt/slides/slide10.xml" Id="R520dd084b7764f50" /><Relationship Type="http://schemas.openxmlformats.org/officeDocument/2006/relationships/slide" Target="/ppt/slides/slide11.xml" Id="R2025b14bfcb646b4" /><Relationship Type="http://schemas.openxmlformats.org/officeDocument/2006/relationships/slide" Target="/ppt/slides/slide12.xml" Id="Rfbe7670c5f1640bf" /><Relationship Type="http://schemas.openxmlformats.org/officeDocument/2006/relationships/slide" Target="/ppt/slides/slide13.xml" Id="Ra6f5140e9b374e5c" /><Relationship Type="http://schemas.openxmlformats.org/officeDocument/2006/relationships/slide" Target="/ppt/slides/slide14.xml" Id="Re331e05367de4c0e" /><Relationship Type="http://schemas.openxmlformats.org/officeDocument/2006/relationships/slide" Target="/ppt/slides/slide15.xml" Id="Rb5515115b8244a62" /><Relationship Type="http://schemas.openxmlformats.org/officeDocument/2006/relationships/slide" Target="/ppt/slides/slide16.xml" Id="Rf67652de64d24747" /><Relationship Type="http://schemas.openxmlformats.org/officeDocument/2006/relationships/slide" Target="/ppt/slides/slide17.xml" Id="Re6e541c31d76489d" /><Relationship Type="http://schemas.openxmlformats.org/officeDocument/2006/relationships/slide" Target="/ppt/slides/slide18.xml" Id="R683df410551547c9" /><Relationship Type="http://schemas.openxmlformats.org/officeDocument/2006/relationships/slide" Target="/ppt/slides/slide19.xml" Id="R83db3561ef774af8" /><Relationship Type="http://schemas.openxmlformats.org/officeDocument/2006/relationships/slide" Target="/ppt/slides/slide20.xml" Id="R862610e55e144605" /><Relationship Type="http://schemas.openxmlformats.org/officeDocument/2006/relationships/slide" Target="/ppt/slides/slide21.xml" Id="Rd3eb1de572194c7b" /><Relationship Type="http://schemas.openxmlformats.org/officeDocument/2006/relationships/slide" Target="/ppt/slides/slide22.xml" Id="Racde0dd1855546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5031bd8eb64d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6f479261434edc" /><Relationship Type="http://schemas.openxmlformats.org/officeDocument/2006/relationships/notesMaster" Target="/ppt/notesMasters/notesMaster1.xml" Id="Rfbbd5a42341348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28ef9bb6e24e7c" /><Relationship Type="http://schemas.openxmlformats.org/officeDocument/2006/relationships/notesMaster" Target="/ppt/notesMasters/notesMaster1.xml" Id="R48dd80fc952b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0deb32fdf944e8" /><Relationship Type="http://schemas.openxmlformats.org/officeDocument/2006/relationships/notesMaster" Target="/ppt/notesMasters/notesMaster1.xml" Id="R733978ba5b0448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33e8bdf4c0444f" /><Relationship Type="http://schemas.openxmlformats.org/officeDocument/2006/relationships/notesMaster" Target="/ppt/notesMasters/notesMaster1.xml" Id="Rc893c5bdafac4a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c8a760e24743cf" /><Relationship Type="http://schemas.openxmlformats.org/officeDocument/2006/relationships/notesMaster" Target="/ppt/notesMasters/notesMaster1.xml" Id="R48753bfbfdf244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39deb12e224d48" /><Relationship Type="http://schemas.openxmlformats.org/officeDocument/2006/relationships/notesMaster" Target="/ppt/notesMasters/notesMaster1.xml" Id="Rbca526a40b2f48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40be815a144f7a" /><Relationship Type="http://schemas.openxmlformats.org/officeDocument/2006/relationships/notesMaster" Target="/ppt/notesMasters/notesMaster1.xml" Id="Rd6d0e315c56a42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1bdbfc7487429f" /><Relationship Type="http://schemas.openxmlformats.org/officeDocument/2006/relationships/notesMaster" Target="/ppt/notesMasters/notesMaster1.xml" Id="Rac5f236adb6645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bb80a56d8d4d97" /><Relationship Type="http://schemas.openxmlformats.org/officeDocument/2006/relationships/notesMaster" Target="/ppt/notesMasters/notesMaster1.xml" Id="Rb9fb70c6652f4c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7748a327344cb1" /><Relationship Type="http://schemas.openxmlformats.org/officeDocument/2006/relationships/notesMaster" Target="/ppt/notesMasters/notesMaster1.xml" Id="R7f85fe90ab5d46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0211a73fa74d42" /><Relationship Type="http://schemas.openxmlformats.org/officeDocument/2006/relationships/notesMaster" Target="/ppt/notesMasters/notesMaster1.xml" Id="R32c349e5e68c4f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0a4a03e0164cb5" /><Relationship Type="http://schemas.openxmlformats.org/officeDocument/2006/relationships/notesMaster" Target="/ppt/notesMasters/notesMaster1.xml" Id="R7a11baae725042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f2fe5b89614210" /><Relationship Type="http://schemas.openxmlformats.org/officeDocument/2006/relationships/notesMaster" Target="/ppt/notesMasters/notesMaster1.xml" Id="R5ddee1534fcd4d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cdcb1813a8487b" /><Relationship Type="http://schemas.openxmlformats.org/officeDocument/2006/relationships/notesMaster" Target="/ppt/notesMasters/notesMaster1.xml" Id="Rda237662d7f44b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6f7045fa60e4e90" /><Relationship Type="http://schemas.openxmlformats.org/officeDocument/2006/relationships/notesMaster" Target="/ppt/notesMasters/notesMaster1.xml" Id="Rfff035ee095942e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1474ffe65641f3" /><Relationship Type="http://schemas.openxmlformats.org/officeDocument/2006/relationships/notesMaster" Target="/ppt/notesMasters/notesMaster1.xml" Id="R88ef5104071941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f98d82504e45e8" /><Relationship Type="http://schemas.openxmlformats.org/officeDocument/2006/relationships/notesMaster" Target="/ppt/notesMasters/notesMaster1.xml" Id="R9653eb3a933c4e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e0cefdaa95455e" /><Relationship Type="http://schemas.openxmlformats.org/officeDocument/2006/relationships/notesMaster" Target="/ppt/notesMasters/notesMaster1.xml" Id="R5abcdbec3e7240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ae49d1aa8d4ceb" /><Relationship Type="http://schemas.openxmlformats.org/officeDocument/2006/relationships/notesMaster" Target="/ppt/notesMasters/notesMaster1.xml" Id="R736c88be250a471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20dfe3c63cb4c43" /><Relationship Type="http://schemas.openxmlformats.org/officeDocument/2006/relationships/notesMaster" Target="/ppt/notesMasters/notesMaster1.xml" Id="R29477fb421bf4b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5413e7304fb406d" /><Relationship Type="http://schemas.openxmlformats.org/officeDocument/2006/relationships/notesMaster" Target="/ppt/notesMasters/notesMaster1.xml" Id="Rd9062316cbb943a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f79338618434fd1" /><Relationship Type="http://schemas.openxmlformats.org/officeDocument/2006/relationships/notesMaster" Target="/ppt/notesMasters/notesMaster1.xml" Id="R90bf04b554594e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3-1, PDF page 94. Original caption: Figure 3-1. Using a relational schema to represent a LinkedIn profile</a:t>
            </a:r>
          </a:p>
          <a:p xmlns:a="http://schemas.openxmlformats.org/drawingml/2006/main">
            <a:r>
              <a:t>Explanation: 该图展示实体和关系如何通过键、嵌套或连接来表达。 模型选择会改变读取局部性、数据重复和更新复杂度。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3-2, PDF page 95. Original caption: Figure 3-2. One-to-many relationships forming a tree structure</a:t>
            </a:r>
          </a:p>
          <a:p xmlns:a="http://schemas.openxmlformats.org/drawingml/2006/main">
            <a:r>
              <a:t>Explanation: 该图展示实体和关系如何通过键、嵌套或连接来表达。 模型选择会改变读取局部性、数据重复和更新复杂度。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3-3, PDF page 100. Original caption: Figure 3-3. Many-to-many relationships in the relational model</a:t>
            </a:r>
          </a:p>
          <a:p xmlns:a="http://schemas.openxmlformats.org/drawingml/2006/main">
            <a:r>
              <a:t>Explanation: 该图展示实体和关系如何通过键、嵌套或连接来表达。 模型选择会改变读取局部性、数据重复和更新复杂度。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3-4, PDF page 101. Original caption: Figure 3-4. Many-to-many relationships in the document model—the data within each</a:t>
            </a:r>
          </a:p>
          <a:p xmlns:a="http://schemas.openxmlformats.org/drawingml/2006/main">
            <a:r>
              <a:t>Explanation: 该图展示实体和关系如何通过键、嵌套或连接来表达。 模型选择会改变读取局部性、数据重复和更新复杂度。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3-5, PDF page 102. Original caption: Figure 3-5. A star schema for use in a data warehouse</a:t>
            </a:r>
          </a:p>
          <a:p xmlns:a="http://schemas.openxmlformats.org/drawingml/2006/main">
            <a:r>
              <a:t>Explanation: 数据从业务源经过转换进入分析型存储。 数仓属于派生数据，因此可重复加载和数据血缘非常重要。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3-6, PDF page 110. Original caption: Figure 3-6. Graph-structured data (boxes represent vertices, arrows represent edges)</a:t>
            </a:r>
          </a:p>
          <a:p xmlns:a="http://schemas.openxmlformats.org/drawingml/2006/main">
            <a:r>
              <a:t>Explanation: 节点、边或递归规则用于表达多跳关系。 这种表示让遍历和传递关系查询更直接。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3-7, PDF page 122. Original caption: Figure 3-7. Determining that Idaho is in North America, using the Datalog rules from</a:t>
            </a:r>
          </a:p>
          <a:p xmlns:a="http://schemas.openxmlformats.org/drawingml/2006/main">
            <a:r>
              <a:t>Explanation: 节点、边或递归规则用于表达多跳关系。 这种表示让遍历和传递关系查询更直接。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3-8, PDF page 126. Original caption: Figure 3-8. Using a log of immutable events as the source of truth and deriving material‐</a:t>
            </a:r>
          </a:p>
          <a:p xmlns:a="http://schemas.openxmlformats.org/drawingml/2006/main">
            <a:r>
              <a:t>Explanation: 源数据被转换为适合另一种工作负载的派生视图。 系统更容易重建，但同步和模式演化必须谨慎处理。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Figure 3-9, PDF page 130. Original caption: Figure 3-9. Transforming a relational database of movie ratings into a matrix</a:t>
            </a:r>
          </a:p>
          <a:p xmlns:a="http://schemas.openxmlformats.org/drawingml/2006/main">
            <a:r>
              <a:t>Explanation: 该图展示实体和关系如何通过键、嵌套或连接来表达。 模型选择会改变读取局部性、数据重复和更新复杂度。 沿箭头或时间轴逐步检查状态变化，并验证故障、重试和并发时结论是否仍成立。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Martin Kleppmann and Chris Riccomini, Designing Data-Intensive Applications, 2nd ed., Chapter 3, book pages 65-107. </a:t>
            </a:r>
          </a:p>
          <a:p xmlns:a="http://schemas.openxmlformats.org/drawingml/2006/main">
            <a:r>
              <a:t>Source file: /Users/eve/projects/Designing-Data-Intensive-Applications/Designing Data Intensive Applications 2nd.pdf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b76294e324b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2fff70713430d" /><Relationship Type="http://schemas.openxmlformats.org/officeDocument/2006/relationships/slideLayout" Target="/ppt/slideLayouts/slideLayout1.xml" Id="Rbdba1d758e3e47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a1d758e3e47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a5f1014b14a8b" /><Relationship Type="http://schemas.openxmlformats.org/officeDocument/2006/relationships/notesSlide" Target="/ppt/notesSlides/notesSlide1.xml" Id="R8501eaba7e22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c44c508cc4665" /><Relationship Type="http://schemas.openxmlformats.org/officeDocument/2006/relationships/notesSlide" Target="/ppt/notesSlides/notesSlide2.xml" Id="Rf75a09aeec9e49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b8d42a8e14eee" /><Relationship Type="http://schemas.openxmlformats.org/officeDocument/2006/relationships/notesSlide" Target="/ppt/notesSlides/notesSlide3.xml" Id="Rde30fa05fd1d41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cddd4041f478c" /><Relationship Type="http://schemas.openxmlformats.org/officeDocument/2006/relationships/notesSlide" Target="/ppt/notesSlides/notesSlide4.xml" Id="Re1a59b43bd8246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15c04a8984e68" /><Relationship Type="http://schemas.openxmlformats.org/officeDocument/2006/relationships/image" Target="/ppt/media/image.png" Id="R62aae189636d4761" /><Relationship Type="http://schemas.openxmlformats.org/officeDocument/2006/relationships/notesSlide" Target="/ppt/notesSlides/notesSlide5.xml" Id="R267e88d2a33c47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fb23a828246ad" /><Relationship Type="http://schemas.openxmlformats.org/officeDocument/2006/relationships/image" Target="/ppt/media/image2.png" Id="R7bc0a411f0544adb" /><Relationship Type="http://schemas.openxmlformats.org/officeDocument/2006/relationships/notesSlide" Target="/ppt/notesSlides/notesSlide6.xml" Id="R129e7d2deb3445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136aab0f744f4" /><Relationship Type="http://schemas.openxmlformats.org/officeDocument/2006/relationships/image" Target="/ppt/media/image3.png" Id="Rd8bc960bb9de4111" /><Relationship Type="http://schemas.openxmlformats.org/officeDocument/2006/relationships/notesSlide" Target="/ppt/notesSlides/notesSlide7.xml" Id="Ra5eea45f874a4d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17af551264b97" /><Relationship Type="http://schemas.openxmlformats.org/officeDocument/2006/relationships/image" Target="/ppt/media/image4.png" Id="R7de9e6c1d9db4cd6" /><Relationship Type="http://schemas.openxmlformats.org/officeDocument/2006/relationships/notesSlide" Target="/ppt/notesSlides/notesSlide8.xml" Id="R9a8178148b8442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3963a3e6043f5" /><Relationship Type="http://schemas.openxmlformats.org/officeDocument/2006/relationships/image" Target="/ppt/media/image5.png" Id="Rcef64f0615a14be3" /><Relationship Type="http://schemas.openxmlformats.org/officeDocument/2006/relationships/notesSlide" Target="/ppt/notesSlides/notesSlide9.xml" Id="R571f2ba75d6648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9492162cf74cc8" /><Relationship Type="http://schemas.openxmlformats.org/officeDocument/2006/relationships/notesSlide" Target="/ppt/notesSlides/notesSlide10.xml" Id="R0bb35927dd8348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7645fe1964065" /><Relationship Type="http://schemas.openxmlformats.org/officeDocument/2006/relationships/notesSlide" Target="/ppt/notesSlides/notesSlide11.xml" Id="R1336dcbccd1c4d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177a7a9474932" /><Relationship Type="http://schemas.openxmlformats.org/officeDocument/2006/relationships/image" Target="/ppt/media/image6.png" Id="R644b4cfa6a6b446f" /><Relationship Type="http://schemas.openxmlformats.org/officeDocument/2006/relationships/notesSlide" Target="/ppt/notesSlides/notesSlide12.xml" Id="Ra6d10884f63f4b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09bc3b623487b" /><Relationship Type="http://schemas.openxmlformats.org/officeDocument/2006/relationships/image" Target="/ppt/media/image7.png" Id="R5d67c80c26644e9c" /><Relationship Type="http://schemas.openxmlformats.org/officeDocument/2006/relationships/notesSlide" Target="/ppt/notesSlides/notesSlide13.xml" Id="Rd98fcd2e70104e2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9b99c1e7b48fe" /><Relationship Type="http://schemas.openxmlformats.org/officeDocument/2006/relationships/notesSlide" Target="/ppt/notesSlides/notesSlide14.xml" Id="Rc154988116e244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d8c1e420242ee" /><Relationship Type="http://schemas.openxmlformats.org/officeDocument/2006/relationships/notesSlide" Target="/ppt/notesSlides/notesSlide15.xml" Id="R934b717940a14b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f782be1584a08" /><Relationship Type="http://schemas.openxmlformats.org/officeDocument/2006/relationships/image" Target="/ppt/media/image8.png" Id="R3abfd54e6a294b49" /><Relationship Type="http://schemas.openxmlformats.org/officeDocument/2006/relationships/notesSlide" Target="/ppt/notesSlides/notesSlide16.xml" Id="R3d25111570584d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24ccc213b420e" /><Relationship Type="http://schemas.openxmlformats.org/officeDocument/2006/relationships/notesSlide" Target="/ppt/notesSlides/notesSlide17.xml" Id="Rff22a5ae0bfd4f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86b06cefe41c2" /><Relationship Type="http://schemas.openxmlformats.org/officeDocument/2006/relationships/notesSlide" Target="/ppt/notesSlides/notesSlide18.xml" Id="R0827c6829e454b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a900044974fc7" /><Relationship Type="http://schemas.openxmlformats.org/officeDocument/2006/relationships/image" Target="/ppt/media/image9.png" Id="R82f7b8f03d8e4d19" /><Relationship Type="http://schemas.openxmlformats.org/officeDocument/2006/relationships/notesSlide" Target="/ppt/notesSlides/notesSlide19.xml" Id="Rb855591619db4e2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2810f56f141a4" /><Relationship Type="http://schemas.openxmlformats.org/officeDocument/2006/relationships/notesSlide" Target="/ppt/notesSlides/notesSlide20.xml" Id="R9ddbe89f8b8648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ac08f0b9d41dc" /><Relationship Type="http://schemas.openxmlformats.org/officeDocument/2006/relationships/notesSlide" Target="/ppt/notesSlides/notesSlide21.xml" Id="Rc3181f4c67e14d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c93f93cac4457" /><Relationship Type="http://schemas.openxmlformats.org/officeDocument/2006/relationships/notesSlide" Target="/ppt/notesSlides/notesSlide22.xml" Id="Rd33c7a7e397c45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82BF7-DE40-468B-A239-00E10A42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66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425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01B5E-9179-484F-87B8-453C553E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1028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数据模型与查询语言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59343-7360-497F-BB9D-E66C2A53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D9E2EC"/>
                </a:solidFill>
                <a:latin typeface="Arial"/>
                <a:ea typeface="Arial"/>
                <a:cs typeface="Arial"/>
              </a:rPr>
              <a:t>Data Models and Query Languages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A4444-925C-4E3D-B9F3-853DD02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BCCCDC"/>
                </a:solidFill>
                <a:latin typeface="Arial"/>
                <a:ea typeface="Arial"/>
                <a:cs typeface="Arial"/>
              </a:rPr>
              <a:t>详细中文学习版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264A8-6EF7-4DFD-9520-838C9008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9FB3C8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9FB3C8"/>
                </a:solidFill>
                <a:latin typeface="Arial"/>
                <a:ea typeface="Arial"/>
                <a:cs typeface="Arial"/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242056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81E94-B8DD-4022-940F-9C247E9D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83F98-1E09-4C9C-8FE1-29A76237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本章结构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BB1D8-22DE-4A23-B75D-73C2676B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02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01C00-E2A9-4065-B7BD-A9165C87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E0DDE-6786-4BA8-A474-32D9BD25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287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模型决定思考方式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3F5CB-4D9B-4581-8D72-4C527562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关系模型把数据组织为表和关系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04A93-DEC3-4A2F-8D38-AF452C11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BA561-7D6A-470E-ABC4-C46B2184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05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规范化与反规范化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1D67C-303B-461D-B5C1-E4CFC3DB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规范化减少重复和更新异常，但读取常需连接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81A9BB-F6C8-4AAA-9D87-FFC86F4B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7FAC-E4B6-4388-A62E-8687588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81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关系与图查询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959CB-3802-4B9A-936B-4482F46F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SQL 擅长声明式集合运算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D6922-CD5E-4EA5-ADD6-87BFD2F3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807CE-4F19-4EC9-9AA1-D1C364D7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576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事件溯源与 CQRS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DFF04-E748-4074-8382-64733561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事件溯源保存状态变化的事实序列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0485C-6FAD-4EFC-A807-1CA3358E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C4124-B52A-4E2E-A66A-FF3C0D99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339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选择指南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1AD24-4762-4A8A-A027-19715683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339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67A"/>
                </a:solidFill>
                <a:latin typeface="Arial"/>
                <a:ea typeface="Arial"/>
                <a:cs typeface="Arial"/>
              </a:rPr>
              <a:t>结构稳定、约束强时优先关系模型</a:t>
            </a:r>
          </a:p>
        </p:txBody>
      </p:sp>
    </p:spTree>
    <p:extLst>
      <p:ext uri="{BB962C8B-B14F-4D97-AF65-F5344CB8AC3E}">
        <p14:creationId xmlns:p14="http://schemas.microsoft.com/office/powerpoint/2010/main" val="1022788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ECFD7-4CBD-4CB2-A01E-A1AD9850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5D1B8-14DA-4653-9839-07302B9A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模型决定思考方式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EA131-F79F-4263-88CF-B52C6D05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03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18116-5D30-4CA3-8E06-DB66DF43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ECDB8-D624-4131-9962-A5B9F933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关系模型把数据组织为表和关系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文档模型保留对象局部性，适合一次读取整个聚合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图模型把连接当作一等公民，适合多跳关系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65865-89E6-4E2D-AAEC-0A131FFA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D1C1C-7FCF-49AC-B4EB-6AE14E4A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268052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60FB3-782B-4440-AFA7-7D92718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228FC-20B8-4095-ADF0-D2A6E23F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模型决定思考方式：设计权衡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5C10DF-400D-47DA-8F50-36F0507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04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FFD51-CFF4-4786-9FB9-A2EF65C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FD86C-85A5-444D-AA3E-8CFCEF8E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适用条件：关系模型把数据组织为表和关系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5478844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C34D7-0094-429A-AC53-49CC646F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4E13A-EB23-4FF8-A9B8-81AC856A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3-1：机制解释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80A15-0A7B-4108-B42D-70DE4A37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05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ae189636d4761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0E709-9344-4941-B030-054DC4C5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0C0F5-D825-478F-A15F-46A0E129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该图展示实体和关系如何通过键、嵌套或连接来表达。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A0922-F6AF-4401-8EB0-244BA505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3A07F-C931-4533-9302-4277365E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模型选择会改变读取局部性、数据重复和更新复杂度。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B3D98-99BC-4EA1-B889-E17CD2B2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EAA21-9486-407B-A07C-FE70712C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705217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9EC1A-7E05-4455-BBFF-00B35AC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A52B6-F10A-4BA9-9F4A-F65DC1DA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3-2：机制解释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E27B8-4E34-442E-9326-EC1B487D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06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0a411f0544adb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5D3FD-2880-4108-A34F-1301227F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04868-13E3-4F73-B342-C6110343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该图展示实体和关系如何通过键、嵌套或连接来表达。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D30F-1261-459B-B076-78389F4F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0DB2D-A8C5-4375-852A-401D9FA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模型选择会改变读取局部性、数据重复和更新复杂度。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5A276-384F-4458-BBF7-0DC6399D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AD242-D251-487A-82AE-7E09F272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635204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E552B-DC8F-4534-891C-AF81446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7E73A-5D3D-4D6A-AD9B-5852F3A8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3-3：机制解释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D6CA7-C448-40AA-8057-AF6249C8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07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c960bb9de4111"/>
          <a:stretch xmlns:a="http://schemas.openxmlformats.org/drawingml/2006/main"/>
        </p:blipFill>
        <p:spPr>
          <a:xfrm xmlns:a="http://schemas.openxmlformats.org/drawingml/2006/main">
            <a:off x="514350" y="1570456"/>
            <a:ext cx="7762875" cy="419333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5DE94-0CEE-41A9-9DE1-EFA702C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E79A9-6DEB-4B8F-831F-50474B04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该图展示实体和关系如何通过键、嵌套或连接来表达。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82DFF-C5EB-49D7-B424-5E4960A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121FE-6717-4C5B-A779-D742147E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模型选择会改变读取局部性、数据重复和更新复杂度。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915A12-A003-4595-8BC6-671DDB61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12F93-9D5A-470C-81B1-D0D50FC2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139795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A34F86-5909-4E1B-A909-BE6908FA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D79ED-EAB3-4D48-9E02-1C959450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3-4：机制解释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232B3-E61A-418B-B458-4821F3D1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08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9e6c1d9db4cd6"/>
          <a:stretch xmlns:a="http://schemas.openxmlformats.org/drawingml/2006/main"/>
        </p:blipFill>
        <p:spPr>
          <a:xfrm xmlns:a="http://schemas.openxmlformats.org/drawingml/2006/main">
            <a:off x="1041071" y="1285875"/>
            <a:ext cx="6709434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7243D-A2E7-4F22-9AB7-389AFD87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43002-306B-4E1A-B590-3239328E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该图展示实体和关系如何通过键、嵌套或连接来表达。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33550-F0EA-453B-B294-4773EE09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141FC-5402-4888-949E-923B2D49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模型选择会改变读取局部性、数据重复和更新复杂度。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2CBFA9-BC94-4C18-B7CA-3645A26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E4564-4C79-4F59-AA3A-51B9B08F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50125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0A0AD-21FE-40E2-8C3F-31796C51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D2AD7-EA01-4BA0-93DB-E2F9199B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3-5：机制解释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5E3AD-BC7C-4949-A52C-5F6165D9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09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64f0615a14be3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756AB-40EA-4166-AE5C-9CBD5273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B73D4-4FD2-4457-A4AD-5888DEB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数据从业务源经过转换进入分析型存储。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D51A9-0DB5-474D-9F3C-A34C3FCB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ACFFD-E4A5-44D0-B40C-FA7A63D6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数仓属于派生数据，因此可重复加载和数据血缘非常重要。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6B65C-DC1C-4557-A653-F190ECFE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2CF03-9911-428C-81F5-DDD0B0C7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0494653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DF3B5-21D6-4448-8536-918587C2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DF48-78B2-4A37-8F01-891C55DE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规范化与反规范化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795F2-B157-4D05-81E7-AC52D35D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10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6A6C9-06B1-4862-B7B0-D78F36C0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53374-8807-49A5-8C64-AD8FFAF2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规范化减少重复和更新异常，但读取常需连接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反规范化提高读取局部性，却增加同步与一致性成本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选择应基于访问模式、更新频率和约束强度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3B665-94AE-475A-8FBB-1131868C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0F6AD-9078-46F4-82A1-1670BA6C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231706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73CA6-9387-4520-9A36-41DD940D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548BB-3411-4136-A7A4-E4CCD926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规范化与反规范化：设计权衡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97719-FBAD-4D1E-BAD4-22BDFC9B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11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C36F9-4CBC-4E6E-A1FB-11749A3D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DA612-0479-474A-B4F2-ECDE7F16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适用条件：规范化减少重复和更新异常，但读取常需连接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797342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3E2C5-714C-48A6-BDC1-99CD96A3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84450-DBA1-42F9-ADE8-CCA1E1A0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3-6：机制解释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53FA3-D687-42F0-929F-30C37BDD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12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b4cfa6a6b446f"/>
          <a:stretch xmlns:a="http://schemas.openxmlformats.org/drawingml/2006/main"/>
        </p:blipFill>
        <p:spPr>
          <a:xfrm xmlns:a="http://schemas.openxmlformats.org/drawingml/2006/main">
            <a:off x="815922" y="1285875"/>
            <a:ext cx="7159732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04D0A-9BD5-4DA7-A071-95F4542B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3A8D1-7F40-4D18-9CAC-821ECA37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节点、边或递归规则用于表达多跳关系。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D297D5-9637-4ABB-A09D-C928E1FF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B1F1-20D5-46EF-8D7C-FFB71175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这种表示让遍历和传递关系查询更直接。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FD9B5-893E-400B-ABAC-558F444B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68D82-D900-4CF3-83F9-92BB3E32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21278657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F641A-832B-4866-9F30-1F7AC45A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570E6-144B-42B6-9AE1-758C8C6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3-7：机制解释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25BD8-D8CA-4404-A368-4E9A9D2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13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7c80c26644e9c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CEBD7-A633-490E-A37B-6B9B84FB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A904A-F6C6-4FFE-A239-772955A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节点、边或递归规则用于表达多跳关系。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203F0-4955-4409-9DF1-9EC24C0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DE54E-2A17-4F63-9393-1FC371F8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这种表示让遍历和传递关系查询更直接。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421B08-3DBD-4629-AA96-2D1BEC4E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454DD-47EE-4AD8-9AA5-E4F37917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7840794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DB47F-E9DF-4747-9113-2704AA5C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E5D70-2E73-48A6-B46B-F202CACB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关系与图查询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334F8-0CEC-4DE1-A891-D41E00D0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14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FB58D-EF9A-46F0-AF0C-3C0FCAEF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A3C53-6771-474D-9450-77DA193F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SQL 擅长声明式集合运算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Cypher 和 SPARQL 直接表达图模式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递归 SQL 与 Datalog 适合可传递关系和规则推导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428D9-1A5A-4D6B-9092-9C7AC4F0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490AC-FB5A-4367-BDA5-77452E26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6266518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FEAAF-7693-4206-A6DA-0DD5B15A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5AA5A-510A-46CA-937E-761E8FD0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关系与图查询：设计权衡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1DC24-3B21-44DB-AF0F-4DAE8C36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15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55C03-EDF0-4447-B60D-F3FCA8CD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74DC8-70C2-48F5-8D28-9B0E6DDB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适用条件：SQL 擅长声明式集合运算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20207526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ABC29-49CF-4EEB-ACB8-820125A2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ADC92-39E7-4DE6-BCFB-F75B26DF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3-8：机制解释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236FB-509B-4BFA-94A2-EAC965A6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16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fd54e6a294b49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6E20B-0CFB-4374-B692-510B0AD9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12E20-C043-4BE1-924E-F96326E6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源数据被转换为适合另一种工作负载的派生视图。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C2C4F-6E16-4425-A1AA-AC3D1AD3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C5D76-1FDE-4036-BF0F-4196BA40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系统更容易重建，但同步和模式演化必须谨慎处理。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50F71-7634-4F0E-903B-4F76C178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DB606-28EA-4089-A2A9-BB3654E6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2262482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07AB5-B866-453A-B3AE-B6CCAF43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DDEDB-A4EF-4503-9D6B-C0E9B5BD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事件溯源与 CQRS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12CD4-DD39-48DA-800A-5D1EC167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17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D8287-9A94-4022-9323-08450F1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18C0-1F3E-40D9-9086-D078521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事件溯源保存状态变化的事实序列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CQRS 让写模型与读模型分别适配各自需求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收益是审计与可重建，代价是最终一致性和运维复杂度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06CED-43BA-4FEF-A697-1088C5B2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BCF68-4588-420A-B0E1-6AC9435E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64857770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D070A-75DC-4795-9AC9-463BC8F7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690A85-773F-4813-8F78-1401FD6C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事件溯源与 CQRS：设计权衡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90A88-7885-4301-9935-341637C4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18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07623-F351-4B97-A83A-2AA712D1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C2D2F-AB09-46F2-A3C6-392A92A9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适用条件：事件溯源保存状态变化的事实序列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1557465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B5D0D-C126-4009-B6AC-18A78CC9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5CA9A-2F0C-424F-8C58-00DB6051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图 3-9：机制解释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AF7DC-3783-4103-8431-0F286AFB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19 / 22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7b8f03d8e4d19"/>
          <a:stretch xmlns:a="http://schemas.openxmlformats.org/drawingml/2006/main"/>
        </p:blipFill>
        <p:spPr>
          <a:xfrm xmlns:a="http://schemas.openxmlformats.org/drawingml/2006/main">
            <a:off x="1235835" y="1285875"/>
            <a:ext cx="6319905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8F54D-9368-42B8-8EA1-CED6548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图中展示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58F55-56FD-4DB9-AB72-6D83CFDC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该图展示实体和关系如何通过键、嵌套或连接来表达。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EA4A8-2D54-4EC5-8813-DAA89009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1191A-C6FF-41BA-A7FB-CCE982BD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模型选择会改变读取局部性、数据重复和更新复杂度。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75187-541E-4F5B-8A88-616239E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阅读重点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4243AE-FDE5-425D-9791-8DC7F942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56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40566B"/>
                </a:solidFill>
                <a:latin typeface="Arial"/>
                <a:ea typeface="Arial"/>
                <a:cs typeface="Arial"/>
              </a:rPr>
              <a:t>沿箭头或时间轴逐步检查状态变化，并验证故障、重试和并发时结论是否仍成立。</a:t>
            </a:r>
          </a:p>
        </p:txBody>
      </p:sp>
    </p:spTree>
    <p:extLst>
      <p:ext uri="{BB962C8B-B14F-4D97-AF65-F5344CB8AC3E}">
        <p14:creationId xmlns:p14="http://schemas.microsoft.com/office/powerpoint/2010/main" val="18419076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D75A2-7614-49F9-BAA8-7268535C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C052E-1613-4444-93BB-70819AED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选择指南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F4AE6-F5BE-4D73-89A1-4A6F1EF8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20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38BCD-88B2-4324-9FF2-42112765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6B588-AC21-4978-97A5-1181173C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结构稳定、约束强时优先关系模型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聚合边界清晰、整体读写时考虑文档模型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7324D"/>
                </a:solidFill>
                <a:latin typeface="Arial"/>
                <a:ea typeface="Arial"/>
                <a:cs typeface="Arial"/>
              </a:rPr>
              <a:t>关系高度连接且遍历是核心时考虑图模型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C332B-C820-476E-B1F4-76EE26DA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006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核心问题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D565DA-91AF-49CA-A051-33E021D0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67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67A"/>
                </a:solidFill>
                <a:latin typeface="Arial"/>
                <a:ea typeface="Arial"/>
                <a:cs typeface="Arial"/>
              </a:rPr>
              <a:t>它解决了什么问题？在故障、扩容和演化时会付出什么代价？</a:t>
            </a:r>
          </a:p>
        </p:txBody>
      </p:sp>
    </p:spTree>
    <p:extLst>
      <p:ext uri="{BB962C8B-B14F-4D97-AF65-F5344CB8AC3E}">
        <p14:creationId xmlns:p14="http://schemas.microsoft.com/office/powerpoint/2010/main" val="15730136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D1C4E-3B2F-4814-8B72-594BF54D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F8267-10CA-4A25-8A62-FA420512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选择指南：设计权衡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6C25F-8FB0-4CDD-B31C-811B70C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21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9ABE2-E113-4A27-9100-2B7E79B7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0" b="1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457B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F30A2-1283-49D4-A85C-299F6A83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71625"/>
            <a:ext cx="8096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适用条件：结构稳定、约束强时优先关系模型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主要代价：围绕延迟、吞吐、一致性和运维复杂度评估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故障检查：节点、网络或依赖失效后，系统会暴露什么状态？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7324D"/>
                </a:solidFill>
                <a:latin typeface="Arial"/>
                <a:ea typeface="Arial"/>
                <a:cs typeface="Arial"/>
              </a:rPr>
              <a:t>演化检查：数据格式、接口或拓扑变化时，能否滚动升级和回滚？</a:t>
            </a:r>
          </a:p>
        </p:txBody>
      </p:sp>
    </p:spTree>
    <p:extLst>
      <p:ext uri="{BB962C8B-B14F-4D97-AF65-F5344CB8AC3E}">
        <p14:creationId xmlns:p14="http://schemas.microsoft.com/office/powerpoint/2010/main" val="4554408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97C48-5915-424E-A2F1-08275DCE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spc="2">
                <a:solidFill>
                  <a:srgbClr val="457B9D"/>
                </a:solidFill>
                <a:latin typeface="Arial"/>
                <a:ea typeface="Arial"/>
                <a:cs typeface="Arial"/>
              </a:defRPr>
            </a:pPr>
            <a:r>
              <a:rPr sz="1200" b="1" spc="2">
                <a:solidFill>
                  <a:srgbClr val="457B9D"/>
                </a:solidFill>
                <a:latin typeface="Arial"/>
                <a:ea typeface="Arial"/>
                <a:cs typeface="Arial"/>
              </a:rPr>
              <a:t>第 03 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DDF38-6C02-40AA-9983-95C9ADDE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复习与应用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2DDC0-166A-4476-8064-317BF89D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3817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B7C8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6B7C8F"/>
                </a:solidFill>
                <a:latin typeface="Arial"/>
                <a:ea typeface="Arial"/>
                <a:cs typeface="Arial"/>
              </a:rPr>
              <a:t>22 / 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E73C25-529C-442F-8AFF-E902C626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9525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用一句话说明本章解决的核心问题。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选择一个机制，列出它成立所依赖的假设。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描述一个故障场景，并解释系统如何恢复。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80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324D"/>
                </a:solidFill>
                <a:latin typeface="Arial"/>
                <a:ea typeface="Arial"/>
                <a:cs typeface="Arial"/>
              </a:rPr>
              <a:t>把本章权衡应用到你正在设计的一个系统。</a:t>
            </a:r>
          </a:p>
        </p:txBody>
      </p:sp>
    </p:spTree>
    <p:extLst>
      <p:ext uri="{BB962C8B-B14F-4D97-AF65-F5344CB8AC3E}">
        <p14:creationId xmlns:p14="http://schemas.microsoft.com/office/powerpoint/2010/main" val="1077631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2026-09-27T19:47:06.2250000Z</dcterms:created>
  <dcterms:modified xsi:type="dcterms:W3CDTF">2026-09-27T19:47:06.2250000Z</dcterms:modified>
</coreProperties>
</file>